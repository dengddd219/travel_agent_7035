
<file path=[Content_Types].xml><?xml version="1.0" encoding="utf-8"?>
<Types xmlns="http://schemas.openxmlformats.org/package/2006/content-types">
  <Default Extension="jpeg" ContentType="image/jpeg"/>
  <Default Extension="JPG" ContentType="image/.jpg"/>
  <Default Extension="tiff" ContentType="image/tif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5"/>
  </p:notesMasterIdLst>
  <p:sldIdLst>
    <p:sldId id="256" r:id="rId3"/>
    <p:sldId id="15077785" r:id="rId4"/>
    <p:sldId id="15077878" r:id="rId6"/>
    <p:sldId id="15077879" r:id="rId7"/>
    <p:sldId id="15077786" r:id="rId8"/>
    <p:sldId id="15077869" r:id="rId9"/>
    <p:sldId id="15077870" r:id="rId10"/>
    <p:sldId id="15077787" r:id="rId11"/>
    <p:sldId id="15077826" r:id="rId12"/>
    <p:sldId id="15077871" r:id="rId13"/>
    <p:sldId id="15077872" r:id="rId14"/>
    <p:sldId id="15077789" r:id="rId15"/>
    <p:sldId id="15077874" r:id="rId16"/>
    <p:sldId id="15077889" r:id="rId17"/>
    <p:sldId id="15077885" r:id="rId18"/>
    <p:sldId id="15077892" r:id="rId19"/>
    <p:sldId id="15077898" r:id="rId20"/>
    <p:sldId id="15077899" r:id="rId21"/>
    <p:sldId id="15077900" r:id="rId22"/>
    <p:sldId id="15077876" r:id="rId23"/>
    <p:sldId id="15077890" r:id="rId24"/>
    <p:sldId id="15077895" r:id="rId25"/>
    <p:sldId id="15077875" r:id="rId26"/>
    <p:sldId id="15077901" r:id="rId27"/>
    <p:sldId id="15077882" r:id="rId28"/>
    <p:sldId id="15077893" r:id="rId29"/>
    <p:sldId id="15077891" r:id="rId30"/>
    <p:sldId id="15077894" r:id="rId31"/>
    <p:sldId id="15077873" r:id="rId32"/>
    <p:sldId id="15077886" r:id="rId33"/>
    <p:sldId id="15077887" r:id="rId34"/>
    <p:sldId id="15077888" r:id="rId35"/>
    <p:sldId id="15077877" r:id="rId36"/>
    <p:sldId id="15077880" r:id="rId37"/>
    <p:sldId id="15077896" r:id="rId38"/>
    <p:sldId id="15077881"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DD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65"/>
    <p:restoredTop sz="81854"/>
  </p:normalViewPr>
  <p:slideViewPr>
    <p:cSldViewPr snapToGrid="0" snapToObjects="1">
      <p:cViewPr varScale="1">
        <p:scale>
          <a:sx n="111" d="100"/>
          <a:sy n="111" d="100"/>
        </p:scale>
        <p:origin x="2592" y="50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915E8-0D14-5A47-A140-2DDA56A25C59}" type="datetimeFigureOut">
              <a:rPr/>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4E518-724E-624D-9EAD-82F09AF346EF}" type="slidenum">
              <a:rPr/>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不应该以用户当前</a:t>
            </a:r>
            <a:r>
              <a:rPr lang="en-US" altLang="zh-CN"/>
              <a:t>ppt</a:t>
            </a:r>
            <a:r>
              <a:rPr lang="zh-CN" altLang="en-US"/>
              <a:t>页作为</a:t>
            </a:r>
            <a:r>
              <a:rPr lang="zh-CN" altLang="en-US"/>
              <a:t>唯一参考</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learn.microsoft.com</a:t>
            </a:r>
            <a:r>
              <a:rPr lang="en-US" dirty="0"/>
              <a:t>/</a:t>
            </a:r>
            <a:r>
              <a:rPr lang="en-US" dirty="0" err="1"/>
              <a:t>en</a:t>
            </a:r>
            <a:r>
              <a:rPr lang="en-US" dirty="0"/>
              <a:t>-us/azure/foundry/agents/concepts/what-is-memory</a:t>
            </a:r>
            <a:endParaRPr lang="en-US" dirty="0"/>
          </a:p>
          <a:p>
            <a:r>
              <a:rPr lang="en-US" dirty="0"/>
              <a:t>https://</a:t>
            </a:r>
            <a:r>
              <a:rPr lang="en-US" dirty="0" err="1"/>
              <a:t>learn.microsoft.com</a:t>
            </a:r>
            <a:r>
              <a:rPr lang="en-US" dirty="0"/>
              <a:t>/</a:t>
            </a:r>
            <a:r>
              <a:rPr lang="en-US" dirty="0" err="1"/>
              <a:t>en</a:t>
            </a:r>
            <a:r>
              <a:rPr lang="en-US" dirty="0"/>
              <a:t>-us/azure/foundry/agents/how-to/</a:t>
            </a:r>
            <a:r>
              <a:rPr lang="en-US" dirty="0" err="1"/>
              <a:t>memory-usage?tabs</a:t>
            </a:r>
            <a:r>
              <a:rPr lang="en-US" dirty="0"/>
              <a:t>=</a:t>
            </a:r>
            <a:r>
              <a:rPr lang="en-US" dirty="0" err="1"/>
              <a:t>bash&amp;pivots</a:t>
            </a:r>
            <a:r>
              <a:rPr lang="en-US" dirty="0"/>
              <a:t>=python</a:t>
            </a:r>
            <a:endParaRPr lang="en-US" dirty="0"/>
          </a:p>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EBA3730-B8ED-5241-9356-CFA63462568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E8BC7D67-4BDA-934C-813B-20D39CA1936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pic>
        <p:nvPicPr>
          <p:cNvPr id="8" name="Picture 7"/>
          <p:cNvPicPr>
            <a:picLocks noChangeAspect="1"/>
          </p:cNvPicPr>
          <p:nvPr userDrawn="1"/>
        </p:nvPicPr>
        <p:blipFill>
          <a:blip r:embed="rId2" cstate="print"/>
          <a:stretch>
            <a:fillRect/>
          </a:stretch>
        </p:blipFill>
        <p:spPr>
          <a:xfrm>
            <a:off x="838200" y="6307963"/>
            <a:ext cx="1730728" cy="46189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68DCEBA-0874-0047-B258-6D21558E577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pic>
        <p:nvPicPr>
          <p:cNvPr id="9" name="Picture 8"/>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Date Placeholder 4"/>
          <p:cNvSpPr>
            <a:spLocks noGrp="1"/>
          </p:cNvSpPr>
          <p:nvPr>
            <p:ph type="dt" sz="half" idx="10"/>
          </p:nvPr>
        </p:nvSpPr>
        <p:spPr/>
        <p:txBody>
          <a:bodyPr/>
          <a:lstStyle/>
          <a:p>
            <a:fld id="{3DD45924-FC7A-E748-B472-94864FE25CD0}"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pic>
        <p:nvPicPr>
          <p:cNvPr id="9" name="Picture 8"/>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7" name="Date Placeholder 6"/>
          <p:cNvSpPr>
            <a:spLocks noGrp="1"/>
          </p:cNvSpPr>
          <p:nvPr>
            <p:ph type="dt" sz="half" idx="10"/>
          </p:nvPr>
        </p:nvSpPr>
        <p:spPr/>
        <p:txBody>
          <a:bodyPr/>
          <a:lstStyle/>
          <a:p>
            <a:fld id="{0049D518-46CC-0445-A82F-A33248FB29F4}"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8CBF50-853B-304C-BCA2-DB5146F0D4EA}" type="slidenum">
              <a:rPr lang="en-US" smtClean="0"/>
            </a:fld>
            <a:endParaRPr lang="en-US"/>
          </a:p>
        </p:txBody>
      </p:sp>
      <p:pic>
        <p:nvPicPr>
          <p:cNvPr id="11" name="Picture 10"/>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DB098B3-3159-954E-A4EE-3A99BD682D89}"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8CBF50-853B-304C-BCA2-DB5146F0D4EA}" type="slidenum">
              <a:rPr lang="en-US" smtClean="0"/>
            </a:fld>
            <a:endParaRPr lang="en-US"/>
          </a:p>
        </p:txBody>
      </p:sp>
      <p:pic>
        <p:nvPicPr>
          <p:cNvPr id="7" name="Picture 6"/>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9C8581-A3B8-9241-9334-6424D11DDDAF}"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6" name="Picture 2" descr="HKU Business School"/>
          <p:cNvPicPr>
            <a:picLocks noChangeAspect="1" noChangeArrowheads="1"/>
          </p:cNvPicPr>
          <p:nvPr userDrawn="1"/>
        </p:nvPicPr>
        <p:blipFill>
          <a:blip r:embed="rId2"/>
          <a:srcRect/>
          <a:stretch>
            <a:fillRect/>
          </a:stretch>
        </p:blipFill>
        <p:spPr bwMode="auto">
          <a:xfrm>
            <a:off x="838200" y="6311079"/>
            <a:ext cx="2057400" cy="455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8CAA3F66-F045-AD46-A25F-AB89E126052D}" type="datetime1">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0FACE9F2-45D2-2F43-A57D-37460A721D95}"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ED2205E8-5199-9B4B-A33D-4FBA9CB7F0A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5A77CA1E-1E47-F44A-B5DA-1379D0D78F0D}"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4DB886-91AC-9243-912B-A45027386C2D}"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CBF50-853B-304C-BCA2-DB5146F0D4E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learn.microsoft.com/en-us/azure/foundry/agents/concepts/tool-best-practice#tool-support-by-region-and-mode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learn.microsoft.com/en-us/cli/azure/get-started-with-azure-cli?view=azure-cli-latest" TargetMode="External"/><Relationship Id="rId1" Type="http://schemas.openxmlformats.org/officeDocument/2006/relationships/hyperlink" Target="https://learn.microsoft.com/en-us/cli/azure/?view=azure-cli-latest"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microsoft.com/office/2007/relationships/media" Target="https://www.youtube.com/embed/9vf-BJyvx-Q?feature=oembed" TargetMode="External"/><Relationship Id="rId1" Type="http://schemas.openxmlformats.org/officeDocument/2006/relationships/video" Target="https://www.youtube.com/embed/9vf-BJyvx-Q?feature=oembe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solidFill>
                  <a:schemeClr val="accent2"/>
                </a:solidFill>
              </a:rPr>
              <a:t>Agents</a:t>
            </a:r>
            <a:endParaRPr lang="en-US" dirty="0"/>
          </a:p>
        </p:txBody>
      </p:sp>
      <p:sp>
        <p:nvSpPr>
          <p:cNvPr id="3" name="Subtitle 2"/>
          <p:cNvSpPr>
            <a:spLocks noGrp="1"/>
          </p:cNvSpPr>
          <p:nvPr>
            <p:ph type="subTitle" idx="1"/>
          </p:nvPr>
        </p:nvSpPr>
        <p:spPr/>
        <p:txBody>
          <a:bodyPr>
            <a:normAutofit/>
          </a:bodyPr>
          <a:lstStyle/>
          <a:p>
            <a:endParaRPr lang="en-US" dirty="0"/>
          </a:p>
          <a:p>
            <a:r>
              <a:rPr lang="en-US" dirty="0" err="1"/>
              <a:t>Hailiang</a:t>
            </a:r>
            <a:r>
              <a:rPr lang="en-US" dirty="0"/>
              <a:t> Chen</a:t>
            </a:r>
            <a:endParaRPr lang="en-US" dirty="0"/>
          </a:p>
          <a:p>
            <a:r>
              <a:rPr lang="en-US" altLang="zh-CN" dirty="0"/>
              <a:t>HKU</a:t>
            </a:r>
            <a:r>
              <a:rPr lang="zh-CN" altLang="en-US" dirty="0"/>
              <a:t> </a:t>
            </a:r>
            <a:r>
              <a:rPr lang="en-US" altLang="zh-CN" dirty="0"/>
              <a:t>Business</a:t>
            </a:r>
            <a:r>
              <a:rPr lang="zh-CN" altLang="en-US" dirty="0"/>
              <a:t> </a:t>
            </a:r>
            <a:r>
              <a:rPr lang="en-US" altLang="zh-CN" dirty="0"/>
              <a:t>School</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lstStyle/>
          <a:p>
            <a:r>
              <a:rPr lang="en-US" dirty="0"/>
              <a:t>What is an Agent?</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A Generative AI agent is an application that attempts to achieve a goal by observing the world and acting upon it using the tools that it has at its disposal.</a:t>
            </a:r>
            <a:endParaRPr lang="en-US" dirty="0"/>
          </a:p>
          <a:p>
            <a:r>
              <a:rPr lang="en-US" dirty="0"/>
              <a:t>Agents are </a:t>
            </a:r>
            <a:r>
              <a:rPr lang="en-US" dirty="0">
                <a:solidFill>
                  <a:schemeClr val="accent2"/>
                </a:solidFill>
              </a:rPr>
              <a:t>autonomous</a:t>
            </a:r>
            <a:r>
              <a:rPr lang="en-US" dirty="0"/>
              <a:t> and can act independently of human intervention.</a:t>
            </a:r>
            <a:endParaRPr lang="en-US" dirty="0"/>
          </a:p>
          <a:p>
            <a:r>
              <a:rPr lang="en-US" dirty="0"/>
              <a:t>Even in the absence of explicit instruction sets from a human, an agent can reason about what it should do next to achieve its ultimate goal.</a:t>
            </a:r>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ock-up of an expense agent responding to a question about monthly expenses."/>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632749" y="1621"/>
            <a:ext cx="10926501" cy="6856379"/>
          </a:xfrm>
          <a:prstGeom prst="rect">
            <a:avLst/>
          </a:prstGeom>
          <a:solidFill>
            <a:srgbClr val="FFFFFF"/>
          </a:solid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4098" name="Picture 2" descr="Mock-up of a travel agent responding to a booking reque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8475" y="0"/>
            <a:ext cx="11193463"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200" y="365125"/>
            <a:ext cx="10515600" cy="1325563"/>
          </a:xfrm>
        </p:spPr>
        <p:txBody>
          <a:bodyPr/>
          <a:lstStyle/>
          <a:p>
            <a:r>
              <a:rPr lang="en-US" dirty="0"/>
              <a:t>Model vs. Agent</a:t>
            </a:r>
            <a:endParaRPr lang="en-US" dirty="0"/>
          </a:p>
        </p:txBody>
      </p:sp>
      <p:graphicFrame>
        <p:nvGraphicFramePr>
          <p:cNvPr id="5" name="Content Placeholder 4"/>
          <p:cNvGraphicFramePr>
            <a:graphicFrameLocks noGrp="1"/>
          </p:cNvGraphicFramePr>
          <p:nvPr>
            <p:ph idx="1"/>
          </p:nvPr>
        </p:nvGraphicFramePr>
        <p:xfrm>
          <a:off x="838200" y="1825625"/>
          <a:ext cx="10515598" cy="4375660"/>
        </p:xfrm>
        <a:graphic>
          <a:graphicData uri="http://schemas.openxmlformats.org/drawingml/2006/table">
            <a:tbl>
              <a:tblPr firstRow="1" bandRow="1">
                <a:tableStyleId>{72833802-FEF1-4C79-8D5D-14CF1EAF98D9}</a:tableStyleId>
              </a:tblPr>
              <a:tblGrid>
                <a:gridCol w="2713074"/>
                <a:gridCol w="3901262"/>
                <a:gridCol w="3901262"/>
              </a:tblGrid>
              <a:tr h="370840">
                <a:tc>
                  <a:txBody>
                    <a:bodyPr/>
                    <a:lstStyle/>
                    <a:p>
                      <a:pPr>
                        <a:lnSpc>
                          <a:spcPct val="115000"/>
                        </a:lnSpc>
                        <a:spcAft>
                          <a:spcPts val="800"/>
                        </a:spcAft>
                      </a:pPr>
                      <a:r>
                        <a:rPr lang="en-US" sz="2400" b="1" kern="100" dirty="0">
                          <a:effectLst/>
                        </a:rPr>
                        <a:t>Aspect</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b="1" kern="100" dirty="0">
                          <a:effectLst/>
                        </a:rPr>
                        <a:t>Model</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b="1" kern="100" dirty="0">
                          <a:effectLst/>
                        </a:rPr>
                        <a:t>Agent</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r>
              <a:tr h="370840">
                <a:tc>
                  <a:txBody>
                    <a:bodyPr/>
                    <a:lstStyle/>
                    <a:p>
                      <a:pPr>
                        <a:lnSpc>
                          <a:spcPct val="115000"/>
                        </a:lnSpc>
                        <a:spcAft>
                          <a:spcPts val="800"/>
                        </a:spcAft>
                      </a:pPr>
                      <a:r>
                        <a:rPr lang="en-US" sz="2400" kern="100">
                          <a:solidFill>
                            <a:srgbClr val="000000"/>
                          </a:solidFill>
                          <a:effectLst/>
                        </a:rPr>
                        <a:t>Knowledge Scope</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kern="100" dirty="0">
                          <a:solidFill>
                            <a:srgbClr val="000000"/>
                          </a:solidFill>
                          <a:effectLst/>
                        </a:rPr>
                        <a:t>Limited to training data</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kern="100" dirty="0">
                          <a:solidFill>
                            <a:srgbClr val="000000"/>
                          </a:solidFill>
                          <a:effectLst/>
                        </a:rPr>
                        <a:t>Extended through external systems via tools</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r>
              <a:tr h="370840">
                <a:tc>
                  <a:txBody>
                    <a:bodyPr/>
                    <a:lstStyle/>
                    <a:p>
                      <a:pPr>
                        <a:lnSpc>
                          <a:spcPct val="115000"/>
                        </a:lnSpc>
                        <a:spcAft>
                          <a:spcPts val="800"/>
                        </a:spcAft>
                      </a:pPr>
                      <a:r>
                        <a:rPr lang="en-US" sz="2400" kern="100">
                          <a:effectLst/>
                        </a:rPr>
                        <a:t>Inference and Prediction</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r>
                        <a:rPr lang="en-US" sz="2400" kern="100" dirty="0">
                          <a:effectLst/>
                        </a:rPr>
                        <a:t>Single inference based on user query, </a:t>
                      </a:r>
                      <a:r>
                        <a:rPr lang="en-US" sz="2400" kern="1200" dirty="0">
                          <a:solidFill>
                            <a:schemeClr val="tx1"/>
                          </a:solidFill>
                          <a:effectLst/>
                          <a:latin typeface="+mn-lt"/>
                          <a:ea typeface="+mn-ea"/>
                          <a:cs typeface="+mn-cs"/>
                        </a:rPr>
                        <a:t>no management of session history</a:t>
                      </a:r>
                      <a:endParaRPr lang="en-US" sz="2400" kern="1200" dirty="0">
                        <a:solidFill>
                          <a:schemeClr val="tx1"/>
                        </a:solidFill>
                        <a:effectLst/>
                        <a:latin typeface="+mn-lt"/>
                        <a:ea typeface="+mn-ea"/>
                        <a:cs typeface="+mn-cs"/>
                      </a:endParaRPr>
                    </a:p>
                  </a:txBody>
                  <a:tcPr marL="68580" marR="68580" marT="0" marB="0"/>
                </a:tc>
                <a:tc>
                  <a:txBody>
                    <a:bodyPr/>
                    <a:lstStyle/>
                    <a:p>
                      <a:pPr>
                        <a:lnSpc>
                          <a:spcPct val="115000"/>
                        </a:lnSpc>
                        <a:spcAft>
                          <a:spcPts val="800"/>
                        </a:spcAft>
                      </a:pPr>
                      <a:r>
                        <a:rPr lang="en-US" sz="2400" kern="100" dirty="0">
                          <a:effectLst/>
                        </a:rPr>
                        <a:t>Managed session history for multi-turn inference</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r>
              <a:tr h="370840">
                <a:tc>
                  <a:txBody>
                    <a:bodyPr/>
                    <a:lstStyle/>
                    <a:p>
                      <a:pPr>
                        <a:lnSpc>
                          <a:spcPct val="115000"/>
                        </a:lnSpc>
                        <a:spcAft>
                          <a:spcPts val="800"/>
                        </a:spcAft>
                      </a:pPr>
                      <a:r>
                        <a:rPr lang="en-US" sz="2400" kern="100" dirty="0">
                          <a:solidFill>
                            <a:srgbClr val="000000"/>
                          </a:solidFill>
                          <a:effectLst/>
                        </a:rPr>
                        <a:t>Tool Implementation</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kern="100" dirty="0">
                          <a:solidFill>
                            <a:srgbClr val="000000"/>
                          </a:solidFill>
                          <a:effectLst/>
                        </a:rPr>
                        <a:t>No native tool implementation</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kern="100" dirty="0">
                          <a:solidFill>
                            <a:srgbClr val="000000"/>
                          </a:solidFill>
                          <a:effectLst/>
                        </a:rPr>
                        <a:t>Tools natively implemented</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r>
              <a:tr h="370840">
                <a:tc>
                  <a:txBody>
                    <a:bodyPr/>
                    <a:lstStyle/>
                    <a:p>
                      <a:pPr>
                        <a:lnSpc>
                          <a:spcPct val="115000"/>
                        </a:lnSpc>
                        <a:spcAft>
                          <a:spcPts val="800"/>
                        </a:spcAft>
                      </a:pPr>
                      <a:r>
                        <a:rPr lang="en-US" sz="2400" kern="100">
                          <a:effectLst/>
                        </a:rPr>
                        <a:t>Logic Layer</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kern="100">
                          <a:effectLst/>
                        </a:rPr>
                        <a:t>No native logic layer, relies on user prompts</a:t>
                      </a:r>
                      <a:endParaRPr lang="en-US" sz="2400" kern="10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c>
                  <a:txBody>
                    <a:bodyPr/>
                    <a:lstStyle/>
                    <a:p>
                      <a:pPr>
                        <a:lnSpc>
                          <a:spcPct val="115000"/>
                        </a:lnSpc>
                        <a:spcAft>
                          <a:spcPts val="800"/>
                        </a:spcAft>
                      </a:pPr>
                      <a:r>
                        <a:rPr lang="en-US" sz="2400" kern="100" dirty="0">
                          <a:effectLst/>
                        </a:rPr>
                        <a:t>Native cognitive architecture with reasoning frameworks like </a:t>
                      </a:r>
                      <a:r>
                        <a:rPr lang="en-US" sz="2400" kern="100" dirty="0" err="1">
                          <a:effectLst/>
                        </a:rPr>
                        <a:t>CoT</a:t>
                      </a:r>
                      <a:r>
                        <a:rPr lang="en-US" sz="2400" kern="100" dirty="0">
                          <a:effectLst/>
                        </a:rPr>
                        <a:t> and </a:t>
                      </a:r>
                      <a:r>
                        <a:rPr lang="en-US" sz="2400" kern="100" dirty="0" err="1">
                          <a:effectLst/>
                        </a:rPr>
                        <a:t>ReAct</a:t>
                      </a:r>
                      <a:endParaRPr lang="en-US" sz="2400" kern="100" dirty="0">
                        <a:effectLst/>
                        <a:latin typeface="Aptos" panose="020B0004020202020204" pitchFamily="34" charset="0"/>
                        <a:ea typeface="等线" panose="02010600030101010101" pitchFamily="2" charset="-122"/>
                        <a:cs typeface="Times New Roman" panose="02020603050405020304" pitchFamily="18" charset="0"/>
                      </a:endParaRPr>
                    </a:p>
                  </a:txBody>
                  <a:tcPr marL="68580" marR="68580" marT="0" marB="0"/>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1026" name="Picture 2" descr="Diagram of an agent's components consisting of a language model, instructions, and tool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65749" y="1476230"/>
            <a:ext cx="11660502" cy="53817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2050" name="Picture 2" descr="A diagram showing the components of an AI agent."/>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62777" y="1825625"/>
            <a:ext cx="10466446" cy="4351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838200" y="365125"/>
            <a:ext cx="10515600" cy="1325563"/>
          </a:xfrm>
        </p:spPr>
        <p:txBody>
          <a:bodyPr anchor="ctr">
            <a:normAutofit/>
          </a:bodyPr>
          <a:lstStyle/>
          <a:p>
            <a:r>
              <a:rPr lang="en-US" dirty="0">
                <a:effectLst/>
              </a:rPr>
              <a:t>Agent Architecture and Components</a:t>
            </a:r>
            <a:endParaRPr lang="en-US" dirty="0"/>
          </a:p>
        </p:txBody>
      </p:sp>
      <p:pic>
        <p:nvPicPr>
          <p:cNvPr id="5" name="Content Placeholder 4" descr="A screenshot of a computer&#10;&#10;Description automatically generated"/>
          <p:cNvPicPr>
            <a:picLocks noGrp="1" noChangeAspect="1"/>
          </p:cNvPicPr>
          <p:nvPr>
            <p:ph idx="1"/>
          </p:nvPr>
        </p:nvPicPr>
        <p:blipFill>
          <a:blip r:embed="rId1"/>
          <a:stretch>
            <a:fillRect/>
          </a:stretch>
        </p:blipFill>
        <p:spPr>
          <a:xfrm>
            <a:off x="2376907" y="1825625"/>
            <a:ext cx="7438186" cy="4351338"/>
          </a:xfrm>
          <a:prstGeom prst="rect">
            <a:avLst/>
          </a:prstGeom>
          <a:noFill/>
        </p:spPr>
      </p:pic>
      <p:sp>
        <p:nvSpPr>
          <p:cNvPr id="4" name="Slide Number Placeholder 3"/>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US" smtClean="0"/>
            </a:fld>
            <a:endParaRPr lang="en-US"/>
          </a:p>
        </p:txBody>
      </p:sp>
      <p:sp>
        <p:nvSpPr>
          <p:cNvPr id="2" name="TextBox 1"/>
          <p:cNvSpPr txBox="1"/>
          <p:nvPr/>
        </p:nvSpPr>
        <p:spPr>
          <a:xfrm>
            <a:off x="3088195" y="6400412"/>
            <a:ext cx="6015610"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Google</a:t>
            </a:r>
            <a:endParaRPr lang="en-US" sz="1200" dirty="0">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head with white icons and symbols&#10;&#10;AI-generated content may be incorrect."/>
          <p:cNvPicPr>
            <a:picLocks noChangeAspect="1"/>
          </p:cNvPicPr>
          <p:nvPr/>
        </p:nvPicPr>
        <p:blipFill>
          <a:blip r:embed="rId1"/>
          <a:stretch>
            <a:fillRect/>
          </a:stretch>
        </p:blipFill>
        <p:spPr>
          <a:xfrm>
            <a:off x="1507003" y="68263"/>
            <a:ext cx="9177993" cy="617220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192000" cy="6850864"/>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204700" cy="685800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err="1"/>
              <a:t>ReAct</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Combines reasoning and acting for better decision-making.</a:t>
            </a:r>
            <a:endParaRPr lang="en-US" dirty="0"/>
          </a:p>
          <a:p>
            <a:r>
              <a:rPr lang="en-US" dirty="0"/>
              <a:t>Enhances LLMs by integrating logical reasoning with actions.</a:t>
            </a:r>
            <a:endParaRPr lang="en-US" dirty="0"/>
          </a:p>
          <a:p>
            <a:r>
              <a:rPr lang="en-US" dirty="0"/>
              <a:t>Improves response accuracy and relevance.</a:t>
            </a:r>
            <a:endParaRPr lang="en-US" dirty="0"/>
          </a:p>
          <a:p>
            <a:endParaRPr lang="en-US" dirty="0"/>
          </a:p>
          <a:p>
            <a:r>
              <a:rPr lang="en-US" dirty="0"/>
              <a:t>Two Components:</a:t>
            </a:r>
            <a:endParaRPr lang="en-US" dirty="0"/>
          </a:p>
          <a:p>
            <a:pPr lvl="1"/>
            <a:r>
              <a:rPr lang="en-US" dirty="0"/>
              <a:t>Reasoning: Logical inference and deduction.</a:t>
            </a:r>
            <a:endParaRPr lang="en-US" dirty="0"/>
          </a:p>
          <a:p>
            <a:pPr lvl="1"/>
            <a:r>
              <a:rPr lang="en-US" dirty="0"/>
              <a:t>Acting: Executing actions based on reasoning.</a:t>
            </a:r>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204700" cy="685800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a:t>
            </a:r>
            <a:endParaRPr lang="en-US" dirty="0"/>
          </a:p>
        </p:txBody>
      </p:sp>
      <p:sp>
        <p:nvSpPr>
          <p:cNvPr id="3" name="Content Placeholder 2"/>
          <p:cNvSpPr>
            <a:spLocks noGrp="1"/>
          </p:cNvSpPr>
          <p:nvPr>
            <p:ph idx="1"/>
          </p:nvPr>
        </p:nvSpPr>
        <p:spPr/>
        <p:txBody>
          <a:bodyPr/>
          <a:lstStyle/>
          <a:p>
            <a:r>
              <a:rPr lang="en-US" dirty="0"/>
              <a:t>Function calling</a:t>
            </a:r>
            <a:endParaRPr lang="en-US" dirty="0"/>
          </a:p>
          <a:p>
            <a:r>
              <a:rPr lang="en-US" dirty="0"/>
              <a:t>Code interpreter</a:t>
            </a:r>
            <a:endParaRPr lang="en-US" dirty="0"/>
          </a:p>
          <a:p>
            <a:r>
              <a:rPr lang="en-US" dirty="0"/>
              <a:t>File search (simple RAG with user-uploaded files)</a:t>
            </a:r>
            <a:endParaRPr lang="en-US" dirty="0"/>
          </a:p>
          <a:p>
            <a:r>
              <a:rPr lang="en-US" dirty="0"/>
              <a:t>Azure AI search (existing AI search index)</a:t>
            </a:r>
            <a:endParaRPr lang="en-US" dirty="0"/>
          </a:p>
          <a:p>
            <a:r>
              <a:rPr lang="en-US" dirty="0"/>
              <a:t>Web search</a:t>
            </a:r>
            <a:endParaRPr lang="en-US" dirty="0"/>
          </a:p>
          <a:p>
            <a:r>
              <a:rPr lang="en-US" dirty="0"/>
              <a:t>Grounding with Bing Search</a:t>
            </a:r>
            <a:endParaRPr lang="en-US" dirty="0"/>
          </a:p>
          <a:p>
            <a:r>
              <a:rPr lang="en-US" dirty="0"/>
              <a:t>Grounding with Bing Custom Search (selected web domains)</a:t>
            </a:r>
            <a:endParaRPr lang="en-US" dirty="0"/>
          </a:p>
          <a:p>
            <a:r>
              <a:rPr lang="en-US" dirty="0"/>
              <a:t>Model Context Protocol (MCP)</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Tool support by region and model</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hlinkClick r:id="rId1"/>
              </a:rPr>
              <a:t>https://learn.microsoft.com/en-us/azure/foundry/agents/concepts/tool-best-practice#tool-support-by-region-and-model</a:t>
            </a:r>
            <a:endParaRPr lang="en-US" dirty="0"/>
          </a:p>
          <a:p>
            <a:endParaRPr lang="en-US" dirty="0"/>
          </a:p>
          <a:p>
            <a:r>
              <a:rPr lang="en-US" dirty="0"/>
              <a:t>Code Interpreter NOT available in </a:t>
            </a:r>
            <a:r>
              <a:rPr lang="en-US" dirty="0" err="1"/>
              <a:t>japaneast</a:t>
            </a:r>
            <a:r>
              <a:rPr lang="en-US" dirty="0"/>
              <a:t>, </a:t>
            </a:r>
            <a:r>
              <a:rPr lang="en-US" dirty="0" err="1"/>
              <a:t>southcentralus</a:t>
            </a:r>
            <a:r>
              <a:rPr lang="en-US" dirty="0"/>
              <a:t>, </a:t>
            </a:r>
            <a:r>
              <a:rPr lang="en-US" dirty="0" err="1"/>
              <a:t>southeastasia</a:t>
            </a:r>
            <a:r>
              <a:rPr lang="en-US" dirty="0"/>
              <a:t>, </a:t>
            </a:r>
            <a:r>
              <a:rPr lang="en-US" dirty="0" err="1"/>
              <a:t>spaincentra</a:t>
            </a:r>
            <a:endParaRPr lang="en-US" dirty="0"/>
          </a:p>
          <a:p>
            <a:r>
              <a:rPr lang="en-US" dirty="0"/>
              <a:t>Computer Use ONLY available in </a:t>
            </a:r>
            <a:r>
              <a:rPr lang="en-US" dirty="0">
                <a:solidFill>
                  <a:schemeClr val="accent2"/>
                </a:solidFill>
              </a:rPr>
              <a:t>eastus2, </a:t>
            </a:r>
            <a:r>
              <a:rPr lang="en-US" dirty="0" err="1">
                <a:solidFill>
                  <a:schemeClr val="accent2"/>
                </a:solidFill>
              </a:rPr>
              <a:t>southindia</a:t>
            </a:r>
            <a:r>
              <a:rPr lang="en-US" dirty="0">
                <a:solidFill>
                  <a:schemeClr val="accent2"/>
                </a:solidFill>
              </a:rPr>
              <a:t>, </a:t>
            </a:r>
            <a:r>
              <a:rPr lang="en-US" dirty="0" err="1">
                <a:solidFill>
                  <a:schemeClr val="accent2"/>
                </a:solidFill>
              </a:rPr>
              <a:t>swedencentral</a:t>
            </a:r>
            <a:endParaRPr lang="en-US" dirty="0">
              <a:solidFill>
                <a:schemeClr val="accent2"/>
              </a:solidFill>
            </a:endParaRPr>
          </a:p>
          <a:p>
            <a:r>
              <a:rPr lang="en-US" dirty="0"/>
              <a:t>Function NOT available in </a:t>
            </a:r>
            <a:r>
              <a:rPr lang="en-US" dirty="0" err="1"/>
              <a:t>brazilsouth</a:t>
            </a:r>
            <a:r>
              <a:rPr lang="en-US" dirty="0"/>
              <a:t>, </a:t>
            </a:r>
            <a:r>
              <a:rPr lang="en-US" dirty="0" err="1"/>
              <a:t>northcentralus</a:t>
            </a:r>
            <a:r>
              <a:rPr lang="en-US" dirty="0"/>
              <a:t>, </a:t>
            </a:r>
            <a:r>
              <a:rPr lang="en-US" dirty="0" err="1"/>
              <a:t>southcentralus</a:t>
            </a:r>
            <a:r>
              <a:rPr lang="en-US" dirty="0"/>
              <a:t>, </a:t>
            </a:r>
            <a:r>
              <a:rPr lang="en-US" dirty="0" err="1"/>
              <a:t>westus</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 Function Calling</a:t>
            </a:r>
            <a:endParaRPr lang="en-US" dirty="0"/>
          </a:p>
        </p:txBody>
      </p:sp>
      <p:sp>
        <p:nvSpPr>
          <p:cNvPr id="3" name="Content Placeholder 2"/>
          <p:cNvSpPr>
            <a:spLocks noGrp="1"/>
          </p:cNvSpPr>
          <p:nvPr>
            <p:ph idx="1"/>
          </p:nvPr>
        </p:nvSpPr>
        <p:spPr/>
        <p:txBody>
          <a:bodyPr/>
          <a:lstStyle/>
          <a:p>
            <a:r>
              <a:rPr lang="en-US" dirty="0"/>
              <a:t>Programs: </a:t>
            </a:r>
            <a:endParaRPr lang="en-US" dirty="0"/>
          </a:p>
          <a:p>
            <a:pPr lvl="1"/>
            <a:r>
              <a:rPr lang="en-US" dirty="0" err="1">
                <a:solidFill>
                  <a:schemeClr val="accent2"/>
                </a:solidFill>
              </a:rPr>
              <a:t>agent_function_calling.py</a:t>
            </a:r>
            <a:endParaRPr lang="en-US" dirty="0">
              <a:solidFill>
                <a:schemeClr val="accent2"/>
              </a:solidFill>
            </a:endParaRPr>
          </a:p>
          <a:p>
            <a:pPr lvl="1"/>
            <a:r>
              <a:rPr lang="en-US" dirty="0">
                <a:solidFill>
                  <a:schemeClr val="accent2"/>
                </a:solidFill>
              </a:rPr>
              <a:t>agent_function_calling_v2.py</a:t>
            </a:r>
            <a:endParaRPr lang="en-US" dirty="0">
              <a:solidFill>
                <a:schemeClr val="accent2"/>
              </a:solidFill>
            </a:endParaRPr>
          </a:p>
          <a:p>
            <a:endParaRPr lang="en-US" dirty="0"/>
          </a:p>
          <a:p>
            <a:r>
              <a:rPr lang="en-US" dirty="0"/>
              <a:t>Create and use an agent with three functions</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740390" cy="1325563"/>
          </a:xfrm>
        </p:spPr>
        <p:txBody>
          <a:bodyPr>
            <a:normAutofit/>
          </a:bodyPr>
          <a:lstStyle/>
          <a:p>
            <a:r>
              <a:rPr lang="en-US" dirty="0" err="1">
                <a:solidFill>
                  <a:schemeClr val="accent2"/>
                </a:solidFill>
              </a:rPr>
              <a:t>DefaultAzureCredential</a:t>
            </a:r>
            <a:r>
              <a:rPr lang="en-US" dirty="0">
                <a:solidFill>
                  <a:schemeClr val="accent2"/>
                </a:solidFill>
              </a:rPr>
              <a:t>() </a:t>
            </a:r>
            <a:r>
              <a:rPr lang="en-US" dirty="0"/>
              <a:t>| </a:t>
            </a:r>
            <a:r>
              <a:rPr lang="en-US" dirty="0" err="1">
                <a:solidFill>
                  <a:schemeClr val="accent2"/>
                </a:solidFill>
              </a:rPr>
              <a:t>AzureCliCredential</a:t>
            </a:r>
            <a:r>
              <a:rPr lang="en-US" dirty="0">
                <a:solidFill>
                  <a:schemeClr val="accent2"/>
                </a:solidFill>
              </a:rPr>
              <a:t>()</a:t>
            </a:r>
            <a:endParaRPr lang="en-US" dirty="0">
              <a:solidFill>
                <a:schemeClr val="accent2"/>
              </a:solidFill>
            </a:endParaRPr>
          </a:p>
        </p:txBody>
      </p:sp>
      <p:sp>
        <p:nvSpPr>
          <p:cNvPr id="3" name="Content Placeholder 2"/>
          <p:cNvSpPr>
            <a:spLocks noGrp="1"/>
          </p:cNvSpPr>
          <p:nvPr>
            <p:ph idx="1"/>
          </p:nvPr>
        </p:nvSpPr>
        <p:spPr/>
        <p:txBody>
          <a:bodyPr>
            <a:normAutofit lnSpcReduction="10000"/>
          </a:bodyPr>
          <a:lstStyle/>
          <a:p>
            <a:r>
              <a:rPr lang="en-US" dirty="0"/>
              <a:t>Register on Azure Portal with your HKU email address</a:t>
            </a:r>
            <a:endParaRPr lang="en-US" dirty="0"/>
          </a:p>
          <a:p>
            <a:r>
              <a:rPr lang="en-US" dirty="0"/>
              <a:t>Install Azure Command-Line Interface (CLI) on your computer</a:t>
            </a:r>
            <a:endParaRPr lang="en-US" dirty="0"/>
          </a:p>
          <a:p>
            <a:pPr lvl="1"/>
            <a:r>
              <a:rPr lang="en-US" dirty="0">
                <a:hlinkClick r:id="rId1"/>
              </a:rPr>
              <a:t>https://learn.microsoft.com/en-us/cli/azure/?view=azure-cli-latest</a:t>
            </a:r>
            <a:r>
              <a:rPr lang="en-US" dirty="0"/>
              <a:t> </a:t>
            </a:r>
            <a:endParaRPr lang="en-US" dirty="0"/>
          </a:p>
          <a:p>
            <a:r>
              <a:rPr lang="en-US" dirty="0"/>
              <a:t>Run </a:t>
            </a:r>
            <a:r>
              <a:rPr lang="en-US" dirty="0" err="1"/>
              <a:t>az</a:t>
            </a:r>
            <a:r>
              <a:rPr lang="en-US" dirty="0"/>
              <a:t> login to login with your </a:t>
            </a:r>
            <a:r>
              <a:rPr lang="en-US" dirty="0" err="1"/>
              <a:t>hku</a:t>
            </a:r>
            <a:r>
              <a:rPr lang="en-US" dirty="0"/>
              <a:t> email address and select the subscription associated with the Foundry project (</a:t>
            </a:r>
            <a:r>
              <a:rPr lang="en-US" dirty="0">
                <a:solidFill>
                  <a:schemeClr val="accent2"/>
                </a:solidFill>
              </a:rPr>
              <a:t>see next slide</a:t>
            </a:r>
            <a:r>
              <a:rPr lang="en-US" dirty="0"/>
              <a:t>)</a:t>
            </a:r>
            <a:endParaRPr lang="en-US" dirty="0"/>
          </a:p>
          <a:p>
            <a:pPr lvl="1"/>
            <a:r>
              <a:rPr lang="en-US" dirty="0">
                <a:hlinkClick r:id="rId2"/>
              </a:rPr>
              <a:t>https://learn.microsoft.com/en-us/cli/azure/get-started-with-azure-cli?view=azure-cli-latest</a:t>
            </a:r>
            <a:r>
              <a:rPr lang="en-US" dirty="0"/>
              <a:t> </a:t>
            </a:r>
            <a:endParaRPr lang="en-US" dirty="0"/>
          </a:p>
          <a:p>
            <a:r>
              <a:rPr lang="en-US" dirty="0"/>
              <a:t>Update the four environment variables starting with “</a:t>
            </a:r>
            <a:r>
              <a:rPr lang="en-US" dirty="0"/>
              <a:t>FOUNDRY_PROJECT_” in the</a:t>
            </a:r>
            <a:r>
              <a:rPr lang="en-US" dirty="0"/>
              <a:t> .env file based on the Foundry project</a:t>
            </a:r>
            <a:endParaRPr lang="en-US" dirty="0"/>
          </a:p>
          <a:p>
            <a:pPr lvl="1"/>
            <a:r>
              <a:rPr lang="en-US" dirty="0"/>
              <a:t>FOUNDRY_PROJECT_ENDPOINT=https://applied-</a:t>
            </a:r>
            <a:r>
              <a:rPr lang="en-US" dirty="0" err="1"/>
              <a:t>llm</a:t>
            </a:r>
            <a:r>
              <a:rPr lang="en-US" dirty="0"/>
              <a:t>-</a:t>
            </a:r>
            <a:r>
              <a:rPr lang="en-US" dirty="0" err="1"/>
              <a:t>resource.services.ai.azure.com</a:t>
            </a:r>
            <a:r>
              <a:rPr lang="en-US" dirty="0"/>
              <a:t>/</a:t>
            </a:r>
            <a:r>
              <a:rPr lang="en-US" dirty="0" err="1"/>
              <a:t>api</a:t>
            </a:r>
            <a:r>
              <a:rPr lang="en-US" dirty="0"/>
              <a:t>/projects/</a:t>
            </a:r>
            <a:r>
              <a:rPr lang="en-US" dirty="0">
                <a:solidFill>
                  <a:schemeClr val="accent2"/>
                </a:solidFill>
              </a:rPr>
              <a:t>tai-man-</a:t>
            </a:r>
            <a:r>
              <a:rPr lang="en-US" dirty="0" err="1">
                <a:solidFill>
                  <a:schemeClr val="accent2"/>
                </a:solidFill>
              </a:rPr>
              <a:t>chan</a:t>
            </a:r>
            <a:r>
              <a:rPr lang="en-US" dirty="0">
                <a:solidFill>
                  <a:schemeClr val="accent2"/>
                </a:solidFill>
              </a:rPr>
              <a:t>-project</a:t>
            </a:r>
            <a:endParaRPr lang="en-US" dirty="0">
              <a:solidFill>
                <a:schemeClr val="accent2"/>
              </a:solidFill>
            </a:endParaRPr>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838200" y="365125"/>
            <a:ext cx="10515600" cy="1325563"/>
          </a:xfrm>
        </p:spPr>
        <p:txBody>
          <a:bodyPr/>
          <a:lstStyle/>
          <a:p>
            <a:r>
              <a:rPr lang="en-US" dirty="0"/>
              <a:t>Select 3 (Subscription name=Teaching) when running </a:t>
            </a:r>
            <a:r>
              <a:rPr lang="en-US" dirty="0" err="1"/>
              <a:t>az</a:t>
            </a:r>
            <a:r>
              <a:rPr lang="en-US" dirty="0"/>
              <a:t> login</a:t>
            </a:r>
            <a:endParaRPr lang="en-US" dirty="0"/>
          </a:p>
        </p:txBody>
      </p:sp>
      <p:pic>
        <p:nvPicPr>
          <p:cNvPr id="5" name="Picture 4"/>
          <p:cNvPicPr>
            <a:picLocks noChangeAspect="1"/>
          </p:cNvPicPr>
          <p:nvPr/>
        </p:nvPicPr>
        <p:blipFill>
          <a:blip r:embed="rId1"/>
          <a:stretch>
            <a:fillRect/>
          </a:stretch>
        </p:blipFill>
        <p:spPr>
          <a:xfrm>
            <a:off x="2656207" y="1825625"/>
            <a:ext cx="6879585" cy="4351338"/>
          </a:xfrm>
          <a:prstGeom prst="rect">
            <a:avLst/>
          </a:prstGeom>
          <a:noFill/>
        </p:spPr>
      </p:pic>
      <p:sp>
        <p:nvSpPr>
          <p:cNvPr id="4" name="Slide Number Placeholder 3"/>
          <p:cNvSpPr>
            <a:spLocks noGrp="1"/>
          </p:cNvSpPr>
          <p:nvPr>
            <p:ph type="sldNum" sz="quarter" idx="12"/>
          </p:nvPr>
        </p:nvSpPr>
        <p:spPr>
          <a:xfrm>
            <a:off x="8610600" y="6356350"/>
            <a:ext cx="2743200" cy="365125"/>
          </a:xfrm>
        </p:spPr>
        <p:txBody>
          <a:bodyPr anchor="ctr">
            <a:normAutofit/>
          </a:bodyPr>
          <a:lstStyle/>
          <a:p>
            <a:pPr>
              <a:spcAft>
                <a:spcPts val="600"/>
              </a:spcAft>
            </a:pPr>
            <a:fld id="{7F8CBF50-853B-304C-BCA2-DB5146F0D4EA}"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Switch</a:t>
            </a:r>
            <a:r>
              <a:rPr lang="zh-CN" altLang="en-US" dirty="0"/>
              <a:t> </a:t>
            </a:r>
            <a:r>
              <a:rPr lang="en-US" altLang="zh-CN" dirty="0"/>
              <a:t>Directory in Azure</a:t>
            </a:r>
            <a:endParaRPr lang="en-US" dirty="0"/>
          </a:p>
        </p:txBody>
      </p:sp>
      <p:pic>
        <p:nvPicPr>
          <p:cNvPr id="5" name="Content Placeholder 4"/>
          <p:cNvPicPr>
            <a:picLocks noGrp="1" noChangeAspect="1"/>
          </p:cNvPicPr>
          <p:nvPr>
            <p:ph idx="1"/>
          </p:nvPr>
        </p:nvPicPr>
        <p:blipFill>
          <a:blip r:embed="rId1"/>
          <a:stretch>
            <a:fillRect/>
          </a:stretch>
        </p:blipFill>
        <p:spPr>
          <a:xfrm>
            <a:off x="3581400" y="2204244"/>
            <a:ext cx="5029200" cy="3594100"/>
          </a:xfrm>
          <a:prstGeom prst="rect">
            <a:avLst/>
          </a:prstGeom>
        </p:spPr>
      </p:pic>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192000" cy="6850864"/>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 with Code Interpreter</a:t>
            </a:r>
            <a:endParaRPr lang="en-US" dirty="0"/>
          </a:p>
        </p:txBody>
      </p:sp>
      <p:sp>
        <p:nvSpPr>
          <p:cNvPr id="3" name="Content Placeholder 2"/>
          <p:cNvSpPr>
            <a:spLocks noGrp="1"/>
          </p:cNvSpPr>
          <p:nvPr>
            <p:ph idx="1"/>
          </p:nvPr>
        </p:nvSpPr>
        <p:spPr/>
        <p:txBody>
          <a:bodyPr/>
          <a:lstStyle/>
          <a:p>
            <a:r>
              <a:rPr lang="en-US" dirty="0"/>
              <a:t>Programs: </a:t>
            </a:r>
            <a:r>
              <a:rPr lang="en-US" dirty="0" err="1">
                <a:solidFill>
                  <a:schemeClr val="accent2"/>
                </a:solidFill>
              </a:rPr>
              <a:t>agent_code_interpreter_airbnb.py</a:t>
            </a:r>
            <a:r>
              <a:rPr lang="en-US" dirty="0">
                <a:solidFill>
                  <a:schemeClr val="accent2"/>
                </a:solidFill>
              </a:rPr>
              <a:t> </a:t>
            </a:r>
            <a:r>
              <a:rPr lang="en-US" dirty="0"/>
              <a:t>(simple version) and </a:t>
            </a:r>
            <a:r>
              <a:rPr lang="en-US" dirty="0" err="1">
                <a:solidFill>
                  <a:schemeClr val="accent2"/>
                </a:solidFill>
              </a:rPr>
              <a:t>agent_code_interpreter.py</a:t>
            </a:r>
            <a:r>
              <a:rPr lang="en-US" dirty="0">
                <a:solidFill>
                  <a:schemeClr val="accent2"/>
                </a:solidFill>
              </a:rPr>
              <a:t> </a:t>
            </a:r>
            <a:r>
              <a:rPr lang="en-US" dirty="0"/>
              <a:t>(more streamlined)</a:t>
            </a:r>
            <a:endParaRPr lang="en-US" dirty="0"/>
          </a:p>
          <a:p>
            <a:endParaRPr lang="en-US" dirty="0"/>
          </a:p>
          <a:p>
            <a:r>
              <a:rPr lang="en-US" dirty="0"/>
              <a:t>Create an agent with Code Interpreter</a:t>
            </a:r>
            <a:endParaRPr lang="en-US" dirty="0"/>
          </a:p>
          <a:p>
            <a:r>
              <a:rPr lang="en-US" dirty="0"/>
              <a:t>Use an existing agent for data analysis</a:t>
            </a:r>
            <a:endParaRPr lang="en-US" dirty="0"/>
          </a:p>
          <a:p>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Movie DB Agent</a:t>
            </a:r>
            <a:endParaRPr lang="en-US" dirty="0"/>
          </a:p>
        </p:txBody>
      </p:sp>
      <p:sp>
        <p:nvSpPr>
          <p:cNvPr id="3" name="Content Placeholder 2"/>
          <p:cNvSpPr>
            <a:spLocks noGrp="1"/>
          </p:cNvSpPr>
          <p:nvPr>
            <p:ph idx="1"/>
          </p:nvPr>
        </p:nvSpPr>
        <p:spPr/>
        <p:txBody>
          <a:bodyPr/>
          <a:lstStyle/>
          <a:p>
            <a:r>
              <a:rPr lang="en-US" dirty="0"/>
              <a:t>Agent Capabilities</a:t>
            </a:r>
            <a:endParaRPr lang="en-US" dirty="0"/>
          </a:p>
          <a:p>
            <a:pPr lvl="1"/>
            <a:r>
              <a:rPr lang="en-US" dirty="0"/>
              <a:t>Function Tool</a:t>
            </a:r>
            <a:endParaRPr lang="en-US" dirty="0"/>
          </a:p>
          <a:p>
            <a:pPr lvl="1"/>
            <a:r>
              <a:rPr lang="en-US" dirty="0"/>
              <a:t>Code Interpreter Tool</a:t>
            </a:r>
            <a:endParaRPr lang="en-US" dirty="0"/>
          </a:p>
          <a:p>
            <a:r>
              <a:rPr lang="en-US" dirty="0"/>
              <a:t>Building Bocks / Code Examples:</a:t>
            </a:r>
            <a:endParaRPr lang="en-US" dirty="0"/>
          </a:p>
          <a:p>
            <a:pPr lvl="1"/>
            <a:r>
              <a:rPr lang="en-US" dirty="0" err="1">
                <a:solidFill>
                  <a:schemeClr val="accent2"/>
                </a:solidFill>
              </a:rPr>
              <a:t>agent_function_calling.py</a:t>
            </a:r>
            <a:endParaRPr lang="en-US" dirty="0">
              <a:solidFill>
                <a:schemeClr val="accent2"/>
              </a:solidFill>
            </a:endParaRPr>
          </a:p>
          <a:p>
            <a:pPr lvl="1"/>
            <a:r>
              <a:rPr lang="en-US" dirty="0" err="1">
                <a:solidFill>
                  <a:schemeClr val="accent2"/>
                </a:solidFill>
              </a:rPr>
              <a:t>agent_code_interpreter.py</a:t>
            </a:r>
            <a:endParaRPr lang="en-US" dirty="0">
              <a:solidFill>
                <a:schemeClr val="accent2"/>
              </a:solidFill>
            </a:endParaRPr>
          </a:p>
          <a:p>
            <a:pPr lvl="1"/>
            <a:r>
              <a:rPr lang="en-US" dirty="0" err="1">
                <a:solidFill>
                  <a:schemeClr val="accent2"/>
                </a:solidFill>
              </a:rPr>
              <a:t>function_call_db.py</a:t>
            </a:r>
            <a:r>
              <a:rPr lang="en-US" dirty="0">
                <a:solidFill>
                  <a:schemeClr val="accent2"/>
                </a:solidFill>
              </a:rPr>
              <a:t> (from Lecture 4)</a:t>
            </a:r>
            <a:endParaRPr lang="en-US" dirty="0"/>
          </a:p>
          <a:p>
            <a:r>
              <a:rPr lang="en-US" dirty="0"/>
              <a:t> Programs written by GitHub Copilot</a:t>
            </a:r>
            <a:endParaRPr lang="en-US" dirty="0"/>
          </a:p>
          <a:p>
            <a:pPr lvl="1"/>
            <a:r>
              <a:rPr lang="en-US" dirty="0" err="1">
                <a:solidFill>
                  <a:schemeClr val="accent2"/>
                </a:solidFill>
              </a:rPr>
              <a:t>agent_function_call_db.py</a:t>
            </a:r>
            <a:endParaRPr lang="en-US" dirty="0">
              <a:solidFill>
                <a:schemeClr val="accent2"/>
              </a:solidFill>
            </a:endParaRPr>
          </a:p>
          <a:p>
            <a:pPr lvl="1"/>
            <a:r>
              <a:rPr lang="en-US" dirty="0" err="1">
                <a:solidFill>
                  <a:schemeClr val="accent2"/>
                </a:solidFill>
              </a:rPr>
              <a:t>agent_function_call_db_streamlit.py</a:t>
            </a:r>
            <a:endParaRPr lang="en-US" dirty="0">
              <a:solidFill>
                <a:schemeClr val="accent2"/>
              </a:solidFill>
            </a:endParaRPr>
          </a:p>
          <a:p>
            <a:pPr marL="457200" lvl="1" indent="0">
              <a:buNone/>
            </a:pP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204700" cy="685800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RAG Agent with File Search</a:t>
            </a:r>
            <a:endParaRPr lang="en-US" dirty="0"/>
          </a:p>
        </p:txBody>
      </p:sp>
      <p:sp>
        <p:nvSpPr>
          <p:cNvPr id="3" name="Content Placeholder 2"/>
          <p:cNvSpPr>
            <a:spLocks noGrp="1"/>
          </p:cNvSpPr>
          <p:nvPr>
            <p:ph idx="1"/>
          </p:nvPr>
        </p:nvSpPr>
        <p:spPr/>
        <p:txBody>
          <a:bodyPr/>
          <a:lstStyle/>
          <a:p>
            <a:r>
              <a:rPr lang="en-US" dirty="0"/>
              <a:t>Programs</a:t>
            </a:r>
            <a:endParaRPr lang="en-US" dirty="0"/>
          </a:p>
          <a:p>
            <a:pPr lvl="1"/>
            <a:r>
              <a:rPr lang="en-US" dirty="0" err="1">
                <a:solidFill>
                  <a:schemeClr val="accent2"/>
                </a:solidFill>
              </a:rPr>
              <a:t>agent_file_search.py</a:t>
            </a:r>
            <a:r>
              <a:rPr lang="en-US" dirty="0"/>
              <a:t>: create a new agent by uploading a file</a:t>
            </a:r>
            <a:endParaRPr lang="en-US" dirty="0"/>
          </a:p>
          <a:p>
            <a:pPr lvl="1"/>
            <a:r>
              <a:rPr lang="en-US" dirty="0">
                <a:solidFill>
                  <a:schemeClr val="accent2"/>
                </a:solidFill>
              </a:rPr>
              <a:t>agent_file_search2.py</a:t>
            </a:r>
            <a:r>
              <a:rPr lang="en-US" dirty="0"/>
              <a:t>: use an existing agent</a:t>
            </a:r>
            <a:endParaRPr lang="en-US" dirty="0"/>
          </a:p>
          <a:p>
            <a:endParaRPr lang="en-US" dirty="0"/>
          </a:p>
          <a:p>
            <a:r>
              <a:rPr lang="en-US" dirty="0" err="1"/>
              <a:t>allm</a:t>
            </a:r>
            <a:r>
              <a:rPr lang="en-US" dirty="0"/>
              <a:t>-course-agent based on data/Course </a:t>
            </a:r>
            <a:r>
              <a:rPr lang="en-US" dirty="0" err="1"/>
              <a:t>Introduction.pptx</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err="1"/>
              <a:t>allm</a:t>
            </a:r>
            <a:r>
              <a:rPr lang="en-US" dirty="0"/>
              <a:t>-course-agent Web Interface</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pic>
        <p:nvPicPr>
          <p:cNvPr id="12" name="Content Placeholder 11"/>
          <p:cNvPicPr>
            <a:picLocks noGrp="1" noChangeAspect="1"/>
          </p:cNvPicPr>
          <p:nvPr>
            <p:ph idx="1"/>
          </p:nvPr>
        </p:nvPicPr>
        <p:blipFill>
          <a:blip r:embed="rId1"/>
          <a:stretch>
            <a:fillRect/>
          </a:stretch>
        </p:blipFill>
        <p:spPr>
          <a:xfrm>
            <a:off x="1462750" y="1474817"/>
            <a:ext cx="9266499" cy="538318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RAG Agent with Web Search</a:t>
            </a:r>
            <a:endParaRPr lang="en-US" dirty="0"/>
          </a:p>
        </p:txBody>
      </p:sp>
      <p:sp>
        <p:nvSpPr>
          <p:cNvPr id="3" name="Content Placeholder 2"/>
          <p:cNvSpPr>
            <a:spLocks noGrp="1"/>
          </p:cNvSpPr>
          <p:nvPr>
            <p:ph idx="1"/>
          </p:nvPr>
        </p:nvSpPr>
        <p:spPr/>
        <p:txBody>
          <a:bodyPr/>
          <a:lstStyle/>
          <a:p>
            <a:r>
              <a:rPr lang="en-US" dirty="0"/>
              <a:t>Foundry Agents</a:t>
            </a:r>
            <a:endParaRPr lang="en-US" dirty="0"/>
          </a:p>
          <a:p>
            <a:pPr lvl="1"/>
            <a:r>
              <a:rPr lang="en-US" dirty="0"/>
              <a:t>web-search-agent: </a:t>
            </a:r>
            <a:r>
              <a:rPr lang="en-US" dirty="0" err="1">
                <a:solidFill>
                  <a:schemeClr val="accent2"/>
                </a:solidFill>
              </a:rPr>
              <a:t>agent_web_search.py</a:t>
            </a:r>
            <a:endParaRPr lang="en-US" dirty="0">
              <a:solidFill>
                <a:schemeClr val="accent2"/>
              </a:solidFill>
            </a:endParaRPr>
          </a:p>
          <a:p>
            <a:pPr lvl="1"/>
            <a:r>
              <a:rPr lang="en-US" dirty="0" err="1"/>
              <a:t>bing</a:t>
            </a:r>
            <a:r>
              <a:rPr lang="en-US" dirty="0"/>
              <a:t>-search-agent</a:t>
            </a:r>
            <a:endParaRPr lang="en-US" dirty="0"/>
          </a:p>
          <a:p>
            <a:pPr lvl="1"/>
            <a:r>
              <a:rPr lang="en-US" dirty="0" err="1"/>
              <a:t>bing</a:t>
            </a:r>
            <a:r>
              <a:rPr lang="en-US" dirty="0"/>
              <a:t>-custom-search-agent</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Foundry IQ</a:t>
            </a:r>
            <a:endParaRPr lang="en-US" dirty="0"/>
          </a:p>
        </p:txBody>
      </p:sp>
      <p:pic>
        <p:nvPicPr>
          <p:cNvPr id="5" name="Online Media 4" descr="Foundry IQ: unlock ubiquitous knowledge for agents">
            <a:hlinkClick r:id="" action="ppaction://media"/>
          </p:cNvPr>
          <p:cNvPicPr>
            <a:picLocks noGrp="1" noRot="1" noChangeAspect="1"/>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2246313" y="1825625"/>
            <a:ext cx="7700962" cy="4351338"/>
          </a:xfrm>
          <a:prstGeom prst="rect">
            <a:avLst/>
          </a:prstGeom>
        </p:spPr>
      </p:pic>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 with Foundry IQ</a:t>
            </a:r>
            <a:endParaRPr lang="en-US" dirty="0"/>
          </a:p>
        </p:txBody>
      </p:sp>
      <p:sp>
        <p:nvSpPr>
          <p:cNvPr id="3" name="Content Placeholder 2"/>
          <p:cNvSpPr>
            <a:spLocks noGrp="1"/>
          </p:cNvSpPr>
          <p:nvPr>
            <p:ph idx="1"/>
          </p:nvPr>
        </p:nvSpPr>
        <p:spPr/>
        <p:txBody>
          <a:bodyPr/>
          <a:lstStyle/>
          <a:p>
            <a:r>
              <a:rPr lang="en-US" dirty="0"/>
              <a:t>Azure AI Search service</a:t>
            </a:r>
            <a:endParaRPr lang="en-US" dirty="0"/>
          </a:p>
          <a:p>
            <a:r>
              <a:rPr lang="en-US" dirty="0"/>
              <a:t>Azure Storage account (Azure Blob Storage)</a:t>
            </a:r>
            <a:endParaRPr lang="en-US" dirty="0"/>
          </a:p>
          <a:p>
            <a:endParaRPr lang="en-US" dirty="0"/>
          </a:p>
          <a:p>
            <a:endParaRPr lang="en-US" dirty="0"/>
          </a:p>
          <a:p>
            <a:r>
              <a:rPr lang="en-US" dirty="0"/>
              <a:t>Program: </a:t>
            </a:r>
            <a:r>
              <a:rPr lang="en-US" dirty="0" err="1">
                <a:solidFill>
                  <a:schemeClr val="accent2"/>
                </a:solidFill>
              </a:rPr>
              <a:t>agent_foundry_iq.py</a:t>
            </a:r>
            <a:endParaRPr lang="en-US" dirty="0">
              <a:solidFill>
                <a:schemeClr val="accent2"/>
              </a:solidFill>
            </a:endParaRP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192000" cy="6850864"/>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Memory Works</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7" name="Content Placeholder 6"/>
          <p:cNvPicPr>
            <a:picLocks noGrp="1" noChangeAspect="1"/>
          </p:cNvPicPr>
          <p:nvPr>
            <p:ph idx="1"/>
          </p:nvPr>
        </p:nvPicPr>
        <p:blipFill>
          <a:blip r:embed="rId1"/>
          <a:stretch>
            <a:fillRect/>
          </a:stretch>
        </p:blipFill>
        <p:spPr>
          <a:xfrm>
            <a:off x="2463816" y="1825625"/>
            <a:ext cx="7264367" cy="435133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Two Types of Long-term Memory</a:t>
            </a:r>
            <a:endParaRPr lang="en-US" dirty="0"/>
          </a:p>
        </p:txBody>
      </p:sp>
      <p:graphicFrame>
        <p:nvGraphicFramePr>
          <p:cNvPr id="5" name="Content Placeholder 4"/>
          <p:cNvGraphicFramePr>
            <a:graphicFrameLocks noGrp="1"/>
          </p:cNvGraphicFramePr>
          <p:nvPr>
            <p:ph idx="1"/>
          </p:nvPr>
        </p:nvGraphicFramePr>
        <p:xfrm>
          <a:off x="838200" y="1825625"/>
          <a:ext cx="10515600" cy="4581768"/>
        </p:xfrm>
        <a:graphic>
          <a:graphicData uri="http://schemas.openxmlformats.org/drawingml/2006/table">
            <a:tbl>
              <a:tblPr firstRow="1">
                <a:tableStyleId>{69012ECD-51FC-41F1-AA8D-1B2483CD663E}</a:tableStyleId>
              </a:tblPr>
              <a:tblGrid>
                <a:gridCol w="2437436"/>
                <a:gridCol w="8078164"/>
              </a:tblGrid>
              <a:tr h="256865">
                <a:tc>
                  <a:txBody>
                    <a:bodyPr/>
                    <a:lstStyle/>
                    <a:p>
                      <a:pPr algn="l" fontAlgn="t">
                        <a:buNone/>
                      </a:pPr>
                      <a:r>
                        <a:rPr lang="en-US" sz="2400">
                          <a:effectLst/>
                        </a:rPr>
                        <a:t>Type</a:t>
                      </a:r>
                      <a:endParaRPr lang="en-US" sz="2400">
                        <a:effectLst/>
                      </a:endParaRPr>
                    </a:p>
                  </a:txBody>
                  <a:tcPr marL="64216" marR="64216" marT="32108" marB="32108"/>
                </a:tc>
                <a:tc>
                  <a:txBody>
                    <a:bodyPr/>
                    <a:lstStyle/>
                    <a:p>
                      <a:pPr algn="l" fontAlgn="t">
                        <a:buNone/>
                      </a:pPr>
                      <a:r>
                        <a:rPr lang="en-US" sz="2400">
                          <a:effectLst/>
                        </a:rPr>
                        <a:t>Description</a:t>
                      </a:r>
                      <a:endParaRPr lang="en-US" sz="2400">
                        <a:effectLst/>
                      </a:endParaRPr>
                    </a:p>
                  </a:txBody>
                  <a:tcPr marL="64216" marR="64216" marT="32108" marB="32108"/>
                </a:tc>
              </a:tr>
              <a:tr h="1605405">
                <a:tc>
                  <a:txBody>
                    <a:bodyPr/>
                    <a:lstStyle/>
                    <a:p>
                      <a:pPr algn="l" fontAlgn="t">
                        <a:buNone/>
                      </a:pPr>
                      <a:r>
                        <a:rPr lang="en-US" sz="2400" dirty="0">
                          <a:effectLst/>
                        </a:rPr>
                        <a:t>User profile memory</a:t>
                      </a:r>
                      <a:endParaRPr lang="en-US" sz="2400" dirty="0">
                        <a:effectLst/>
                      </a:endParaRPr>
                    </a:p>
                  </a:txBody>
                  <a:tcPr marL="64216" marR="64216" marT="32108" marB="32108"/>
                </a:tc>
                <a:tc>
                  <a:txBody>
                    <a:bodyPr/>
                    <a:lstStyle/>
                    <a:p>
                      <a:pPr algn="l" fontAlgn="t">
                        <a:buNone/>
                      </a:pPr>
                      <a:r>
                        <a:rPr lang="en-US" sz="2400">
                          <a:effectLst/>
                        </a:rPr>
                        <a:t>Information and preferences about the user, such as preferred name, dietary restrictions, and language preference. These memories are considered "static" with respect to a conversation because they generally don't depend on the current chat context. Retrieve user profile memories once at the beginning of each conversation.</a:t>
                      </a:r>
                      <a:endParaRPr lang="en-US" sz="2400">
                        <a:effectLst/>
                      </a:endParaRPr>
                    </a:p>
                  </a:txBody>
                  <a:tcPr marL="64216" marR="64216" marT="32108" marB="32108"/>
                </a:tc>
              </a:tr>
              <a:tr h="1220107">
                <a:tc>
                  <a:txBody>
                    <a:bodyPr/>
                    <a:lstStyle/>
                    <a:p>
                      <a:pPr algn="l" fontAlgn="t">
                        <a:buNone/>
                      </a:pPr>
                      <a:r>
                        <a:rPr lang="en-US" sz="2400">
                          <a:effectLst/>
                        </a:rPr>
                        <a:t>Chat summary memory</a:t>
                      </a:r>
                      <a:endParaRPr lang="en-US" sz="2400">
                        <a:effectLst/>
                      </a:endParaRPr>
                    </a:p>
                  </a:txBody>
                  <a:tcPr marL="64216" marR="64216" marT="32108" marB="32108"/>
                </a:tc>
                <a:tc>
                  <a:txBody>
                    <a:bodyPr/>
                    <a:lstStyle/>
                    <a:p>
                      <a:pPr algn="l" fontAlgn="t">
                        <a:buNone/>
                      </a:pPr>
                      <a:r>
                        <a:rPr lang="en-US" sz="2400" dirty="0">
                          <a:effectLst/>
                        </a:rPr>
                        <a:t>A distilled summary of each topic or thread covered in a chat session. These memories allow users to continue conversations or reference prior sessions without repeating earlier context. Retrieve chat summary memories based on the current conversation to surface relevant threads.</a:t>
                      </a:r>
                      <a:endParaRPr lang="en-US" sz="2400" dirty="0">
                        <a:effectLst/>
                      </a:endParaRPr>
                    </a:p>
                  </a:txBody>
                  <a:tcPr marL="64216" marR="64216" marT="32108" marB="32108"/>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Use Cases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A customer support agent that remembers your name, previous issues and resolutions, ticket numbers, and your preferred contact method (chat, email, or call back). This memory helps you avoid repeating information, so conversations are more efficient and satisfying.</a:t>
            </a:r>
            <a:endParaRPr lang="en-US" dirty="0"/>
          </a:p>
          <a:p>
            <a:r>
              <a:rPr lang="en-US" dirty="0"/>
              <a:t>A personal shopping assistant that remembers your size in specific brands, preferred </a:t>
            </a:r>
            <a:r>
              <a:rPr lang="en-US" dirty="0" err="1"/>
              <a:t>colors</a:t>
            </a:r>
            <a:r>
              <a:rPr lang="en-US" dirty="0"/>
              <a:t>, past returns, and recent purchases. The agent can suggest relevant items as soon as you start a session and avoid recommending products you already own.</a:t>
            </a:r>
            <a:endParaRPr lang="en-US" dirty="0"/>
          </a:p>
          <a:p>
            <a:r>
              <a:rPr lang="en-US" dirty="0"/>
              <a:t>A travel agent that knows your flight preferences (window or aisle), seat selections, food choices, nonstop versus connecting flights, loyalty programs, and feedback from past trips. The agent uses this information to quickly build an optimized itinerary.</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192000" cy="6850864"/>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Security Risks of AI Agents</a:t>
            </a:r>
            <a:endParaRPr lang="en-US" dirty="0"/>
          </a:p>
        </p:txBody>
      </p:sp>
      <p:graphicFrame>
        <p:nvGraphicFramePr>
          <p:cNvPr id="5" name="Content Placeholder 4"/>
          <p:cNvGraphicFramePr>
            <a:graphicFrameLocks noGrp="1"/>
          </p:cNvGraphicFramePr>
          <p:nvPr>
            <p:ph idx="1"/>
          </p:nvPr>
        </p:nvGraphicFramePr>
        <p:xfrm>
          <a:off x="838200" y="1514214"/>
          <a:ext cx="10515600" cy="4158410"/>
        </p:xfrm>
        <a:graphic>
          <a:graphicData uri="http://schemas.openxmlformats.org/drawingml/2006/table">
            <a:tbl>
              <a:tblPr firstRow="1">
                <a:tableStyleId>{B301B821-A1FF-4177-AEE7-76D212191A09}</a:tableStyleId>
              </a:tblPr>
              <a:tblGrid>
                <a:gridCol w="3884271"/>
                <a:gridCol w="2199190"/>
                <a:gridCol w="4432139"/>
              </a:tblGrid>
              <a:tr h="280428">
                <a:tc>
                  <a:txBody>
                    <a:bodyPr/>
                    <a:lstStyle/>
                    <a:p>
                      <a:pPr algn="l" fontAlgn="t">
                        <a:buNone/>
                      </a:pPr>
                      <a:r>
                        <a:rPr lang="en-US" sz="2000" b="1" dirty="0">
                          <a:effectLst/>
                        </a:rPr>
                        <a:t>What you might experience</a:t>
                      </a:r>
                      <a:endParaRPr lang="en-US" sz="2000" dirty="0">
                        <a:effectLst/>
                      </a:endParaRPr>
                    </a:p>
                  </a:txBody>
                  <a:tcPr marL="39201" marR="39201" marT="19601" marB="19601"/>
                </a:tc>
                <a:tc>
                  <a:txBody>
                    <a:bodyPr/>
                    <a:lstStyle/>
                    <a:p>
                      <a:pPr algn="l" fontAlgn="t">
                        <a:buNone/>
                      </a:pPr>
                      <a:r>
                        <a:rPr lang="en-US" sz="2000" b="1">
                          <a:effectLst/>
                        </a:rPr>
                        <a:t>Risk area</a:t>
                      </a:r>
                      <a:endParaRPr lang="en-US" sz="2000">
                        <a:effectLst/>
                      </a:endParaRPr>
                    </a:p>
                  </a:txBody>
                  <a:tcPr marL="39201" marR="39201" marT="19601" marB="19601"/>
                </a:tc>
                <a:tc>
                  <a:txBody>
                    <a:bodyPr/>
                    <a:lstStyle/>
                    <a:p>
                      <a:pPr algn="l" fontAlgn="t">
                        <a:buNone/>
                      </a:pPr>
                      <a:r>
                        <a:rPr lang="en-US" sz="2000" b="1" dirty="0">
                          <a:effectLst/>
                        </a:rPr>
                        <a:t>What's happening</a:t>
                      </a:r>
                      <a:endParaRPr lang="en-US" sz="2000" dirty="0">
                        <a:effectLst/>
                      </a:endParaRPr>
                    </a:p>
                  </a:txBody>
                  <a:tcPr marL="39201" marR="39201" marT="19601" marB="19601"/>
                </a:tc>
              </a:tr>
              <a:tr h="598703">
                <a:tc>
                  <a:txBody>
                    <a:bodyPr/>
                    <a:lstStyle/>
                    <a:p>
                      <a:pPr algn="l" fontAlgn="t">
                        <a:buNone/>
                      </a:pPr>
                      <a:r>
                        <a:rPr lang="en-US" sz="2000" dirty="0">
                          <a:effectLst/>
                        </a:rPr>
                        <a:t>"The agent just shared confidential salary data in a customer chat!"</a:t>
                      </a:r>
                      <a:endParaRPr lang="en-US" sz="2000" dirty="0">
                        <a:effectLst/>
                      </a:endParaRPr>
                    </a:p>
                  </a:txBody>
                  <a:tcPr marL="39201" marR="39201" marT="19601" marB="19601"/>
                </a:tc>
                <a:tc>
                  <a:txBody>
                    <a:bodyPr/>
                    <a:lstStyle/>
                    <a:p>
                      <a:pPr algn="l" fontAlgn="t">
                        <a:buNone/>
                      </a:pPr>
                      <a:r>
                        <a:rPr lang="en-US" sz="2000" b="0" dirty="0">
                          <a:effectLst/>
                        </a:rPr>
                        <a:t>Data leakage and privacy exposure</a:t>
                      </a:r>
                      <a:endParaRPr lang="en-US" sz="2000" b="0" dirty="0">
                        <a:effectLst/>
                      </a:endParaRPr>
                    </a:p>
                  </a:txBody>
                  <a:tcPr marL="39201" marR="39201" marT="19601" marB="19601"/>
                </a:tc>
                <a:tc>
                  <a:txBody>
                    <a:bodyPr/>
                    <a:lstStyle/>
                    <a:p>
                      <a:pPr algn="l" fontAlgn="t">
                        <a:buNone/>
                      </a:pPr>
                      <a:r>
                        <a:rPr lang="en-US" sz="2000" dirty="0">
                          <a:effectLst/>
                        </a:rPr>
                        <a:t>The agent accessed sensitive information but lacked proper controls to prevent exposing it externally.</a:t>
                      </a:r>
                      <a:endParaRPr lang="en-US" sz="2000" dirty="0">
                        <a:effectLst/>
                      </a:endParaRPr>
                    </a:p>
                  </a:txBody>
                  <a:tcPr marL="39201" marR="39201" marT="19601" marB="19601"/>
                </a:tc>
              </a:tr>
              <a:tr h="522017">
                <a:tc>
                  <a:txBody>
                    <a:bodyPr/>
                    <a:lstStyle/>
                    <a:p>
                      <a:pPr algn="l" fontAlgn="t">
                        <a:buNone/>
                      </a:pPr>
                      <a:r>
                        <a:rPr lang="en-US" sz="2000" dirty="0">
                          <a:effectLst/>
                        </a:rPr>
                        <a:t>"Someone tricked the agent into revealing our database password."</a:t>
                      </a:r>
                      <a:endParaRPr lang="en-US" sz="2000" dirty="0">
                        <a:effectLst/>
                      </a:endParaRPr>
                    </a:p>
                  </a:txBody>
                  <a:tcPr marL="39201" marR="39201" marT="19601" marB="19601"/>
                </a:tc>
                <a:tc>
                  <a:txBody>
                    <a:bodyPr/>
                    <a:lstStyle/>
                    <a:p>
                      <a:pPr algn="l" fontAlgn="t">
                        <a:buNone/>
                      </a:pPr>
                      <a:r>
                        <a:rPr lang="en-US" sz="2000" b="0" dirty="0">
                          <a:effectLst/>
                        </a:rPr>
                        <a:t>Prompt injection and manipulation attacks</a:t>
                      </a:r>
                      <a:endParaRPr lang="en-US" sz="2000" b="0" dirty="0">
                        <a:effectLst/>
                      </a:endParaRPr>
                    </a:p>
                  </a:txBody>
                  <a:tcPr marL="39201" marR="39201" marT="19601" marB="19601"/>
                </a:tc>
                <a:tc>
                  <a:txBody>
                    <a:bodyPr/>
                    <a:lstStyle/>
                    <a:p>
                      <a:pPr algn="l" fontAlgn="t">
                        <a:buNone/>
                      </a:pPr>
                      <a:r>
                        <a:rPr lang="en-US" sz="2000">
                          <a:effectLst/>
                        </a:rPr>
                        <a:t>A malicious user crafted an input that overrode the agent's intended behavior.</a:t>
                      </a:r>
                      <a:endParaRPr lang="en-US" sz="2000">
                        <a:effectLst/>
                      </a:endParaRPr>
                    </a:p>
                  </a:txBody>
                  <a:tcPr marL="39201" marR="39201" marT="19601" marB="19601"/>
                </a:tc>
              </a:tr>
              <a:tr h="585889">
                <a:tc>
                  <a:txBody>
                    <a:bodyPr/>
                    <a:lstStyle/>
                    <a:p>
                      <a:pPr algn="l" fontAlgn="t">
                        <a:buNone/>
                      </a:pPr>
                      <a:r>
                        <a:rPr lang="en-US" sz="2000" dirty="0">
                          <a:effectLst/>
                        </a:rPr>
                        <a:t>"Our support agent is now deleting customer records—but it shouldn't have that permission!"</a:t>
                      </a:r>
                      <a:endParaRPr lang="en-US" sz="2000" dirty="0">
                        <a:effectLst/>
                      </a:endParaRPr>
                    </a:p>
                  </a:txBody>
                  <a:tcPr marL="39201" marR="39201" marT="19601" marB="19601"/>
                </a:tc>
                <a:tc>
                  <a:txBody>
                    <a:bodyPr/>
                    <a:lstStyle/>
                    <a:p>
                      <a:pPr algn="l" fontAlgn="t">
                        <a:buNone/>
                      </a:pPr>
                      <a:r>
                        <a:rPr lang="en-US" sz="2000" b="0" dirty="0">
                          <a:effectLst/>
                        </a:rPr>
                        <a:t>Unauthorized access and privilege escalation</a:t>
                      </a:r>
                      <a:endParaRPr lang="en-US" sz="2000" b="0" dirty="0">
                        <a:effectLst/>
                      </a:endParaRPr>
                    </a:p>
                  </a:txBody>
                  <a:tcPr marL="39201" marR="39201" marT="19601" marB="19601"/>
                </a:tc>
                <a:tc>
                  <a:txBody>
                    <a:bodyPr/>
                    <a:lstStyle/>
                    <a:p>
                      <a:pPr algn="l" fontAlgn="t">
                        <a:buNone/>
                      </a:pPr>
                      <a:r>
                        <a:rPr lang="en-US" sz="2000" dirty="0">
                          <a:effectLst/>
                        </a:rPr>
                        <a:t>Weak access controls allowed the agent to perform actions beyond its intended scope.</a:t>
                      </a:r>
                      <a:endParaRPr lang="en-US" sz="2000" dirty="0">
                        <a:effectLst/>
                      </a:endParaRPr>
                    </a:p>
                  </a:txBody>
                  <a:tcPr marL="39201" marR="39201" marT="19601" marB="19601"/>
                </a:tc>
              </a:tr>
              <a:tr h="522017">
                <a:tc>
                  <a:txBody>
                    <a:bodyPr/>
                    <a:lstStyle/>
                    <a:p>
                      <a:pPr algn="l" fontAlgn="t">
                        <a:buNone/>
                      </a:pPr>
                      <a:r>
                        <a:rPr lang="en-US" sz="2000" dirty="0">
                          <a:effectLst/>
                        </a:rPr>
                        <a:t>"The agent started recommending fraudulent products after we updated the training data."</a:t>
                      </a:r>
                      <a:endParaRPr lang="en-US" sz="2000" dirty="0">
                        <a:effectLst/>
                      </a:endParaRPr>
                    </a:p>
                  </a:txBody>
                  <a:tcPr marL="39201" marR="39201" marT="19601" marB="19601"/>
                </a:tc>
                <a:tc>
                  <a:txBody>
                    <a:bodyPr/>
                    <a:lstStyle/>
                    <a:p>
                      <a:pPr algn="l" fontAlgn="t">
                        <a:buNone/>
                      </a:pPr>
                      <a:r>
                        <a:rPr lang="en-US" sz="2000" b="0" dirty="0">
                          <a:effectLst/>
                        </a:rPr>
                        <a:t>Data poisoning</a:t>
                      </a:r>
                      <a:endParaRPr lang="en-US" sz="2000" b="0" dirty="0">
                        <a:effectLst/>
                      </a:endParaRPr>
                    </a:p>
                  </a:txBody>
                  <a:tcPr marL="39201" marR="39201" marT="19601" marB="19601"/>
                </a:tc>
                <a:tc>
                  <a:txBody>
                    <a:bodyPr/>
                    <a:lstStyle/>
                    <a:p>
                      <a:pPr algn="l" fontAlgn="t">
                        <a:buNone/>
                      </a:pPr>
                      <a:r>
                        <a:rPr lang="en-US" sz="2000" dirty="0">
                          <a:effectLst/>
                        </a:rPr>
                        <a:t>Someone corrupted the agent's training or contextual data, causing unsafe outputs.</a:t>
                      </a:r>
                      <a:endParaRPr lang="en-US" sz="2000" dirty="0">
                        <a:effectLst/>
                      </a:endParaRPr>
                    </a:p>
                  </a:txBody>
                  <a:tcPr marL="39201" marR="39201" marT="19601" marB="19601"/>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Security Risks of AI Agents</a:t>
            </a:r>
            <a:endParaRPr lang="en-US" dirty="0"/>
          </a:p>
        </p:txBody>
      </p:sp>
      <p:graphicFrame>
        <p:nvGraphicFramePr>
          <p:cNvPr id="5" name="Content Placeholder 4"/>
          <p:cNvGraphicFramePr>
            <a:graphicFrameLocks noGrp="1"/>
          </p:cNvGraphicFramePr>
          <p:nvPr>
            <p:ph idx="1"/>
          </p:nvPr>
        </p:nvGraphicFramePr>
        <p:xfrm>
          <a:off x="838200" y="1514214"/>
          <a:ext cx="10515600" cy="4950890"/>
        </p:xfrm>
        <a:graphic>
          <a:graphicData uri="http://schemas.openxmlformats.org/drawingml/2006/table">
            <a:tbl>
              <a:tblPr firstRow="1">
                <a:tableStyleId>{B301B821-A1FF-4177-AEE7-76D212191A09}</a:tableStyleId>
              </a:tblPr>
              <a:tblGrid>
                <a:gridCol w="3884271"/>
                <a:gridCol w="2199190"/>
                <a:gridCol w="4432139"/>
              </a:tblGrid>
              <a:tr h="280428">
                <a:tc>
                  <a:txBody>
                    <a:bodyPr/>
                    <a:lstStyle/>
                    <a:p>
                      <a:pPr algn="l" fontAlgn="t">
                        <a:buNone/>
                      </a:pPr>
                      <a:r>
                        <a:rPr lang="en-US" sz="2400" b="1" dirty="0">
                          <a:effectLst/>
                        </a:rPr>
                        <a:t>What you might experience</a:t>
                      </a:r>
                      <a:endParaRPr lang="en-US" sz="2400" dirty="0">
                        <a:effectLst/>
                      </a:endParaRPr>
                    </a:p>
                  </a:txBody>
                  <a:tcPr marL="39201" marR="39201" marT="19601" marB="19601"/>
                </a:tc>
                <a:tc>
                  <a:txBody>
                    <a:bodyPr/>
                    <a:lstStyle/>
                    <a:p>
                      <a:pPr algn="l" fontAlgn="t">
                        <a:buNone/>
                      </a:pPr>
                      <a:r>
                        <a:rPr lang="en-US" sz="2400" b="1">
                          <a:effectLst/>
                        </a:rPr>
                        <a:t>Risk area</a:t>
                      </a:r>
                      <a:endParaRPr lang="en-US" sz="2400">
                        <a:effectLst/>
                      </a:endParaRPr>
                    </a:p>
                  </a:txBody>
                  <a:tcPr marL="39201" marR="39201" marT="19601" marB="19601"/>
                </a:tc>
                <a:tc>
                  <a:txBody>
                    <a:bodyPr/>
                    <a:lstStyle/>
                    <a:p>
                      <a:pPr algn="l" fontAlgn="t">
                        <a:buNone/>
                      </a:pPr>
                      <a:r>
                        <a:rPr lang="en-US" sz="2400" b="1" dirty="0">
                          <a:effectLst/>
                        </a:rPr>
                        <a:t>What's happening</a:t>
                      </a:r>
                      <a:endParaRPr lang="en-US" sz="2400" dirty="0">
                        <a:effectLst/>
                      </a:endParaRPr>
                    </a:p>
                  </a:txBody>
                  <a:tcPr marL="39201" marR="39201" marT="19601" marB="19601"/>
                </a:tc>
              </a:tr>
              <a:tr h="522017">
                <a:tc>
                  <a:txBody>
                    <a:bodyPr/>
                    <a:lstStyle/>
                    <a:p>
                      <a:pPr algn="l" fontAlgn="t">
                        <a:buNone/>
                      </a:pPr>
                      <a:r>
                        <a:rPr lang="en-US" sz="2400" dirty="0">
                          <a:effectLst/>
                        </a:rPr>
                        <a:t>"A third-party plugin we integrated is now sending our data to an unknown server."</a:t>
                      </a:r>
                      <a:endParaRPr lang="en-US" sz="2400" dirty="0">
                        <a:effectLst/>
                      </a:endParaRPr>
                    </a:p>
                  </a:txBody>
                  <a:tcPr marL="39201" marR="39201" marT="19601" marB="19601"/>
                </a:tc>
                <a:tc>
                  <a:txBody>
                    <a:bodyPr/>
                    <a:lstStyle/>
                    <a:p>
                      <a:pPr algn="l" fontAlgn="t">
                        <a:buNone/>
                      </a:pPr>
                      <a:r>
                        <a:rPr lang="en-US" sz="2400" b="0" dirty="0">
                          <a:effectLst/>
                        </a:rPr>
                        <a:t>Supply chain vulnerabilities</a:t>
                      </a:r>
                      <a:endParaRPr lang="en-US" sz="2400" b="0" dirty="0">
                        <a:effectLst/>
                      </a:endParaRPr>
                    </a:p>
                  </a:txBody>
                  <a:tcPr marL="39201" marR="39201" marT="19601" marB="19601"/>
                </a:tc>
                <a:tc>
                  <a:txBody>
                    <a:bodyPr/>
                    <a:lstStyle/>
                    <a:p>
                      <a:pPr algn="l" fontAlgn="t">
                        <a:buNone/>
                      </a:pPr>
                      <a:r>
                        <a:rPr lang="en-US" sz="2400" dirty="0">
                          <a:effectLst/>
                        </a:rPr>
                        <a:t>External dependencies introduced security vulnerabilities into the agent's workflow.</a:t>
                      </a:r>
                      <a:endParaRPr lang="en-US" sz="2400" dirty="0">
                        <a:effectLst/>
                      </a:endParaRPr>
                    </a:p>
                  </a:txBody>
                  <a:tcPr marL="39201" marR="39201" marT="19601" marB="19601"/>
                </a:tc>
              </a:tr>
              <a:tr h="522017">
                <a:tc>
                  <a:txBody>
                    <a:bodyPr/>
                    <a:lstStyle/>
                    <a:p>
                      <a:pPr algn="l" fontAlgn="t">
                        <a:buNone/>
                      </a:pPr>
                      <a:r>
                        <a:rPr lang="en-US" sz="2400" dirty="0">
                          <a:effectLst/>
                        </a:rPr>
                        <a:t>"The agent automatically processed a refund without verifying the request."</a:t>
                      </a:r>
                      <a:endParaRPr lang="en-US" sz="2400" dirty="0">
                        <a:effectLst/>
                      </a:endParaRPr>
                    </a:p>
                  </a:txBody>
                  <a:tcPr marL="39201" marR="39201" marT="19601" marB="19601"/>
                </a:tc>
                <a:tc>
                  <a:txBody>
                    <a:bodyPr/>
                    <a:lstStyle/>
                    <a:p>
                      <a:pPr algn="l" fontAlgn="t">
                        <a:buNone/>
                      </a:pPr>
                      <a:r>
                        <a:rPr lang="en-US" sz="2400" b="0" dirty="0">
                          <a:effectLst/>
                        </a:rPr>
                        <a:t>Over-reliance on autonomous actions</a:t>
                      </a:r>
                      <a:endParaRPr lang="en-US" sz="2400" b="0" dirty="0">
                        <a:effectLst/>
                      </a:endParaRPr>
                    </a:p>
                  </a:txBody>
                  <a:tcPr marL="39201" marR="39201" marT="19601" marB="19601"/>
                </a:tc>
                <a:tc>
                  <a:txBody>
                    <a:bodyPr/>
                    <a:lstStyle/>
                    <a:p>
                      <a:pPr algn="l" fontAlgn="t">
                        <a:buNone/>
                      </a:pPr>
                      <a:r>
                        <a:rPr lang="en-US" sz="2400">
                          <a:effectLst/>
                        </a:rPr>
                        <a:t>The agent executed an action without proper validation or human oversight.</a:t>
                      </a:r>
                      <a:endParaRPr lang="en-US" sz="2400">
                        <a:effectLst/>
                      </a:endParaRPr>
                    </a:p>
                  </a:txBody>
                  <a:tcPr marL="39201" marR="39201" marT="19601" marB="19601"/>
                </a:tc>
              </a:tr>
              <a:tr h="522017">
                <a:tc>
                  <a:txBody>
                    <a:bodyPr/>
                    <a:lstStyle/>
                    <a:p>
                      <a:pPr algn="l" fontAlgn="t">
                        <a:buNone/>
                      </a:pPr>
                      <a:r>
                        <a:rPr lang="en-US" sz="2400">
                          <a:effectLst/>
                        </a:rPr>
                        <a:t>"We can't figure out who accessed what data or when."</a:t>
                      </a:r>
                      <a:endParaRPr lang="en-US" sz="2400">
                        <a:effectLst/>
                      </a:endParaRPr>
                    </a:p>
                  </a:txBody>
                  <a:tcPr marL="39201" marR="39201" marT="19601" marB="19601"/>
                </a:tc>
                <a:tc>
                  <a:txBody>
                    <a:bodyPr/>
                    <a:lstStyle/>
                    <a:p>
                      <a:pPr algn="l" fontAlgn="t">
                        <a:buNone/>
                      </a:pPr>
                      <a:r>
                        <a:rPr lang="en-US" sz="2400" b="0" dirty="0">
                          <a:effectLst/>
                        </a:rPr>
                        <a:t>Inadequate auditability and logging</a:t>
                      </a:r>
                      <a:endParaRPr lang="en-US" sz="2400" b="0" dirty="0">
                        <a:effectLst/>
                      </a:endParaRPr>
                    </a:p>
                  </a:txBody>
                  <a:tcPr marL="39201" marR="39201" marT="19601" marB="19601"/>
                </a:tc>
                <a:tc>
                  <a:txBody>
                    <a:bodyPr/>
                    <a:lstStyle/>
                    <a:p>
                      <a:pPr algn="l" fontAlgn="t">
                        <a:buNone/>
                      </a:pPr>
                      <a:r>
                        <a:rPr lang="en-US" sz="2400">
                          <a:effectLst/>
                        </a:rPr>
                        <a:t>Missing or incomplete logs make it impossible to trace agent actions or detect misuse.</a:t>
                      </a:r>
                      <a:endParaRPr lang="en-US" sz="2400">
                        <a:effectLst/>
                      </a:endParaRPr>
                    </a:p>
                  </a:txBody>
                  <a:tcPr marL="39201" marR="39201" marT="19601" marB="19601"/>
                </a:tc>
              </a:tr>
              <a:tr h="522017">
                <a:tc>
                  <a:txBody>
                    <a:bodyPr/>
                    <a:lstStyle/>
                    <a:p>
                      <a:pPr algn="l" fontAlgn="t">
                        <a:buNone/>
                      </a:pPr>
                      <a:r>
                        <a:rPr lang="en-US" sz="2400" dirty="0">
                          <a:effectLst/>
                        </a:rPr>
                        <a:t>"Someone extracted customer information by repeatedly querying the agent."</a:t>
                      </a:r>
                      <a:endParaRPr lang="en-US" sz="2400" dirty="0">
                        <a:effectLst/>
                      </a:endParaRPr>
                    </a:p>
                  </a:txBody>
                  <a:tcPr marL="39201" marR="39201" marT="19601" marB="19601"/>
                </a:tc>
                <a:tc>
                  <a:txBody>
                    <a:bodyPr/>
                    <a:lstStyle/>
                    <a:p>
                      <a:pPr algn="l" fontAlgn="t">
                        <a:buNone/>
                      </a:pPr>
                      <a:r>
                        <a:rPr lang="en-US" sz="2400" b="0" dirty="0">
                          <a:effectLst/>
                        </a:rPr>
                        <a:t>Model inversion and output leakage</a:t>
                      </a:r>
                      <a:endParaRPr lang="en-US" sz="2400" b="0" dirty="0">
                        <a:effectLst/>
                      </a:endParaRPr>
                    </a:p>
                  </a:txBody>
                  <a:tcPr marL="39201" marR="39201" marT="19601" marB="19601"/>
                </a:tc>
                <a:tc>
                  <a:txBody>
                    <a:bodyPr/>
                    <a:lstStyle/>
                    <a:p>
                      <a:pPr algn="l" fontAlgn="t">
                        <a:buNone/>
                      </a:pPr>
                      <a:r>
                        <a:rPr lang="en-US" sz="2400" dirty="0">
                          <a:effectLst/>
                        </a:rPr>
                        <a:t>The attacker exploited model outputs to infer sensitive data from training or prompting.</a:t>
                      </a:r>
                      <a:endParaRPr lang="en-US" sz="2400" dirty="0">
                        <a:effectLst/>
                      </a:endParaRPr>
                    </a:p>
                  </a:txBody>
                  <a:tcPr marL="39201" marR="39201" marT="19601" marB="19601"/>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Security Best Practices</a:t>
            </a:r>
            <a:endParaRPr lang="en-US" dirty="0"/>
          </a:p>
        </p:txBody>
      </p:sp>
      <p:graphicFrame>
        <p:nvGraphicFramePr>
          <p:cNvPr id="5" name="Content Placeholder 4"/>
          <p:cNvGraphicFramePr>
            <a:graphicFrameLocks noGrp="1"/>
          </p:cNvGraphicFramePr>
          <p:nvPr>
            <p:ph idx="1"/>
          </p:nvPr>
        </p:nvGraphicFramePr>
        <p:xfrm>
          <a:off x="838199" y="1825625"/>
          <a:ext cx="10515600" cy="4666407"/>
        </p:xfrm>
        <a:graphic>
          <a:graphicData uri="http://schemas.openxmlformats.org/drawingml/2006/table">
            <a:tbl>
              <a:tblPr firstRow="1">
                <a:tableStyleId>{B301B821-A1FF-4177-AEE7-76D212191A09}</a:tableStyleId>
              </a:tblPr>
              <a:tblGrid>
                <a:gridCol w="2692079"/>
                <a:gridCol w="4318321"/>
                <a:gridCol w="3505200"/>
              </a:tblGrid>
              <a:tr h="328403">
                <a:tc>
                  <a:txBody>
                    <a:bodyPr/>
                    <a:lstStyle/>
                    <a:p>
                      <a:pPr>
                        <a:buNone/>
                      </a:pPr>
                      <a:r>
                        <a:rPr lang="en-US" sz="2000" b="1" dirty="0">
                          <a:effectLst/>
                        </a:rPr>
                        <a:t>Security Practice</a:t>
                      </a:r>
                      <a:endParaRPr lang="en-US" sz="2000" dirty="0">
                        <a:effectLst/>
                      </a:endParaRPr>
                    </a:p>
                  </a:txBody>
                  <a:tcPr marL="82101" marR="82101" marT="41050" marB="41050" anchor="ctr"/>
                </a:tc>
                <a:tc>
                  <a:txBody>
                    <a:bodyPr/>
                    <a:lstStyle/>
                    <a:p>
                      <a:pPr>
                        <a:buNone/>
                      </a:pPr>
                      <a:r>
                        <a:rPr lang="en-US" sz="2000" b="1">
                          <a:effectLst/>
                        </a:rPr>
                        <a:t>What to Do</a:t>
                      </a:r>
                      <a:endParaRPr lang="en-US" sz="2000">
                        <a:effectLst/>
                      </a:endParaRPr>
                    </a:p>
                  </a:txBody>
                  <a:tcPr marL="82101" marR="82101" marT="41050" marB="41050" anchor="ctr"/>
                </a:tc>
                <a:tc>
                  <a:txBody>
                    <a:bodyPr/>
                    <a:lstStyle/>
                    <a:p>
                      <a:pPr>
                        <a:buNone/>
                      </a:pPr>
                      <a:r>
                        <a:rPr lang="en-US" sz="2000" b="1" dirty="0">
                          <a:effectLst/>
                        </a:rPr>
                        <a:t>Why It Matters</a:t>
                      </a:r>
                      <a:endParaRPr lang="en-US" sz="2000" dirty="0">
                        <a:effectLst/>
                      </a:endParaRPr>
                    </a:p>
                  </a:txBody>
                  <a:tcPr marL="82101" marR="82101" marT="41050" marB="41050" anchor="ctr"/>
                </a:tc>
              </a:tr>
              <a:tr h="821007">
                <a:tc>
                  <a:txBody>
                    <a:bodyPr/>
                    <a:lstStyle/>
                    <a:p>
                      <a:pPr>
                        <a:buNone/>
                      </a:pPr>
                      <a:r>
                        <a:rPr lang="en-US" sz="2000" b="1" dirty="0">
                          <a:effectLst/>
                        </a:rPr>
                        <a:t>Tight Access Control</a:t>
                      </a:r>
                      <a:endParaRPr lang="en-US" sz="2000" dirty="0">
                        <a:effectLst/>
                      </a:endParaRPr>
                    </a:p>
                  </a:txBody>
                  <a:tcPr marL="82101" marR="82101" marT="41050" marB="41050" anchor="ctr"/>
                </a:tc>
                <a:tc>
                  <a:txBody>
                    <a:bodyPr/>
                    <a:lstStyle/>
                    <a:p>
                      <a:pPr>
                        <a:buNone/>
                      </a:pPr>
                      <a:r>
                        <a:rPr lang="en-US" sz="2000" dirty="0">
                          <a:effectLst/>
                        </a:rPr>
                        <a:t>Enforce role‑based access control (RBAC) and least‑privilege permissions</a:t>
                      </a:r>
                      <a:endParaRPr lang="en-US" sz="2000" dirty="0">
                        <a:effectLst/>
                      </a:endParaRPr>
                    </a:p>
                  </a:txBody>
                  <a:tcPr marL="82101" marR="82101" marT="41050" marB="41050" anchor="ctr"/>
                </a:tc>
                <a:tc>
                  <a:txBody>
                    <a:bodyPr/>
                    <a:lstStyle/>
                    <a:p>
                      <a:pPr>
                        <a:buNone/>
                      </a:pPr>
                      <a:r>
                        <a:rPr lang="en-US" sz="2000">
                          <a:effectLst/>
                        </a:rPr>
                        <a:t>Limits damage if an agent is compromised</a:t>
                      </a:r>
                      <a:endParaRPr lang="en-US" sz="2000">
                        <a:effectLst/>
                      </a:endParaRPr>
                    </a:p>
                  </a:txBody>
                  <a:tcPr marL="82101" marR="82101" marT="41050" marB="41050" anchor="ctr"/>
                </a:tc>
              </a:tr>
              <a:tr h="574705">
                <a:tc>
                  <a:txBody>
                    <a:bodyPr/>
                    <a:lstStyle/>
                    <a:p>
                      <a:pPr>
                        <a:buNone/>
                      </a:pPr>
                      <a:r>
                        <a:rPr lang="en-US" sz="2000" b="1" dirty="0">
                          <a:effectLst/>
                        </a:rPr>
                        <a:t>Input Validation</a:t>
                      </a:r>
                      <a:endParaRPr lang="en-US" sz="2000" dirty="0">
                        <a:effectLst/>
                      </a:endParaRPr>
                    </a:p>
                  </a:txBody>
                  <a:tcPr marL="82101" marR="82101" marT="41050" marB="41050" anchor="ctr"/>
                </a:tc>
                <a:tc>
                  <a:txBody>
                    <a:bodyPr/>
                    <a:lstStyle/>
                    <a:p>
                      <a:pPr>
                        <a:buNone/>
                      </a:pPr>
                      <a:r>
                        <a:rPr lang="en-US" sz="2000">
                          <a:effectLst/>
                        </a:rPr>
                        <a:t>Apply prompt filtering and validation to all inputs</a:t>
                      </a:r>
                      <a:endParaRPr lang="en-US" sz="2000">
                        <a:effectLst/>
                      </a:endParaRPr>
                    </a:p>
                  </a:txBody>
                  <a:tcPr marL="82101" marR="82101" marT="41050" marB="41050" anchor="ctr"/>
                </a:tc>
                <a:tc>
                  <a:txBody>
                    <a:bodyPr/>
                    <a:lstStyle/>
                    <a:p>
                      <a:pPr>
                        <a:buNone/>
                      </a:pPr>
                      <a:r>
                        <a:rPr lang="en-US" sz="2000">
                          <a:effectLst/>
                        </a:rPr>
                        <a:t>Prevents prompt injection and malicious instructions</a:t>
                      </a:r>
                      <a:endParaRPr lang="en-US" sz="2000">
                        <a:effectLst/>
                      </a:endParaRPr>
                    </a:p>
                  </a:txBody>
                  <a:tcPr marL="82101" marR="82101" marT="41050" marB="41050" anchor="ctr"/>
                </a:tc>
              </a:tr>
              <a:tr h="574705">
                <a:tc>
                  <a:txBody>
                    <a:bodyPr/>
                    <a:lstStyle/>
                    <a:p>
                      <a:pPr>
                        <a:buNone/>
                      </a:pPr>
                      <a:r>
                        <a:rPr lang="en-US" sz="2000" b="1" dirty="0">
                          <a:effectLst/>
                        </a:rPr>
                        <a:t>Human Oversight</a:t>
                      </a:r>
                      <a:endParaRPr lang="en-US" sz="2000" dirty="0">
                        <a:effectLst/>
                      </a:endParaRPr>
                    </a:p>
                  </a:txBody>
                  <a:tcPr marL="82101" marR="82101" marT="41050" marB="41050" anchor="ctr"/>
                </a:tc>
                <a:tc>
                  <a:txBody>
                    <a:bodyPr/>
                    <a:lstStyle/>
                    <a:p>
                      <a:pPr>
                        <a:buNone/>
                      </a:pPr>
                      <a:r>
                        <a:rPr lang="en-US" sz="2000">
                          <a:effectLst/>
                        </a:rPr>
                        <a:t>Gate high‑risk or sensitive actions with human‑in‑the‑loop approval</a:t>
                      </a:r>
                      <a:endParaRPr lang="en-US" sz="2000">
                        <a:effectLst/>
                      </a:endParaRPr>
                    </a:p>
                  </a:txBody>
                  <a:tcPr marL="82101" marR="82101" marT="41050" marB="41050" anchor="ctr"/>
                </a:tc>
                <a:tc>
                  <a:txBody>
                    <a:bodyPr/>
                    <a:lstStyle/>
                    <a:p>
                      <a:pPr>
                        <a:buNone/>
                      </a:pPr>
                      <a:r>
                        <a:rPr lang="en-US" sz="2000">
                          <a:effectLst/>
                        </a:rPr>
                        <a:t>Avoids autonomous high‑stakes mistakes</a:t>
                      </a:r>
                      <a:endParaRPr lang="en-US" sz="2000">
                        <a:effectLst/>
                      </a:endParaRPr>
                    </a:p>
                  </a:txBody>
                  <a:tcPr marL="82101" marR="82101" marT="41050" marB="41050" anchor="ctr"/>
                </a:tc>
              </a:tr>
              <a:tr h="574705">
                <a:tc>
                  <a:txBody>
                    <a:bodyPr/>
                    <a:lstStyle/>
                    <a:p>
                      <a:pPr>
                        <a:buNone/>
                      </a:pPr>
                      <a:r>
                        <a:rPr lang="en-US" sz="2000" b="1">
                          <a:effectLst/>
                        </a:rPr>
                        <a:t>Comprehensive Logging</a:t>
                      </a:r>
                      <a:endParaRPr lang="en-US" sz="2000">
                        <a:effectLst/>
                      </a:endParaRPr>
                    </a:p>
                  </a:txBody>
                  <a:tcPr marL="82101" marR="82101" marT="41050" marB="41050" anchor="ctr"/>
                </a:tc>
                <a:tc>
                  <a:txBody>
                    <a:bodyPr/>
                    <a:lstStyle/>
                    <a:p>
                      <a:pPr>
                        <a:buNone/>
                      </a:pPr>
                      <a:r>
                        <a:rPr lang="en-US" sz="2000">
                          <a:effectLst/>
                        </a:rPr>
                        <a:t>Log all agent actions with timestamps, actors, and rationale</a:t>
                      </a:r>
                      <a:endParaRPr lang="en-US" sz="2000">
                        <a:effectLst/>
                      </a:endParaRPr>
                    </a:p>
                  </a:txBody>
                  <a:tcPr marL="82101" marR="82101" marT="41050" marB="41050" anchor="ctr"/>
                </a:tc>
                <a:tc>
                  <a:txBody>
                    <a:bodyPr/>
                    <a:lstStyle/>
                    <a:p>
                      <a:pPr>
                        <a:buNone/>
                      </a:pPr>
                      <a:r>
                        <a:rPr lang="en-US" sz="2000">
                          <a:effectLst/>
                        </a:rPr>
                        <a:t>Enables auditing, debugging, and accountability</a:t>
                      </a:r>
                      <a:endParaRPr lang="en-US" sz="2000">
                        <a:effectLst/>
                      </a:endParaRPr>
                    </a:p>
                  </a:txBody>
                  <a:tcPr marL="82101" marR="82101" marT="41050" marB="41050" anchor="ctr"/>
                </a:tc>
              </a:tr>
              <a:tr h="574705">
                <a:tc>
                  <a:txBody>
                    <a:bodyPr/>
                    <a:lstStyle/>
                    <a:p>
                      <a:pPr>
                        <a:buNone/>
                      </a:pPr>
                      <a:r>
                        <a:rPr lang="en-US" sz="2000" b="1">
                          <a:effectLst/>
                        </a:rPr>
                        <a:t>Supply Chain Monitoring</a:t>
                      </a:r>
                      <a:endParaRPr lang="en-US" sz="2000">
                        <a:effectLst/>
                      </a:endParaRPr>
                    </a:p>
                  </a:txBody>
                  <a:tcPr marL="82101" marR="82101" marT="41050" marB="41050" anchor="ctr"/>
                </a:tc>
                <a:tc>
                  <a:txBody>
                    <a:bodyPr/>
                    <a:lstStyle/>
                    <a:p>
                      <a:pPr>
                        <a:buNone/>
                      </a:pPr>
                      <a:r>
                        <a:rPr lang="en-US" sz="2000">
                          <a:effectLst/>
                        </a:rPr>
                        <a:t>Regularly audit third‑party APIs, plugins, and tools</a:t>
                      </a:r>
                      <a:endParaRPr lang="en-US" sz="2000">
                        <a:effectLst/>
                      </a:endParaRPr>
                    </a:p>
                  </a:txBody>
                  <a:tcPr marL="82101" marR="82101" marT="41050" marB="41050" anchor="ctr"/>
                </a:tc>
                <a:tc>
                  <a:txBody>
                    <a:bodyPr/>
                    <a:lstStyle/>
                    <a:p>
                      <a:pPr>
                        <a:buNone/>
                      </a:pPr>
                      <a:r>
                        <a:rPr lang="en-US" sz="2000">
                          <a:effectLst/>
                        </a:rPr>
                        <a:t>External dependencies are common attack vectors</a:t>
                      </a:r>
                      <a:endParaRPr lang="en-US" sz="2000">
                        <a:effectLst/>
                      </a:endParaRPr>
                    </a:p>
                  </a:txBody>
                  <a:tcPr marL="82101" marR="82101" marT="41050" marB="41050" anchor="ctr"/>
                </a:tc>
              </a:tr>
              <a:tr h="574705">
                <a:tc>
                  <a:txBody>
                    <a:bodyPr/>
                    <a:lstStyle/>
                    <a:p>
                      <a:pPr>
                        <a:buNone/>
                      </a:pPr>
                      <a:r>
                        <a:rPr lang="en-US" sz="2000" b="1">
                          <a:effectLst/>
                        </a:rPr>
                        <a:t>Model Maintenance</a:t>
                      </a:r>
                      <a:endParaRPr lang="en-US" sz="2000">
                        <a:effectLst/>
                      </a:endParaRPr>
                    </a:p>
                  </a:txBody>
                  <a:tcPr marL="82101" marR="82101" marT="41050" marB="41050" anchor="ctr"/>
                </a:tc>
                <a:tc>
                  <a:txBody>
                    <a:bodyPr/>
                    <a:lstStyle/>
                    <a:p>
                      <a:pPr>
                        <a:buNone/>
                      </a:pPr>
                      <a:r>
                        <a:rPr lang="en-US" sz="2000">
                          <a:effectLst/>
                        </a:rPr>
                        <a:t>Retrain and validate models to detect drift or poisoning</a:t>
                      </a:r>
                      <a:endParaRPr lang="en-US" sz="2000">
                        <a:effectLst/>
                      </a:endParaRPr>
                    </a:p>
                  </a:txBody>
                  <a:tcPr marL="82101" marR="82101" marT="41050" marB="41050" anchor="ctr"/>
                </a:tc>
                <a:tc>
                  <a:txBody>
                    <a:bodyPr/>
                    <a:lstStyle/>
                    <a:p>
                      <a:pPr>
                        <a:buNone/>
                      </a:pPr>
                      <a:r>
                        <a:rPr lang="en-US" sz="2000" dirty="0">
                          <a:effectLst/>
                        </a:rPr>
                        <a:t>Maintains reliability and prevents silent degradation</a:t>
                      </a:r>
                      <a:endParaRPr lang="en-US" sz="2000" dirty="0">
                        <a:effectLst/>
                      </a:endParaRPr>
                    </a:p>
                  </a:txBody>
                  <a:tcPr marL="82101" marR="82101" marT="41050" marB="41050" anchor="ctr"/>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7706</Words>
  <Application>WPS 演示</Application>
  <PresentationFormat>Widescreen</PresentationFormat>
  <Paragraphs>362</Paragraphs>
  <Slides>36</Slides>
  <Notes>2</Notes>
  <HiddenSlides>0</HiddenSlides>
  <MMClips>1</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Arial</vt:lpstr>
      <vt:lpstr>宋体</vt:lpstr>
      <vt:lpstr>Wingdings</vt:lpstr>
      <vt:lpstr>Aptos</vt:lpstr>
      <vt:lpstr>Segoe UI</vt:lpstr>
      <vt:lpstr>等线</vt:lpstr>
      <vt:lpstr>Times New Roman</vt:lpstr>
      <vt:lpstr>Calibri Light</vt:lpstr>
      <vt:lpstr>Calibri</vt:lpstr>
      <vt:lpstr>微软雅黑</vt:lpstr>
      <vt:lpstr>Arial Unicode MS</vt:lpstr>
      <vt:lpstr>等线 Light</vt:lpstr>
      <vt:lpstr>Office Theme</vt:lpstr>
      <vt:lpstr>Agents</vt:lpstr>
      <vt:lpstr>What is an Agent?</vt:lpstr>
      <vt:lpstr>PowerPoint 演示文稿</vt:lpstr>
      <vt:lpstr>PowerPoint 演示文稿</vt:lpstr>
      <vt:lpstr>Model vs. Agent</vt:lpstr>
      <vt:lpstr>Agent</vt:lpstr>
      <vt:lpstr>Agent</vt:lpstr>
      <vt:lpstr>Agent Architecture and Components</vt:lpstr>
      <vt:lpstr>PowerPoint 演示文稿</vt:lpstr>
      <vt:lpstr>PowerPoint 演示文稿</vt:lpstr>
      <vt:lpstr>PowerPoint 演示文稿</vt:lpstr>
      <vt:lpstr>ReAct</vt:lpstr>
      <vt:lpstr>PowerPoint 演示文稿</vt:lpstr>
      <vt:lpstr>Tools</vt:lpstr>
      <vt:lpstr>Tool support by region and model</vt:lpstr>
      <vt:lpstr>Agent: Function Calling</vt:lpstr>
      <vt:lpstr>DefaultAzureCredential() | AzureCliCredential()</vt:lpstr>
      <vt:lpstr>Select 3 (Subscription name=Teaching) when running az login</vt:lpstr>
      <vt:lpstr>Switch Directory in Azure</vt:lpstr>
      <vt:lpstr>PowerPoint 演示文稿</vt:lpstr>
      <vt:lpstr>Agent with Code Interpreter</vt:lpstr>
      <vt:lpstr>Case Study: Movie DB Agent</vt:lpstr>
      <vt:lpstr>PowerPoint 演示文稿</vt:lpstr>
      <vt:lpstr>RAG Agent with File Search</vt:lpstr>
      <vt:lpstr>allm-course-agent Web Interface</vt:lpstr>
      <vt:lpstr>RAG Agent with Web Search</vt:lpstr>
      <vt:lpstr>Foundry IQ</vt:lpstr>
      <vt:lpstr>Agent with Foundry IQ</vt:lpstr>
      <vt:lpstr>PowerPoint 演示文稿</vt:lpstr>
      <vt:lpstr>How Memory Works</vt:lpstr>
      <vt:lpstr>Two Types of Long-term Memory</vt:lpstr>
      <vt:lpstr>Memory Use Cases</vt:lpstr>
      <vt:lpstr>PowerPoint 演示文稿</vt:lpstr>
      <vt:lpstr>Security Risks of AI Agents</vt:lpstr>
      <vt:lpstr>Security Risks of AI Agents</vt:lpstr>
      <vt:lpstr>Security Best Practices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Mining</dc:title>
  <dc:creator>Hailiang Chen</dc:creator>
  <cp:lastModifiedBy>WPS_1636963851</cp:lastModifiedBy>
  <cp:revision>694</cp:revision>
  <dcterms:created xsi:type="dcterms:W3CDTF">2021-01-12T07:59:00Z</dcterms:created>
  <dcterms:modified xsi:type="dcterms:W3CDTF">2026-04-08T02:55:57Z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E42FC384FD874EF8BAD20EFCE10E2937_12</vt:lpwstr>
  </property>
</Properties>
</file>