
<file path=[Content_Types].xml><?xml version="1.0" encoding="utf-8"?>
<Types xmlns="http://schemas.openxmlformats.org/package/2006/content-types">
  <Default Extension="jpeg" ContentType="image/jpeg"/>
  <Default Extension="JPG" ContentType="image/.jpg"/>
  <Default Extension="tiff" ContentType="image/tif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6"/>
  </p:notesMasterIdLst>
  <p:sldIdLst>
    <p:sldId id="256" r:id="rId3"/>
    <p:sldId id="15077877" r:id="rId4"/>
    <p:sldId id="258" r:id="rId5"/>
    <p:sldId id="259" r:id="rId7"/>
    <p:sldId id="260" r:id="rId8"/>
    <p:sldId id="257" r:id="rId9"/>
    <p:sldId id="15077881" r:id="rId10"/>
    <p:sldId id="261" r:id="rId11"/>
    <p:sldId id="15077878" r:id="rId12"/>
    <p:sldId id="15077879" r:id="rId13"/>
    <p:sldId id="15077927" r:id="rId14"/>
    <p:sldId id="15077928" r:id="rId15"/>
    <p:sldId id="15077902" r:id="rId16"/>
    <p:sldId id="15077915" r:id="rId17"/>
    <p:sldId id="15077901" r:id="rId18"/>
    <p:sldId id="15077904" r:id="rId19"/>
    <p:sldId id="15077903" r:id="rId20"/>
    <p:sldId id="15077880" r:id="rId21"/>
    <p:sldId id="15077906" r:id="rId22"/>
    <p:sldId id="15077912" r:id="rId23"/>
    <p:sldId id="15077913" r:id="rId24"/>
    <p:sldId id="15077907" r:id="rId25"/>
    <p:sldId id="15077908" r:id="rId26"/>
    <p:sldId id="15077909" r:id="rId27"/>
    <p:sldId id="15077911" r:id="rId28"/>
    <p:sldId id="15077910" r:id="rId29"/>
    <p:sldId id="15077883" r:id="rId30"/>
    <p:sldId id="15077914" r:id="rId31"/>
    <p:sldId id="15077882" r:id="rId32"/>
    <p:sldId id="15077885" r:id="rId33"/>
    <p:sldId id="15077884" r:id="rId34"/>
    <p:sldId id="15077918" r:id="rId35"/>
    <p:sldId id="15077919" r:id="rId36"/>
    <p:sldId id="15077886" r:id="rId37"/>
    <p:sldId id="15077887" r:id="rId38"/>
    <p:sldId id="15077888" r:id="rId39"/>
    <p:sldId id="15077920" r:id="rId40"/>
    <p:sldId id="15077921" r:id="rId41"/>
    <p:sldId id="15077889" r:id="rId42"/>
    <p:sldId id="15077890" r:id="rId43"/>
    <p:sldId id="15077891" r:id="rId44"/>
    <p:sldId id="15077892" r:id="rId45"/>
    <p:sldId id="15077923" r:id="rId46"/>
    <p:sldId id="15077924" r:id="rId47"/>
    <p:sldId id="15077893" r:id="rId48"/>
    <p:sldId id="15077894" r:id="rId49"/>
    <p:sldId id="15077896" r:id="rId50"/>
    <p:sldId id="15077895" r:id="rId51"/>
    <p:sldId id="15077922" r:id="rId52"/>
    <p:sldId id="15077897" r:id="rId53"/>
    <p:sldId id="15077898" r:id="rId54"/>
    <p:sldId id="15077899" r:id="rId55"/>
    <p:sldId id="15077900" r:id="rId56"/>
    <p:sldId id="15077925" r:id="rId57"/>
    <p:sldId id="15077926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DD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99"/>
    <p:restoredTop sz="81627"/>
  </p:normalViewPr>
  <p:slideViewPr>
    <p:cSldViewPr snapToGrid="0" snapToObjects="1">
      <p:cViewPr varScale="1">
        <p:scale>
          <a:sx n="125" d="100"/>
          <a:sy n="125" d="100"/>
        </p:scale>
        <p:origin x="2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1" Type="http://schemas.openxmlformats.org/officeDocument/2006/relationships/tableStyles" Target="tableStyles.xml"/><Relationship Id="rId60" Type="http://schemas.openxmlformats.org/officeDocument/2006/relationships/viewProps" Target="viewProps.xml"/><Relationship Id="rId6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915E8-0D14-5A47-A140-2DDA56A25C59}" type="datetimeFigureOut">
              <a:rPr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4E518-724E-624D-9EAD-82F09AF346EF}" type="slidenum">
              <a:rPr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CN" altLang="en-US" dirty="0"/>
              <a:t>过长的</a:t>
            </a:r>
            <a:r>
              <a:rPr lang="en-US" altLang="zh-CN" dirty="0"/>
              <a:t>prompt</a:t>
            </a:r>
            <a:r>
              <a:rPr lang="zh-CN" altLang="en-US" dirty="0"/>
              <a:t>，需要被切割</a:t>
            </a:r>
            <a:br>
              <a:rPr lang="zh-CN" altLang="en-US" dirty="0"/>
            </a:br>
            <a:r>
              <a:rPr lang="en-US" altLang="zh-CN" dirty="0"/>
              <a:t>2. </a:t>
            </a:r>
            <a:r>
              <a:rPr lang="zh-CN" altLang="en-US" dirty="0"/>
              <a:t>复杂的</a:t>
            </a:r>
            <a:r>
              <a:rPr lang="en-US" altLang="zh-CN" dirty="0"/>
              <a:t>task</a:t>
            </a:r>
            <a:r>
              <a:rPr lang="zh-CN" altLang="en-US" dirty="0"/>
              <a:t>，需要多个</a:t>
            </a:r>
            <a:r>
              <a:rPr lang="en-US" altLang="zh-CN" dirty="0"/>
              <a:t>step</a:t>
            </a:r>
            <a:r>
              <a:rPr lang="zh-CN" altLang="en-US" dirty="0"/>
              <a:t>，多个</a:t>
            </a:r>
            <a:r>
              <a:rPr lang="en-US" altLang="zh-CN" dirty="0"/>
              <a:t>tool calling, input and output, </a:t>
            </a:r>
            <a:r>
              <a:rPr lang="zh-CN" altLang="en-US" dirty="0"/>
              <a:t>导致</a:t>
            </a:r>
            <a:r>
              <a:rPr lang="en-US" altLang="zh-CN" dirty="0"/>
              <a:t>context</a:t>
            </a:r>
            <a:r>
              <a:rPr lang="zh-CN" altLang="en-US" dirty="0"/>
              <a:t>非常长</a:t>
            </a:r>
            <a:br>
              <a:rPr lang="zh-CN" altLang="en-US" dirty="0"/>
            </a:br>
            <a:r>
              <a:rPr lang="en-US" altLang="zh-CN" dirty="0"/>
              <a:t>3.</a:t>
            </a:r>
            <a:r>
              <a:rPr lang="zh-CN" altLang="en-US" dirty="0"/>
              <a:t>增加</a:t>
            </a:r>
            <a:r>
              <a:rPr lang="en-US" altLang="zh-CN" dirty="0"/>
              <a:t>token cost</a:t>
            </a:r>
            <a:br>
              <a:rPr lang="en-US" altLang="zh-CN" dirty="0"/>
            </a:br>
            <a:r>
              <a:rPr lang="en-US" altLang="zh-CN" dirty="0"/>
              <a:t>4. </a:t>
            </a:r>
            <a:r>
              <a:rPr lang="zh-CN" altLang="en-US" dirty="0"/>
              <a:t>每个</a:t>
            </a:r>
            <a:r>
              <a:rPr lang="en-US" altLang="zh-CN" dirty="0"/>
              <a:t>agent</a:t>
            </a:r>
            <a:r>
              <a:rPr lang="zh-CN" altLang="en-US" dirty="0"/>
              <a:t>单独负责一个任务，减少</a:t>
            </a:r>
            <a:r>
              <a:rPr lang="en-US" altLang="zh-CN" dirty="0"/>
              <a:t>context</a:t>
            </a:r>
            <a:br>
              <a:rPr lang="en-US" altLang="zh-CN" dirty="0"/>
            </a:br>
            <a:r>
              <a:rPr lang="en-US" altLang="zh-CN" dirty="0"/>
              <a:t>5. 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新录音在上一页开始</a:t>
            </a:r>
            <a:br>
              <a:rPr lang="zh-CN" altLang="en-US" dirty="0"/>
            </a:br>
            <a:r>
              <a:rPr lang="en-US" altLang="zh-CN" dirty="0"/>
              <a:t>graph</a:t>
            </a:r>
            <a:r>
              <a:rPr lang="zh-CN" altLang="en-US" dirty="0"/>
              <a:t>，上</a:t>
            </a:r>
            <a:r>
              <a:rPr lang="en-US" altLang="zh-CN" dirty="0"/>
              <a:t>2</a:t>
            </a:r>
            <a:r>
              <a:rPr lang="zh-CN" altLang="en-US" dirty="0"/>
              <a:t>页，的</a:t>
            </a:r>
            <a:r>
              <a:rPr lang="en-US" altLang="zh-CN" dirty="0"/>
              <a:t>workflow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09</a:t>
            </a:r>
            <a:r>
              <a:rPr lang="zh-CN" altLang="en-US"/>
              <a:t>：</a:t>
            </a:r>
            <a:r>
              <a:rPr lang="en-US" altLang="zh-CN"/>
              <a:t>50</a:t>
            </a:r>
            <a:r>
              <a:rPr lang="zh-CN" altLang="en-US"/>
              <a:t>，录音</a:t>
            </a:r>
            <a:r>
              <a:rPr lang="en-US" altLang="zh-CN"/>
              <a:t>28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电脑录音开始</a:t>
            </a:r>
            <a:r>
              <a:rPr lang="en-US" altLang="zh-CN" u="heavy"/>
              <a:t> </a:t>
            </a:r>
            <a:endParaRPr lang="en-US" altLang="zh-CN" u="heavy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02</a:t>
            </a:r>
            <a:r>
              <a:rPr lang="zh-CN" altLang="en-US"/>
              <a:t>：</a:t>
            </a:r>
            <a:r>
              <a:rPr lang="en-US" altLang="zh-CN"/>
              <a:t>30</a:t>
            </a:r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0649</a:t>
            </a:r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0915</a:t>
            </a:r>
            <a:endParaRPr lang="en-US" altLang="zh-CN"/>
          </a:p>
          <a:p>
            <a:r>
              <a:rPr lang="en-US" altLang="zh-CN"/>
              <a:t>connect excu</a:t>
            </a:r>
            <a:r>
              <a:rPr lang="en-US" altLang="zh-CN"/>
              <a:t>tor</a:t>
            </a:r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1414</a:t>
            </a:r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Handoff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7AE71-CA66-994B-A9D2-7110A36D40B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15E30-9367-7C46-959F-8A3CDD2409D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38200" y="6307963"/>
            <a:ext cx="1730728" cy="461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C9A7-B5ED-0542-A8D3-6B195759565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31850" y="6307963"/>
            <a:ext cx="1730728" cy="461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6FBA-CEB1-1A41-8102-BA5EEFA8C14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31850" y="6307963"/>
            <a:ext cx="1730728" cy="461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8595-97A9-FF40-A542-0C1CB3C50B2E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31850" y="6307963"/>
            <a:ext cx="1730728" cy="461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0406E-8D77-364B-BB34-274F250E79F5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31850" y="6307963"/>
            <a:ext cx="1730728" cy="461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D7133-519C-C645-AADA-10267D9618DC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  <p:pic>
        <p:nvPicPr>
          <p:cNvPr id="6" name="Picture 2" descr="HKU Business School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38200" y="6311079"/>
            <a:ext cx="2057400" cy="455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B2C3-16DE-F94C-9192-64C335E545A8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9A0F1-20C7-9C4C-A933-1A5008507A50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F0F37-C1E1-FC47-B1A2-A3F1AC06C35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F101-048D-6A4C-8F21-511B72CDA4B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835ED3-D6EE-A84F-B38D-C95E997DC06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Multi-Agent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 err="1"/>
              <a:t>Hailiang</a:t>
            </a:r>
            <a:r>
              <a:rPr lang="en-US" dirty="0"/>
              <a:t> Chen</a:t>
            </a:r>
            <a:endParaRPr lang="en-US" dirty="0"/>
          </a:p>
          <a:p>
            <a:r>
              <a:rPr lang="en-US" altLang="zh-CN" dirty="0"/>
              <a:t>HKU</a:t>
            </a:r>
            <a:r>
              <a:rPr lang="zh-CN" altLang="en-US" dirty="0"/>
              <a:t> </a:t>
            </a:r>
            <a:r>
              <a:rPr lang="en-US" altLang="zh-CN" dirty="0"/>
              <a:t>Business</a:t>
            </a:r>
            <a:r>
              <a:rPr lang="zh-CN" altLang="en-US" dirty="0"/>
              <a:t> </a:t>
            </a:r>
            <a:r>
              <a:rPr lang="en-US" altLang="zh-CN" dirty="0"/>
              <a:t>School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0864"/>
          </a:xfrm>
          <a:prstGeom prst="rect">
            <a:avLst/>
          </a:prstGeom>
          <a:noFill/>
        </p:spPr>
      </p:pic>
      <p:sp>
        <p:nvSpPr>
          <p:cNvPr id="4" name="Slide Number Placeholder 3" hidden="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Why Multi-Agent?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Context Management</a:t>
            </a:r>
            <a:endParaRPr lang="en-US" dirty="0"/>
          </a:p>
          <a:p>
            <a:pPr lvl="1"/>
            <a:r>
              <a:rPr lang="en-US" dirty="0"/>
              <a:t>Deliver specialized knowledge without overloading the context window</a:t>
            </a:r>
            <a:endParaRPr lang="en-US" dirty="0"/>
          </a:p>
          <a:p>
            <a:pPr lvl="1"/>
            <a:r>
              <a:rPr lang="en-US" dirty="0"/>
              <a:t>Selectively surface relevant information instead of one large prompt</a:t>
            </a:r>
            <a:endParaRPr lang="en-US" dirty="0"/>
          </a:p>
          <a:p>
            <a:r>
              <a:rPr lang="en-US" dirty="0"/>
              <a:t>Distributed Development</a:t>
            </a:r>
            <a:endParaRPr lang="en-US" dirty="0"/>
          </a:p>
          <a:p>
            <a:pPr lvl="1"/>
            <a:r>
              <a:rPr lang="en-US" dirty="0"/>
              <a:t>Different teams build and maintain agents independently</a:t>
            </a:r>
            <a:endParaRPr lang="en-US" dirty="0"/>
          </a:p>
          <a:p>
            <a:pPr lvl="1"/>
            <a:r>
              <a:rPr lang="en-US" dirty="0"/>
              <a:t>Modular design with clear boundaries</a:t>
            </a:r>
            <a:endParaRPr lang="en-US" dirty="0"/>
          </a:p>
          <a:p>
            <a:r>
              <a:rPr lang="en-US" dirty="0"/>
              <a:t>Parallelization</a:t>
            </a:r>
            <a:endParaRPr lang="en-US" dirty="0"/>
          </a:p>
          <a:p>
            <a:pPr lvl="1"/>
            <a:r>
              <a:rPr lang="en-US" dirty="0"/>
              <a:t>Specialized agents handle subtasks concurrently</a:t>
            </a:r>
            <a:endParaRPr lang="en-US" dirty="0"/>
          </a:p>
          <a:p>
            <a:pPr lvl="1"/>
            <a:r>
              <a:rPr lang="en-US" dirty="0"/>
              <a:t>Faster overall execution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When to use Multi‑Agent?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A single agent has too many tools and makes poor tool‑selection decisions </a:t>
            </a:r>
            <a:endParaRPr lang="en-US" dirty="0"/>
          </a:p>
          <a:p>
            <a:r>
              <a:rPr lang="en-US" dirty="0"/>
              <a:t>Tasks require deep domain expertise with long prompts or specialized tools </a:t>
            </a:r>
            <a:endParaRPr lang="en-US" dirty="0"/>
          </a:p>
          <a:p>
            <a:r>
              <a:rPr lang="en-US" dirty="0"/>
              <a:t>Sequential constraints are needed (capabilities unlocked only after conditions are met)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  <p:pic>
        <p:nvPicPr>
          <p:cNvPr id="4098" name="Picture 2" descr="AI Agent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569" y="1825625"/>
            <a:ext cx="466486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2919" y="0"/>
            <a:ext cx="6626162" cy="6866491"/>
          </a:xfrm>
          <a:prstGeom prst="rect">
            <a:avLst/>
          </a:prstGeom>
          <a:noFill/>
        </p:spPr>
      </p:pic>
      <p:sp>
        <p:nvSpPr>
          <p:cNvPr id="4" name="Slide Number Placeholder 3" hidden="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Multi-Agent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  <p:pic>
        <p:nvPicPr>
          <p:cNvPr id="1030" name="Picture 6" descr="Handoffs pattern: agents transfer control via tool calls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2528094"/>
            <a:ext cx="9956800" cy="294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Workflow</a:t>
            </a:r>
            <a:endParaRPr lang="en-US" dirty="0"/>
          </a:p>
        </p:txBody>
      </p:sp>
      <p:pic>
        <p:nvPicPr>
          <p:cNvPr id="5122" name="Picture 2" descr="Workflows Overview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1832451"/>
            <a:ext cx="10515600" cy="4337685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When to use agents vs workflows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47853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5257800"/>
                <a:gridCol w="5257800"/>
              </a:tblGrid>
              <a:tr h="71165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200" dirty="0">
                          <a:effectLst/>
                        </a:rPr>
                        <a:t>Use an agent when…</a:t>
                      </a:r>
                      <a:endParaRPr lang="en-US" sz="32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200">
                          <a:effectLst/>
                        </a:rPr>
                        <a:t>Use a workflow when…</a:t>
                      </a:r>
                      <a:endParaRPr lang="en-US" sz="3200">
                        <a:effectLst/>
                      </a:endParaRPr>
                    </a:p>
                  </a:txBody>
                  <a:tcPr/>
                </a:tc>
              </a:tr>
              <a:tr h="12453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200">
                          <a:effectLst/>
                        </a:rPr>
                        <a:t>The task is open-ended or conversational</a:t>
                      </a:r>
                      <a:endParaRPr lang="en-US" sz="32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200" dirty="0">
                          <a:effectLst/>
                        </a:rPr>
                        <a:t>The process has well-defined steps</a:t>
                      </a:r>
                      <a:endParaRPr lang="en-US" sz="3200" dirty="0">
                        <a:effectLst/>
                      </a:endParaRPr>
                    </a:p>
                  </a:txBody>
                  <a:tcPr/>
                </a:tc>
              </a:tr>
              <a:tr h="12453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200">
                          <a:effectLst/>
                        </a:rPr>
                        <a:t>You need autonomous tool use and planning</a:t>
                      </a:r>
                      <a:endParaRPr lang="en-US" sz="32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200">
                          <a:effectLst/>
                        </a:rPr>
                        <a:t>You need explicit control over execution order</a:t>
                      </a:r>
                      <a:endParaRPr lang="en-US" sz="3200">
                        <a:effectLst/>
                      </a:endParaRPr>
                    </a:p>
                  </a:txBody>
                  <a:tcPr/>
                </a:tc>
              </a:tr>
              <a:tr h="12453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200">
                          <a:effectLst/>
                        </a:rPr>
                        <a:t>A single LLM call (possibly with tools) suffices</a:t>
                      </a:r>
                      <a:endParaRPr lang="en-US" sz="32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200" dirty="0">
                          <a:effectLst/>
                        </a:rPr>
                        <a:t>Multiple agents or functions must coordinate</a:t>
                      </a:r>
                      <a:endParaRPr lang="en-US" sz="3200" dirty="0">
                        <a:effectLst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Microsoft Agent Framework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Successor to </a:t>
            </a:r>
            <a:r>
              <a:rPr lang="en-US" dirty="0" err="1"/>
              <a:t>AutoGen</a:t>
            </a:r>
            <a:r>
              <a:rPr lang="en-US" dirty="0"/>
              <a:t> and Semantic Kernel, built by the same teams</a:t>
            </a:r>
            <a:endParaRPr lang="en-US" dirty="0"/>
          </a:p>
          <a:p>
            <a:r>
              <a:rPr lang="en-US" dirty="0"/>
              <a:t>Combines </a:t>
            </a:r>
            <a:r>
              <a:rPr lang="en-US" dirty="0" err="1"/>
              <a:t>AutoGen’s</a:t>
            </a:r>
            <a:r>
              <a:rPr lang="en-US" dirty="0"/>
              <a:t> simple agent abstractions with Semantic Kernel’s enterprise features </a:t>
            </a:r>
            <a:endParaRPr lang="en-US" dirty="0"/>
          </a:p>
          <a:p>
            <a:r>
              <a:rPr lang="en-US" dirty="0"/>
              <a:t>Enterprise‑grade capabilities: session‑based state, type safety, filters, telemetry </a:t>
            </a:r>
            <a:endParaRPr lang="en-US" dirty="0"/>
          </a:p>
          <a:p>
            <a:r>
              <a:rPr lang="en-US" dirty="0"/>
              <a:t>Graph‑based workflows for explicit multi‑agent orchestration </a:t>
            </a:r>
            <a:endParaRPr lang="en-US" dirty="0"/>
          </a:p>
          <a:p>
            <a:r>
              <a:rPr lang="en-US" dirty="0"/>
              <a:t>Designed for long‑running and human‑in‑the‑loop scenarios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Microsoft Agent 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Agents - provides a consistent interface and enables different features like multi-agent orchestration. Out of the box, agents support function calling, multi-turn conversations with chat history, service-provided tools, structured outputs, and streaming responses.</a:t>
            </a:r>
            <a:endParaRPr lang="en-US" dirty="0"/>
          </a:p>
          <a:p>
            <a:r>
              <a:rPr lang="en-US" dirty="0"/>
              <a:t>Chat providers - provide abstractions for connecting to AI services from different providers under a common interface. Supported providers include Azure OpenAI, OpenAI, Anthropic, Copilot, and more through the </a:t>
            </a:r>
            <a:r>
              <a:rPr lang="en-US" dirty="0" err="1"/>
              <a:t>BaseAgent</a:t>
            </a:r>
            <a:r>
              <a:rPr lang="en-US" dirty="0"/>
              <a:t> abstraction.</a:t>
            </a:r>
            <a:endParaRPr lang="en-US" dirty="0"/>
          </a:p>
          <a:p>
            <a:r>
              <a:rPr lang="en-US" dirty="0"/>
              <a:t>Function tools - containers for custom functions that extend agent capabilities. Agents can automatically invoke functions to integrate with external APIs and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Microsoft Agent 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Built-in tools - prebuilt capabilities including Code Interpreter for Python execution, File Search for document analysis, and Web Search for internet access.</a:t>
            </a:r>
            <a:endParaRPr lang="en-US" dirty="0"/>
          </a:p>
          <a:p>
            <a:r>
              <a:rPr lang="en-US" dirty="0"/>
              <a:t>Conversation management - structured message system with roles (USER, ASSISTANT, SYSTEM, TOOL) and </a:t>
            </a:r>
            <a:r>
              <a:rPr lang="en-US" dirty="0" err="1"/>
              <a:t>AgentSession</a:t>
            </a:r>
            <a:r>
              <a:rPr lang="en-US" dirty="0"/>
              <a:t> for persistent conversation context across interactions.</a:t>
            </a:r>
            <a:endParaRPr lang="en-US" dirty="0"/>
          </a:p>
          <a:p>
            <a:r>
              <a:rPr lang="en-US" dirty="0"/>
              <a:t>Workflow orchestration - supports sequential workflows, concurrent execution, group chat, and handoff patterns for complex multi-agent collaboration.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Workflow Core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Executors</a:t>
            </a:r>
            <a:endParaRPr lang="en-US" dirty="0"/>
          </a:p>
          <a:p>
            <a:pPr lvl="1"/>
            <a:r>
              <a:rPr lang="en-US" dirty="0"/>
              <a:t>represent individual processing units within a workflow. </a:t>
            </a:r>
            <a:endParaRPr lang="en-US" dirty="0"/>
          </a:p>
          <a:p>
            <a:pPr lvl="1"/>
            <a:r>
              <a:rPr lang="en-US" dirty="0"/>
              <a:t>They can be AI agents or custom logic components. </a:t>
            </a:r>
            <a:endParaRPr lang="en-US" dirty="0"/>
          </a:p>
          <a:p>
            <a:pPr lvl="1"/>
            <a:r>
              <a:rPr lang="en-US" dirty="0"/>
              <a:t>They receive input messages, perform specific tasks, and produce output messages.</a:t>
            </a:r>
            <a:endParaRPr lang="en-US" dirty="0"/>
          </a:p>
          <a:p>
            <a:r>
              <a:rPr lang="en-US" dirty="0"/>
              <a:t>Edges</a:t>
            </a:r>
            <a:endParaRPr lang="en-US" dirty="0"/>
          </a:p>
          <a:p>
            <a:pPr lvl="1"/>
            <a:r>
              <a:rPr lang="en-US" dirty="0"/>
              <a:t>define the connections between executors, determining the flow of messages. </a:t>
            </a:r>
            <a:endParaRPr lang="en-US" dirty="0"/>
          </a:p>
          <a:p>
            <a:pPr lvl="1"/>
            <a:r>
              <a:rPr lang="en-US" dirty="0"/>
              <a:t>They can include conditions to control routing based on message contents.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Workflow Core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Events</a:t>
            </a:r>
            <a:endParaRPr lang="en-US" dirty="0"/>
          </a:p>
          <a:p>
            <a:pPr lvl="1"/>
            <a:r>
              <a:rPr lang="en-US" dirty="0"/>
              <a:t>provide observability into workflow execution, including lifecycle events, executor events, and custom events.</a:t>
            </a:r>
            <a:endParaRPr lang="en-US" dirty="0"/>
          </a:p>
          <a:p>
            <a:r>
              <a:rPr lang="en-US" dirty="0"/>
              <a:t>Workflow Builder &amp; Execution</a:t>
            </a:r>
            <a:endParaRPr lang="en-US" dirty="0"/>
          </a:p>
          <a:p>
            <a:pPr lvl="1"/>
            <a:r>
              <a:rPr lang="en-US" dirty="0"/>
              <a:t>ties executors and edges together into a directed graph</a:t>
            </a:r>
            <a:endParaRPr lang="en-US" dirty="0"/>
          </a:p>
          <a:p>
            <a:pPr lvl="1"/>
            <a:r>
              <a:rPr lang="en-US" dirty="0"/>
              <a:t>manages execution via </a:t>
            </a:r>
            <a:r>
              <a:rPr lang="en-US" dirty="0" err="1"/>
              <a:t>supersteps</a:t>
            </a:r>
            <a:endParaRPr lang="en-US" dirty="0"/>
          </a:p>
          <a:p>
            <a:pPr lvl="1"/>
            <a:r>
              <a:rPr lang="en-US" dirty="0"/>
              <a:t>supports streaming and non-streaming modes.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Workflow Key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Type Safety: Strong typing ensures messages flow correctly between components, with comprehensive validation that prevents runtime errors.</a:t>
            </a:r>
            <a:endParaRPr lang="en-US" sz="2400" dirty="0"/>
          </a:p>
          <a:p>
            <a:r>
              <a:rPr lang="en-US" sz="2400" dirty="0"/>
              <a:t>Flexible Control Flow: Graph-based architecture allows for intuitive </a:t>
            </a:r>
            <a:r>
              <a:rPr lang="en-US" sz="2400" dirty="0" err="1"/>
              <a:t>modeling</a:t>
            </a:r>
            <a:r>
              <a:rPr lang="en-US" sz="2400" dirty="0"/>
              <a:t> of complex workflows with executors and edges. Conditional routing, parallel processing, and dynamic execution paths are all supported.</a:t>
            </a:r>
            <a:endParaRPr lang="en-US" sz="2400" dirty="0"/>
          </a:p>
          <a:p>
            <a:r>
              <a:rPr lang="en-US" sz="2400" dirty="0"/>
              <a:t>External Integration: Built-in request/response patterns for seamless integration with external APIs, and human-in-the-loop scenarios.</a:t>
            </a:r>
            <a:endParaRPr lang="en-US" sz="2400" dirty="0"/>
          </a:p>
          <a:p>
            <a:r>
              <a:rPr lang="en-US" sz="2400" dirty="0"/>
              <a:t>Checkpointing: Save workflow states via checkpoints, enabling recovery and resumption of long-running processes on server sides.</a:t>
            </a:r>
            <a:r>
              <a:rPr lang="zh-CN" altLang="en-US" sz="2400" dirty="0"/>
              <a:t>存档</a:t>
            </a:r>
            <a:endParaRPr lang="en-US" sz="2400" dirty="0"/>
          </a:p>
          <a:p>
            <a:r>
              <a:rPr lang="en-US" sz="2400" dirty="0"/>
              <a:t>Multi-Agent Orchestration: Built-in patterns for coordinating multiple AI agents, including sequential, concurrent, hand-off, and </a:t>
            </a:r>
            <a:r>
              <a:rPr lang="en-US" sz="2400" dirty="0" err="1"/>
              <a:t>magentic</a:t>
            </a:r>
            <a:r>
              <a:rPr lang="en-US" sz="2400" dirty="0"/>
              <a:t>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Each executor has a unique identifier and can handle specific message types.</a:t>
            </a:r>
            <a:endParaRPr lang="en-US" b="1" dirty="0"/>
          </a:p>
          <a:p>
            <a:r>
              <a:rPr lang="en-US" b="1" dirty="0"/>
              <a:t>Custom logic components</a:t>
            </a:r>
            <a:r>
              <a:rPr lang="en-US" dirty="0"/>
              <a:t> — process data, call APIs, or transform messages</a:t>
            </a:r>
            <a:endParaRPr lang="en-US" dirty="0"/>
          </a:p>
          <a:p>
            <a:pPr lvl="1"/>
            <a:r>
              <a:rPr lang="en-US" dirty="0"/>
              <a:t>Basic Executor Structure</a:t>
            </a:r>
            <a:endParaRPr lang="en-US" dirty="0"/>
          </a:p>
          <a:p>
            <a:pPr lvl="2"/>
            <a:r>
              <a:rPr lang="en-US" dirty="0"/>
              <a:t>Executors inherit from the Executor base class.</a:t>
            </a:r>
            <a:endParaRPr lang="en-US" dirty="0"/>
          </a:p>
          <a:p>
            <a:pPr lvl="2"/>
            <a:r>
              <a:rPr lang="en-US" dirty="0"/>
              <a:t>Each executor uses methods decorated with the @handler decorator.</a:t>
            </a:r>
            <a:endParaRPr lang="en-US" dirty="0"/>
          </a:p>
          <a:p>
            <a:pPr lvl="2"/>
            <a:r>
              <a:rPr lang="en-US" dirty="0"/>
              <a:t>Handlers must have proper type annotations to specify the message types they process.</a:t>
            </a:r>
            <a:endParaRPr lang="en-US" dirty="0"/>
          </a:p>
          <a:p>
            <a:pPr lvl="1"/>
            <a:r>
              <a:rPr lang="en-US" dirty="0"/>
              <a:t>Function-based Executors</a:t>
            </a:r>
            <a:endParaRPr lang="en-US" dirty="0"/>
          </a:p>
          <a:p>
            <a:pPr lvl="2"/>
            <a:r>
              <a:rPr lang="en-US" dirty="0"/>
              <a:t>Create an executor from a function using the @executor decorator.</a:t>
            </a:r>
            <a:endParaRPr lang="en-US" dirty="0"/>
          </a:p>
          <a:p>
            <a:r>
              <a:rPr lang="en-US" b="1" dirty="0"/>
              <a:t>AI agents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WorkflowContext</a:t>
            </a:r>
            <a:r>
              <a:rPr lang="en-US" dirty="0"/>
              <a:t>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</a:t>
            </a:r>
            <a:r>
              <a:rPr lang="en-US" dirty="0" err="1"/>
              <a:t>WorkflowContext</a:t>
            </a:r>
            <a:r>
              <a:rPr lang="en-US" dirty="0"/>
              <a:t> provides methods for interacting with the workflow during execution:</a:t>
            </a:r>
            <a:endParaRPr lang="en-US" dirty="0"/>
          </a:p>
          <a:p>
            <a:r>
              <a:rPr lang="en-US" b="1" dirty="0" err="1"/>
              <a:t>send_message</a:t>
            </a:r>
            <a:r>
              <a:rPr lang="en-US" dirty="0"/>
              <a:t> — send messages to connected executors</a:t>
            </a:r>
            <a:endParaRPr lang="en-US" dirty="0"/>
          </a:p>
          <a:p>
            <a:r>
              <a:rPr lang="en-US" b="1" dirty="0" err="1"/>
              <a:t>yield_output</a:t>
            </a:r>
            <a:r>
              <a:rPr lang="en-US" dirty="0"/>
              <a:t> — produce workflow outputs returned/streamed to the caller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Providers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Azure OpenAI</a:t>
            </a:r>
            <a:endParaRPr lang="en-US" dirty="0"/>
          </a:p>
          <a:p>
            <a:pPr lvl="1"/>
            <a:r>
              <a:rPr lang="en-US" dirty="0"/>
              <a:t>Azure OpenAI resource</a:t>
            </a:r>
            <a:endParaRPr lang="en-US" dirty="0"/>
          </a:p>
          <a:p>
            <a:pPr lvl="1"/>
            <a:r>
              <a:rPr lang="en-US" dirty="0"/>
              <a:t>Program: </a:t>
            </a:r>
            <a:r>
              <a:rPr lang="en-US" dirty="0" err="1">
                <a:solidFill>
                  <a:schemeClr val="accent2"/>
                </a:solidFill>
              </a:rPr>
              <a:t>af</a:t>
            </a:r>
            <a:r>
              <a:rPr lang="en-US" dirty="0">
                <a:solidFill>
                  <a:schemeClr val="accent2"/>
                </a:solidFill>
              </a:rPr>
              <a:t>-azure-</a:t>
            </a:r>
            <a:r>
              <a:rPr lang="en-US" dirty="0" err="1">
                <a:solidFill>
                  <a:schemeClr val="accent2"/>
                </a:solidFill>
              </a:rPr>
              <a:t>openai</a:t>
            </a:r>
            <a:r>
              <a:rPr lang="en-US" dirty="0">
                <a:solidFill>
                  <a:schemeClr val="accent2"/>
                </a:solidFill>
              </a:rPr>
              <a:t>-</a:t>
            </a:r>
            <a:r>
              <a:rPr lang="en-US" dirty="0" err="1">
                <a:solidFill>
                  <a:schemeClr val="accent2"/>
                </a:solidFill>
              </a:rPr>
              <a:t>agent.py</a:t>
            </a:r>
            <a:endParaRPr lang="en-US" dirty="0">
              <a:solidFill>
                <a:schemeClr val="accent2"/>
              </a:solidFill>
            </a:endParaRPr>
          </a:p>
          <a:p>
            <a:pPr lvl="1"/>
            <a:endParaRPr lang="en-US" dirty="0"/>
          </a:p>
          <a:p>
            <a:r>
              <a:rPr lang="en-US" dirty="0"/>
              <a:t>Microsoft Foundry</a:t>
            </a:r>
            <a:endParaRPr lang="en-US" dirty="0"/>
          </a:p>
          <a:p>
            <a:pPr lvl="1"/>
            <a:r>
              <a:rPr lang="en-US" dirty="0"/>
              <a:t>Microsoft Foundry resource</a:t>
            </a:r>
            <a:endParaRPr lang="en-US" dirty="0"/>
          </a:p>
          <a:p>
            <a:pPr lvl="1"/>
            <a:r>
              <a:rPr lang="en-US" dirty="0"/>
              <a:t>Program: </a:t>
            </a:r>
            <a:r>
              <a:rPr lang="en-US" dirty="0" err="1">
                <a:solidFill>
                  <a:schemeClr val="accent2"/>
                </a:solidFill>
              </a:rPr>
              <a:t>af</a:t>
            </a:r>
            <a:r>
              <a:rPr lang="en-US" dirty="0">
                <a:solidFill>
                  <a:schemeClr val="accent2"/>
                </a:solidFill>
              </a:rPr>
              <a:t>-foundry-</a:t>
            </a:r>
            <a:r>
              <a:rPr lang="en-US" dirty="0" err="1">
                <a:solidFill>
                  <a:schemeClr val="accent2"/>
                </a:solidFill>
              </a:rPr>
              <a:t>agent.py</a:t>
            </a:r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61134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367987"/>
                <a:gridCol w="4642413"/>
                <a:gridCol w="3505200"/>
              </a:tblGrid>
              <a:tr h="34128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effectLst/>
                        </a:rPr>
                        <a:t>Type</a:t>
                      </a:r>
                      <a:endParaRPr lang="en-US" sz="2400">
                        <a:effectLst/>
                      </a:endParaRP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effectLst/>
                        </a:rPr>
                        <a:t>Description</a:t>
                      </a:r>
                      <a:endParaRPr lang="en-US" sz="2400">
                        <a:effectLst/>
                      </a:endParaRP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effectLst/>
                        </a:rPr>
                        <a:t>Use case</a:t>
                      </a:r>
                      <a:endParaRPr lang="en-US" sz="2400">
                        <a:effectLst/>
                      </a:endParaRPr>
                    </a:p>
                  </a:txBody>
                  <a:tcPr marL="85320" marR="85320" marT="42660" marB="42660"/>
                </a:tc>
              </a:tr>
              <a:tr h="59724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b="1" dirty="0">
                          <a:effectLst/>
                        </a:rPr>
                        <a:t>Direct</a:t>
                      </a:r>
                      <a:endParaRPr lang="en-US" sz="2400" dirty="0">
                        <a:effectLst/>
                      </a:endParaRP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effectLst/>
                        </a:rPr>
                        <a:t>Simple one-to-one connections</a:t>
                      </a:r>
                      <a:endParaRPr lang="en-US" sz="2400">
                        <a:effectLst/>
                      </a:endParaRP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effectLst/>
                        </a:rPr>
                        <a:t>Linear pipelines</a:t>
                      </a:r>
                      <a:r>
                        <a:rPr lang="zh-CN" altLang="en-US" sz="2400">
                          <a:effectLst/>
                        </a:rPr>
                        <a:t>按顺序</a:t>
                      </a:r>
                      <a:endParaRPr lang="zh-CN" altLang="en-US" sz="2400">
                        <a:effectLst/>
                      </a:endParaRPr>
                    </a:p>
                  </a:txBody>
                  <a:tcPr marL="85320" marR="85320" marT="42660" marB="42660"/>
                </a:tc>
              </a:tr>
              <a:tr h="8532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b="1">
                          <a:effectLst/>
                        </a:rPr>
                        <a:t>Conditional</a:t>
                      </a:r>
                      <a:endParaRPr lang="en-US" sz="2400">
                        <a:effectLst/>
                      </a:endParaRP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effectLst/>
                        </a:rPr>
                        <a:t>Edges with conditions that determine when messages flow</a:t>
                      </a:r>
                      <a:endParaRPr lang="en-US" sz="2400">
                        <a:effectLst/>
                      </a:endParaRP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dirty="0">
                          <a:effectLst/>
                        </a:rPr>
                        <a:t>Binary routing (if/else)</a:t>
                      </a:r>
                      <a:r>
                        <a:rPr lang="zh-CN" altLang="en-US" sz="2400" dirty="0">
                          <a:effectLst/>
                        </a:rPr>
                        <a:t>广告邮件的</a:t>
                      </a:r>
                      <a:r>
                        <a:rPr lang="zh-CN" altLang="en-US" sz="2400" dirty="0">
                          <a:effectLst/>
                        </a:rPr>
                        <a:t>分类</a:t>
                      </a:r>
                      <a:endParaRPr lang="zh-CN" altLang="en-US" sz="2400" dirty="0">
                        <a:effectLst/>
                      </a:endParaRPr>
                    </a:p>
                  </a:txBody>
                  <a:tcPr marL="85320" marR="85320" marT="42660" marB="42660"/>
                </a:tc>
              </a:tr>
              <a:tr h="8532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b="1" dirty="0">
                          <a:effectLst/>
                        </a:rPr>
                        <a:t>Switch-Case</a:t>
                      </a:r>
                      <a:endParaRPr lang="en-US" sz="2400" dirty="0">
                        <a:effectLst/>
                      </a:endParaRP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effectLst/>
                        </a:rPr>
                        <a:t>Route to different executors based on conditions</a:t>
                      </a:r>
                      <a:endParaRPr lang="en-US" sz="2400">
                        <a:effectLst/>
                      </a:endParaRP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effectLst/>
                        </a:rPr>
                        <a:t>Multi-branch routing</a:t>
                      </a:r>
                      <a:endParaRPr lang="en-US" sz="2400">
                        <a:effectLst/>
                      </a:endParaRPr>
                    </a:p>
                  </a:txBody>
                  <a:tcPr marL="85320" marR="85320" marT="42660" marB="42660"/>
                </a:tc>
              </a:tr>
              <a:tr h="8532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b="1">
                          <a:effectLst/>
                        </a:rPr>
                        <a:t>Multi-Selection (Fan-out)</a:t>
                      </a:r>
                      <a:endParaRPr lang="en-US" sz="2400">
                        <a:effectLst/>
                      </a:endParaRP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effectLst/>
                          <a:highlight>
                            <a:srgbClr val="FFFF00"/>
                          </a:highlight>
                        </a:rPr>
                        <a:t>One </a:t>
                      </a:r>
                      <a:r>
                        <a:rPr lang="en-US" sz="2400">
                          <a:effectLst/>
                        </a:rPr>
                        <a:t>executor sending messages to </a:t>
                      </a:r>
                      <a:r>
                        <a:rPr lang="en-US" sz="2400">
                          <a:effectLst/>
                          <a:highlight>
                            <a:srgbClr val="FFFF00"/>
                          </a:highlight>
                        </a:rPr>
                        <a:t>multiple </a:t>
                      </a:r>
                      <a:r>
                        <a:rPr lang="en-US" sz="2400">
                          <a:effectLst/>
                        </a:rPr>
                        <a:t>targets</a:t>
                      </a:r>
                      <a:endParaRPr lang="en-US" sz="2400">
                        <a:effectLst/>
                      </a:endParaRP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effectLst/>
                        </a:rPr>
                        <a:t>Parallel processing</a:t>
                      </a:r>
                      <a:endParaRPr lang="en-US" sz="2400">
                        <a:effectLst/>
                      </a:endParaRPr>
                    </a:p>
                  </a:txBody>
                  <a:tcPr marL="85320" marR="85320" marT="42660" marB="42660"/>
                </a:tc>
              </a:tr>
              <a:tr h="8532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b="1">
                          <a:effectLst/>
                        </a:rPr>
                        <a:t>Fan-in</a:t>
                      </a:r>
                      <a:endParaRPr lang="en-US" sz="2400">
                        <a:effectLst/>
                      </a:endParaRP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effectLst/>
                          <a:highlight>
                            <a:srgbClr val="FFFF00"/>
                          </a:highlight>
                        </a:rPr>
                        <a:t>Multiple </a:t>
                      </a:r>
                      <a:r>
                        <a:rPr lang="en-US" sz="2400">
                          <a:effectLst/>
                        </a:rPr>
                        <a:t>executors sending to a </a:t>
                      </a:r>
                      <a:r>
                        <a:rPr lang="en-US" sz="2400">
                          <a:effectLst/>
                          <a:highlight>
                            <a:srgbClr val="FFFF00"/>
                          </a:highlight>
                        </a:rPr>
                        <a:t>single </a:t>
                      </a:r>
                      <a:r>
                        <a:rPr lang="en-US" sz="2400">
                          <a:effectLst/>
                        </a:rPr>
                        <a:t>target</a:t>
                      </a:r>
                      <a:endParaRPr lang="en-US" sz="2400">
                        <a:effectLst/>
                      </a:endParaRP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dirty="0">
                          <a:effectLst/>
                        </a:rPr>
                        <a:t>Aggregation</a:t>
                      </a:r>
                      <a:endParaRPr lang="en-US" sz="2400" dirty="0">
                        <a:effectLst/>
                      </a:endParaRPr>
                    </a:p>
                  </a:txBody>
                  <a:tcPr marL="85320" marR="85320" marT="42660" marB="42660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Case: Hotel Booking Conditional Workflow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User provides a destination city</a:t>
            </a:r>
            <a:endParaRPr lang="en-US" dirty="0"/>
          </a:p>
          <a:p>
            <a:r>
              <a:rPr lang="en-US" dirty="0"/>
              <a:t>Agent checks hotel availability using a tool</a:t>
            </a:r>
            <a:endParaRPr lang="en-US" dirty="0"/>
          </a:p>
          <a:p>
            <a:r>
              <a:rPr lang="en-US" dirty="0"/>
              <a:t>Conditional routing:</a:t>
            </a:r>
            <a:endParaRPr lang="en-US" dirty="0"/>
          </a:p>
          <a:p>
            <a:pPr lvl="1"/>
            <a:r>
              <a:rPr lang="en-US" dirty="0"/>
              <a:t>If NO availability → Suggest alternative city</a:t>
            </a:r>
            <a:endParaRPr lang="en-US" dirty="0"/>
          </a:p>
          <a:p>
            <a:pPr lvl="1"/>
            <a:r>
              <a:rPr lang="en-US" dirty="0"/>
              <a:t>If availability → Suggest booking</a:t>
            </a:r>
            <a:endParaRPr lang="en-US" dirty="0"/>
          </a:p>
          <a:p>
            <a:r>
              <a:rPr lang="en-US" dirty="0"/>
              <a:t>Display result with HTML formatting</a:t>
            </a:r>
            <a:endParaRPr lang="en-US" dirty="0"/>
          </a:p>
          <a:p>
            <a:endParaRPr lang="en-US" dirty="0"/>
          </a:p>
          <a:p>
            <a:r>
              <a:rPr lang="en-US" dirty="0" err="1">
                <a:solidFill>
                  <a:schemeClr val="accent2"/>
                </a:solidFill>
              </a:rPr>
              <a:t>af</a:t>
            </a:r>
            <a:r>
              <a:rPr lang="en-US" dirty="0">
                <a:solidFill>
                  <a:schemeClr val="accent2"/>
                </a:solidFill>
              </a:rPr>
              <a:t>-hotel-</a:t>
            </a:r>
            <a:r>
              <a:rPr lang="en-US" dirty="0" err="1">
                <a:solidFill>
                  <a:schemeClr val="accent2"/>
                </a:solidFill>
              </a:rPr>
              <a:t>booking.py</a:t>
            </a:r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Case: Hotel Booking Conditional Workflow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 err="1"/>
              <a:t>WorkflowBuilder</a:t>
            </a:r>
            <a:r>
              <a:rPr lang="en-US" dirty="0"/>
              <a:t> with conditional edges</a:t>
            </a:r>
            <a:endParaRPr lang="en-US" dirty="0"/>
          </a:p>
          <a:p>
            <a:r>
              <a:rPr lang="en-US" dirty="0" err="1"/>
              <a:t>AgentExecutor</a:t>
            </a:r>
            <a:r>
              <a:rPr lang="en-US" dirty="0"/>
              <a:t> wrapping AI agents</a:t>
            </a:r>
            <a:endParaRPr lang="en-US" dirty="0"/>
          </a:p>
          <a:p>
            <a:r>
              <a:rPr lang="en-US" dirty="0"/>
              <a:t>@executor decorator for custom logic</a:t>
            </a:r>
            <a:endParaRPr lang="en-US" dirty="0"/>
          </a:p>
          <a:p>
            <a:r>
              <a:rPr lang="en-US" dirty="0" err="1"/>
              <a:t>Pydantic</a:t>
            </a:r>
            <a:r>
              <a:rPr lang="en-US" dirty="0"/>
              <a:t> models for structured outputs well-defined</a:t>
            </a:r>
            <a:r>
              <a:rPr lang="zh-CN" altLang="en-US" dirty="0"/>
              <a:t>的输出</a:t>
            </a:r>
            <a:endParaRPr lang="en-US" dirty="0"/>
          </a:p>
          <a:p>
            <a:r>
              <a:rPr lang="en-US" dirty="0"/>
              <a:t>@tool decorator for tools</a:t>
            </a:r>
            <a:endParaRPr lang="en-US" dirty="0"/>
          </a:p>
          <a:p>
            <a:r>
              <a:rPr lang="en-US" dirty="0" err="1"/>
              <a:t>OpenAIChatClient</a:t>
            </a:r>
            <a:r>
              <a:rPr lang="en-US" dirty="0"/>
              <a:t> integration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# All events use the unified </a:t>
            </a:r>
            <a:r>
              <a:rPr lang="en-US" dirty="0" err="1"/>
              <a:t>WorkflowEvent</a:t>
            </a:r>
            <a:r>
              <a:rPr lang="en-US" dirty="0"/>
              <a:t> class with a type discriminator: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Workflow lifecycle events</a:t>
            </a:r>
            <a:endParaRPr lang="en-US" dirty="0"/>
          </a:p>
          <a:p>
            <a:r>
              <a:rPr lang="en-US" dirty="0" err="1"/>
              <a:t>WorkflowEvent.type</a:t>
            </a:r>
            <a:r>
              <a:rPr lang="en-US" dirty="0"/>
              <a:t> == "started"             # Workflow execution begins</a:t>
            </a:r>
            <a:endParaRPr lang="en-US" dirty="0"/>
          </a:p>
          <a:p>
            <a:r>
              <a:rPr lang="en-US" dirty="0" err="1"/>
              <a:t>WorkflowEvent.type</a:t>
            </a:r>
            <a:r>
              <a:rPr lang="en-US" dirty="0"/>
              <a:t> == "status"              # Workflow state changed (use .state)</a:t>
            </a:r>
            <a:endParaRPr lang="en-US" dirty="0"/>
          </a:p>
          <a:p>
            <a:r>
              <a:rPr lang="en-US" dirty="0" err="1"/>
              <a:t>WorkflowEvent.type</a:t>
            </a:r>
            <a:r>
              <a:rPr lang="en-US" dirty="0"/>
              <a:t> == "output"              # Workflow produces an output</a:t>
            </a:r>
            <a:endParaRPr lang="en-US" dirty="0"/>
          </a:p>
          <a:p>
            <a:r>
              <a:rPr lang="en-US" dirty="0" err="1"/>
              <a:t>WorkflowEvent.type</a:t>
            </a:r>
            <a:r>
              <a:rPr lang="en-US" dirty="0"/>
              <a:t> == "failed"              # Workflow terminated with error (use .details)</a:t>
            </a:r>
            <a:endParaRPr lang="en-US" dirty="0"/>
          </a:p>
          <a:p>
            <a:r>
              <a:rPr lang="en-US" dirty="0" err="1"/>
              <a:t>WorkflowEvent.type</a:t>
            </a:r>
            <a:r>
              <a:rPr lang="en-US" dirty="0"/>
              <a:t> == "error"               # Non-fatal error from user code</a:t>
            </a:r>
            <a:endParaRPr lang="en-US" dirty="0"/>
          </a:p>
          <a:p>
            <a:r>
              <a:rPr lang="en-US" dirty="0" err="1"/>
              <a:t>WorkflowEvent.type</a:t>
            </a:r>
            <a:r>
              <a:rPr lang="en-US" dirty="0"/>
              <a:t> == "warning"             # Workflow encountered a warning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# Executor events</a:t>
            </a:r>
            <a:endParaRPr lang="en-US" dirty="0"/>
          </a:p>
          <a:p>
            <a:r>
              <a:rPr lang="en-US" dirty="0" err="1"/>
              <a:t>WorkflowEvent.type</a:t>
            </a:r>
            <a:r>
              <a:rPr lang="en-US" dirty="0"/>
              <a:t> == "</a:t>
            </a:r>
            <a:r>
              <a:rPr lang="en-US" dirty="0" err="1"/>
              <a:t>executor_invoked</a:t>
            </a:r>
            <a:r>
              <a:rPr lang="en-US" dirty="0"/>
              <a:t>"    # Executor starts processing</a:t>
            </a:r>
            <a:endParaRPr lang="en-US" dirty="0"/>
          </a:p>
          <a:p>
            <a:r>
              <a:rPr lang="en-US" dirty="0" err="1"/>
              <a:t>WorkflowEvent.type</a:t>
            </a:r>
            <a:r>
              <a:rPr lang="en-US" dirty="0"/>
              <a:t> == "</a:t>
            </a:r>
            <a:r>
              <a:rPr lang="en-US" dirty="0" err="1"/>
              <a:t>executor_completed</a:t>
            </a:r>
            <a:r>
              <a:rPr lang="en-US" dirty="0"/>
              <a:t>"  # Executor finishes processing</a:t>
            </a:r>
            <a:endParaRPr lang="en-US" dirty="0"/>
          </a:p>
          <a:p>
            <a:r>
              <a:rPr lang="en-US" dirty="0" err="1"/>
              <a:t>WorkflowEvent.type</a:t>
            </a:r>
            <a:r>
              <a:rPr lang="en-US" dirty="0"/>
              <a:t> == "</a:t>
            </a:r>
            <a:r>
              <a:rPr lang="en-US" dirty="0" err="1"/>
              <a:t>executor_failed</a:t>
            </a:r>
            <a:r>
              <a:rPr lang="en-US" dirty="0"/>
              <a:t>"     # Executor encounters an error</a:t>
            </a:r>
            <a:endParaRPr lang="en-US" dirty="0"/>
          </a:p>
          <a:p>
            <a:r>
              <a:rPr lang="en-US" dirty="0" err="1"/>
              <a:t>WorkflowEvent.type</a:t>
            </a:r>
            <a:r>
              <a:rPr lang="en-US" dirty="0"/>
              <a:t> == "data"                # Executor emitted data (e.g., </a:t>
            </a:r>
            <a:r>
              <a:rPr lang="en-US" dirty="0" err="1"/>
              <a:t>AgentResponse</a:t>
            </a:r>
            <a:r>
              <a:rPr lang="en-US" dirty="0"/>
              <a:t>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# </a:t>
            </a:r>
            <a:r>
              <a:rPr lang="en-US" dirty="0" err="1"/>
              <a:t>Superstep</a:t>
            </a:r>
            <a:r>
              <a:rPr lang="en-US" dirty="0"/>
              <a:t> events</a:t>
            </a:r>
            <a:endParaRPr lang="en-US" dirty="0"/>
          </a:p>
          <a:p>
            <a:r>
              <a:rPr lang="en-US" dirty="0" err="1"/>
              <a:t>WorkflowEvent.type</a:t>
            </a:r>
            <a:r>
              <a:rPr lang="en-US" dirty="0"/>
              <a:t> == "</a:t>
            </a:r>
            <a:r>
              <a:rPr lang="en-US" dirty="0" err="1"/>
              <a:t>superstep_started</a:t>
            </a:r>
            <a:r>
              <a:rPr lang="en-US" dirty="0"/>
              <a:t>"   # </a:t>
            </a:r>
            <a:r>
              <a:rPr lang="en-US" dirty="0" err="1"/>
              <a:t>Superstep</a:t>
            </a:r>
            <a:r>
              <a:rPr lang="en-US" dirty="0"/>
              <a:t> begins</a:t>
            </a:r>
            <a:endParaRPr lang="en-US" dirty="0"/>
          </a:p>
          <a:p>
            <a:r>
              <a:rPr lang="en-US" dirty="0" err="1"/>
              <a:t>WorkflowEvent.type</a:t>
            </a:r>
            <a:r>
              <a:rPr lang="en-US" dirty="0"/>
              <a:t> == "</a:t>
            </a:r>
            <a:r>
              <a:rPr lang="en-US" dirty="0" err="1"/>
              <a:t>superstep_completed</a:t>
            </a:r>
            <a:r>
              <a:rPr lang="en-US" dirty="0"/>
              <a:t>" # </a:t>
            </a:r>
            <a:r>
              <a:rPr lang="en-US" dirty="0" err="1"/>
              <a:t>Superstep</a:t>
            </a:r>
            <a:r>
              <a:rPr lang="en-US" dirty="0"/>
              <a:t> completes</a:t>
            </a:r>
            <a:endParaRPr lang="en-US" dirty="0"/>
          </a:p>
          <a:p>
            <a:endParaRPr lang="en-US" dirty="0"/>
          </a:p>
          <a:p>
            <a:r>
              <a:rPr lang="en-US" dirty="0"/>
              <a:t># Request events</a:t>
            </a:r>
            <a:endParaRPr lang="en-US" dirty="0"/>
          </a:p>
          <a:p>
            <a:r>
              <a:rPr lang="en-US" dirty="0" err="1"/>
              <a:t>WorkflowEvent.type</a:t>
            </a:r>
            <a:r>
              <a:rPr lang="en-US" dirty="0"/>
              <a:t> == "</a:t>
            </a:r>
            <a:r>
              <a:rPr lang="en-US" dirty="0" err="1"/>
              <a:t>request_info</a:t>
            </a:r>
            <a:r>
              <a:rPr lang="en-US" dirty="0"/>
              <a:t>"        # A request is issued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Workflow Builder &amp; Execution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Building Workflows: Use the </a:t>
            </a:r>
            <a:r>
              <a:rPr lang="en-US" dirty="0" err="1"/>
              <a:t>WorkflowBuilder</a:t>
            </a:r>
            <a:r>
              <a:rPr lang="en-US" dirty="0"/>
              <a:t> class to define workflows with executors and edges.</a:t>
            </a:r>
            <a:endParaRPr lang="en-US" dirty="0"/>
          </a:p>
          <a:p>
            <a:r>
              <a:rPr lang="en-US" dirty="0"/>
              <a:t>Workflow Execution: Support for both streaming and non-streaming execution modes.</a:t>
            </a:r>
            <a:endParaRPr lang="en-US" dirty="0"/>
          </a:p>
          <a:p>
            <a:r>
              <a:rPr lang="en-US" dirty="0"/>
              <a:t>Workflow Validation: Ensures type compatibility, graph connectivity, executor binding, and edge validation during workflow construction.</a:t>
            </a:r>
            <a:endParaRPr lang="en-US" dirty="0"/>
          </a:p>
          <a:p>
            <a:r>
              <a:rPr lang="en-US" dirty="0"/>
              <a:t>Execution Model: Introduces a </a:t>
            </a:r>
            <a:r>
              <a:rPr lang="en-US" dirty="0" err="1"/>
              <a:t>superstep</a:t>
            </a:r>
            <a:r>
              <a:rPr lang="en-US" dirty="0"/>
              <a:t>-based processing model that organizes execution into discrete steps, ensuring synchronization and deterministic </a:t>
            </a:r>
            <a:r>
              <a:rPr lang="en-US" dirty="0" err="1"/>
              <a:t>behavior</a:t>
            </a:r>
            <a:r>
              <a:rPr lang="en-US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Validation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Type Compatibility: Ensures message types are compatible between connected executors</a:t>
            </a:r>
            <a:endParaRPr lang="en-US" dirty="0"/>
          </a:p>
          <a:p>
            <a:r>
              <a:rPr lang="en-US" dirty="0"/>
              <a:t>Graph Connectivity: Verifies all executors are reachable from the start executor</a:t>
            </a:r>
            <a:endParaRPr lang="en-US" dirty="0"/>
          </a:p>
          <a:p>
            <a:r>
              <a:rPr lang="en-US" dirty="0"/>
              <a:t>Executor Binding: Confirms all executors are properly bound and instantiated</a:t>
            </a:r>
            <a:endParaRPr lang="en-US" dirty="0"/>
          </a:p>
          <a:p>
            <a:r>
              <a:rPr lang="en-US" dirty="0"/>
              <a:t>Edge Validation: Checks for duplicate edges and invalid connections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Execution Model: </a:t>
            </a:r>
            <a:r>
              <a:rPr lang="en-US" dirty="0" err="1"/>
              <a:t>Supersteps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Workflow execution is organized into discrete </a:t>
            </a:r>
            <a:r>
              <a:rPr lang="en-US" dirty="0" err="1"/>
              <a:t>supersteps</a:t>
            </a:r>
            <a:r>
              <a:rPr lang="en-US" dirty="0"/>
              <a:t>. Each </a:t>
            </a:r>
            <a:r>
              <a:rPr lang="en-US" dirty="0" err="1"/>
              <a:t>superstep</a:t>
            </a:r>
            <a:r>
              <a:rPr lang="en-US" dirty="0"/>
              <a:t>: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Collects all pending messages from the previous </a:t>
            </a:r>
            <a:r>
              <a:rPr lang="en-US" dirty="0" err="1"/>
              <a:t>superstep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Routes messages to target executors based on edge definitions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Runs all target executors concurrently within the </a:t>
            </a:r>
            <a:r>
              <a:rPr lang="en-US" dirty="0" err="1"/>
              <a:t>superstep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Waits for all executors to complete before advancing (synchronization barrier)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Queues any new messages emitted by executors for the next </a:t>
            </a:r>
            <a:r>
              <a:rPr lang="en-US" dirty="0" err="1"/>
              <a:t>superstep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Multi</a:t>
            </a:r>
            <a:r>
              <a:rPr lang="en-US" dirty="0"/>
              <a:t>-Agent Orchestration Patterns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838200" y="1825624"/>
          <a:ext cx="10515600" cy="4262658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009172"/>
                <a:gridCol w="8506428"/>
              </a:tblGrid>
              <a:tr h="71044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dirty="0">
                          <a:effectLst/>
                        </a:rPr>
                        <a:t>Pattern</a:t>
                      </a:r>
                      <a:endParaRPr lang="en-US" sz="2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dirty="0">
                          <a:effectLst/>
                        </a:rPr>
                        <a:t>Description</a:t>
                      </a:r>
                      <a:endParaRPr lang="en-US" sz="2400" dirty="0">
                        <a:effectLst/>
                      </a:endParaRPr>
                    </a:p>
                  </a:txBody>
                  <a:tcPr anchor="ctr"/>
                </a:tc>
              </a:tr>
              <a:tr h="710443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dirty="0"/>
                        <a:t>Sequential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dirty="0">
                          <a:effectLst/>
                        </a:rPr>
                        <a:t>Agents execute one after another in a defined order</a:t>
                      </a:r>
                      <a:endParaRPr lang="en-US" sz="2400" dirty="0">
                        <a:effectLst/>
                      </a:endParaRPr>
                    </a:p>
                  </a:txBody>
                  <a:tcPr anchor="ctr"/>
                </a:tc>
              </a:tr>
              <a:tr h="71044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dirty="0"/>
                        <a:t>Concurrent</a:t>
                      </a:r>
                      <a:endParaRPr lang="en-US" sz="2400" u="non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dirty="0">
                          <a:effectLst/>
                        </a:rPr>
                        <a:t>Agents execute in parallel</a:t>
                      </a:r>
                      <a:endParaRPr lang="en-US" sz="2400" dirty="0">
                        <a:effectLst/>
                      </a:endParaRPr>
                    </a:p>
                  </a:txBody>
                  <a:tcPr anchor="ctr"/>
                </a:tc>
              </a:tr>
              <a:tr h="71044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u="none" kern="1200">
                          <a:solidFill>
                            <a:schemeClr val="tx1"/>
                          </a:solidFill>
                          <a:effectLst/>
                        </a:rPr>
                        <a:t>Handoff</a:t>
                      </a:r>
                      <a:endParaRPr lang="en-US" sz="2400" u="non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dirty="0">
                          <a:effectLst/>
                        </a:rPr>
                        <a:t>Agents transfer control to each other based on context</a:t>
                      </a:r>
                      <a:endParaRPr lang="en-US" sz="2400" dirty="0">
                        <a:effectLst/>
                      </a:endParaRPr>
                    </a:p>
                  </a:txBody>
                  <a:tcPr anchor="ctr"/>
                </a:tc>
              </a:tr>
              <a:tr h="710443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dirty="0"/>
                        <a:t>Group Chat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dirty="0">
                          <a:effectLst/>
                        </a:rPr>
                        <a:t>Agents collaborate in a shared conversation</a:t>
                      </a:r>
                      <a:endParaRPr lang="en-US" sz="2400" dirty="0">
                        <a:effectLst/>
                      </a:endParaRPr>
                    </a:p>
                  </a:txBody>
                  <a:tcPr anchor="ctr"/>
                </a:tc>
              </a:tr>
              <a:tr h="710443">
                <a:tc>
                  <a:txBody>
                    <a:bodyPr/>
                    <a:lstStyle/>
                    <a:p>
                      <a:r>
                        <a:rPr lang="en-US" sz="2400" dirty="0" err="1"/>
                        <a:t>Magentic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dirty="0">
                          <a:effectLst/>
                        </a:rPr>
                        <a:t>A manager agent dynamically coordinates specialized agents</a:t>
                      </a:r>
                      <a:endParaRPr lang="en-US" sz="2400" dirty="0">
                        <a:effectLst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 unified orchestration workflow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Define your agents and describe their capabilities.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 and create an orchestration pattern, optionally adding a manager agent if needed.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Optionally configure callbacks or transforms for custom input and output handling.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Start a runtime to manage execution.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Invoke the orchestration with your task.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Retrieve results in an asynchronous, nonblocking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Orchestration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  <p:pic>
        <p:nvPicPr>
          <p:cNvPr id="2050" name="Picture 2" descr="Sequential Orchestration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808" y="1345634"/>
            <a:ext cx="3146384" cy="5512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Orchestration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Shared Context: Each participant receives the </a:t>
            </a:r>
            <a:r>
              <a:rPr lang="en-US" dirty="0">
                <a:solidFill>
                  <a:schemeClr val="accent2"/>
                </a:solidFill>
              </a:rPr>
              <a:t>full conversation history</a:t>
            </a:r>
            <a:r>
              <a:rPr lang="en-US" dirty="0"/>
              <a:t>, including all previous messages</a:t>
            </a:r>
            <a:endParaRPr lang="en-US" dirty="0"/>
          </a:p>
          <a:p>
            <a:r>
              <a:rPr lang="en-US" dirty="0"/>
              <a:t>Order Matters: Agents execute strictly in the order specified in the participants list</a:t>
            </a:r>
            <a:endParaRPr lang="en-US" dirty="0"/>
          </a:p>
          <a:p>
            <a:r>
              <a:rPr lang="en-US" dirty="0"/>
              <a:t>Flexible Participants: You can mix agents and custom executors in any order</a:t>
            </a:r>
            <a:endParaRPr lang="en-US" dirty="0"/>
          </a:p>
          <a:p>
            <a:r>
              <a:rPr lang="en-US" dirty="0"/>
              <a:t>Conversation Flow: Each agent/executor appends to the conversation, building a complete dialogue</a:t>
            </a:r>
            <a:endParaRPr lang="en-US" dirty="0"/>
          </a:p>
          <a:p>
            <a:r>
              <a:rPr lang="en-US" dirty="0"/>
              <a:t>Tool Approval: Use @tool(</a:t>
            </a:r>
            <a:r>
              <a:rPr lang="en-US" dirty="0" err="1"/>
              <a:t>approval_mode</a:t>
            </a:r>
            <a:r>
              <a:rPr lang="en-US" dirty="0"/>
              <a:t>="</a:t>
            </a:r>
            <a:r>
              <a:rPr lang="en-US" dirty="0" err="1"/>
              <a:t>always_require</a:t>
            </a:r>
            <a:r>
              <a:rPr lang="en-US" dirty="0"/>
              <a:t>") for sensitive operations that need human review</a:t>
            </a:r>
            <a:endParaRPr lang="en-US" dirty="0"/>
          </a:p>
          <a:p>
            <a:r>
              <a:rPr lang="en-US" dirty="0"/>
              <a:t>Request Info: Use .</a:t>
            </a:r>
            <a:r>
              <a:rPr lang="en-US" dirty="0" err="1"/>
              <a:t>with_request_info</a:t>
            </a:r>
            <a:r>
              <a:rPr lang="en-US" dirty="0"/>
              <a:t>(agents=[...]) to pause after specific agents for external feedback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Orchestration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sequential pipeline of agents</a:t>
            </a:r>
            <a:endParaRPr lang="en-US" dirty="0"/>
          </a:p>
          <a:p>
            <a:pPr lvl="1"/>
            <a:r>
              <a:rPr lang="en-US" dirty="0" err="1">
                <a:solidFill>
                  <a:schemeClr val="accent2"/>
                </a:solidFill>
              </a:rPr>
              <a:t>sequential_agents.py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Mixing Agents with Custom Executors</a:t>
            </a:r>
            <a:endParaRPr lang="en-US" dirty="0"/>
          </a:p>
          <a:p>
            <a:pPr lvl="1"/>
            <a:r>
              <a:rPr lang="en-US" dirty="0" err="1">
                <a:solidFill>
                  <a:schemeClr val="accent2"/>
                </a:solidFill>
              </a:rPr>
              <a:t>sequential_custom_executors.py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Tool Approval in Sequential Workflows</a:t>
            </a:r>
            <a:endParaRPr lang="en-US" dirty="0"/>
          </a:p>
          <a:p>
            <a:pPr lvl="1"/>
            <a:r>
              <a:rPr lang="en-US" dirty="0" err="1">
                <a:solidFill>
                  <a:schemeClr val="accent2"/>
                </a:solidFill>
              </a:rPr>
              <a:t>sequential_builder_tool_approval.py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Request Info for Agent Feedback</a:t>
            </a:r>
            <a:endParaRPr lang="en-US" dirty="0"/>
          </a:p>
          <a:p>
            <a:pPr lvl="1"/>
            <a:r>
              <a:rPr lang="en-US" dirty="0" err="1">
                <a:solidFill>
                  <a:schemeClr val="accent2"/>
                </a:solidFill>
              </a:rPr>
              <a:t>sequential_request_info.py</a:t>
            </a:r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  <p:pic>
        <p:nvPicPr>
          <p:cNvPr id="3074" name="Picture 2" descr="Sequential Orchestration with Human-in-the-Loop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424" y="370431"/>
            <a:ext cx="4973576" cy="589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When to use sequential orchestration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Processes made up of multiple steps that must happen in a specific order, where each step relies on the one before it.</a:t>
            </a:r>
            <a:endParaRPr lang="en-US" dirty="0"/>
          </a:p>
          <a:p>
            <a:r>
              <a:rPr lang="en-US" dirty="0"/>
              <a:t>Data workflows where each stage adds something important that the next stage needs to work properly.</a:t>
            </a:r>
            <a:endParaRPr lang="en-US" dirty="0"/>
          </a:p>
          <a:p>
            <a:r>
              <a:rPr lang="en-US" dirty="0"/>
              <a:t>Tasks where stages can’t be done at the same time and must run one after another.</a:t>
            </a:r>
            <a:endParaRPr lang="en-US" dirty="0"/>
          </a:p>
          <a:p>
            <a:r>
              <a:rPr lang="en-US" dirty="0"/>
              <a:t>Situations that require gradual improvements, like drafting, reviewing, and polishing content.</a:t>
            </a:r>
            <a:endParaRPr lang="en-US" dirty="0"/>
          </a:p>
          <a:p>
            <a:r>
              <a:rPr lang="en-US" dirty="0"/>
              <a:t>Systems where you know how each agent performs and can handle delays or failures in any step without stopping the whole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When to avoid sequential orchestration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Stages can be run independently and in parallel without affecting quality.</a:t>
            </a:r>
            <a:endParaRPr lang="en-US" dirty="0"/>
          </a:p>
          <a:p>
            <a:r>
              <a:rPr lang="en-US" dirty="0"/>
              <a:t>A single agent can perform the entire task effectively.</a:t>
            </a:r>
            <a:endParaRPr lang="en-US" dirty="0"/>
          </a:p>
          <a:p>
            <a:r>
              <a:rPr lang="en-US" dirty="0"/>
              <a:t>Early stages may fail or produce poor output, and there’s no way to stop or correct downstream processing based on errors.</a:t>
            </a:r>
            <a:endParaRPr lang="en-US" dirty="0"/>
          </a:p>
          <a:p>
            <a:r>
              <a:rPr lang="en-US" dirty="0"/>
              <a:t>Agents need to collaborate dynamically rather than hand off work sequentially.</a:t>
            </a:r>
            <a:endParaRPr lang="en-US" dirty="0"/>
          </a:p>
          <a:p>
            <a:r>
              <a:rPr lang="en-US" dirty="0"/>
              <a:t>The workflow requires iteration, backtracking, or dynamic routing based on intermediate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Concurrent Orchestration</a:t>
            </a:r>
            <a:endParaRPr lang="en-US" dirty="0"/>
          </a:p>
        </p:txBody>
      </p:sp>
      <p:pic>
        <p:nvPicPr>
          <p:cNvPr id="1026" name="Picture 2" descr="Diagram of concurrent orchestration flow.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66916" y="1825625"/>
            <a:ext cx="9258167" cy="435133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Concurrent Orchestration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Parallel Execution: All agents work on the task simultaneously and independently</a:t>
            </a:r>
            <a:endParaRPr lang="en-US" dirty="0"/>
          </a:p>
          <a:p>
            <a:r>
              <a:rPr lang="en-US" dirty="0"/>
              <a:t>Result Aggregation: Results are collected and can be processed by either the default or custom aggregator</a:t>
            </a:r>
            <a:endParaRPr lang="en-US" dirty="0"/>
          </a:p>
          <a:p>
            <a:r>
              <a:rPr lang="en-US" dirty="0"/>
              <a:t>Diverse Perspectives: Each agent brings its unique expertise to the same problem</a:t>
            </a:r>
            <a:endParaRPr lang="en-US" dirty="0"/>
          </a:p>
          <a:p>
            <a:r>
              <a:rPr lang="en-US" dirty="0"/>
              <a:t>Flexible Participants: You can use agents directly or wrap them in custom executors</a:t>
            </a:r>
            <a:endParaRPr lang="en-US" dirty="0"/>
          </a:p>
          <a:p>
            <a:r>
              <a:rPr lang="en-US" dirty="0"/>
              <a:t>Custom Processing: Override the default aggregator to synthesize results in domain-specific ways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Concurrent Orchestration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Concurrent Agents</a:t>
            </a:r>
            <a:endParaRPr lang="en-US" dirty="0"/>
          </a:p>
          <a:p>
            <a:pPr lvl="1"/>
            <a:r>
              <a:rPr lang="en-US" dirty="0" err="1">
                <a:solidFill>
                  <a:schemeClr val="accent2"/>
                </a:solidFill>
              </a:rPr>
              <a:t>concurrent_agents.py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Custom Agent Executors</a:t>
            </a:r>
            <a:endParaRPr lang="en-US" dirty="0"/>
          </a:p>
          <a:p>
            <a:pPr lvl="1"/>
            <a:r>
              <a:rPr lang="en-US" dirty="0" err="1">
                <a:solidFill>
                  <a:schemeClr val="accent2"/>
                </a:solidFill>
              </a:rPr>
              <a:t>concurrent_custom_agent_executors.py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Custom Aggregator</a:t>
            </a:r>
            <a:endParaRPr lang="en-US" dirty="0"/>
          </a:p>
          <a:p>
            <a:pPr lvl="1"/>
            <a:r>
              <a:rPr lang="en-US" dirty="0" err="1">
                <a:solidFill>
                  <a:schemeClr val="accent2"/>
                </a:solidFill>
              </a:rPr>
              <a:t>concurrent_custom_aggregator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 err="1">
                <a:solidFill>
                  <a:schemeClr val="accent2"/>
                </a:solidFill>
              </a:rPr>
              <a:t>py</a:t>
            </a:r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When to use concurrent orchestration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When tasks can run at the same time, either by using a fixed group of agents or by selecting AI agents dynamically based on what the task needs.</a:t>
            </a:r>
            <a:endParaRPr lang="en-US" dirty="0"/>
          </a:p>
          <a:p>
            <a:r>
              <a:rPr lang="en-US" dirty="0"/>
              <a:t>When the task benefits from different specialized skills or approaches (for example, technical, business, or creative) that all work independently but contribute to solving the same problem.</a:t>
            </a:r>
            <a:endParaRPr lang="en-US" dirty="0"/>
          </a:p>
          <a:p>
            <a:pPr lvl="1"/>
            <a:r>
              <a:rPr lang="en-US" dirty="0"/>
              <a:t>Brainstorming ideas</a:t>
            </a:r>
            <a:endParaRPr lang="en-US" dirty="0"/>
          </a:p>
          <a:p>
            <a:pPr lvl="1"/>
            <a:r>
              <a:rPr lang="en-US" dirty="0"/>
              <a:t>Combining different reasoning methods (ensemble reasoning)</a:t>
            </a:r>
            <a:endParaRPr lang="en-US" dirty="0"/>
          </a:p>
          <a:p>
            <a:pPr lvl="1"/>
            <a:r>
              <a:rPr lang="en-US" dirty="0"/>
              <a:t>Making decisions based on voting or consensus (quorum)</a:t>
            </a:r>
            <a:endParaRPr lang="en-US" dirty="0"/>
          </a:p>
          <a:p>
            <a:pPr lvl="1"/>
            <a:r>
              <a:rPr lang="en-US" dirty="0"/>
              <a:t>Handling tasks where speed matters and running agents in parallel cuts down wait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When to avoid concurrent orchestration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Agents need to build on each other’s work or depend on shared context in a specific order.</a:t>
            </a:r>
            <a:endParaRPr lang="en-US" dirty="0"/>
          </a:p>
          <a:p>
            <a:r>
              <a:rPr lang="en-US" dirty="0"/>
              <a:t>The task requires a strict sequence of steps or predictable, repeatable results.</a:t>
            </a:r>
            <a:endParaRPr lang="en-US" dirty="0"/>
          </a:p>
          <a:p>
            <a:r>
              <a:rPr lang="en-US" dirty="0"/>
              <a:t>Resource limits, like model usage quotas, make running agents in parallel inefficient or impossible.</a:t>
            </a:r>
            <a:endParaRPr lang="en-US" dirty="0"/>
          </a:p>
          <a:p>
            <a:r>
              <a:rPr lang="en-US" dirty="0"/>
              <a:t>Agents can’t reliably coordinate changes to shared data or external systems while running at the same time.</a:t>
            </a:r>
            <a:endParaRPr lang="en-US" dirty="0"/>
          </a:p>
          <a:p>
            <a:r>
              <a:rPr lang="en-US" dirty="0"/>
              <a:t>There’s no clear way to resolve conflicts or contradictions between results from different agents.</a:t>
            </a:r>
            <a:endParaRPr lang="en-US" dirty="0"/>
          </a:p>
          <a:p>
            <a:r>
              <a:rPr lang="en-US" dirty="0"/>
              <a:t>Combining results is too complicated or ends up lowering the overall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Handoff Orchestration</a:t>
            </a:r>
            <a:endParaRPr lang="en-US" dirty="0"/>
          </a:p>
        </p:txBody>
      </p:sp>
      <p:pic>
        <p:nvPicPr>
          <p:cNvPr id="3074" name="Picture 2" descr="Diagram of handoff orchestration flow.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33175" y="1267525"/>
            <a:ext cx="6925650" cy="545395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Handoff Orchestration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Dynamic Routing: Agents can decide which agent should handle the next interaction based on context</a:t>
            </a:r>
            <a:endParaRPr lang="en-US" dirty="0"/>
          </a:p>
          <a:p>
            <a:r>
              <a:rPr lang="en-US" dirty="0" err="1"/>
              <a:t>HandoffBuilder</a:t>
            </a:r>
            <a:r>
              <a:rPr lang="en-US" dirty="0"/>
              <a:t>: Creates workflows with automatic handoff tool registration</a:t>
            </a:r>
            <a:endParaRPr lang="en-US" dirty="0"/>
          </a:p>
          <a:p>
            <a:r>
              <a:rPr lang="en-US" dirty="0" err="1"/>
              <a:t>with_start_agent</a:t>
            </a:r>
            <a:r>
              <a:rPr lang="en-US" dirty="0"/>
              <a:t>(): Defines which agent receives user input first</a:t>
            </a:r>
            <a:endParaRPr lang="en-US" dirty="0"/>
          </a:p>
          <a:p>
            <a:r>
              <a:rPr lang="en-US" dirty="0" err="1"/>
              <a:t>add_handoff</a:t>
            </a:r>
            <a:r>
              <a:rPr lang="en-US" dirty="0"/>
              <a:t>(): Configures specific handoff relationships between agents</a:t>
            </a:r>
            <a:endParaRPr lang="en-US" dirty="0"/>
          </a:p>
          <a:p>
            <a:r>
              <a:rPr lang="en-US" dirty="0"/>
              <a:t>Context Preservation: Full conversation history is maintained across all handoffs</a:t>
            </a:r>
            <a:endParaRPr lang="en-US" dirty="0"/>
          </a:p>
          <a:p>
            <a:r>
              <a:rPr lang="en-US" dirty="0"/>
              <a:t>Request/Response Cycle: Workflow requests user input, processes responses, and continues until termination condition is met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Handoff Orchestration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Tool Approval: Use @tool(</a:t>
            </a:r>
            <a:r>
              <a:rPr lang="en-US" dirty="0" err="1"/>
              <a:t>approval_mode</a:t>
            </a:r>
            <a:r>
              <a:rPr lang="en-US" dirty="0"/>
              <a:t>="</a:t>
            </a:r>
            <a:r>
              <a:rPr lang="en-US" dirty="0" err="1"/>
              <a:t>always_require</a:t>
            </a:r>
            <a:r>
              <a:rPr lang="en-US" dirty="0"/>
              <a:t>") for sensitive operations that need human approval</a:t>
            </a:r>
            <a:endParaRPr lang="en-US" dirty="0"/>
          </a:p>
          <a:p>
            <a:r>
              <a:rPr lang="en-US" dirty="0"/>
              <a:t>Function Approval Handling: When an agent calls a tool requiring approval, a Content object with type "</a:t>
            </a:r>
            <a:r>
              <a:rPr lang="en-US" dirty="0" err="1"/>
              <a:t>function_approval_request</a:t>
            </a:r>
            <a:r>
              <a:rPr lang="en-US" dirty="0"/>
              <a:t>" is emitted; use </a:t>
            </a:r>
            <a:r>
              <a:rPr lang="en-US" dirty="0" err="1"/>
              <a:t>to_function_approval_response</a:t>
            </a:r>
            <a:r>
              <a:rPr lang="en-US" dirty="0"/>
              <a:t>(approved=...) to respond</a:t>
            </a:r>
            <a:endParaRPr lang="en-US" dirty="0"/>
          </a:p>
          <a:p>
            <a:r>
              <a:rPr lang="en-US" dirty="0"/>
              <a:t>Checkpointing: Pass </a:t>
            </a:r>
            <a:r>
              <a:rPr lang="en-US" dirty="0" err="1"/>
              <a:t>checkpoint_storage</a:t>
            </a:r>
            <a:r>
              <a:rPr lang="en-US" dirty="0"/>
              <a:t>= to </a:t>
            </a:r>
            <a:r>
              <a:rPr lang="en-US" dirty="0" err="1"/>
              <a:t>HandoffBuilder</a:t>
            </a:r>
            <a:r>
              <a:rPr lang="en-US" dirty="0"/>
              <a:t> for durable workflows that can pause and resume across process restarts</a:t>
            </a:r>
            <a:endParaRPr lang="en-US" dirty="0"/>
          </a:p>
          <a:p>
            <a:r>
              <a:rPr lang="en-US" dirty="0"/>
              <a:t>Specialized Expertise: Each agent focuses on their domain while collaborating through handoffs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Handoff Orchestration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handoff workflow</a:t>
            </a:r>
            <a:endParaRPr lang="en-US" dirty="0"/>
          </a:p>
          <a:p>
            <a:pPr lvl="1"/>
            <a:r>
              <a:rPr lang="en-US" dirty="0" err="1">
                <a:solidFill>
                  <a:schemeClr val="accent2"/>
                </a:solidFill>
              </a:rPr>
              <a:t>handoff_simple.py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Autonomous Mode</a:t>
            </a:r>
            <a:endParaRPr lang="en-US" dirty="0"/>
          </a:p>
          <a:p>
            <a:pPr lvl="1"/>
            <a:r>
              <a:rPr lang="en-US" dirty="0" err="1">
                <a:solidFill>
                  <a:schemeClr val="accent2"/>
                </a:solidFill>
              </a:rPr>
              <a:t>handoff_autonomous.py</a:t>
            </a:r>
            <a:endParaRPr lang="en-US" dirty="0"/>
          </a:p>
          <a:p>
            <a:r>
              <a:rPr lang="en-US" dirty="0"/>
              <a:t>Handoff Workflow with Code Interpreter File Generation</a:t>
            </a:r>
            <a:endParaRPr lang="en-US" dirty="0"/>
          </a:p>
          <a:p>
            <a:pPr lvl="1"/>
            <a:r>
              <a:rPr lang="en-US" dirty="0" err="1">
                <a:solidFill>
                  <a:schemeClr val="accent2"/>
                </a:solidFill>
              </a:rPr>
              <a:t>handoff_with_code_interpreter_file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 err="1">
                <a:solidFill>
                  <a:schemeClr val="accent2"/>
                </a:solidFill>
              </a:rPr>
              <a:t>py</a:t>
            </a:r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When to use handoff orchestration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Tasks need specialized knowledge or tools, but the number or order of agents can't be determined in advance.</a:t>
            </a:r>
            <a:endParaRPr lang="en-US" dirty="0"/>
          </a:p>
          <a:p>
            <a:r>
              <a:rPr lang="en-US" dirty="0"/>
              <a:t>Expertise requirements emerge dynamically during processing, triggering task routing based on content analysis.</a:t>
            </a:r>
            <a:endParaRPr lang="en-US" dirty="0"/>
          </a:p>
          <a:p>
            <a:r>
              <a:rPr lang="en-US" dirty="0"/>
              <a:t>Multiple-domain problems require different specialists working sequentially.</a:t>
            </a:r>
            <a:endParaRPr lang="en-US" dirty="0"/>
          </a:p>
          <a:p>
            <a:r>
              <a:rPr lang="en-US" dirty="0"/>
              <a:t>You can define clear signals or rules indicating when an agent should transfer control and to whom.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When to avoid handoff orchestration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The involved agents and their order are known upfront and fixed.</a:t>
            </a:r>
            <a:endParaRPr lang="en-US" dirty="0"/>
          </a:p>
          <a:p>
            <a:r>
              <a:rPr lang="en-US" dirty="0"/>
              <a:t>Task routing is simple and rule-based, not needing dynamic interpretation.</a:t>
            </a:r>
            <a:endParaRPr lang="en-US" dirty="0"/>
          </a:p>
          <a:p>
            <a:r>
              <a:rPr lang="en-US" dirty="0"/>
              <a:t>Poor routing decisions might frustrate users.</a:t>
            </a:r>
            <a:endParaRPr lang="en-US" dirty="0"/>
          </a:p>
          <a:p>
            <a:r>
              <a:rPr lang="en-US" dirty="0"/>
              <a:t>Multiple operations must run at the same time.</a:t>
            </a:r>
            <a:endParaRPr lang="en-US" dirty="0"/>
          </a:p>
          <a:p>
            <a:r>
              <a:rPr lang="en-US" dirty="0"/>
              <a:t>Avoiding infinite handoff loops or excessive bouncing between agents is difficult.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altLang="zh-CN" dirty="0"/>
              <a:t>Group Chat</a:t>
            </a:r>
            <a:endParaRPr lang="en-US" dirty="0"/>
          </a:p>
        </p:txBody>
      </p:sp>
      <p:pic>
        <p:nvPicPr>
          <p:cNvPr id="2050" name="Picture 2" descr="Diagram that shows group chat orchestration where multiple agents participate in a managed conversation. A central chat manager coordinates the discussion flow.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2075" y="1281012"/>
            <a:ext cx="9951644" cy="507533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Group Chat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Flexible Orchestrator Strategies: Choose between simple selectors, agent-based orchestrators, or custom logic via constructor parameters (</a:t>
            </a:r>
            <a:r>
              <a:rPr lang="en-US" dirty="0" err="1"/>
              <a:t>selection_func</a:t>
            </a:r>
            <a:r>
              <a:rPr lang="en-US" dirty="0"/>
              <a:t>, </a:t>
            </a:r>
            <a:r>
              <a:rPr lang="en-US" dirty="0" err="1"/>
              <a:t>orchestrator_agent</a:t>
            </a:r>
            <a:r>
              <a:rPr lang="en-US" dirty="0"/>
              <a:t>, or orchestrator).</a:t>
            </a:r>
            <a:endParaRPr lang="en-US" dirty="0"/>
          </a:p>
          <a:p>
            <a:r>
              <a:rPr lang="en-US" dirty="0" err="1"/>
              <a:t>GroupChatBuilder</a:t>
            </a:r>
            <a:r>
              <a:rPr lang="en-US" dirty="0"/>
              <a:t>: Creates workflows with configurable speaker selection</a:t>
            </a:r>
            <a:endParaRPr lang="en-US" dirty="0"/>
          </a:p>
          <a:p>
            <a:r>
              <a:rPr lang="en-US" dirty="0" err="1"/>
              <a:t>GroupChatState</a:t>
            </a:r>
            <a:r>
              <a:rPr lang="en-US" dirty="0"/>
              <a:t>: Provides conversation state for selection decisions</a:t>
            </a:r>
            <a:endParaRPr lang="en-US" dirty="0"/>
          </a:p>
          <a:p>
            <a:r>
              <a:rPr lang="en-US" dirty="0"/>
              <a:t>Iterative Collaboration: Agents build upon each other's contributions</a:t>
            </a:r>
            <a:endParaRPr lang="en-US" dirty="0"/>
          </a:p>
          <a:p>
            <a:r>
              <a:rPr lang="en-US" dirty="0"/>
              <a:t>Event Streaming: Process </a:t>
            </a:r>
            <a:r>
              <a:rPr lang="en-US" dirty="0" err="1"/>
              <a:t>AgentResponseUpdate</a:t>
            </a:r>
            <a:r>
              <a:rPr lang="en-US" dirty="0"/>
              <a:t> events in real-time via </a:t>
            </a:r>
            <a:r>
              <a:rPr lang="en-US" dirty="0" err="1"/>
              <a:t>workflow.run</a:t>
            </a:r>
            <a:r>
              <a:rPr lang="en-US" dirty="0"/>
              <a:t>(task, stream=True)</a:t>
            </a:r>
            <a:endParaRPr lang="en-US" dirty="0"/>
          </a:p>
          <a:p>
            <a:r>
              <a:rPr lang="en-US" dirty="0"/>
              <a:t>list[Message] Output: All orchestrations return a list of chat messages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Chat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 Chat with Simple Selector</a:t>
            </a:r>
            <a:endParaRPr lang="en-US" dirty="0"/>
          </a:p>
          <a:p>
            <a:pPr lvl="1"/>
            <a:r>
              <a:rPr lang="en-US" dirty="0" err="1">
                <a:solidFill>
                  <a:schemeClr val="accent2"/>
                </a:solidFill>
              </a:rPr>
              <a:t>group_chat_simple_selector.py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Group Chat with Agent-Based Orchestrator</a:t>
            </a:r>
            <a:endParaRPr lang="en-US" dirty="0"/>
          </a:p>
          <a:p>
            <a:pPr lvl="1"/>
            <a:r>
              <a:rPr lang="en-US" dirty="0" err="1">
                <a:solidFill>
                  <a:schemeClr val="accent2"/>
                </a:solidFill>
              </a:rPr>
              <a:t>group_chat_agent_manager.py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Philosophical Debate with Agent-Based Manager</a:t>
            </a:r>
            <a:endParaRPr lang="en-US" dirty="0"/>
          </a:p>
          <a:p>
            <a:pPr lvl="1"/>
            <a:r>
              <a:rPr lang="en-US" dirty="0" err="1">
                <a:solidFill>
                  <a:schemeClr val="accent2"/>
                </a:solidFill>
              </a:rPr>
              <a:t>group_chat_philosophical_debate.py</a:t>
            </a:r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When to Use Group Chat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Iterative Refinement: Multiple rounds of review and improvement</a:t>
            </a:r>
            <a:endParaRPr lang="en-US" dirty="0"/>
          </a:p>
          <a:p>
            <a:r>
              <a:rPr lang="en-US" dirty="0"/>
              <a:t>Collaborative Problem-Solving: Agents with complementary expertise working together</a:t>
            </a:r>
            <a:endParaRPr lang="en-US" dirty="0"/>
          </a:p>
          <a:p>
            <a:r>
              <a:rPr lang="en-US" dirty="0"/>
              <a:t>Content Creation: Writer-reviewer workflows for document creation</a:t>
            </a:r>
            <a:endParaRPr lang="en-US" dirty="0"/>
          </a:p>
          <a:p>
            <a:r>
              <a:rPr lang="en-US" dirty="0"/>
              <a:t>Multi-Perspective Analysis: Getting diverse viewpoints on the same input</a:t>
            </a:r>
            <a:endParaRPr lang="en-US" dirty="0"/>
          </a:p>
          <a:p>
            <a:r>
              <a:rPr lang="en-US" dirty="0"/>
              <a:t>Quality Assurance: Automated review and approval processes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When to avoid group chat orchestration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Simple task delegation or straightforward linear pipelines suffice</a:t>
            </a:r>
            <a:endParaRPr lang="en-US" dirty="0"/>
          </a:p>
          <a:p>
            <a:r>
              <a:rPr lang="en-US" dirty="0"/>
              <a:t>Real-time speed requirements make discussion overhead impractical</a:t>
            </a:r>
            <a:endParaRPr lang="en-US" dirty="0"/>
          </a:p>
          <a:p>
            <a:r>
              <a:rPr lang="en-US" dirty="0"/>
              <a:t>Hierarchical or deterministic workflows are needed without discussion</a:t>
            </a:r>
            <a:endParaRPr lang="en-US" dirty="0"/>
          </a:p>
          <a:p>
            <a:r>
              <a:rPr lang="en-US" dirty="0"/>
              <a:t>The chat manager can’t clearly determine when the task is complete</a:t>
            </a:r>
            <a:endParaRPr lang="en-US" dirty="0"/>
          </a:p>
          <a:p>
            <a:r>
              <a:rPr lang="en-US" dirty="0"/>
              <a:t>Managing conversation flow becomes too complex, especially with many agents (limit to three or fewer for easier control)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Magentic</a:t>
            </a:r>
            <a:r>
              <a:rPr lang="en-US" dirty="0"/>
              <a:t> Orchestration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  <p:pic>
        <p:nvPicPr>
          <p:cNvPr id="7170" name="Picture 2" descr="Magentic Orchestration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588" y="1512369"/>
            <a:ext cx="8106824" cy="5345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Magentic</a:t>
            </a:r>
            <a:r>
              <a:rPr lang="en-US" dirty="0"/>
              <a:t> Orchestration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Dynamic Coordination: The </a:t>
            </a:r>
            <a:r>
              <a:rPr lang="en-US" dirty="0" err="1"/>
              <a:t>Magentic</a:t>
            </a:r>
            <a:r>
              <a:rPr lang="en-US" dirty="0"/>
              <a:t> manager dynamically selects which agent should act next based on the evolving context</a:t>
            </a:r>
            <a:endParaRPr lang="en-US" dirty="0"/>
          </a:p>
          <a:p>
            <a:r>
              <a:rPr lang="en-US" dirty="0"/>
              <a:t>Iterative Refinement: The system can break down complex problems and iteratively refine solutions through multiple rounds</a:t>
            </a:r>
            <a:endParaRPr lang="en-US" dirty="0"/>
          </a:p>
          <a:p>
            <a:r>
              <a:rPr lang="en-US" dirty="0"/>
              <a:t>Progress Tracking: Built-in mechanisms to detect stalls and reset the plan if needed</a:t>
            </a:r>
            <a:endParaRPr lang="en-US" dirty="0"/>
          </a:p>
          <a:p>
            <a:r>
              <a:rPr lang="en-US" dirty="0"/>
              <a:t>Flexible Collaboration: Agents can be called multiple times in any order as determined by the manager</a:t>
            </a:r>
            <a:endParaRPr lang="en-US" dirty="0"/>
          </a:p>
          <a:p>
            <a:r>
              <a:rPr lang="en-US" dirty="0"/>
              <a:t>Human Oversight: Optional human-in-the-loop mechanisms for plan review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Magentic</a:t>
            </a:r>
            <a:r>
              <a:rPr lang="en-US" dirty="0"/>
              <a:t> Workflow Execution 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Planning Phase: The manager </a:t>
            </a:r>
            <a:r>
              <a:rPr lang="en-US" dirty="0" err="1"/>
              <a:t>analyzes</a:t>
            </a:r>
            <a:r>
              <a:rPr lang="en-US" dirty="0"/>
              <a:t> the task and creates an initial plan</a:t>
            </a:r>
            <a:endParaRPr lang="en-US" dirty="0"/>
          </a:p>
          <a:p>
            <a:r>
              <a:rPr lang="en-US" dirty="0"/>
              <a:t>Optional Plan Review: If enabled, humans can review and approve/modify the plan</a:t>
            </a:r>
            <a:endParaRPr lang="en-US" dirty="0"/>
          </a:p>
          <a:p>
            <a:r>
              <a:rPr lang="en-US" dirty="0"/>
              <a:t>Agent Selection: The manager selects the most appropriate agent for each subtask</a:t>
            </a:r>
            <a:endParaRPr lang="en-US" dirty="0"/>
          </a:p>
          <a:p>
            <a:r>
              <a:rPr lang="en-US" dirty="0"/>
              <a:t>Execution: The selected agent executes their portion of the task</a:t>
            </a:r>
            <a:endParaRPr lang="en-US" dirty="0"/>
          </a:p>
          <a:p>
            <a:r>
              <a:rPr lang="en-US" dirty="0"/>
              <a:t>Progress Assessment: The manager evaluates progress and updates the plan</a:t>
            </a:r>
            <a:endParaRPr lang="en-US" dirty="0"/>
          </a:p>
          <a:p>
            <a:r>
              <a:rPr lang="en-US" dirty="0"/>
              <a:t>Stall Detection: If progress stalls, auto-replan with an optional human review process</a:t>
            </a:r>
            <a:endParaRPr lang="en-US" dirty="0"/>
          </a:p>
          <a:p>
            <a:r>
              <a:rPr lang="en-US" dirty="0"/>
              <a:t>Iteration: Steps 3-6 repeat until the task is complete or limits are reached</a:t>
            </a:r>
            <a:endParaRPr lang="en-US" dirty="0"/>
          </a:p>
          <a:p>
            <a:r>
              <a:rPr lang="en-US" dirty="0"/>
              <a:t>Final Synthesis: The manager synthesizes all agent outputs into a final result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Magentic</a:t>
            </a:r>
            <a:r>
              <a:rPr lang="en-US" dirty="0"/>
              <a:t> Orchestration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Magentic</a:t>
            </a:r>
            <a:r>
              <a:rPr lang="en-US" dirty="0"/>
              <a:t> Orchestration (multi-agent)</a:t>
            </a:r>
            <a:endParaRPr lang="en-US" dirty="0"/>
          </a:p>
          <a:p>
            <a:pPr lvl="1"/>
            <a:r>
              <a:rPr lang="en-US" dirty="0" err="1">
                <a:solidFill>
                  <a:schemeClr val="accent2"/>
                </a:solidFill>
              </a:rPr>
              <a:t>magentic.py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dirty="0" err="1"/>
              <a:t>Magentic</a:t>
            </a:r>
            <a:r>
              <a:rPr lang="en-US" dirty="0"/>
              <a:t> Orchestration with Human Plan Review</a:t>
            </a:r>
            <a:endParaRPr lang="en-US" dirty="0"/>
          </a:p>
          <a:p>
            <a:pPr lvl="1"/>
            <a:r>
              <a:rPr lang="en-US" dirty="0" err="1">
                <a:solidFill>
                  <a:schemeClr val="accent2"/>
                </a:solidFill>
              </a:rPr>
              <a:t>magentic_human_plan_review.py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When to use </a:t>
            </a:r>
            <a:r>
              <a:rPr lang="en-US" dirty="0" err="1"/>
              <a:t>Magentic</a:t>
            </a:r>
            <a:r>
              <a:rPr lang="en-US" dirty="0"/>
              <a:t> orchestration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problem is complex or open-ended with no predetermined solution path.</a:t>
            </a:r>
            <a:endParaRPr lang="en-US" dirty="0"/>
          </a:p>
          <a:p>
            <a:r>
              <a:rPr lang="en-US" dirty="0"/>
              <a:t>Input and feedback from multiple specialized agents are needed to shape a valid solution.</a:t>
            </a:r>
            <a:endParaRPr lang="en-US" dirty="0"/>
          </a:p>
          <a:p>
            <a:r>
              <a:rPr lang="en-US" dirty="0"/>
              <a:t>The system must generate a documented plan of approach for human review.</a:t>
            </a:r>
            <a:endParaRPr lang="en-US" dirty="0"/>
          </a:p>
          <a:p>
            <a:r>
              <a:rPr lang="en-US" dirty="0"/>
              <a:t>Agents have tools that can directly interact with external systems and resources.</a:t>
            </a:r>
            <a:endParaRPr lang="en-US" dirty="0"/>
          </a:p>
          <a:p>
            <a:r>
              <a:rPr lang="en-US" dirty="0"/>
              <a:t>A step-by-step, dynamically built execution plan adds value before running the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When to avoid </a:t>
            </a:r>
            <a:r>
              <a:rPr lang="en-US" dirty="0" err="1"/>
              <a:t>Magentic</a:t>
            </a:r>
            <a:r>
              <a:rPr lang="en-US" dirty="0"/>
              <a:t> orchestration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The solution path is fixed or deterministic.</a:t>
            </a:r>
            <a:endParaRPr lang="en-US" dirty="0"/>
          </a:p>
          <a:p>
            <a:r>
              <a:rPr lang="en-US" dirty="0"/>
              <a:t>There’s no need to produce a ledger or plan of approach.</a:t>
            </a:r>
            <a:endParaRPr lang="en-US" dirty="0"/>
          </a:p>
          <a:p>
            <a:r>
              <a:rPr lang="en-US" dirty="0"/>
              <a:t>The task is simple enough for a more lightweight orchestration pattern.</a:t>
            </a:r>
            <a:endParaRPr lang="en-US" dirty="0"/>
          </a:p>
          <a:p>
            <a:r>
              <a:rPr lang="en-US" dirty="0"/>
              <a:t>Speed is the priority, as this method emphasizes planning over fast execution.</a:t>
            </a:r>
            <a:endParaRPr lang="en-US" dirty="0"/>
          </a:p>
          <a:p>
            <a:r>
              <a:rPr lang="en-US" dirty="0"/>
              <a:t>You expect frequent stalls or loops without a clear resolution path.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18496</Words>
  <Application>WPS 演示</Application>
  <PresentationFormat>Widescreen</PresentationFormat>
  <Paragraphs>595</Paragraphs>
  <Slides>55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4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等线</vt:lpstr>
      <vt:lpstr>Office Theme</vt:lpstr>
      <vt:lpstr>Multi-Agent</vt:lpstr>
      <vt:lpstr>PowerPoint 演示文稿</vt:lpstr>
      <vt:lpstr>Why Multi-Agent?</vt:lpstr>
      <vt:lpstr>When to use Multi‑Agent?</vt:lpstr>
      <vt:lpstr>Agent</vt:lpstr>
      <vt:lpstr>PowerPoint 演示文稿</vt:lpstr>
      <vt:lpstr>Multi-Agent</vt:lpstr>
      <vt:lpstr>Workflow</vt:lpstr>
      <vt:lpstr>When to use agents vs workflows</vt:lpstr>
      <vt:lpstr>Microsoft Agent Framework</vt:lpstr>
      <vt:lpstr>Microsoft Agent Framework</vt:lpstr>
      <vt:lpstr>Microsoft Agent Framework</vt:lpstr>
      <vt:lpstr>Workflow Core Concepts</vt:lpstr>
      <vt:lpstr>Workflow Core Concepts</vt:lpstr>
      <vt:lpstr>Workflow Key Features</vt:lpstr>
      <vt:lpstr>Executors</vt:lpstr>
      <vt:lpstr>The WorkflowContext Object</vt:lpstr>
      <vt:lpstr>Agent Providers</vt:lpstr>
      <vt:lpstr>Edges</vt:lpstr>
      <vt:lpstr>Case: Hotel Booking Conditional Workflow</vt:lpstr>
      <vt:lpstr>Case: Hotel Booking Conditional Workflow</vt:lpstr>
      <vt:lpstr>Events</vt:lpstr>
      <vt:lpstr>Events</vt:lpstr>
      <vt:lpstr>Workflow Builder &amp; Execution</vt:lpstr>
      <vt:lpstr>Workflow Validation</vt:lpstr>
      <vt:lpstr>Execution Model: Supersteps</vt:lpstr>
      <vt:lpstr>Multi-Agent Orchestration Patterns</vt:lpstr>
      <vt:lpstr>A unified orchestration workflow</vt:lpstr>
      <vt:lpstr>Sequential Orchestration</vt:lpstr>
      <vt:lpstr>Sequential Orchestration</vt:lpstr>
      <vt:lpstr>Sequential Orchestration</vt:lpstr>
      <vt:lpstr>When to use sequential orchestration</vt:lpstr>
      <vt:lpstr>When to avoid sequential orchestration</vt:lpstr>
      <vt:lpstr>Concurrent Orchestration</vt:lpstr>
      <vt:lpstr>Concurrent Orchestration</vt:lpstr>
      <vt:lpstr>Concurrent Orchestration</vt:lpstr>
      <vt:lpstr>When to use concurrent orchestration</vt:lpstr>
      <vt:lpstr>When to avoid concurrent orchestration</vt:lpstr>
      <vt:lpstr>Handoff Orchestration</vt:lpstr>
      <vt:lpstr>Handoff Orchestration</vt:lpstr>
      <vt:lpstr>Handoff Orchestration</vt:lpstr>
      <vt:lpstr>Handoff Orchestration</vt:lpstr>
      <vt:lpstr>When to use handoff orchestration</vt:lpstr>
      <vt:lpstr>When to avoid handoff orchestration</vt:lpstr>
      <vt:lpstr>Group Chat</vt:lpstr>
      <vt:lpstr>Group Chat</vt:lpstr>
      <vt:lpstr>Group Chat</vt:lpstr>
      <vt:lpstr>When to Use Group Chat</vt:lpstr>
      <vt:lpstr>When to avoid group chat orchestration</vt:lpstr>
      <vt:lpstr>Magentic Orchestration</vt:lpstr>
      <vt:lpstr>Magentic Orchestration</vt:lpstr>
      <vt:lpstr>Magentic Workflow Execution Flow</vt:lpstr>
      <vt:lpstr>Magentic Orchestration</vt:lpstr>
      <vt:lpstr>When to use Magentic orchestration</vt:lpstr>
      <vt:lpstr>When to avoid Magentic orchestration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Mining</dc:title>
  <dc:creator>Hailiang Chen</dc:creator>
  <cp:lastModifiedBy>WPS_1636963851</cp:lastModifiedBy>
  <cp:revision>479</cp:revision>
  <dcterms:created xsi:type="dcterms:W3CDTF">2021-01-12T07:59:00Z</dcterms:created>
  <dcterms:modified xsi:type="dcterms:W3CDTF">2026-04-21T08:55:13Z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E3EEF88A02D04A3D9ED252A4F7BEA424_12</vt:lpwstr>
  </property>
</Properties>
</file>