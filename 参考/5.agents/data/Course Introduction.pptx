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73" r:id="rId3"/>
    <p:sldId id="807" r:id="rId4"/>
    <p:sldId id="275" r:id="rId5"/>
    <p:sldId id="2061898244" r:id="rId6"/>
    <p:sldId id="893" r:id="rId7"/>
    <p:sldId id="2061898225" r:id="rId8"/>
    <p:sldId id="2061898229" r:id="rId9"/>
    <p:sldId id="320" r:id="rId10"/>
    <p:sldId id="894" r:id="rId11"/>
    <p:sldId id="859" r:id="rId12"/>
    <p:sldId id="716" r:id="rId13"/>
    <p:sldId id="2061898238" r:id="rId14"/>
    <p:sldId id="2061898245" r:id="rId15"/>
    <p:sldId id="2061898246" r:id="rId16"/>
    <p:sldId id="717" r:id="rId17"/>
    <p:sldId id="719" r:id="rId18"/>
    <p:sldId id="938" r:id="rId19"/>
    <p:sldId id="715" r:id="rId20"/>
    <p:sldId id="94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19"/>
    <p:restoredTop sz="81974"/>
  </p:normalViewPr>
  <p:slideViewPr>
    <p:cSldViewPr snapToGrid="0" snapToObjects="1">
      <p:cViewPr varScale="1">
        <p:scale>
          <a:sx n="84" d="100"/>
          <a:sy n="84" d="100"/>
        </p:scale>
        <p:origin x="2792" y="488"/>
      </p:cViewPr>
      <p:guideLst/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15E8-0D14-5A47-A140-2DDA56A25C59}" type="datetimeFigureOut"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518-724E-624D-9EAD-82F09AF346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52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3171-EF4F-DA43-86C6-95432C22DBC1}" type="slidenum">
              <a:rPr lang="en-HK"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8100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D0CD4-326A-45E7-B6BF-5A5D0CC451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08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3171-EF4F-DA43-86C6-95432C22DBC1}" type="slidenum">
              <a:rPr lang="en-HK"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56191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3171-EF4F-DA43-86C6-95432C22DBC1}" type="slidenum">
              <a:rPr lang="en-HK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7078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3171-EF4F-DA43-86C6-95432C22DBC1}" type="slidenum">
              <a:rPr lang="en-HK"/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84277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C3171-EF4F-DA43-86C6-95432C22DBC1}" type="slidenum">
              <a:rPr lang="en-HK"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47237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46918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8130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6521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HK" smtClean="0"/>
              <a:t>15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38493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2E2B7-76B3-EA45-A4EA-573495322416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0747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69168-37E3-7240-82BF-D5A585D35632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53AFE-A860-8E43-9CB7-294559C409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EC62-2D17-1D4D-A89C-0D7A7F9EBA7B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4B387-0542-6B40-87C9-78765E62D7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515A-9EBD-5549-8637-27CEFC15DEBF}" type="datetime1">
              <a:rPr lang="en-HK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DE8367-27F6-574B-8573-90DBCE9683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3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E613D-48C0-BE4E-9CD0-8F8B093DC4E1}" type="datetime1">
              <a:rPr lang="en-HK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DC535-5E9B-ED46-8DA7-641E24130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67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47D22-52DA-F74C-8A8B-C8600C726CA8}" type="datetime1">
              <a:rPr lang="en-HK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DFEB7C-CEA5-FC44-B182-5DA1BB894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F15-EF84-5349-B813-96C2A828CDB3}" type="datetime1">
              <a:rPr lang="en-HK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  <p:pic>
        <p:nvPicPr>
          <p:cNvPr id="6" name="Picture 2" descr="HKU Business School">
            <a:extLst>
              <a:ext uri="{FF2B5EF4-FFF2-40B4-BE49-F238E27FC236}">
                <a16:creationId xmlns:a16="http://schemas.microsoft.com/office/drawing/2014/main" id="{E2750214-276E-F24A-B856-0923552D0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200" y="6311079"/>
            <a:ext cx="2057400" cy="45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5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1BFC-400A-8545-94C2-E068C235BE83}" type="datetime1">
              <a:rPr lang="en-HK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345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EA992-298E-EB4F-BDE9-6AF6FBA26687}" type="datetime1">
              <a:rPr lang="en-HK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7937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C992-41CA-A043-BFE2-643549C983DE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4863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B62A-75B4-034F-88BF-B8B06F845A54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9960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D64EE-9DBB-4A49-8321-66E1229C309F}" type="datetime1">
              <a:rPr lang="en-HK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BF50-853B-304C-BCA2-DB5146F0D4EA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093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hen19@hku.h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ls499858@hku.hk" TargetMode="External"/><Relationship Id="rId4" Type="http://schemas.openxmlformats.org/officeDocument/2006/relationships/hyperlink" Target="mailto:ruoxinli0112@connect.hku.h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chen19@hku.h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https://www.linkedin.com/in/hailiang-chen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nwhNfZ8PosZZYwBB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9666-3E5F-1E49-A0A2-F3E5A0E0A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Introduction to LLM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9ABFE-EE6A-3340-A806-4190CDE6A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HK" dirty="0" err="1"/>
              <a:t>Hailiang</a:t>
            </a:r>
            <a:r>
              <a:rPr lang="en-HK" dirty="0"/>
              <a:t> Chen</a:t>
            </a:r>
          </a:p>
          <a:p>
            <a:r>
              <a:rPr lang="en-US" altLang="zh-CN" dirty="0"/>
              <a:t>HKU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1168777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Instructor:</a:t>
            </a:r>
          </a:p>
          <a:p>
            <a:pPr lvl="1"/>
            <a:r>
              <a:rPr lang="en-US" dirty="0"/>
              <a:t>Prof. </a:t>
            </a:r>
            <a:r>
              <a:rPr lang="en-US" dirty="0" err="1"/>
              <a:t>Hailiang</a:t>
            </a:r>
            <a:r>
              <a:rPr lang="en-US" dirty="0"/>
              <a:t> CHEN, </a:t>
            </a:r>
            <a:r>
              <a:rPr lang="en-US" dirty="0">
                <a:hlinkClick r:id="rId3"/>
              </a:rPr>
              <a:t>chen19@hku.hk</a:t>
            </a:r>
            <a:endParaRPr lang="en-US" dirty="0"/>
          </a:p>
          <a:p>
            <a:r>
              <a:rPr lang="en-US" dirty="0"/>
              <a:t>Consultation Hours:</a:t>
            </a:r>
          </a:p>
          <a:p>
            <a:pPr lvl="1"/>
            <a:r>
              <a:rPr lang="en-US" dirty="0"/>
              <a:t>Time: TBD</a:t>
            </a:r>
          </a:p>
          <a:p>
            <a:pPr lvl="1"/>
            <a:r>
              <a:rPr lang="en-US" dirty="0"/>
              <a:t>Office: Room 840, KK Leung Building, Main Campus</a:t>
            </a:r>
          </a:p>
          <a:p>
            <a:r>
              <a:rPr lang="en-US" dirty="0"/>
              <a:t>Teaching Assistant:</a:t>
            </a:r>
          </a:p>
          <a:p>
            <a:pPr lvl="1"/>
            <a:r>
              <a:rPr lang="en-US" altLang="zh-CN" dirty="0"/>
              <a:t>Miss </a:t>
            </a:r>
            <a:r>
              <a:rPr lang="en-US" altLang="zh-CN" dirty="0" err="1"/>
              <a:t>Ruoxin</a:t>
            </a:r>
            <a:r>
              <a:rPr lang="en-US" altLang="zh-CN" dirty="0"/>
              <a:t> Li, </a:t>
            </a:r>
            <a:r>
              <a:rPr lang="en-HK" dirty="0">
                <a:hlinkClick r:id="rId4"/>
              </a:rPr>
              <a:t>ruoxinli0112@connect.hku.hk</a:t>
            </a:r>
            <a:r>
              <a:rPr lang="en-HK" dirty="0"/>
              <a:t>: </a:t>
            </a:r>
            <a:r>
              <a:rPr lang="en-US" altLang="zh-CN" dirty="0"/>
              <a:t>assignment grading</a:t>
            </a:r>
          </a:p>
          <a:p>
            <a:pPr lvl="1"/>
            <a:r>
              <a:rPr lang="en-US" altLang="zh-CN" dirty="0"/>
              <a:t>Mr.</a:t>
            </a:r>
            <a:r>
              <a:rPr lang="zh-CN" altLang="en-US" dirty="0"/>
              <a:t> </a:t>
            </a:r>
            <a:r>
              <a:rPr lang="en-US" altLang="zh-CN" dirty="0"/>
              <a:t>Shuang Li, </a:t>
            </a:r>
            <a:r>
              <a:rPr lang="en-HK" u="sng" dirty="0">
                <a:hlinkClick r:id="rId5" tooltip="mailto:ls499858@hku.hk"/>
              </a:rPr>
              <a:t>ls499858@hku.hk</a:t>
            </a:r>
            <a:r>
              <a:rPr lang="en-US" altLang="zh-CN" dirty="0"/>
              <a:t>: attendance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4BDDE-A84C-1D49-B5F7-8774F85A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94570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850EE16-F586-C643-91C2-314A164A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706"/>
            <a:ext cx="10515600" cy="1325563"/>
          </a:xfrm>
        </p:spPr>
        <p:txBody>
          <a:bodyPr/>
          <a:lstStyle/>
          <a:p>
            <a:r>
              <a:rPr lang="en-US" altLang="zh-CN" dirty="0"/>
              <a:t>Contact</a:t>
            </a:r>
            <a:r>
              <a:rPr lang="zh-CN" altLang="en-US" dirty="0"/>
              <a:t> </a:t>
            </a:r>
            <a:r>
              <a:rPr lang="en-HK" altLang="zh-CN" dirty="0"/>
              <a:t>Me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5254579-7556-5748-904A-D04023CA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900"/>
            <a:ext cx="6112933" cy="3675063"/>
          </a:xfrm>
        </p:spPr>
        <p:txBody>
          <a:bodyPr/>
          <a:lstStyle/>
          <a:p>
            <a:r>
              <a:rPr lang="en-US" altLang="zh-CN" dirty="0"/>
              <a:t>Email:</a:t>
            </a:r>
            <a:r>
              <a:rPr lang="zh-CN" altLang="en-US" dirty="0"/>
              <a:t> </a:t>
            </a:r>
            <a:r>
              <a:rPr lang="en-US" altLang="zh-CN" dirty="0">
                <a:hlinkClick r:id="rId3"/>
              </a:rPr>
              <a:t>chen19@hku.hk</a:t>
            </a:r>
            <a:endParaRPr lang="en-US" altLang="zh-CN" dirty="0"/>
          </a:p>
          <a:p>
            <a:r>
              <a:rPr lang="en-US" altLang="zh-CN" dirty="0"/>
              <a:t>Mobile/WhatsApp:</a:t>
            </a:r>
            <a:r>
              <a:rPr lang="zh-CN" altLang="en-US" dirty="0"/>
              <a:t> </a:t>
            </a:r>
            <a:r>
              <a:rPr lang="en-US" altLang="zh-CN" dirty="0"/>
              <a:t>56338553</a:t>
            </a:r>
          </a:p>
          <a:p>
            <a:r>
              <a:rPr lang="en-US" altLang="zh-CN" dirty="0"/>
              <a:t>WeChat: better4us</a:t>
            </a:r>
          </a:p>
          <a:p>
            <a:r>
              <a:rPr lang="en-US" altLang="zh-CN" dirty="0"/>
              <a:t>LinkedIn:</a:t>
            </a:r>
            <a:r>
              <a:rPr lang="zh-CN" altLang="en-US" dirty="0"/>
              <a:t> </a:t>
            </a:r>
            <a:r>
              <a:rPr lang="en-HK" dirty="0">
                <a:hlinkClick r:id="rId4"/>
              </a:rPr>
              <a:t>https://www.linkedin.com/in/hailiang-chen/</a:t>
            </a:r>
            <a:endParaRPr lang="en-HK" altLang="zh-CN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08CE0-CE1E-0E47-88E1-BEAE282A6AE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0086" y="2397125"/>
            <a:ext cx="2346833" cy="2983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965170-D488-1129-258D-55156A1409F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1067" y="2397125"/>
            <a:ext cx="2695073" cy="298383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3D3D2-2255-AF89-050D-06DFC5FA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EFF0-5BC8-4886-A1D5-59C0C1A1A17F}" type="slidenum">
              <a:rPr lang="en-HK" smtClean="0"/>
              <a:t>3</a:t>
            </a:fld>
            <a:endParaRPr lang="en-H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48ED0-E409-2AB7-8960-6652BAC77B6E}"/>
              </a:ext>
            </a:extLst>
          </p:cNvPr>
          <p:cNvSpPr txBox="1"/>
          <p:nvPr/>
        </p:nvSpPr>
        <p:spPr>
          <a:xfrm>
            <a:off x="7606809" y="1734487"/>
            <a:ext cx="11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WhatsApp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B8ACF-F569-49D6-7C0A-AA084C5A5458}"/>
              </a:ext>
            </a:extLst>
          </p:cNvPr>
          <p:cNvSpPr txBox="1"/>
          <p:nvPr/>
        </p:nvSpPr>
        <p:spPr>
          <a:xfrm>
            <a:off x="10309753" y="1734487"/>
            <a:ext cx="92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WeChat</a:t>
            </a:r>
          </a:p>
        </p:txBody>
      </p:sp>
    </p:spTree>
    <p:extLst>
      <p:ext uri="{BB962C8B-B14F-4D97-AF65-F5344CB8AC3E}">
        <p14:creationId xmlns:p14="http://schemas.microsoft.com/office/powerpoint/2010/main" val="1543440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Assessment</a:t>
            </a:r>
          </a:p>
          <a:p>
            <a:pPr lvl="1"/>
            <a:r>
              <a:rPr lang="en-US" dirty="0"/>
              <a:t>In-class and Online Participation: </a:t>
            </a:r>
            <a:r>
              <a:rPr lang="en-US" altLang="zh-CN" dirty="0"/>
              <a:t>2</a:t>
            </a:r>
            <a:r>
              <a:rPr lang="en-US" dirty="0"/>
              <a:t>0%</a:t>
            </a:r>
          </a:p>
          <a:p>
            <a:pPr lvl="1"/>
            <a:r>
              <a:rPr lang="en-US" dirty="0"/>
              <a:t>Individual Assignment: 30%</a:t>
            </a:r>
          </a:p>
          <a:p>
            <a:pPr lvl="1"/>
            <a:r>
              <a:rPr lang="en-US" dirty="0"/>
              <a:t>Group Project: </a:t>
            </a:r>
            <a:r>
              <a:rPr lang="en-US" altLang="zh-CN" dirty="0"/>
              <a:t>5</a:t>
            </a:r>
            <a:r>
              <a:rPr lang="en-US" dirty="0"/>
              <a:t>0%</a:t>
            </a:r>
          </a:p>
          <a:p>
            <a:pPr marL="0" indent="0">
              <a:buNone/>
            </a:pPr>
            <a:endParaRPr lang="en-US" dirty="0"/>
          </a:p>
          <a:p>
            <a:r>
              <a:rPr lang="en-HK" dirty="0"/>
              <a:t>Attendance follows faculty policy; </a:t>
            </a:r>
            <a:r>
              <a:rPr lang="en-HK" b="1" dirty="0"/>
              <a:t>students must attend at least 70% of lectures to pass</a:t>
            </a:r>
            <a:r>
              <a:rPr lang="en-HK" dirty="0"/>
              <a:t>. </a:t>
            </a:r>
            <a:endParaRPr lang="en-US" dirty="0"/>
          </a:p>
          <a:p>
            <a:r>
              <a:rPr lang="en-US" dirty="0"/>
              <a:t>Group Project assessment is also individual-based, i.e., different members in the same group can get very different scores.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32045-1E20-1140-BD5F-C7A4571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86329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9FB5-3BCC-F6E5-C045-06C401BD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sz="4400" dirty="0">
                <a:solidFill>
                  <a:srgbClr val="000000"/>
                </a:solidFill>
                <a:effectLst/>
                <a:latin typeface="Calibri Light" panose="020F0302020204030204" pitchFamily="34" charset="0"/>
              </a:rPr>
              <a:t>Utilisation of AI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AF765-9F02-0146-0568-0835A8762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use of AI tools is </a:t>
            </a:r>
            <a:r>
              <a:rPr lang="en-HK" sz="2800" dirty="0">
                <a:solidFill>
                  <a:schemeClr val="accent2"/>
                </a:solidFill>
                <a:effectLst/>
                <a:latin typeface="Calibri" panose="020F0502020204030204" pitchFamily="34" charset="0"/>
              </a:rPr>
              <a:t>permitted and highly recommended</a:t>
            </a: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Nevertheless, any use of AI must be documented for both individual assignments and group project submissions.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Adhere to the provided guidelines to </a:t>
            </a:r>
            <a:r>
              <a:rPr lang="en-HK" sz="2800" dirty="0">
                <a:solidFill>
                  <a:schemeClr val="accent2"/>
                </a:solidFill>
                <a:effectLst/>
                <a:latin typeface="Calibri" panose="020F0502020204030204" pitchFamily="34" charset="0"/>
              </a:rPr>
              <a:t>properly disclose AI involvement</a:t>
            </a: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4CF4E-DFAD-B011-13AF-8B20932F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17646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Course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Participation: </a:t>
            </a:r>
            <a:r>
              <a:rPr lang="en-US" altLang="zh-CN" dirty="0"/>
              <a:t>2</a:t>
            </a:r>
            <a:r>
              <a:rPr lang="en-US" dirty="0"/>
              <a:t>0%</a:t>
            </a:r>
          </a:p>
          <a:p>
            <a:pPr lvl="1"/>
            <a:r>
              <a:rPr lang="en-US" altLang="zh-CN" dirty="0"/>
              <a:t>In-class Participation: 10%</a:t>
            </a:r>
          </a:p>
          <a:p>
            <a:pPr lvl="2"/>
            <a:r>
              <a:rPr lang="en-US" altLang="zh-CN" dirty="0"/>
              <a:t>Attending more lectures would be appreciated</a:t>
            </a:r>
          </a:p>
          <a:p>
            <a:pPr lvl="2"/>
            <a:r>
              <a:rPr lang="en-US" dirty="0"/>
              <a:t>In-class Participation </a:t>
            </a:r>
            <a:r>
              <a:rPr lang="en-US" altLang="zh-CN" dirty="0"/>
              <a:t>Self-</a:t>
            </a:r>
            <a:r>
              <a:rPr lang="en-US" dirty="0"/>
              <a:t>Report </a:t>
            </a:r>
            <a:r>
              <a:rPr lang="en-US" altLang="zh-CN" dirty="0"/>
              <a:t>Google</a:t>
            </a:r>
            <a:r>
              <a:rPr lang="zh-CN" altLang="en-US" dirty="0"/>
              <a:t> </a:t>
            </a:r>
            <a:r>
              <a:rPr lang="en-US" dirty="0"/>
              <a:t>Form</a:t>
            </a:r>
            <a:r>
              <a:rPr lang="en-US" altLang="zh-CN" dirty="0"/>
              <a:t>: </a:t>
            </a:r>
            <a:r>
              <a:rPr lang="en-US" altLang="zh-CN" dirty="0">
                <a:hlinkClick r:id="rId3"/>
              </a:rPr>
              <a:t>https://forms.gle/nwhNfZ8PosZZYwBB9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/>
              <a:t>Ask/answer questions; make comments; make presentations </a:t>
            </a:r>
          </a:p>
          <a:p>
            <a:pPr lvl="1"/>
            <a:r>
              <a:rPr lang="en-US" altLang="zh-CN" dirty="0"/>
              <a:t>Online</a:t>
            </a:r>
            <a:r>
              <a:rPr lang="zh-CN" altLang="en-US" dirty="0"/>
              <a:t> </a:t>
            </a:r>
            <a:r>
              <a:rPr lang="en-US" altLang="zh-CN" dirty="0"/>
              <a:t>participation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Moodle and other designated platforms:</a:t>
            </a:r>
            <a:r>
              <a:rPr lang="zh-CN" altLang="en-US" dirty="0"/>
              <a:t> </a:t>
            </a:r>
            <a:r>
              <a:rPr lang="en-US" altLang="zh-CN" dirty="0"/>
              <a:t>10%</a:t>
            </a:r>
          </a:p>
          <a:p>
            <a:pPr lvl="2"/>
            <a:r>
              <a:rPr lang="en-US" dirty="0"/>
              <a:t>Take-home assignments on Moodle</a:t>
            </a:r>
          </a:p>
          <a:p>
            <a:pPr lvl="2"/>
            <a:r>
              <a:rPr lang="en-US" dirty="0"/>
              <a:t>In-class presentation submissions on Moodle</a:t>
            </a:r>
          </a:p>
          <a:p>
            <a:pPr lvl="2"/>
            <a:r>
              <a:rPr lang="en-US" dirty="0"/>
              <a:t>Course forum</a:t>
            </a:r>
          </a:p>
          <a:p>
            <a:pPr lvl="3"/>
            <a:r>
              <a:rPr lang="en-US" dirty="0"/>
              <a:t>“Novel” contribution to discussions: no duplicate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  <a:p>
            <a:pPr lvl="3"/>
            <a:r>
              <a:rPr lang="en-US" altLang="zh-CN" dirty="0"/>
              <a:t>Asking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offering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technical</a:t>
            </a:r>
            <a:r>
              <a:rPr lang="zh-CN" altLang="en-US" dirty="0"/>
              <a:t> </a:t>
            </a:r>
            <a:r>
              <a:rPr lang="en-US" altLang="zh-CN" dirty="0"/>
              <a:t>issues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FDC2D-0402-234D-991F-ECE4A3E5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CF86D51-AB38-4211-A765-668B7266B8DF}" type="slidenum">
              <a:rPr lang="en-HK" smtClean="0"/>
              <a:pPr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75301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2DC6-8D8A-26C6-EDB5-3402D2CD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In-class Individual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1ED8B-5896-849C-B3B8-1D32AAF55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Share anything interesting or useful about LLM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Upload presentation slides (.ppt or .pptx) on Moodle (submissions accepted continuously; earlier submissions are encouraged)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HK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Earn credits for online participation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HK" sz="2400" dirty="0">
                <a:solidFill>
                  <a:schemeClr val="accent2"/>
                </a:solidFill>
                <a:effectLst/>
                <a:latin typeface="Calibri" panose="020F0502020204030204" pitchFamily="34" charset="0"/>
              </a:rPr>
              <a:t>Qualify for the limited opportunity to present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Presenters for upcoming lectures will be informed several days in advance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Presentations are limited to a maximum of 5 minutes each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Presentations typically begin after the first break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71814-C085-AC2F-A253-99D14730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48092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D1772-C4C6-DC11-DFAE-DDF6484B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Ideas for Individual 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18B5-42DE-0885-A786-8ACA1F416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solutions for a take-home ungraded assignment</a:t>
            </a:r>
            <a:endParaRPr lang="en-HK" sz="28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Recent advancements in large language models and AI agents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Personal approach to applying LLMs for a particular challenge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Innovative ways to utilise LLMs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Constraints and challenges of LLMs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Practical implementations of LLMs in real life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HK" sz="2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9D2F4-6F90-2551-BEDA-C2D2EC9B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3172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Individual Assignment</a:t>
            </a:r>
            <a:r>
              <a:rPr lang="en-US" altLang="zh-CN" dirty="0"/>
              <a:t>s</a:t>
            </a:r>
            <a:r>
              <a:rPr lang="en-US" dirty="0"/>
              <a:t>: 30%</a:t>
            </a:r>
            <a:endParaRPr lang="en-US" altLang="zh-CN" dirty="0"/>
          </a:p>
          <a:p>
            <a:pPr lvl="1"/>
            <a:r>
              <a:rPr lang="en-US" altLang="zh-CN" dirty="0"/>
              <a:t>AI Resume Editor</a:t>
            </a:r>
          </a:p>
          <a:p>
            <a:pPr lvl="1"/>
            <a:r>
              <a:rPr lang="en-US" altLang="zh-CN" dirty="0"/>
              <a:t>Function Calling for GitHub Repository Queries</a:t>
            </a:r>
          </a:p>
          <a:p>
            <a:endParaRPr lang="en-US" dirty="0"/>
          </a:p>
          <a:p>
            <a:r>
              <a:rPr lang="en-US" dirty="0"/>
              <a:t>You should complete the assignment</a:t>
            </a:r>
            <a:r>
              <a:rPr lang="en-US" altLang="zh-CN" dirty="0"/>
              <a:t>s</a:t>
            </a:r>
            <a:r>
              <a:rPr lang="en-US" dirty="0"/>
              <a:t> by yourself without consulting other students or the TA, i.e., treat it like a take-home </a:t>
            </a:r>
            <a:r>
              <a:rPr lang="en-US" altLang="zh-CN" dirty="0"/>
              <a:t>and</a:t>
            </a:r>
            <a:r>
              <a:rPr lang="en-US" dirty="0"/>
              <a:t> open-book exam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26DE8-7126-644D-A547-78ADD363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187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Project: </a:t>
            </a:r>
            <a:r>
              <a:rPr lang="en-US" altLang="zh-CN" dirty="0"/>
              <a:t>5</a:t>
            </a:r>
            <a:r>
              <a:rPr lang="en-US" dirty="0"/>
              <a:t>0%</a:t>
            </a:r>
          </a:p>
          <a:p>
            <a:pPr lvl="1"/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Proposal</a:t>
            </a:r>
            <a:r>
              <a:rPr lang="zh-CN" altLang="en-US" dirty="0"/>
              <a:t> </a:t>
            </a:r>
            <a:r>
              <a:rPr lang="en-US" altLang="zh-CN" dirty="0"/>
              <a:t>(one</a:t>
            </a:r>
            <a:r>
              <a:rPr lang="zh-CN" altLang="en-US" dirty="0"/>
              <a:t> </a:t>
            </a:r>
            <a:r>
              <a:rPr lang="en-US" altLang="zh-CN" dirty="0"/>
              <a:t>page):</a:t>
            </a:r>
            <a:r>
              <a:rPr lang="zh-CN" altLang="en-US" dirty="0"/>
              <a:t> </a:t>
            </a:r>
            <a:r>
              <a:rPr lang="en-US" altLang="zh-CN" dirty="0"/>
              <a:t>5%</a:t>
            </a:r>
            <a:r>
              <a:rPr lang="zh-CN" altLang="en-US" dirty="0"/>
              <a:t> </a:t>
            </a:r>
            <a:endParaRPr lang="en-US" dirty="0"/>
          </a:p>
          <a:p>
            <a:pPr lvl="1"/>
            <a:r>
              <a:rPr lang="en-US" dirty="0"/>
              <a:t>Data and Program Code: 1</a:t>
            </a:r>
            <a:r>
              <a:rPr lang="en-US" altLang="zh-CN" dirty="0"/>
              <a:t>5</a:t>
            </a:r>
            <a:r>
              <a:rPr lang="en-US" dirty="0"/>
              <a:t>%</a:t>
            </a:r>
          </a:p>
          <a:p>
            <a:pPr lvl="1"/>
            <a:r>
              <a:rPr lang="en-US" dirty="0"/>
              <a:t>Project Report (10 pages max): 1</a:t>
            </a:r>
            <a:r>
              <a:rPr lang="en-US" altLang="zh-CN" dirty="0"/>
              <a:t>0</a:t>
            </a:r>
            <a:r>
              <a:rPr lang="en-US" dirty="0"/>
              <a:t>%</a:t>
            </a:r>
          </a:p>
          <a:p>
            <a:pPr lvl="1"/>
            <a:r>
              <a:rPr lang="en-US" dirty="0"/>
              <a:t>Group Presentation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20</a:t>
            </a:r>
            <a:r>
              <a:rPr lang="en-US" dirty="0"/>
              <a:t>%</a:t>
            </a:r>
          </a:p>
          <a:p>
            <a:pPr lvl="2"/>
            <a:r>
              <a:rPr lang="en-US" dirty="0"/>
              <a:t>Each group member is encouraged to present</a:t>
            </a:r>
          </a:p>
          <a:p>
            <a:pPr lvl="2"/>
            <a:r>
              <a:rPr lang="en-US" dirty="0"/>
              <a:t>8 members/group</a:t>
            </a:r>
            <a:endParaRPr lang="en-HK" dirty="0"/>
          </a:p>
          <a:p>
            <a:pPr lvl="2"/>
            <a:r>
              <a:rPr lang="en-US" altLang="zh-CN" dirty="0"/>
              <a:t>Randomly</a:t>
            </a:r>
            <a:r>
              <a:rPr lang="zh-CN" altLang="en-US" dirty="0"/>
              <a:t> </a:t>
            </a:r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presentation</a:t>
            </a:r>
            <a:r>
              <a:rPr lang="zh-CN" altLang="en-US" dirty="0"/>
              <a:t> </a:t>
            </a:r>
            <a:r>
              <a:rPr lang="en-US" altLang="zh-CN" dirty="0"/>
              <a:t>sequence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B8E86-BE50-4D4D-B997-0126C73B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1384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2D67-4E9C-D04D-972E-7F41FC33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A843-4166-D14B-B0DB-D9C236C1D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Group formation on Moodle</a:t>
            </a:r>
            <a:r>
              <a:rPr lang="zh-CN" altLang="en-US" dirty="0"/>
              <a:t> </a:t>
            </a:r>
            <a:r>
              <a:rPr lang="en-US" altLang="zh-CN" dirty="0"/>
              <a:t>(Mar 27 Friday)</a:t>
            </a:r>
          </a:p>
          <a:p>
            <a:pPr lvl="1"/>
            <a:r>
              <a:rPr lang="en-US" altLang="zh-CN" dirty="0"/>
              <a:t>Find team members by yourselves first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</a:p>
          <a:p>
            <a:pPr lvl="1"/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Mar 28,</a:t>
            </a:r>
            <a:r>
              <a:rPr lang="zh-CN" altLang="en-US" dirty="0"/>
              <a:t> </a:t>
            </a:r>
            <a:r>
              <a:rPr lang="en-US" altLang="zh-CN" dirty="0"/>
              <a:t>those who do not find a group by the deadline</a:t>
            </a:r>
            <a:r>
              <a:rPr lang="zh-CN" altLang="en-US" dirty="0"/>
              <a:t> </a:t>
            </a:r>
            <a:r>
              <a:rPr lang="en-US" altLang="zh-CN" dirty="0"/>
              <a:t>will be randomly</a:t>
            </a:r>
            <a:r>
              <a:rPr lang="zh-CN" altLang="en-US" dirty="0"/>
              <a:t> </a:t>
            </a:r>
            <a:r>
              <a:rPr lang="en-US" altLang="zh-CN" dirty="0"/>
              <a:t>assigned</a:t>
            </a:r>
            <a:r>
              <a:rPr lang="zh-CN" altLang="en-US" dirty="0"/>
              <a:t> </a:t>
            </a:r>
            <a:r>
              <a:rPr lang="en-US" altLang="zh-CN" dirty="0"/>
              <a:t>to groups that are not full</a:t>
            </a:r>
            <a:r>
              <a:rPr lang="zh-CN" altLang="en-US" dirty="0"/>
              <a:t> </a:t>
            </a:r>
            <a:endParaRPr lang="en-HK" altLang="zh-CN" dirty="0"/>
          </a:p>
          <a:p>
            <a:r>
              <a:rPr lang="en-US" dirty="0"/>
              <a:t>Fa</a:t>
            </a:r>
            <a:r>
              <a:rPr lang="en-US" altLang="zh-CN" dirty="0"/>
              <a:t>ctors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consider</a:t>
            </a:r>
          </a:p>
          <a:p>
            <a:pPr lvl="1"/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agreement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together</a:t>
            </a:r>
          </a:p>
          <a:p>
            <a:pPr lvl="1"/>
            <a:r>
              <a:rPr lang="en-US" altLang="zh-CN" dirty="0"/>
              <a:t>Instead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having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fixed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r>
              <a:rPr lang="zh-CN" altLang="en-US" dirty="0"/>
              <a:t> </a:t>
            </a:r>
            <a:r>
              <a:rPr lang="en-US" altLang="zh-CN" dirty="0"/>
              <a:t>leader,</a:t>
            </a:r>
            <a:r>
              <a:rPr lang="zh-CN" altLang="en-US" dirty="0"/>
              <a:t> </a:t>
            </a:r>
            <a:r>
              <a:rPr lang="en-US" altLang="zh-CN" dirty="0"/>
              <a:t>members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take</a:t>
            </a:r>
            <a:r>
              <a:rPr lang="zh-CN" altLang="en-US" dirty="0"/>
              <a:t> </a:t>
            </a:r>
            <a:r>
              <a:rPr lang="en-US" altLang="zh-CN" dirty="0"/>
              <a:t>turns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leader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288FD-03E8-1B4A-94F4-99C37B9D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11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0523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F9AC-528B-1E42-84DD-40D8113A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Project Ideas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12C9-55C0-C14D-8DF7-C9EA13AE5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HK" dirty="0"/>
              <a:t>AI-generated Financial Analyst Reports</a:t>
            </a:r>
          </a:p>
          <a:p>
            <a:pPr marL="514350" indent="-514350">
              <a:buFont typeface="+mj-lt"/>
              <a:buAutoNum type="arabicPeriod"/>
            </a:pPr>
            <a:r>
              <a:rPr lang="en-HK" dirty="0"/>
              <a:t>Competitive Intelligence for Master Programs</a:t>
            </a:r>
          </a:p>
          <a:p>
            <a:pPr marL="514350" indent="-514350">
              <a:buFont typeface="+mj-lt"/>
              <a:buAutoNum type="arabicPeriod"/>
            </a:pPr>
            <a:r>
              <a:rPr lang="en-HK" dirty="0"/>
              <a:t>Agent‑Based Intelligent Travel Planner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572E-6928-3847-991D-3DCC3517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CF86D51-AB38-4211-A765-668B7266B8DF}" type="slidenum">
              <a:rPr lang="en-HK" smtClean="0"/>
              <a:pPr/>
              <a:t>12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82116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D572-A127-4596-8291-52229C94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en-HK" dirty="0"/>
              <a:t>1. AI-generated Financial Analyst Reports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84B67-E3E7-E241-B2F2-3A5E257E7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Develop a system to generate high-quality analyst reports for stocks to support investment decision-making</a:t>
            </a:r>
          </a:p>
          <a:p>
            <a:r>
              <a:rPr lang="en-US" dirty="0"/>
              <a:t>Focus on HK or US stocks</a:t>
            </a:r>
          </a:p>
          <a:p>
            <a:r>
              <a:rPr lang="en-US" dirty="0"/>
              <a:t>Potential data sources</a:t>
            </a:r>
          </a:p>
          <a:p>
            <a:pPr lvl="1"/>
            <a:r>
              <a:rPr lang="en-US" altLang="zh-CN" dirty="0"/>
              <a:t>Financial</a:t>
            </a:r>
            <a:r>
              <a:rPr lang="zh-CN" altLang="en-US" dirty="0"/>
              <a:t> </a:t>
            </a:r>
            <a:r>
              <a:rPr lang="en-US" altLang="zh-CN" dirty="0"/>
              <a:t>statement and market data from WRDS through the university library</a:t>
            </a:r>
          </a:p>
          <a:p>
            <a:pPr lvl="1"/>
            <a:r>
              <a:rPr lang="en-US" dirty="0"/>
              <a:t>Yahoo Finance</a:t>
            </a:r>
          </a:p>
          <a:p>
            <a:pPr lvl="1"/>
            <a:r>
              <a:rPr lang="en-US" dirty="0"/>
              <a:t>Seeking Alpha</a:t>
            </a:r>
          </a:p>
          <a:p>
            <a:pPr lvl="1"/>
            <a:r>
              <a:rPr lang="en-US" dirty="0"/>
              <a:t>Firm filings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24FE4-49F6-A67C-0E81-F900A069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43377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F0D0-01FD-EC30-E5CF-4965352E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2. Competitive Intelligence for Master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50FA-1AF1-7B0E-7406-9A339230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HK" dirty="0"/>
              <a:t>Develop a system to collect, structure, and </a:t>
            </a:r>
            <a:r>
              <a:rPr lang="en-HK" dirty="0" err="1"/>
              <a:t>analyze</a:t>
            </a:r>
            <a:r>
              <a:rPr lang="en-HK" dirty="0"/>
              <a:t> public data on business school master programs to support strategic decisions by deans and program directors</a:t>
            </a:r>
          </a:p>
          <a:p>
            <a:pPr lvl="0"/>
            <a:r>
              <a:rPr lang="en-HK" dirty="0"/>
              <a:t>Focus on non-MBA master programs (i.e., TPG programs)</a:t>
            </a:r>
          </a:p>
          <a:p>
            <a:pPr lvl="0"/>
            <a:r>
              <a:rPr lang="en-HK" dirty="0"/>
              <a:t>Use publicly available information only (program websites, brochures, rankings, news, etc.).</a:t>
            </a:r>
          </a:p>
          <a:p>
            <a:endParaRPr lang="en-US" dirty="0"/>
          </a:p>
          <a:p>
            <a:pPr lvl="0"/>
            <a:endParaRPr lang="en-HK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F34D-313E-5A6C-B300-683C4E3A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14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1092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067F-1510-76E5-CED5-DCFD7EA27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en-HK" dirty="0"/>
              <a:t>3. Agent‑Based Intelligent Travel Planner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DED93-B3A7-FA27-2708-7814B2B05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HK" dirty="0"/>
              <a:t>Develop an AI agent that creates personalized travel plans for individuals or groups by integrating maps, POI data, and social media content to support travel decision‑making</a:t>
            </a:r>
          </a:p>
          <a:p>
            <a:pPr lvl="0"/>
            <a:r>
              <a:rPr lang="en-HK" dirty="0"/>
              <a:t>Focus on trip planning for a city or region (e.g., 2–5 day itinerary)</a:t>
            </a:r>
          </a:p>
          <a:p>
            <a:pPr lvl="0"/>
            <a:r>
              <a:rPr lang="en-HK" dirty="0"/>
              <a:t>Use free or public data sources (e.g., </a:t>
            </a:r>
            <a:r>
              <a:rPr lang="en-HK" dirty="0" err="1"/>
              <a:t>Gaode</a:t>
            </a:r>
            <a:r>
              <a:rPr lang="en-HK" dirty="0"/>
              <a:t> Maps API, </a:t>
            </a:r>
            <a:r>
              <a:rPr lang="en-HK" dirty="0" err="1"/>
              <a:t>RedNote</a:t>
            </a:r>
            <a:r>
              <a:rPr lang="en-HK" dirty="0"/>
              <a:t>).</a:t>
            </a:r>
          </a:p>
          <a:p>
            <a:pPr lvl="0"/>
            <a:r>
              <a:rPr lang="en-HK" dirty="0"/>
              <a:t>Travel scenarios may include leisure, family, or theme‑based trips.</a:t>
            </a:r>
          </a:p>
          <a:p>
            <a:pPr lvl="0"/>
            <a:endParaRPr lang="en-HK" dirty="0"/>
          </a:p>
          <a:p>
            <a:endParaRPr lang="en-US" dirty="0"/>
          </a:p>
          <a:p>
            <a:pPr lvl="0"/>
            <a:endParaRPr lang="en-HK" dirty="0"/>
          </a:p>
          <a:p>
            <a:endParaRPr lang="en-US" dirty="0"/>
          </a:p>
          <a:p>
            <a:pPr lvl="0"/>
            <a:endParaRPr lang="en-HK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02224-0231-6FE7-C18B-808732576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HK" smtClean="0"/>
              <a:pPr/>
              <a:t>15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09715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771D-F918-2D46-81C9-F0111038E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Group</a:t>
            </a:r>
            <a:r>
              <a:rPr lang="zh-CN" altLang="en-US"/>
              <a:t> </a:t>
            </a:r>
            <a:r>
              <a:rPr lang="en-US" altLang="zh-CN"/>
              <a:t>Project</a:t>
            </a:r>
            <a:r>
              <a:rPr lang="zh-CN" altLang="en-US"/>
              <a:t> </a:t>
            </a:r>
            <a:r>
              <a:rPr lang="en-US" altLang="zh-CN"/>
              <a:t>Proposal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AF567-1FA4-6349-890F-B444DCDD0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April 9 (Thursday)</a:t>
            </a:r>
            <a:endParaRPr lang="en-HK" altLang="zh-CN" dirty="0"/>
          </a:p>
          <a:p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</a:p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Summarize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paragraph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</a:p>
          <a:p>
            <a:pPr lvl="1"/>
            <a:r>
              <a:rPr lang="en-US" altLang="zh-CN" dirty="0"/>
              <a:t>Clearly</a:t>
            </a:r>
            <a:r>
              <a:rPr lang="zh-CN" altLang="en-US" dirty="0"/>
              <a:t> </a:t>
            </a:r>
            <a:r>
              <a:rPr lang="en-US" altLang="zh-CN" dirty="0"/>
              <a:t>define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pPr lvl="1"/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outline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target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required in your solution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Identify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challenges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</a:p>
          <a:p>
            <a:pPr lvl="1"/>
            <a:r>
              <a:rPr lang="en-US" altLang="zh-CN" dirty="0"/>
              <a:t>Describe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allocate</a:t>
            </a:r>
            <a:r>
              <a:rPr lang="zh-CN" altLang="en-US" dirty="0"/>
              <a:t> </a:t>
            </a:r>
            <a:r>
              <a:rPr lang="en-US" altLang="zh-CN" dirty="0"/>
              <a:t>work</a:t>
            </a:r>
            <a:r>
              <a:rPr lang="zh-CN" altLang="en-US" dirty="0"/>
              <a:t> </a:t>
            </a:r>
            <a:r>
              <a:rPr lang="en-US" altLang="zh-CN" dirty="0"/>
              <a:t>across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members</a:t>
            </a:r>
          </a:p>
          <a:p>
            <a:pPr lvl="2"/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simply</a:t>
            </a:r>
            <a:r>
              <a:rPr lang="zh-CN" altLang="en-US" dirty="0"/>
              <a:t> </a:t>
            </a:r>
            <a:r>
              <a:rPr lang="en-US" altLang="zh-CN" dirty="0"/>
              <a:t>say</a:t>
            </a:r>
            <a:r>
              <a:rPr lang="zh-CN" altLang="en-US" dirty="0"/>
              <a:t> </a:t>
            </a:r>
            <a:r>
              <a:rPr lang="en-US" altLang="zh-CN" dirty="0"/>
              <a:t>everyone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every</a:t>
            </a:r>
            <a:r>
              <a:rPr lang="zh-CN" altLang="en-US" dirty="0"/>
              <a:t> </a:t>
            </a:r>
            <a:r>
              <a:rPr lang="en-US" altLang="zh-CN" dirty="0"/>
              <a:t>task</a:t>
            </a:r>
            <a:r>
              <a:rPr lang="zh-CN" altLang="en-US" dirty="0"/>
              <a:t> </a:t>
            </a:r>
            <a:r>
              <a:rPr lang="en-US" altLang="zh-CN" dirty="0"/>
              <a:t>equally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2D89-F752-0447-86D0-CB825972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4710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771D-F918-2D46-81C9-F0111038E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Group</a:t>
            </a:r>
            <a:r>
              <a:rPr lang="zh-CN" altLang="en-US"/>
              <a:t> </a:t>
            </a:r>
            <a:r>
              <a:rPr lang="en-US" altLang="zh-CN"/>
              <a:t>Project</a:t>
            </a:r>
            <a:r>
              <a:rPr lang="zh-CN" altLang="en-US"/>
              <a:t> </a:t>
            </a:r>
            <a:r>
              <a:rPr lang="en-US" altLang="zh-CN"/>
              <a:t>Report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AF567-1FA4-6349-890F-B444DCDD0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Due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May 3 (Sunday)</a:t>
            </a:r>
          </a:p>
          <a:p>
            <a:r>
              <a:rPr lang="en-US" altLang="zh-CN" dirty="0"/>
              <a:t>10</a:t>
            </a:r>
            <a:r>
              <a:rPr lang="zh-CN" altLang="en-US" dirty="0"/>
              <a:t> </a:t>
            </a:r>
            <a:r>
              <a:rPr lang="en-US" altLang="zh-CN" dirty="0"/>
              <a:t>pages</a:t>
            </a:r>
            <a:r>
              <a:rPr lang="zh-CN" altLang="en-US" dirty="0"/>
              <a:t> </a:t>
            </a:r>
            <a:r>
              <a:rPr lang="en-US" altLang="zh-CN" dirty="0"/>
              <a:t>max</a:t>
            </a:r>
          </a:p>
          <a:p>
            <a:r>
              <a:rPr lang="en-US" altLang="zh-CN" dirty="0"/>
              <a:t>Outline</a:t>
            </a:r>
            <a:r>
              <a:rPr lang="zh-CN" altLang="en-US" dirty="0"/>
              <a:t> </a:t>
            </a:r>
            <a:r>
              <a:rPr lang="en-US" altLang="zh-CN" dirty="0"/>
              <a:t>(for your reference only)</a:t>
            </a:r>
          </a:p>
          <a:p>
            <a:pPr lvl="1"/>
            <a:r>
              <a:rPr lang="en-US" altLang="zh-CN" dirty="0"/>
              <a:t>Introduction (2 pages max; an executive summary of your project)</a:t>
            </a:r>
          </a:p>
          <a:p>
            <a:pPr lvl="2"/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idea</a:t>
            </a:r>
          </a:p>
          <a:p>
            <a:pPr lvl="2"/>
            <a:r>
              <a:rPr lang="en-US" altLang="zh-CN" dirty="0"/>
              <a:t>Key components of your solution</a:t>
            </a:r>
          </a:p>
          <a:p>
            <a:pPr lvl="2"/>
            <a:r>
              <a:rPr lang="en-US" altLang="zh-CN" dirty="0"/>
              <a:t>Main findings or deliverables</a:t>
            </a:r>
          </a:p>
          <a:p>
            <a:pPr lvl="1"/>
            <a:r>
              <a:rPr lang="en-US" altLang="zh-CN" dirty="0"/>
              <a:t>Methodology (3 to 4 pages)</a:t>
            </a:r>
          </a:p>
          <a:p>
            <a:pPr lvl="2"/>
            <a:r>
              <a:rPr lang="en-US" altLang="zh-CN" dirty="0"/>
              <a:t>A detailed</a:t>
            </a:r>
            <a:r>
              <a:rPr lang="zh-CN" altLang="en-US" dirty="0"/>
              <a:t> </a:t>
            </a:r>
            <a:r>
              <a:rPr lang="en-US" altLang="zh-CN" dirty="0"/>
              <a:t>summary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solution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target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</a:p>
          <a:p>
            <a:pPr lvl="2"/>
            <a:r>
              <a:rPr lang="en-US" altLang="zh-CN" dirty="0"/>
              <a:t>Identify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challenges</a:t>
            </a:r>
            <a:r>
              <a:rPr lang="zh-CN" altLang="en-US" dirty="0"/>
              <a:t> </a:t>
            </a:r>
            <a:r>
              <a:rPr lang="en-US" altLang="zh-CN" dirty="0"/>
              <a:t>and how you address them</a:t>
            </a:r>
          </a:p>
          <a:p>
            <a:pPr lvl="1"/>
            <a:r>
              <a:rPr lang="en-US" altLang="zh-CN" dirty="0"/>
              <a:t>Results (2 to 3 pages)</a:t>
            </a:r>
          </a:p>
          <a:p>
            <a:pPr lvl="1"/>
            <a:r>
              <a:rPr lang="en-US" altLang="zh-CN" dirty="0"/>
              <a:t>Limitations and Future Work (1 page)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Work Allocation (1 page)</a:t>
            </a:r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Describe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how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work tasks are distributed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across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your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group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members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2D89-F752-0447-86D0-CB8259720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17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9138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B0CE-2B03-3F47-AD20-491913BD3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Purposes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7BBDE-1E4A-6B47-A5FE-842E3840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Participation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share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views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opinions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others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setting.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conduct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summarize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learnt.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technical</a:t>
            </a:r>
            <a:r>
              <a:rPr lang="zh-CN" altLang="en-US" dirty="0"/>
              <a:t> </a:t>
            </a:r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help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others,</a:t>
            </a:r>
            <a:r>
              <a:rPr lang="zh-CN" altLang="en-US" dirty="0"/>
              <a:t> </a:t>
            </a:r>
            <a:r>
              <a:rPr lang="en-US" altLang="zh-CN" dirty="0"/>
              <a:t>e.g.,</a:t>
            </a:r>
            <a:r>
              <a:rPr lang="zh-CN" altLang="en-US" dirty="0"/>
              <a:t> </a:t>
            </a:r>
            <a:r>
              <a:rPr lang="en-US" altLang="zh-CN" dirty="0"/>
              <a:t>colleagues,</a:t>
            </a:r>
            <a:r>
              <a:rPr lang="zh-CN" altLang="en-US" dirty="0"/>
              <a:t> </a:t>
            </a:r>
            <a:r>
              <a:rPr lang="en-US" altLang="zh-CN" dirty="0"/>
              <a:t>clients,</a:t>
            </a:r>
            <a:r>
              <a:rPr lang="zh-CN" altLang="en-US" dirty="0"/>
              <a:t> </a:t>
            </a:r>
            <a:r>
              <a:rPr lang="en-US" altLang="zh-CN" dirty="0"/>
              <a:t>etc.</a:t>
            </a:r>
          </a:p>
          <a:p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</a:p>
          <a:p>
            <a:pPr lvl="1"/>
            <a:r>
              <a:rPr lang="en-US" altLang="zh-CN" dirty="0"/>
              <a:t>Apply LLMs to solve problems independently with AI assistance.</a:t>
            </a:r>
          </a:p>
          <a:p>
            <a:r>
              <a:rPr lang="en-US" altLang="zh-CN" dirty="0"/>
              <a:t>Group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</a:p>
          <a:p>
            <a:pPr lvl="1"/>
            <a:r>
              <a:rPr lang="en-US" altLang="zh-CN" dirty="0"/>
              <a:t>Acquire practical experience in applying LLM knowledge in a team environment.</a:t>
            </a:r>
          </a:p>
          <a:p>
            <a:pPr lvl="1"/>
            <a:r>
              <a:rPr lang="en-US" altLang="zh-CN" dirty="0"/>
              <a:t>Develop</a:t>
            </a:r>
            <a:r>
              <a:rPr lang="zh-CN" altLang="en-US" dirty="0"/>
              <a:t> </a:t>
            </a:r>
            <a:r>
              <a:rPr lang="en-US" altLang="zh-CN" dirty="0"/>
              <a:t>soft</a:t>
            </a:r>
            <a:r>
              <a:rPr lang="zh-CN" altLang="en-US" dirty="0"/>
              <a:t> </a:t>
            </a:r>
            <a:r>
              <a:rPr lang="en-US" altLang="zh-CN" dirty="0"/>
              <a:t>skills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management,</a:t>
            </a:r>
            <a:r>
              <a:rPr lang="zh-CN" altLang="en-US" dirty="0"/>
              <a:t> </a:t>
            </a:r>
            <a:r>
              <a:rPr lang="en-US" altLang="zh-CN" dirty="0"/>
              <a:t>communication/presentation,</a:t>
            </a:r>
            <a:r>
              <a:rPr lang="zh-CN" altLang="en-US" dirty="0"/>
              <a:t> </a:t>
            </a:r>
            <a:r>
              <a:rPr lang="en-US" altLang="zh-CN" dirty="0"/>
              <a:t>teamwork,</a:t>
            </a:r>
            <a:r>
              <a:rPr lang="zh-CN" altLang="en-US" dirty="0"/>
              <a:t> </a:t>
            </a:r>
            <a:r>
              <a:rPr lang="en-US" altLang="zh-CN" dirty="0"/>
              <a:t>leadership,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on.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35D8C-8807-D845-89EA-E7764FBE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702762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28D7-2C77-7540-A014-5E19AD66F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9D2D-7BA2-554E-AFDC-8F64FA02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Introduction to Large Language Models (LLMs)</a:t>
            </a:r>
            <a:endParaRPr lang="en-HK" dirty="0"/>
          </a:p>
          <a:p>
            <a:pPr lvl="0"/>
            <a:r>
              <a:rPr lang="en-US" dirty="0"/>
              <a:t>Prompt Engineering</a:t>
            </a:r>
            <a:endParaRPr lang="en-HK" dirty="0"/>
          </a:p>
          <a:p>
            <a:pPr lvl="0"/>
            <a:r>
              <a:rPr lang="en-US" dirty="0"/>
              <a:t>Building a Chatbot</a:t>
            </a:r>
            <a:endParaRPr lang="en-HK" dirty="0"/>
          </a:p>
          <a:p>
            <a:pPr lvl="1"/>
            <a:r>
              <a:rPr lang="en-US" dirty="0"/>
              <a:t>Context Management</a:t>
            </a:r>
            <a:endParaRPr lang="en-HK" dirty="0"/>
          </a:p>
          <a:p>
            <a:pPr lvl="1"/>
            <a:r>
              <a:rPr lang="en-US" dirty="0"/>
              <a:t>From Command-line to Web Chatbot</a:t>
            </a:r>
            <a:endParaRPr lang="en-HK" dirty="0"/>
          </a:p>
          <a:p>
            <a:pPr lvl="0"/>
            <a:r>
              <a:rPr lang="en-US" dirty="0"/>
              <a:t>Function Calling</a:t>
            </a:r>
            <a:endParaRPr lang="en-HK" dirty="0"/>
          </a:p>
          <a:p>
            <a:pPr marL="0" lvl="0" indent="0">
              <a:buNone/>
            </a:pPr>
            <a:endParaRPr lang="en-HK" dirty="0"/>
          </a:p>
          <a:p>
            <a:endParaRPr lang="en-US" dirty="0"/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E54BC-AF15-B442-A6AF-7A36A926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86D51-AB38-4211-A765-668B7266B8DF}" type="slidenum">
              <a:rPr lang="en-HK" smtClean="0"/>
              <a:pPr/>
              <a:t>19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592995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C1B1-FB95-AA3B-198D-E8A30CE0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E491-2F7A-D8EA-28D5-A9333F69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Retrieval-Augmented Generation (RAG)</a:t>
            </a:r>
            <a:endParaRPr lang="en-HK" dirty="0"/>
          </a:p>
          <a:p>
            <a:pPr lvl="1"/>
            <a:r>
              <a:rPr lang="en-US" dirty="0"/>
              <a:t>Embedding</a:t>
            </a:r>
            <a:endParaRPr lang="en-HK" dirty="0"/>
          </a:p>
          <a:p>
            <a:pPr lvl="1"/>
            <a:r>
              <a:rPr lang="en-US" dirty="0"/>
              <a:t>Vector Search</a:t>
            </a:r>
            <a:endParaRPr lang="en-HK" dirty="0"/>
          </a:p>
          <a:p>
            <a:pPr lvl="1"/>
            <a:r>
              <a:rPr lang="en-US" dirty="0"/>
              <a:t>Vector Database</a:t>
            </a:r>
            <a:endParaRPr lang="en-HK" dirty="0"/>
          </a:p>
          <a:p>
            <a:pPr lvl="1"/>
            <a:r>
              <a:rPr lang="en-US" dirty="0"/>
              <a:t>Reranking</a:t>
            </a:r>
            <a:endParaRPr lang="en-HK" dirty="0"/>
          </a:p>
          <a:p>
            <a:pPr lvl="0"/>
            <a:r>
              <a:rPr lang="en-US" dirty="0"/>
              <a:t>Agents</a:t>
            </a:r>
            <a:endParaRPr lang="en-HK" dirty="0"/>
          </a:p>
          <a:p>
            <a:pPr lvl="1"/>
            <a:r>
              <a:rPr lang="en-US" dirty="0"/>
              <a:t>Microsoft Foundry</a:t>
            </a:r>
            <a:endParaRPr lang="en-HK" dirty="0"/>
          </a:p>
          <a:p>
            <a:pPr lvl="0"/>
            <a:r>
              <a:rPr lang="en-US" dirty="0"/>
              <a:t>Fine-Tuning LLMs</a:t>
            </a:r>
          </a:p>
          <a:p>
            <a:pPr lvl="0"/>
            <a:r>
              <a:rPr lang="en-US" dirty="0"/>
              <a:t>Vibe Coding</a:t>
            </a:r>
            <a:endParaRPr lang="en-HK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3CB0E-E388-8A42-CAC5-6A4528D9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HK" smtClean="0"/>
              <a:t>20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58746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27702</TotalTime>
  <Words>1129</Words>
  <Application>Microsoft Macintosh PowerPoint</Application>
  <PresentationFormat>Widescreen</PresentationFormat>
  <Paragraphs>194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Introduction to LLM</vt:lpstr>
      <vt:lpstr>Course Information</vt:lpstr>
      <vt:lpstr>Contact Me</vt:lpstr>
      <vt:lpstr>Course Information</vt:lpstr>
      <vt:lpstr>Utilisation of AI Tools</vt:lpstr>
      <vt:lpstr>Course Information</vt:lpstr>
      <vt:lpstr>In-class Individual Presentation</vt:lpstr>
      <vt:lpstr>Sample Ideas for Individual Presentations</vt:lpstr>
      <vt:lpstr>Course Information</vt:lpstr>
      <vt:lpstr>Course Information</vt:lpstr>
      <vt:lpstr>Group Project</vt:lpstr>
      <vt:lpstr>Group Project Ideas</vt:lpstr>
      <vt:lpstr>1. AI-generated Financial Analyst Reports</vt:lpstr>
      <vt:lpstr>2. Competitive Intelligence for Master Programs</vt:lpstr>
      <vt:lpstr>3. Agent‑Based Intelligent Travel Planner</vt:lpstr>
      <vt:lpstr>Group Project Proposal</vt:lpstr>
      <vt:lpstr>Group Project Report</vt:lpstr>
      <vt:lpstr>Purposes of Each Assessment</vt:lpstr>
      <vt:lpstr>Topics</vt:lpstr>
      <vt:lpstr>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Mining</dc:title>
  <dc:creator>Hailiang Chen</dc:creator>
  <cp:lastModifiedBy>Hailiang Chen</cp:lastModifiedBy>
  <cp:revision>811</cp:revision>
  <dcterms:created xsi:type="dcterms:W3CDTF">2021-01-12T07:59:56Z</dcterms:created>
  <dcterms:modified xsi:type="dcterms:W3CDTF">2026-04-07T09:26:29Z</dcterms:modified>
</cp:coreProperties>
</file>