
<file path=[Content_Types].xml><?xml version="1.0" encoding="utf-8"?>
<Types xmlns="http://schemas.openxmlformats.org/package/2006/content-types">
  <Default Extension="jpeg" ContentType="image/jpeg"/>
  <Default Extension="JPG" ContentType="image/.jpg"/>
  <Default Extension="tiff" ContentType="image/tif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56" r:id="rId3"/>
    <p:sldId id="1028" r:id="rId4"/>
    <p:sldId id="15077842" r:id="rId6"/>
    <p:sldId id="15077843" r:id="rId7"/>
    <p:sldId id="15077846" r:id="rId8"/>
    <p:sldId id="15077844" r:id="rId9"/>
    <p:sldId id="15077845" r:id="rId10"/>
    <p:sldId id="15077860" r:id="rId11"/>
    <p:sldId id="15077848" r:id="rId12"/>
    <p:sldId id="15077852" r:id="rId13"/>
    <p:sldId id="15077867" r:id="rId14"/>
    <p:sldId id="15077849" r:id="rId15"/>
    <p:sldId id="15077850" r:id="rId16"/>
    <p:sldId id="15077851" r:id="rId17"/>
    <p:sldId id="15077854" r:id="rId18"/>
    <p:sldId id="15077853" r:id="rId19"/>
    <p:sldId id="15077855" r:id="rId20"/>
    <p:sldId id="15077862" r:id="rId21"/>
    <p:sldId id="15077866" r:id="rId22"/>
    <p:sldId id="15077863" r:id="rId23"/>
    <p:sldId id="15077864" r:id="rId24"/>
    <p:sldId id="15077847" r:id="rId25"/>
    <p:sldId id="15077861" r:id="rId26"/>
    <p:sldId id="15077875" r:id="rId27"/>
    <p:sldId id="15077841" r:id="rId28"/>
    <p:sldId id="15077868" r:id="rId29"/>
    <p:sldId id="15077869" r:id="rId30"/>
    <p:sldId id="15077871" r:id="rId31"/>
    <p:sldId id="15077872" r:id="rId32"/>
    <p:sldId id="15077874" r:id="rId33"/>
    <p:sldId id="15077873" r:id="rId34"/>
    <p:sldId id="15077870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DD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4"/>
    <p:restoredTop sz="81911"/>
  </p:normalViewPr>
  <p:slideViewPr>
    <p:cSldViewPr snapToGrid="0" snapToObjects="1">
      <p:cViewPr varScale="1">
        <p:scale>
          <a:sx n="112" d="100"/>
          <a:sy n="112" d="100"/>
        </p:scale>
        <p:origin x="325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1F90DC-8F11-9C49-93A1-CA0FB7CB3B1F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GB"/>
        </a:p>
      </dgm:t>
    </dgm:pt>
    <dgm:pt modelId="{58519AA2-5FC4-F844-A851-C1784DAC7370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en-US" sz="3200" b="0" i="0" dirty="0"/>
            <a:t>Input Parsing</a:t>
          </a:r>
          <a:endParaRPr lang="en-GB" sz="3200" dirty="0"/>
        </a:p>
      </dgm:t>
    </dgm:pt>
    <dgm:pt modelId="{61EA76E2-89A0-0C4D-9833-E8BD2AEF7AF4}" cxnId="{0289165E-77E8-2547-B769-CF94A93FB37E}" type="parTrans">
      <dgm:prSet/>
      <dgm:spPr/>
      <dgm:t>
        <a:bodyPr/>
        <a:lstStyle/>
        <a:p>
          <a:endParaRPr lang="en-GB" sz="3200"/>
        </a:p>
      </dgm:t>
    </dgm:pt>
    <dgm:pt modelId="{68D8BE6A-1320-8241-AB61-D50E0CF43458}" cxnId="{0289165E-77E8-2547-B769-CF94A93FB37E}" type="sibTrans">
      <dgm:prSet custT="1"/>
      <dgm:spPr/>
      <dgm:t>
        <a:bodyPr/>
        <a:lstStyle/>
        <a:p>
          <a:endParaRPr lang="en-GB" sz="3200"/>
        </a:p>
      </dgm:t>
    </dgm:pt>
    <dgm:pt modelId="{B507BBFF-6B0C-774A-ADDC-E70D92AD492E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3200" b="0" i="0"/>
            <a:t>Function Identification</a:t>
          </a:r>
        </a:p>
      </dgm:t>
    </dgm:pt>
    <dgm:pt modelId="{BF582574-C74A-BD4E-9969-32EC049E12B9}" cxnId="{6A32398C-B72F-3F45-9EBB-81813D6D6C6D}" type="parTrans">
      <dgm:prSet/>
      <dgm:spPr/>
      <dgm:t>
        <a:bodyPr/>
        <a:lstStyle/>
        <a:p>
          <a:endParaRPr lang="en-GB" sz="3200"/>
        </a:p>
      </dgm:t>
    </dgm:pt>
    <dgm:pt modelId="{7076F4A2-D703-444D-A4FC-3E5B499B19E2}" cxnId="{6A32398C-B72F-3F45-9EBB-81813D6D6C6D}" type="sibTrans">
      <dgm:prSet custT="1"/>
      <dgm:spPr/>
      <dgm:t>
        <a:bodyPr/>
        <a:lstStyle/>
        <a:p>
          <a:endParaRPr lang="en-GB" sz="3200"/>
        </a:p>
      </dgm:t>
    </dgm:pt>
    <dgm:pt modelId="{58744F00-C766-E74A-AB4D-5CFE44C4A7D2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3200" b="0" i="0"/>
            <a:t>Parameter Extraction</a:t>
          </a:r>
        </a:p>
      </dgm:t>
    </dgm:pt>
    <dgm:pt modelId="{3A8BD1D7-1C3F-EA4F-BE02-EB87A760A192}" cxnId="{A5A4C451-0617-7E41-80A1-361CC55EF68D}" type="parTrans">
      <dgm:prSet/>
      <dgm:spPr/>
      <dgm:t>
        <a:bodyPr/>
        <a:lstStyle/>
        <a:p>
          <a:endParaRPr lang="en-GB" sz="3200"/>
        </a:p>
      </dgm:t>
    </dgm:pt>
    <dgm:pt modelId="{8C7A74F5-F9F7-1E4D-B549-0B32B507B566}" cxnId="{A5A4C451-0617-7E41-80A1-361CC55EF68D}" type="sibTrans">
      <dgm:prSet custT="1"/>
      <dgm:spPr/>
      <dgm:t>
        <a:bodyPr/>
        <a:lstStyle/>
        <a:p>
          <a:endParaRPr lang="en-GB" sz="3200"/>
        </a:p>
      </dgm:t>
    </dgm:pt>
    <dgm:pt modelId="{66641D49-8282-3142-9A27-1570ECE4D246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3200" b="0" i="0"/>
            <a:t>Function Invocation</a:t>
          </a:r>
        </a:p>
      </dgm:t>
    </dgm:pt>
    <dgm:pt modelId="{A6247694-03C7-ED4A-8BB2-3835532AC5CE}" cxnId="{1E33EA12-63FB-7646-891D-B0704C838B3C}" type="parTrans">
      <dgm:prSet/>
      <dgm:spPr/>
      <dgm:t>
        <a:bodyPr/>
        <a:lstStyle/>
        <a:p>
          <a:endParaRPr lang="en-GB" sz="3200"/>
        </a:p>
      </dgm:t>
    </dgm:pt>
    <dgm:pt modelId="{BA61EC29-EF7A-754F-8D3C-A5D466ECE93A}" cxnId="{1E33EA12-63FB-7646-891D-B0704C838B3C}" type="sibTrans">
      <dgm:prSet custT="1"/>
      <dgm:spPr/>
      <dgm:t>
        <a:bodyPr/>
        <a:lstStyle/>
        <a:p>
          <a:endParaRPr lang="en-GB" sz="3200"/>
        </a:p>
      </dgm:t>
    </dgm:pt>
    <dgm:pt modelId="{784191D6-B8B2-724C-9C3C-3BF963FF1639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3200" b="0" i="0"/>
            <a:t>Output Generation</a:t>
          </a:r>
        </a:p>
      </dgm:t>
    </dgm:pt>
    <dgm:pt modelId="{92ED40E3-C551-5447-BD8B-4EBB9E407B55}" cxnId="{6FFA1C01-EA4D-5945-A87E-FA84DD9E2605}" type="parTrans">
      <dgm:prSet/>
      <dgm:spPr/>
      <dgm:t>
        <a:bodyPr/>
        <a:lstStyle/>
        <a:p>
          <a:endParaRPr lang="en-GB" sz="3200"/>
        </a:p>
      </dgm:t>
    </dgm:pt>
    <dgm:pt modelId="{BD464422-6111-1F4C-82DA-22DE09C7923E}" cxnId="{6FFA1C01-EA4D-5945-A87E-FA84DD9E2605}" type="sibTrans">
      <dgm:prSet custT="1"/>
      <dgm:spPr/>
      <dgm:t>
        <a:bodyPr/>
        <a:lstStyle/>
        <a:p>
          <a:endParaRPr lang="en-GB" sz="3200"/>
        </a:p>
      </dgm:t>
    </dgm:pt>
    <dgm:pt modelId="{A428AE8B-C866-B144-BE0E-74059DA2B6AD}">
      <dgm:prSet custT="1"/>
      <dgm:spPr/>
      <dgm:t>
        <a:bodyPr/>
        <a:lstStyle/>
        <a:p>
          <a:pPr>
            <a:buFont typeface="+mj-lt"/>
            <a:buAutoNum type="arabicPeriod"/>
          </a:pPr>
          <a:r>
            <a:rPr lang="en-US" sz="3200" b="0" i="0"/>
            <a:t>Context Management</a:t>
          </a:r>
        </a:p>
      </dgm:t>
    </dgm:pt>
    <dgm:pt modelId="{ED8B8CF8-D09A-4A40-A9C6-402B8DC187CB}" cxnId="{49BFA0E9-1137-0943-A5F9-33AD7213E2EE}" type="parTrans">
      <dgm:prSet/>
      <dgm:spPr/>
      <dgm:t>
        <a:bodyPr/>
        <a:lstStyle/>
        <a:p>
          <a:endParaRPr lang="en-GB" sz="3200"/>
        </a:p>
      </dgm:t>
    </dgm:pt>
    <dgm:pt modelId="{91FCEE6B-82DA-2740-BBD6-02EF2F151B5E}" cxnId="{49BFA0E9-1137-0943-A5F9-33AD7213E2EE}" type="sibTrans">
      <dgm:prSet/>
      <dgm:spPr/>
      <dgm:t>
        <a:bodyPr/>
        <a:lstStyle/>
        <a:p>
          <a:endParaRPr lang="en-GB" sz="3200"/>
        </a:p>
      </dgm:t>
    </dgm:pt>
    <dgm:pt modelId="{9357FEBC-A171-E64D-96C4-F8C05E6C3A7C}" type="pres">
      <dgm:prSet presAssocID="{DC1F90DC-8F11-9C49-93A1-CA0FB7CB3B1F}" presName="diagram" presStyleCnt="0">
        <dgm:presLayoutVars>
          <dgm:dir/>
          <dgm:resizeHandles val="exact"/>
        </dgm:presLayoutVars>
      </dgm:prSet>
      <dgm:spPr/>
    </dgm:pt>
    <dgm:pt modelId="{565A6397-1050-4E4B-92D7-E7F31864EA71}" type="pres">
      <dgm:prSet presAssocID="{58519AA2-5FC4-F844-A851-C1784DAC7370}" presName="node" presStyleLbl="node1" presStyleIdx="0" presStyleCnt="6">
        <dgm:presLayoutVars>
          <dgm:bulletEnabled val="1"/>
        </dgm:presLayoutVars>
      </dgm:prSet>
      <dgm:spPr/>
    </dgm:pt>
    <dgm:pt modelId="{2B043DB4-0D3C-AA42-A37A-0AF39C47679B}" type="pres">
      <dgm:prSet presAssocID="{68D8BE6A-1320-8241-AB61-D50E0CF43458}" presName="sibTrans" presStyleLbl="sibTrans2D1" presStyleIdx="0" presStyleCnt="5"/>
      <dgm:spPr/>
    </dgm:pt>
    <dgm:pt modelId="{D332248F-F6FC-2D41-969E-5522359FA946}" type="pres">
      <dgm:prSet presAssocID="{68D8BE6A-1320-8241-AB61-D50E0CF43458}" presName="connectorText" presStyleLbl="sibTrans2D1" presStyleIdx="0" presStyleCnt="5"/>
      <dgm:spPr/>
    </dgm:pt>
    <dgm:pt modelId="{9FFB2F16-52AE-5C49-A343-59749A699F20}" type="pres">
      <dgm:prSet presAssocID="{B507BBFF-6B0C-774A-ADDC-E70D92AD492E}" presName="node" presStyleLbl="node1" presStyleIdx="1" presStyleCnt="6">
        <dgm:presLayoutVars>
          <dgm:bulletEnabled val="1"/>
        </dgm:presLayoutVars>
      </dgm:prSet>
      <dgm:spPr/>
    </dgm:pt>
    <dgm:pt modelId="{70F237ED-86E9-BC46-804E-21C791FB9F3C}" type="pres">
      <dgm:prSet presAssocID="{7076F4A2-D703-444D-A4FC-3E5B499B19E2}" presName="sibTrans" presStyleLbl="sibTrans2D1" presStyleIdx="1" presStyleCnt="5"/>
      <dgm:spPr/>
    </dgm:pt>
    <dgm:pt modelId="{E2FD2AB2-5600-B142-8FD3-9CF63BB92517}" type="pres">
      <dgm:prSet presAssocID="{7076F4A2-D703-444D-A4FC-3E5B499B19E2}" presName="connectorText" presStyleLbl="sibTrans2D1" presStyleIdx="1" presStyleCnt="5"/>
      <dgm:spPr/>
    </dgm:pt>
    <dgm:pt modelId="{CB5A2B34-5871-9A48-8BCD-D4A8177C9D18}" type="pres">
      <dgm:prSet presAssocID="{58744F00-C766-E74A-AB4D-5CFE44C4A7D2}" presName="node" presStyleLbl="node1" presStyleIdx="2" presStyleCnt="6">
        <dgm:presLayoutVars>
          <dgm:bulletEnabled val="1"/>
        </dgm:presLayoutVars>
      </dgm:prSet>
      <dgm:spPr/>
    </dgm:pt>
    <dgm:pt modelId="{650BAC70-C53F-024E-A8D1-6311056F148F}" type="pres">
      <dgm:prSet presAssocID="{8C7A74F5-F9F7-1E4D-B549-0B32B507B566}" presName="sibTrans" presStyleLbl="sibTrans2D1" presStyleIdx="2" presStyleCnt="5"/>
      <dgm:spPr/>
    </dgm:pt>
    <dgm:pt modelId="{FCF3F7AC-C3FC-D446-A70B-7CCA92AA196F}" type="pres">
      <dgm:prSet presAssocID="{8C7A74F5-F9F7-1E4D-B549-0B32B507B566}" presName="connectorText" presStyleLbl="sibTrans2D1" presStyleIdx="2" presStyleCnt="5"/>
      <dgm:spPr/>
    </dgm:pt>
    <dgm:pt modelId="{3018C177-48B9-214E-AB9D-24B2873E2CDA}" type="pres">
      <dgm:prSet presAssocID="{66641D49-8282-3142-9A27-1570ECE4D246}" presName="node" presStyleLbl="node1" presStyleIdx="3" presStyleCnt="6">
        <dgm:presLayoutVars>
          <dgm:bulletEnabled val="1"/>
        </dgm:presLayoutVars>
      </dgm:prSet>
      <dgm:spPr/>
    </dgm:pt>
    <dgm:pt modelId="{2C434086-EA41-2D4A-B1F3-8AD817650FCC}" type="pres">
      <dgm:prSet presAssocID="{BA61EC29-EF7A-754F-8D3C-A5D466ECE93A}" presName="sibTrans" presStyleLbl="sibTrans2D1" presStyleIdx="3" presStyleCnt="5"/>
      <dgm:spPr/>
    </dgm:pt>
    <dgm:pt modelId="{37C4704A-A400-F647-82BE-AC132D558D2C}" type="pres">
      <dgm:prSet presAssocID="{BA61EC29-EF7A-754F-8D3C-A5D466ECE93A}" presName="connectorText" presStyleLbl="sibTrans2D1" presStyleIdx="3" presStyleCnt="5"/>
      <dgm:spPr/>
    </dgm:pt>
    <dgm:pt modelId="{6967AF90-866C-6C4F-A357-05E9C36D97DF}" type="pres">
      <dgm:prSet presAssocID="{784191D6-B8B2-724C-9C3C-3BF963FF1639}" presName="node" presStyleLbl="node1" presStyleIdx="4" presStyleCnt="6">
        <dgm:presLayoutVars>
          <dgm:bulletEnabled val="1"/>
        </dgm:presLayoutVars>
      </dgm:prSet>
      <dgm:spPr/>
    </dgm:pt>
    <dgm:pt modelId="{1986F87F-B50B-A441-B475-16F4BD16AADC}" type="pres">
      <dgm:prSet presAssocID="{BD464422-6111-1F4C-82DA-22DE09C7923E}" presName="sibTrans" presStyleLbl="sibTrans2D1" presStyleIdx="4" presStyleCnt="5"/>
      <dgm:spPr/>
    </dgm:pt>
    <dgm:pt modelId="{330A7119-A0E3-0B4F-8C05-BC22A05AC889}" type="pres">
      <dgm:prSet presAssocID="{BD464422-6111-1F4C-82DA-22DE09C7923E}" presName="connectorText" presStyleLbl="sibTrans2D1" presStyleIdx="4" presStyleCnt="5"/>
      <dgm:spPr/>
    </dgm:pt>
    <dgm:pt modelId="{AF0EB39D-15F6-3E46-AD14-5FBD1571A717}" type="pres">
      <dgm:prSet presAssocID="{A428AE8B-C866-B144-BE0E-74059DA2B6AD}" presName="node" presStyleLbl="node1" presStyleIdx="5" presStyleCnt="6">
        <dgm:presLayoutVars>
          <dgm:bulletEnabled val="1"/>
        </dgm:presLayoutVars>
      </dgm:prSet>
      <dgm:spPr/>
    </dgm:pt>
  </dgm:ptLst>
  <dgm:cxnLst>
    <dgm:cxn modelId="{6FFA1C01-EA4D-5945-A87E-FA84DD9E2605}" srcId="{DC1F90DC-8F11-9C49-93A1-CA0FB7CB3B1F}" destId="{784191D6-B8B2-724C-9C3C-3BF963FF1639}" srcOrd="4" destOrd="0" parTransId="{92ED40E3-C551-5447-BD8B-4EBB9E407B55}" sibTransId="{BD464422-6111-1F4C-82DA-22DE09C7923E}"/>
    <dgm:cxn modelId="{1E33EA12-63FB-7646-891D-B0704C838B3C}" srcId="{DC1F90DC-8F11-9C49-93A1-CA0FB7CB3B1F}" destId="{66641D49-8282-3142-9A27-1570ECE4D246}" srcOrd="3" destOrd="0" parTransId="{A6247694-03C7-ED4A-8BB2-3835532AC5CE}" sibTransId="{BA61EC29-EF7A-754F-8D3C-A5D466ECE93A}"/>
    <dgm:cxn modelId="{EDC4931B-E029-2F41-B95D-5D0AAAFCB241}" type="presOf" srcId="{8C7A74F5-F9F7-1E4D-B549-0B32B507B566}" destId="{650BAC70-C53F-024E-A8D1-6311056F148F}" srcOrd="0" destOrd="0" presId="urn:microsoft.com/office/officeart/2005/8/layout/process5"/>
    <dgm:cxn modelId="{BAFB3E2D-6669-8D41-9131-4BDBBE0C8D8F}" type="presOf" srcId="{7076F4A2-D703-444D-A4FC-3E5B499B19E2}" destId="{70F237ED-86E9-BC46-804E-21C791FB9F3C}" srcOrd="0" destOrd="0" presId="urn:microsoft.com/office/officeart/2005/8/layout/process5"/>
    <dgm:cxn modelId="{F00FAB2E-2ACC-474E-B273-83588CFFBB45}" type="presOf" srcId="{66641D49-8282-3142-9A27-1570ECE4D246}" destId="{3018C177-48B9-214E-AB9D-24B2873E2CDA}" srcOrd="0" destOrd="0" presId="urn:microsoft.com/office/officeart/2005/8/layout/process5"/>
    <dgm:cxn modelId="{78BB5E51-F8F6-004F-B0C9-884D69BC3AB8}" type="presOf" srcId="{58519AA2-5FC4-F844-A851-C1784DAC7370}" destId="{565A6397-1050-4E4B-92D7-E7F31864EA71}" srcOrd="0" destOrd="0" presId="urn:microsoft.com/office/officeart/2005/8/layout/process5"/>
    <dgm:cxn modelId="{A5A4C451-0617-7E41-80A1-361CC55EF68D}" srcId="{DC1F90DC-8F11-9C49-93A1-CA0FB7CB3B1F}" destId="{58744F00-C766-E74A-AB4D-5CFE44C4A7D2}" srcOrd="2" destOrd="0" parTransId="{3A8BD1D7-1C3F-EA4F-BE02-EB87A760A192}" sibTransId="{8C7A74F5-F9F7-1E4D-B549-0B32B507B566}"/>
    <dgm:cxn modelId="{0289165E-77E8-2547-B769-CF94A93FB37E}" srcId="{DC1F90DC-8F11-9C49-93A1-CA0FB7CB3B1F}" destId="{58519AA2-5FC4-F844-A851-C1784DAC7370}" srcOrd="0" destOrd="0" parTransId="{61EA76E2-89A0-0C4D-9833-E8BD2AEF7AF4}" sibTransId="{68D8BE6A-1320-8241-AB61-D50E0CF43458}"/>
    <dgm:cxn modelId="{F4C2AA5F-6644-5B40-98C1-712EFDF6AFAA}" type="presOf" srcId="{BD464422-6111-1F4C-82DA-22DE09C7923E}" destId="{330A7119-A0E3-0B4F-8C05-BC22A05AC889}" srcOrd="1" destOrd="0" presId="urn:microsoft.com/office/officeart/2005/8/layout/process5"/>
    <dgm:cxn modelId="{6E2CC788-D2AF-8941-B136-2DA4799C6C8E}" type="presOf" srcId="{DC1F90DC-8F11-9C49-93A1-CA0FB7CB3B1F}" destId="{9357FEBC-A171-E64D-96C4-F8C05E6C3A7C}" srcOrd="0" destOrd="0" presId="urn:microsoft.com/office/officeart/2005/8/layout/process5"/>
    <dgm:cxn modelId="{6A32398C-B72F-3F45-9EBB-81813D6D6C6D}" srcId="{DC1F90DC-8F11-9C49-93A1-CA0FB7CB3B1F}" destId="{B507BBFF-6B0C-774A-ADDC-E70D92AD492E}" srcOrd="1" destOrd="0" parTransId="{BF582574-C74A-BD4E-9969-32EC049E12B9}" sibTransId="{7076F4A2-D703-444D-A4FC-3E5B499B19E2}"/>
    <dgm:cxn modelId="{6CC18C9C-FF0E-174F-AEB9-EA2957E52257}" type="presOf" srcId="{BA61EC29-EF7A-754F-8D3C-A5D466ECE93A}" destId="{37C4704A-A400-F647-82BE-AC132D558D2C}" srcOrd="1" destOrd="0" presId="urn:microsoft.com/office/officeart/2005/8/layout/process5"/>
    <dgm:cxn modelId="{CB855EA9-6FF7-FB4D-8EE0-BF783D4C7B36}" type="presOf" srcId="{B507BBFF-6B0C-774A-ADDC-E70D92AD492E}" destId="{9FFB2F16-52AE-5C49-A343-59749A699F20}" srcOrd="0" destOrd="0" presId="urn:microsoft.com/office/officeart/2005/8/layout/process5"/>
    <dgm:cxn modelId="{07A836AE-99F1-1549-BA4C-9B4418809E00}" type="presOf" srcId="{58744F00-C766-E74A-AB4D-5CFE44C4A7D2}" destId="{CB5A2B34-5871-9A48-8BCD-D4A8177C9D18}" srcOrd="0" destOrd="0" presId="urn:microsoft.com/office/officeart/2005/8/layout/process5"/>
    <dgm:cxn modelId="{FF5E88B9-27FB-8E48-BF98-C91E9B883279}" type="presOf" srcId="{68D8BE6A-1320-8241-AB61-D50E0CF43458}" destId="{2B043DB4-0D3C-AA42-A37A-0AF39C47679B}" srcOrd="0" destOrd="0" presId="urn:microsoft.com/office/officeart/2005/8/layout/process5"/>
    <dgm:cxn modelId="{605968BC-33DF-2048-9F49-2C4486D14A00}" type="presOf" srcId="{68D8BE6A-1320-8241-AB61-D50E0CF43458}" destId="{D332248F-F6FC-2D41-969E-5522359FA946}" srcOrd="1" destOrd="0" presId="urn:microsoft.com/office/officeart/2005/8/layout/process5"/>
    <dgm:cxn modelId="{967EF3C5-421C-4E43-9318-492DA3776F69}" type="presOf" srcId="{BD464422-6111-1F4C-82DA-22DE09C7923E}" destId="{1986F87F-B50B-A441-B475-16F4BD16AADC}" srcOrd="0" destOrd="0" presId="urn:microsoft.com/office/officeart/2005/8/layout/process5"/>
    <dgm:cxn modelId="{818D60D8-2BF9-9A4C-8F74-B4B18E4EC851}" type="presOf" srcId="{A428AE8B-C866-B144-BE0E-74059DA2B6AD}" destId="{AF0EB39D-15F6-3E46-AD14-5FBD1571A717}" srcOrd="0" destOrd="0" presId="urn:microsoft.com/office/officeart/2005/8/layout/process5"/>
    <dgm:cxn modelId="{7D2CF1DF-A911-224C-BDBC-D2DEF95FE246}" type="presOf" srcId="{7076F4A2-D703-444D-A4FC-3E5B499B19E2}" destId="{E2FD2AB2-5600-B142-8FD3-9CF63BB92517}" srcOrd="1" destOrd="0" presId="urn:microsoft.com/office/officeart/2005/8/layout/process5"/>
    <dgm:cxn modelId="{49BFA0E9-1137-0943-A5F9-33AD7213E2EE}" srcId="{DC1F90DC-8F11-9C49-93A1-CA0FB7CB3B1F}" destId="{A428AE8B-C866-B144-BE0E-74059DA2B6AD}" srcOrd="5" destOrd="0" parTransId="{ED8B8CF8-D09A-4A40-A9C6-402B8DC187CB}" sibTransId="{91FCEE6B-82DA-2740-BBD6-02EF2F151B5E}"/>
    <dgm:cxn modelId="{1DC906EA-BF7E-224F-8AB9-381862FADEA4}" type="presOf" srcId="{784191D6-B8B2-724C-9C3C-3BF963FF1639}" destId="{6967AF90-866C-6C4F-A357-05E9C36D97DF}" srcOrd="0" destOrd="0" presId="urn:microsoft.com/office/officeart/2005/8/layout/process5"/>
    <dgm:cxn modelId="{2BF983F1-6954-CA4E-86AB-9A6CD5F70129}" type="presOf" srcId="{8C7A74F5-F9F7-1E4D-B549-0B32B507B566}" destId="{FCF3F7AC-C3FC-D446-A70B-7CCA92AA196F}" srcOrd="1" destOrd="0" presId="urn:microsoft.com/office/officeart/2005/8/layout/process5"/>
    <dgm:cxn modelId="{2A3297FC-89EC-1E44-86A5-828CF374EDDB}" type="presOf" srcId="{BA61EC29-EF7A-754F-8D3C-A5D466ECE93A}" destId="{2C434086-EA41-2D4A-B1F3-8AD817650FCC}" srcOrd="0" destOrd="0" presId="urn:microsoft.com/office/officeart/2005/8/layout/process5"/>
    <dgm:cxn modelId="{BBC21AD2-348D-B049-8FD8-EA819CB5E4F2}" type="presParOf" srcId="{9357FEBC-A171-E64D-96C4-F8C05E6C3A7C}" destId="{565A6397-1050-4E4B-92D7-E7F31864EA71}" srcOrd="0" destOrd="0" presId="urn:microsoft.com/office/officeart/2005/8/layout/process5"/>
    <dgm:cxn modelId="{A88FD135-2A81-C84A-A0A9-9FAE94C2D6C4}" type="presParOf" srcId="{9357FEBC-A171-E64D-96C4-F8C05E6C3A7C}" destId="{2B043DB4-0D3C-AA42-A37A-0AF39C47679B}" srcOrd="1" destOrd="0" presId="urn:microsoft.com/office/officeart/2005/8/layout/process5"/>
    <dgm:cxn modelId="{EDCC1929-A8A7-5144-8AD2-F4A0F0233839}" type="presParOf" srcId="{2B043DB4-0D3C-AA42-A37A-0AF39C47679B}" destId="{D332248F-F6FC-2D41-969E-5522359FA946}" srcOrd="0" destOrd="0" presId="urn:microsoft.com/office/officeart/2005/8/layout/process5"/>
    <dgm:cxn modelId="{6FEC0D76-180B-A245-BF2E-8F0C99B9120A}" type="presParOf" srcId="{9357FEBC-A171-E64D-96C4-F8C05E6C3A7C}" destId="{9FFB2F16-52AE-5C49-A343-59749A699F20}" srcOrd="2" destOrd="0" presId="urn:microsoft.com/office/officeart/2005/8/layout/process5"/>
    <dgm:cxn modelId="{A72A8A5A-B841-4D4D-A9D1-B4FEBC667A47}" type="presParOf" srcId="{9357FEBC-A171-E64D-96C4-F8C05E6C3A7C}" destId="{70F237ED-86E9-BC46-804E-21C791FB9F3C}" srcOrd="3" destOrd="0" presId="urn:microsoft.com/office/officeart/2005/8/layout/process5"/>
    <dgm:cxn modelId="{06720D41-748D-E944-8CB3-F57E4D2DF673}" type="presParOf" srcId="{70F237ED-86E9-BC46-804E-21C791FB9F3C}" destId="{E2FD2AB2-5600-B142-8FD3-9CF63BB92517}" srcOrd="0" destOrd="0" presId="urn:microsoft.com/office/officeart/2005/8/layout/process5"/>
    <dgm:cxn modelId="{A3060814-4D6F-1B45-A6E8-B3546D832E2A}" type="presParOf" srcId="{9357FEBC-A171-E64D-96C4-F8C05E6C3A7C}" destId="{CB5A2B34-5871-9A48-8BCD-D4A8177C9D18}" srcOrd="4" destOrd="0" presId="urn:microsoft.com/office/officeart/2005/8/layout/process5"/>
    <dgm:cxn modelId="{76ACC72D-72B3-4842-8CEF-B712CE996D30}" type="presParOf" srcId="{9357FEBC-A171-E64D-96C4-F8C05E6C3A7C}" destId="{650BAC70-C53F-024E-A8D1-6311056F148F}" srcOrd="5" destOrd="0" presId="urn:microsoft.com/office/officeart/2005/8/layout/process5"/>
    <dgm:cxn modelId="{56865336-0209-2D4B-980B-B6298BA092C9}" type="presParOf" srcId="{650BAC70-C53F-024E-A8D1-6311056F148F}" destId="{FCF3F7AC-C3FC-D446-A70B-7CCA92AA196F}" srcOrd="0" destOrd="0" presId="urn:microsoft.com/office/officeart/2005/8/layout/process5"/>
    <dgm:cxn modelId="{3610645E-525D-5844-81B7-65B2180A7BB2}" type="presParOf" srcId="{9357FEBC-A171-E64D-96C4-F8C05E6C3A7C}" destId="{3018C177-48B9-214E-AB9D-24B2873E2CDA}" srcOrd="6" destOrd="0" presId="urn:microsoft.com/office/officeart/2005/8/layout/process5"/>
    <dgm:cxn modelId="{37553FEB-92FB-9D47-B659-BD00D263D264}" type="presParOf" srcId="{9357FEBC-A171-E64D-96C4-F8C05E6C3A7C}" destId="{2C434086-EA41-2D4A-B1F3-8AD817650FCC}" srcOrd="7" destOrd="0" presId="urn:microsoft.com/office/officeart/2005/8/layout/process5"/>
    <dgm:cxn modelId="{9A034E71-0A31-9549-86AD-F0E66582DF77}" type="presParOf" srcId="{2C434086-EA41-2D4A-B1F3-8AD817650FCC}" destId="{37C4704A-A400-F647-82BE-AC132D558D2C}" srcOrd="0" destOrd="0" presId="urn:microsoft.com/office/officeart/2005/8/layout/process5"/>
    <dgm:cxn modelId="{57DAA738-BFFD-7E4D-92D4-CF47F996C487}" type="presParOf" srcId="{9357FEBC-A171-E64D-96C4-F8C05E6C3A7C}" destId="{6967AF90-866C-6C4F-A357-05E9C36D97DF}" srcOrd="8" destOrd="0" presId="urn:microsoft.com/office/officeart/2005/8/layout/process5"/>
    <dgm:cxn modelId="{7D780B50-D7DC-6D44-B991-96BA1EA354ED}" type="presParOf" srcId="{9357FEBC-A171-E64D-96C4-F8C05E6C3A7C}" destId="{1986F87F-B50B-A441-B475-16F4BD16AADC}" srcOrd="9" destOrd="0" presId="urn:microsoft.com/office/officeart/2005/8/layout/process5"/>
    <dgm:cxn modelId="{CE1A9852-FF93-BF40-9D23-E9504D7DC7A0}" type="presParOf" srcId="{1986F87F-B50B-A441-B475-16F4BD16AADC}" destId="{330A7119-A0E3-0B4F-8C05-BC22A05AC889}" srcOrd="0" destOrd="0" presId="urn:microsoft.com/office/officeart/2005/8/layout/process5"/>
    <dgm:cxn modelId="{48760A49-88C2-934C-BC3B-0A7F1B1578A2}" type="presParOf" srcId="{9357FEBC-A171-E64D-96C4-F8C05E6C3A7C}" destId="{AF0EB39D-15F6-3E46-AD14-5FBD1571A717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0515600" cy="4351338"/>
        <a:chOff x="0" y="0"/>
        <a:chExt cx="10515600" cy="4351338"/>
      </a:xfrm>
    </dsp:grpSpPr>
    <dsp:sp modelId="{565A6397-1050-4E4B-92D7-E7F31864EA71}">
      <dsp:nvSpPr>
        <dsp:cNvPr id="3" name="圆角矩形 2"/>
        <dsp:cNvSpPr/>
      </dsp:nvSpPr>
      <dsp:spPr bwMode="white">
        <a:xfrm>
          <a:off x="97043" y="1435"/>
          <a:ext cx="2718755" cy="163125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3200" b="0" i="0" dirty="0"/>
            <a:t>Input Parsing</a:t>
          </a:r>
          <a:endParaRPr lang="en-GB" sz="3200" dirty="0"/>
        </a:p>
      </dsp:txBody>
      <dsp:txXfrm>
        <a:off x="97043" y="1435"/>
        <a:ext cx="2718755" cy="1631253"/>
      </dsp:txXfrm>
    </dsp:sp>
    <dsp:sp modelId="{2B043DB4-0D3C-AA42-A37A-0AF39C47679B}">
      <dsp:nvSpPr>
        <dsp:cNvPr id="4" name="右箭头 3"/>
        <dsp:cNvSpPr/>
      </dsp:nvSpPr>
      <dsp:spPr bwMode="white">
        <a:xfrm>
          <a:off x="3071361" y="479936"/>
          <a:ext cx="576376" cy="67425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GB" sz="3200"/>
        </a:p>
      </dsp:txBody>
      <dsp:txXfrm>
        <a:off x="3071361" y="479936"/>
        <a:ext cx="576376" cy="674251"/>
      </dsp:txXfrm>
    </dsp:sp>
    <dsp:sp modelId="{9FFB2F16-52AE-5C49-A343-59749A699F20}">
      <dsp:nvSpPr>
        <dsp:cNvPr id="5" name="圆角矩形 4"/>
        <dsp:cNvSpPr/>
      </dsp:nvSpPr>
      <dsp:spPr bwMode="white">
        <a:xfrm>
          <a:off x="3903300" y="1435"/>
          <a:ext cx="2718755" cy="163125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3200" b="0" i="0"/>
            <a:t>Function Identification</a:t>
          </a:r>
        </a:p>
      </dsp:txBody>
      <dsp:txXfrm>
        <a:off x="3903300" y="1435"/>
        <a:ext cx="2718755" cy="1631253"/>
      </dsp:txXfrm>
    </dsp:sp>
    <dsp:sp modelId="{70F237ED-86E9-BC46-804E-21C791FB9F3C}">
      <dsp:nvSpPr>
        <dsp:cNvPr id="6" name="右箭头 5"/>
        <dsp:cNvSpPr/>
      </dsp:nvSpPr>
      <dsp:spPr bwMode="white">
        <a:xfrm>
          <a:off x="6877618" y="479936"/>
          <a:ext cx="576376" cy="67425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3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GB" sz="3200"/>
        </a:p>
      </dsp:txBody>
      <dsp:txXfrm>
        <a:off x="6877618" y="479936"/>
        <a:ext cx="576376" cy="674251"/>
      </dsp:txXfrm>
    </dsp:sp>
    <dsp:sp modelId="{CB5A2B34-5871-9A48-8BCD-D4A8177C9D18}">
      <dsp:nvSpPr>
        <dsp:cNvPr id="7" name="圆角矩形 6"/>
        <dsp:cNvSpPr/>
      </dsp:nvSpPr>
      <dsp:spPr bwMode="white">
        <a:xfrm>
          <a:off x="7709557" y="1435"/>
          <a:ext cx="2718755" cy="163125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3200" b="0" i="0"/>
            <a:t>Parameter Extraction</a:t>
          </a:r>
        </a:p>
      </dsp:txBody>
      <dsp:txXfrm>
        <a:off x="7709557" y="1435"/>
        <a:ext cx="2718755" cy="1631253"/>
      </dsp:txXfrm>
    </dsp:sp>
    <dsp:sp modelId="{650BAC70-C53F-024E-A8D1-6311056F148F}">
      <dsp:nvSpPr>
        <dsp:cNvPr id="8" name="右箭头 7"/>
        <dsp:cNvSpPr/>
      </dsp:nvSpPr>
      <dsp:spPr bwMode="white">
        <a:xfrm rot="5412342">
          <a:off x="8776275" y="1838543"/>
          <a:ext cx="575563" cy="67425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4"/>
        </a:fillRef>
        <a:effectRef idx="0">
          <a:scrgbClr r="0" g="0" b="0"/>
        </a:effectRef>
        <a:fontRef idx="minor">
          <a:schemeClr val="lt1"/>
        </a:fontRef>
      </dsp:style>
      <dsp:txBody>
        <a:bodyPr rot="-5400000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GB" sz="3200"/>
        </a:p>
      </dsp:txBody>
      <dsp:txXfrm rot="5412342">
        <a:off x="8776275" y="1838543"/>
        <a:ext cx="575563" cy="674251"/>
      </dsp:txXfrm>
    </dsp:sp>
    <dsp:sp modelId="{3018C177-48B9-214E-AB9D-24B2873E2CDA}">
      <dsp:nvSpPr>
        <dsp:cNvPr id="9" name="圆角矩形 8"/>
        <dsp:cNvSpPr/>
      </dsp:nvSpPr>
      <dsp:spPr bwMode="white">
        <a:xfrm>
          <a:off x="7699802" y="2718650"/>
          <a:ext cx="2718755" cy="163125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3200" b="0" i="0"/>
            <a:t>Function Invocation</a:t>
          </a:r>
        </a:p>
      </dsp:txBody>
      <dsp:txXfrm>
        <a:off x="7699802" y="2718650"/>
        <a:ext cx="2718755" cy="1631253"/>
      </dsp:txXfrm>
    </dsp:sp>
    <dsp:sp modelId="{2C434086-EA41-2D4A-B1F3-8AD817650FCC}">
      <dsp:nvSpPr>
        <dsp:cNvPr id="10" name="右箭头 9"/>
        <dsp:cNvSpPr/>
      </dsp:nvSpPr>
      <dsp:spPr bwMode="white">
        <a:xfrm rot="10800000">
          <a:off x="6867863" y="3197151"/>
          <a:ext cx="576376" cy="67425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5"/>
        </a:fillRef>
        <a:effectRef idx="0">
          <a:scrgbClr r="0" g="0" b="0"/>
        </a:effectRef>
        <a:fontRef idx="minor">
          <a:schemeClr val="lt1"/>
        </a:fontRef>
      </dsp:style>
      <dsp:txBody>
        <a:bodyPr rot="10800000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GB" sz="3200"/>
        </a:p>
      </dsp:txBody>
      <dsp:txXfrm rot="10800000">
        <a:off x="6867863" y="3197151"/>
        <a:ext cx="576376" cy="674251"/>
      </dsp:txXfrm>
    </dsp:sp>
    <dsp:sp modelId="{6967AF90-866C-6C4F-A357-05E9C36D97DF}">
      <dsp:nvSpPr>
        <dsp:cNvPr id="11" name="圆角矩形 10"/>
        <dsp:cNvSpPr/>
      </dsp:nvSpPr>
      <dsp:spPr bwMode="white">
        <a:xfrm>
          <a:off x="3893545" y="2718650"/>
          <a:ext cx="2718755" cy="163125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3200" b="0" i="0"/>
            <a:t>Output Generation</a:t>
          </a:r>
        </a:p>
      </dsp:txBody>
      <dsp:txXfrm>
        <a:off x="3893545" y="2718650"/>
        <a:ext cx="2718755" cy="1631253"/>
      </dsp:txXfrm>
    </dsp:sp>
    <dsp:sp modelId="{1986F87F-B50B-A441-B475-16F4BD16AADC}">
      <dsp:nvSpPr>
        <dsp:cNvPr id="12" name="右箭头 11"/>
        <dsp:cNvSpPr/>
      </dsp:nvSpPr>
      <dsp:spPr bwMode="white">
        <a:xfrm rot="10800000">
          <a:off x="3061606" y="3197151"/>
          <a:ext cx="576376" cy="674251"/>
        </a:xfrm>
        <a:prstGeom prst="rightArrow">
          <a:avLst>
            <a:gd name="adj1" fmla="val 60000"/>
            <a:gd name="adj2" fmla="val 50000"/>
          </a:avLst>
        </a:prstGeom>
      </dsp:spPr>
      <dsp:style>
        <a:lnRef idx="0">
          <a:schemeClr val="lt1">
            <a:hueOff val="0"/>
            <a:satOff val="0"/>
            <a:lumOff val="0"/>
            <a:alpha val="100000"/>
          </a:schemeClr>
        </a:lnRef>
        <a:fillRef idx="1">
          <a:schemeClr val="accent6"/>
        </a:fillRef>
        <a:effectRef idx="0">
          <a:scrgbClr r="0" g="0" b="0"/>
        </a:effectRef>
        <a:fontRef idx="minor">
          <a:schemeClr val="lt1"/>
        </a:fontRef>
      </dsp:style>
      <dsp:txBody>
        <a:bodyPr rot="10800000" anchor="ctr"/>
        <a:lstStyle>
          <a:lvl1pPr algn="ctr"/>
          <a:lvl2pPr algn="ctr"/>
          <a:lvl3pPr algn="ctr"/>
          <a:lvl4pPr algn="ctr"/>
          <a:lvl5pPr algn="ctr"/>
          <a:lvl6pPr algn="ctr"/>
          <a:lvl7pPr algn="ctr"/>
          <a:lvl8pPr algn="ctr"/>
          <a:lvl9pPr algn="ctr"/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GB" sz="3200"/>
        </a:p>
      </dsp:txBody>
      <dsp:txXfrm rot="10800000">
        <a:off x="3061606" y="3197151"/>
        <a:ext cx="576376" cy="674251"/>
      </dsp:txXfrm>
    </dsp:sp>
    <dsp:sp modelId="{AF0EB39D-15F6-3E46-AD14-5FBD1571A717}">
      <dsp:nvSpPr>
        <dsp:cNvPr id="13" name="圆角矩形 12"/>
        <dsp:cNvSpPr/>
      </dsp:nvSpPr>
      <dsp:spPr bwMode="white">
        <a:xfrm>
          <a:off x="87288" y="2718650"/>
          <a:ext cx="2718755" cy="1631253"/>
        </a:xfrm>
        <a:prstGeom prst="roundRect">
          <a:avLst>
            <a:gd name="adj" fmla="val 10000"/>
          </a:avLst>
        </a:prstGeom>
      </dsp:spPr>
      <dsp:style>
        <a:lnRef idx="2">
          <a:schemeClr val="lt1"/>
        </a:lnRef>
        <a:fillRef idx="1">
          <a:schemeClr val="accent2"/>
        </a:fillRef>
        <a:effectRef idx="0">
          <a:scrgbClr r="0" g="0" b="0"/>
        </a:effectRef>
        <a:fontRef idx="minor">
          <a:schemeClr val="lt1"/>
        </a:fontRef>
      </dsp:style>
      <dsp:txBody>
        <a:bodyPr lIns="121920" tIns="121920" rIns="121920" bIns="12192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Font typeface="+mj-lt"/>
            <a:buAutoNum type="arabicPeriod"/>
          </a:pPr>
          <a:r>
            <a:rPr lang="en-US" sz="3200" b="0" i="0"/>
            <a:t>Context Management</a:t>
          </a:r>
        </a:p>
      </dsp:txBody>
      <dsp:txXfrm>
        <a:off x="87288" y="2718650"/>
        <a:ext cx="2718755" cy="1631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bkpt" val="endCnv"/>
          <dgm:param type="contDir" val="revDir"/>
          <dgm:param type="grDir" val="tL"/>
          <dgm:param type="flowDir" val="row"/>
        </dgm:alg>
      </dgm:if>
      <dgm:else name="Name2">
        <dgm:alg type="snake">
          <dgm:param type="bkpt" val="endCnv"/>
          <dgm:param type="contDir" val="revDir"/>
          <dgm:param type="grDir" val="tR"/>
          <dgm:param type="flowDir" val="row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F915E8-0D14-5A47-A140-2DDA56A25C59}" type="datetimeFigureOut">
              <a:rPr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B4E518-724E-624D-9EAD-82F09AF346EF}" type="slidenum">
              <a:rPr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B4E518-724E-624D-9EAD-82F09AF346EF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A9CAC-3B5C-514B-80A1-94C71E97D08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1253F-7772-8347-AAFB-A3B8C9754FC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820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9EF81-0844-7D49-9451-7455E8474CB5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71D33-885D-B948-8339-64719ADBFF9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E43E2-B09B-E444-9771-3A4167F39F6C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9F69-7C6B-2D48-BD1D-DD395FDC78F3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831850" y="6307963"/>
            <a:ext cx="1730728" cy="4618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DDA475-570C-654D-AB31-D2F2DC8E69AA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6" name="Picture 2" descr="HKU Business School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838200" y="6311079"/>
            <a:ext cx="2057400" cy="455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DFA85-9CF0-B04A-AF86-D157508B57EA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9529B-3CFB-764D-A152-9E1FCC5C6001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DA506-CC25-A449-94CA-76F61B3ABDB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FE732-FDE2-1D42-A871-A09E74C6893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  <a:endParaRPr lang="en-GB"/>
          </a:p>
          <a:p>
            <a:pPr lvl="1"/>
            <a:r>
              <a:rPr lang="en-GB"/>
              <a:t>Second level</a:t>
            </a:r>
            <a:endParaRPr lang="en-GB"/>
          </a:p>
          <a:p>
            <a:pPr lvl="2"/>
            <a:r>
              <a:rPr lang="en-GB"/>
              <a:t>Third level</a:t>
            </a:r>
            <a:endParaRPr lang="en-GB"/>
          </a:p>
          <a:p>
            <a:pPr lvl="3"/>
            <a:r>
              <a:rPr lang="en-GB"/>
              <a:t>Fourth level</a:t>
            </a:r>
            <a:endParaRPr lang="en-GB"/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3E3519-75C1-224A-8DAC-8D9E233C6E4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earn.microsoft.com/en-gb/azure/foundry/openai/how-to/function-calling?tabs=python-api-key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sqlitebrowser.org/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techcommunity.microsoft.com/t5/ai-azure-ai-services-blog/fine-tuning-with-function-calling-on-azure-openai-service/ba-p/4065968" TargetMode="External"/><Relationship Id="rId1" Type="http://schemas.openxmlformats.org/officeDocument/2006/relationships/hyperlink" Target="https://learn.microsoft.com/en-us/azure/foundry/openai/how-to/fine-tuning-functions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learn.microsoft.com/api/mcp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microsoftlearning.github.io/mslearn-ai-studio/Instructions/Exercises/01-Explore-ai-studio.html" TargetMode="External"/><Relationship Id="rId2" Type="http://schemas.openxmlformats.org/officeDocument/2006/relationships/hyperlink" Target="https://learn.microsoft.com/en-us/cli/azure/get-started-with-azure-cli?view=azure-cli-latest" TargetMode="External"/><Relationship Id="rId1" Type="http://schemas.openxmlformats.org/officeDocument/2006/relationships/hyperlink" Target="https://learn.microsoft.com/en-us/cli/azure/?view=azure-cli-latest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api.githubcopilot.com/mcp/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Function Calling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 err="1"/>
              <a:t>Hailiang</a:t>
            </a:r>
            <a:r>
              <a:rPr lang="en-US" dirty="0"/>
              <a:t> Chen</a:t>
            </a:r>
            <a:endParaRPr lang="en-US" dirty="0"/>
          </a:p>
          <a:p>
            <a:r>
              <a:rPr lang="en-US" altLang="zh-CN" dirty="0"/>
              <a:t>HKU</a:t>
            </a:r>
            <a:r>
              <a:rPr lang="zh-CN" altLang="en-US" dirty="0"/>
              <a:t> </a:t>
            </a:r>
            <a:r>
              <a:rPr lang="en-US" altLang="zh-CN" dirty="0"/>
              <a:t>Business</a:t>
            </a:r>
            <a:r>
              <a:rPr lang="zh-CN" altLang="en-US" dirty="0"/>
              <a:t> </a:t>
            </a:r>
            <a:r>
              <a:rPr lang="en-US" altLang="zh-CN" dirty="0"/>
              <a:t>School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LLM Use Cases and Tasks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t="13839" b="14332"/>
          <a:stretch>
            <a:fillRect/>
          </a:stretch>
        </p:blipFill>
        <p:spPr>
          <a:xfrm>
            <a:off x="838200" y="1588169"/>
            <a:ext cx="10515600" cy="4248676"/>
          </a:xfrm>
        </p:spPr>
      </p:pic>
      <p:sp>
        <p:nvSpPr>
          <p:cNvPr id="11" name="Rectangle 10"/>
          <p:cNvSpPr/>
          <p:nvPr/>
        </p:nvSpPr>
        <p:spPr>
          <a:xfrm>
            <a:off x="9244484" y="1457005"/>
            <a:ext cx="2134573" cy="435094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47558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</a:t>
            </a:r>
            <a:r>
              <a:rPr lang="en-US" altLang="zh-C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DeepLearning.AI</a:t>
            </a:r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/ AWS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Function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Definition:</a:t>
            </a:r>
            <a:endParaRPr lang="en-US" dirty="0"/>
          </a:p>
          <a:p>
            <a:pPr lvl="1"/>
            <a:r>
              <a:rPr lang="en-US" dirty="0"/>
              <a:t>Function calling refers to the process of invoking a specific function or method within a program to perform a task.</a:t>
            </a:r>
            <a:endParaRPr lang="en-US" dirty="0"/>
          </a:p>
          <a:p>
            <a:r>
              <a:rPr lang="en-US" dirty="0"/>
              <a:t>Key Concepts:</a:t>
            </a:r>
            <a:endParaRPr lang="en-US" dirty="0"/>
          </a:p>
          <a:p>
            <a:pPr lvl="1"/>
            <a:r>
              <a:rPr lang="en-US" dirty="0"/>
              <a:t>Parameters: Inputs that the function requires to execute.</a:t>
            </a:r>
            <a:endParaRPr lang="en-US" dirty="0"/>
          </a:p>
          <a:p>
            <a:pPr lvl="1"/>
            <a:r>
              <a:rPr lang="en-US" dirty="0"/>
              <a:t>Return Values: Outputs that the function provides after execution.</a:t>
            </a:r>
            <a:endParaRPr lang="en-US" dirty="0"/>
          </a:p>
          <a:p>
            <a:r>
              <a:rPr lang="en-US" dirty="0"/>
              <a:t>Importance:</a:t>
            </a:r>
            <a:endParaRPr lang="en-US" dirty="0"/>
          </a:p>
          <a:p>
            <a:pPr lvl="1"/>
            <a:r>
              <a:rPr lang="en-US" dirty="0"/>
              <a:t>Enables modular programming, allowing complex tasks to be broken down into simpler, reusable functions.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Role of Function Calling in LLMs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Enhancing Model Capabilities:</a:t>
            </a:r>
            <a:endParaRPr lang="en-US" dirty="0"/>
          </a:p>
          <a:p>
            <a:pPr lvl="1"/>
            <a:r>
              <a:rPr lang="en-US" dirty="0"/>
              <a:t>Function calling allows LLMs to perform specific tasks more efficiently by delegating responsibilities to defined functions.</a:t>
            </a:r>
            <a:endParaRPr lang="en-US" dirty="0"/>
          </a:p>
          <a:p>
            <a:r>
              <a:rPr lang="en-US" dirty="0"/>
              <a:t>Examples of Tasks:</a:t>
            </a:r>
            <a:endParaRPr lang="en-US" dirty="0"/>
          </a:p>
          <a:p>
            <a:pPr lvl="1"/>
            <a:r>
              <a:rPr lang="en-US" dirty="0"/>
              <a:t>Data Retrieval: Accessing and returning specific information from a database or knowledge base.</a:t>
            </a:r>
            <a:endParaRPr lang="en-US" dirty="0"/>
          </a:p>
          <a:p>
            <a:pPr lvl="1"/>
            <a:r>
              <a:rPr lang="en-US" dirty="0"/>
              <a:t>Performing Calculations: Executing mathematical operations or complex computations based on user input, enhancing decision-making and analysis.</a:t>
            </a:r>
            <a:endParaRPr lang="en-US" dirty="0"/>
          </a:p>
          <a:p>
            <a:pPr lvl="1"/>
            <a:r>
              <a:rPr lang="en-US" dirty="0"/>
              <a:t>Scheduling and Reminders: Managing user calendars by setting appointments, sending reminders, and checking availability, enhancing personal productivity.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Implementation Steps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Technical Implementation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Input Parsing:</a:t>
            </a:r>
            <a:endParaRPr lang="en-US" dirty="0"/>
          </a:p>
          <a:p>
            <a:pPr lvl="1"/>
            <a:r>
              <a:rPr lang="en-US" dirty="0"/>
              <a:t>The model receives user input and identifies the </a:t>
            </a:r>
            <a:r>
              <a:rPr lang="en-US" dirty="0">
                <a:highlight>
                  <a:srgbClr val="FFFF00"/>
                </a:highlight>
              </a:rPr>
              <a:t>intent </a:t>
            </a:r>
            <a:r>
              <a:rPr lang="en-US" dirty="0"/>
              <a:t>behind the request.</a:t>
            </a:r>
            <a:endParaRPr lang="en-US" dirty="0"/>
          </a:p>
          <a:p>
            <a:pPr lvl="1"/>
            <a:r>
              <a:rPr lang="en-US" dirty="0"/>
              <a:t>It </a:t>
            </a:r>
            <a:r>
              <a:rPr lang="en-US" dirty="0" err="1"/>
              <a:t>analyzes</a:t>
            </a:r>
            <a:r>
              <a:rPr lang="en-US" dirty="0"/>
              <a:t> the text to determine if a function call is needed based on keywords or context.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 Identification:</a:t>
            </a:r>
            <a:endParaRPr lang="en-US" dirty="0"/>
          </a:p>
          <a:p>
            <a:pPr lvl="1"/>
            <a:r>
              <a:rPr lang="en-US" dirty="0"/>
              <a:t>The model matches the identified intent with predefined functions available for execution.</a:t>
            </a:r>
            <a:endParaRPr lang="en-US" dirty="0"/>
          </a:p>
          <a:p>
            <a:pPr lvl="1"/>
            <a:r>
              <a:rPr lang="en-US" dirty="0"/>
              <a:t>This involves checking the function names, descriptions, and required parameters.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Parameter Extraction:</a:t>
            </a:r>
            <a:endParaRPr lang="en-US" dirty="0"/>
          </a:p>
          <a:p>
            <a:pPr lvl="1"/>
            <a:r>
              <a:rPr lang="en-US" dirty="0"/>
              <a:t>Relevant parameters are extracted from the user input to prepare for the function call.</a:t>
            </a:r>
            <a:endParaRPr lang="en-US" dirty="0"/>
          </a:p>
          <a:p>
            <a:pPr lvl="1"/>
            <a:r>
              <a:rPr lang="en-US" dirty="0"/>
              <a:t>This may include validating the data type and ensuring all required parameters are present.  </a:t>
            </a:r>
            <a:r>
              <a:rPr lang="zh-CN" altLang="en-US" dirty="0"/>
              <a:t>类似天气，</a:t>
            </a:r>
            <a:r>
              <a:rPr lang="en-US" altLang="zh-CN" dirty="0"/>
              <a:t>parameter</a:t>
            </a:r>
            <a:r>
              <a:rPr lang="zh-CN" altLang="en-US" dirty="0"/>
              <a:t>输出温度等</a:t>
            </a:r>
            <a:r>
              <a:rPr lang="zh-CN" altLang="en-US" dirty="0"/>
              <a:t>参数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Technical Implementation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725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Function Invocation:</a:t>
            </a:r>
            <a:endParaRPr lang="en-US" dirty="0"/>
          </a:p>
          <a:p>
            <a:pPr lvl="1"/>
            <a:r>
              <a:rPr lang="en-US" dirty="0"/>
              <a:t>The appropriate function is called with the extracted parameters.</a:t>
            </a:r>
            <a:endParaRPr lang="en-US" dirty="0"/>
          </a:p>
          <a:p>
            <a:pPr lvl="1"/>
            <a:r>
              <a:rPr lang="en-US" dirty="0"/>
              <a:t>This step may involve interacting with external APIs or internal logic to execute the function.</a:t>
            </a: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Output Generation:</a:t>
            </a:r>
            <a:endParaRPr lang="en-US" dirty="0"/>
          </a:p>
          <a:p>
            <a:pPr lvl="1"/>
            <a:r>
              <a:rPr lang="en-US" dirty="0"/>
              <a:t>The results from the function call are processed and formatted for user-friendly output.</a:t>
            </a:r>
            <a:endParaRPr lang="en-US" dirty="0"/>
          </a:p>
          <a:p>
            <a:pPr lvl="1"/>
            <a:r>
              <a:rPr lang="en-US" dirty="0"/>
              <a:t>The model generates a coherent response based on the function’s output, integrating it into the conversation.</a:t>
            </a:r>
            <a:endParaRPr lang="en-US" dirty="0"/>
          </a:p>
          <a:p>
            <a:pPr marL="514350" indent="-514350">
              <a:buFont typeface="+mj-lt"/>
              <a:buAutoNum type="arabicPeriod" startAt="4"/>
            </a:pPr>
            <a:r>
              <a:rPr lang="en-US" dirty="0"/>
              <a:t>Context Management:</a:t>
            </a:r>
            <a:endParaRPr lang="en-US" dirty="0"/>
          </a:p>
          <a:p>
            <a:pPr lvl="1"/>
            <a:r>
              <a:rPr lang="en-US" dirty="0"/>
              <a:t>The model maintains context throughout the interaction, ensuring that subsequent requests are informed by previous exchanges.</a:t>
            </a:r>
            <a:endParaRPr lang="en-US" dirty="0"/>
          </a:p>
          <a:p>
            <a:pPr lvl="1"/>
            <a:r>
              <a:rPr lang="en-US" dirty="0"/>
              <a:t>This helps in providing relevant and accurate responses in ongoing conversations.</a:t>
            </a:r>
            <a:r>
              <a:rPr lang="zh-CN" altLang="en-US" dirty="0"/>
              <a:t>具备记忆，整合所有的信息</a:t>
            </a:r>
            <a:endParaRPr lang="zh-CN" altLang="en-US" dirty="0"/>
          </a:p>
          <a:p>
            <a:pPr lvl="1"/>
            <a:r>
              <a:rPr lang="en-US" altLang="zh-CN" dirty="0"/>
              <a:t>LLM</a:t>
            </a:r>
            <a:r>
              <a:rPr lang="zh-CN" altLang="en-US" dirty="0"/>
              <a:t>识别需要的</a:t>
            </a:r>
            <a:r>
              <a:rPr lang="en-US" altLang="zh-CN" dirty="0"/>
              <a:t>function</a:t>
            </a:r>
            <a:r>
              <a:rPr lang="zh-CN" altLang="en-US" dirty="0"/>
              <a:t>需要</a:t>
            </a:r>
            <a:r>
              <a:rPr lang="en-US" altLang="zh-CN" dirty="0"/>
              <a:t>calling</a:t>
            </a:r>
            <a:endParaRPr lang="en-US" altLang="zh-CN" dirty="0"/>
          </a:p>
          <a:p>
            <a:pPr lvl="1"/>
            <a:r>
              <a:rPr lang="zh-CN" altLang="en-US" dirty="0"/>
              <a:t>第二次：整合获取到的信息，输出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unction Calling diagram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066203" y="136525"/>
            <a:ext cx="8059594" cy="6185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Function calling example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function: </a:t>
            </a:r>
            <a:r>
              <a:rPr lang="en-US" dirty="0" err="1">
                <a:solidFill>
                  <a:schemeClr val="accent2"/>
                </a:solidFill>
              </a:rPr>
              <a:t>function_call.py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Multiple functions: </a:t>
            </a:r>
            <a:r>
              <a:rPr lang="en-US" dirty="0">
                <a:solidFill>
                  <a:schemeClr val="accent2"/>
                </a:solidFill>
              </a:rPr>
              <a:t>function_call2.py query</a:t>
            </a:r>
            <a:r>
              <a:rPr lang="zh-CN" altLang="en-US" dirty="0">
                <a:solidFill>
                  <a:schemeClr val="accent2"/>
                </a:solidFill>
              </a:rPr>
              <a:t>中涉及多个</a:t>
            </a:r>
            <a:r>
              <a:rPr lang="en-US" altLang="zh-CN" dirty="0">
                <a:solidFill>
                  <a:schemeClr val="accent2"/>
                </a:solidFill>
              </a:rPr>
              <a:t>function</a:t>
            </a:r>
            <a:endParaRPr lang="en-US" altLang="zh-CN" dirty="0">
              <a:solidFill>
                <a:schemeClr val="accent2"/>
              </a:solidFill>
            </a:endParaRPr>
          </a:p>
          <a:p>
            <a:r>
              <a:rPr lang="en-US" altLang="zh-CN" dirty="0">
                <a:solidFill>
                  <a:schemeClr val="accent2"/>
                </a:solidFill>
              </a:rPr>
              <a:t>parralle functon invoke 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r>
              <a:rPr lang="en-US" dirty="0"/>
              <a:t>Reference: </a:t>
            </a:r>
            <a:r>
              <a:rPr lang="en-US" dirty="0">
                <a:hlinkClick r:id="rId1"/>
              </a:rPr>
              <a:t>https://learn.microsoft.com/en-gb/azure/foundry/openai/how-to/function-calling?tabs=python-api-key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function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Model's response: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ChatCompletionMessage</a:t>
            </a:r>
            <a:r>
              <a:rPr lang="en-US" dirty="0"/>
              <a:t>(content=None, role='assistant', </a:t>
            </a:r>
            <a:r>
              <a:rPr lang="en-US" dirty="0" err="1"/>
              <a:t>function_call</a:t>
            </a:r>
            <a:r>
              <a:rPr lang="en-US" dirty="0"/>
              <a:t>=None, </a:t>
            </a:r>
            <a:r>
              <a:rPr lang="en-US" dirty="0" err="1"/>
              <a:t>tool_calls</a:t>
            </a:r>
            <a:r>
              <a:rPr lang="en-US" dirty="0"/>
              <a:t>=[</a:t>
            </a:r>
            <a:r>
              <a:rPr lang="en-US" dirty="0" err="1"/>
              <a:t>ChatCompletionMessageToolCall</a:t>
            </a:r>
            <a:r>
              <a:rPr lang="en-US" dirty="0"/>
              <a:t>(id='call_UH0cMT9Wa7IIQ1rQXXrkh23H', function=Function(arguments='{"</a:t>
            </a:r>
            <a:r>
              <a:rPr lang="en-US" dirty="0" err="1"/>
              <a:t>location":"San</a:t>
            </a:r>
            <a:r>
              <a:rPr lang="en-US" dirty="0"/>
              <a:t> Francisco"}', name='</a:t>
            </a:r>
            <a:r>
              <a:rPr lang="en-US" dirty="0" err="1"/>
              <a:t>get_current_time</a:t>
            </a:r>
            <a:r>
              <a:rPr lang="en-US" dirty="0"/>
              <a:t>'), type='function')])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arguments: {'location': 'San Francisco'}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get_current_time</a:t>
            </a:r>
            <a:r>
              <a:rPr lang="en-US" dirty="0"/>
              <a:t> called with location: San Francisco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Timezone</a:t>
            </a:r>
            <a:r>
              <a:rPr lang="en-US" dirty="0"/>
              <a:t> found for </a:t>
            </a:r>
            <a:r>
              <a:rPr lang="en-US" dirty="0" err="1"/>
              <a:t>san</a:t>
            </a:r>
            <a:r>
              <a:rPr lang="en-US" dirty="0"/>
              <a:t> </a:t>
            </a:r>
            <a:r>
              <a:rPr lang="en-US" dirty="0" err="1"/>
              <a:t>francisco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The current time in San Francisco is 12:32 AM.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Real-time Weather 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  <p:pic>
        <p:nvPicPr>
          <p:cNvPr id="1026" name="Picture 2" descr="Function Calling Diagram Step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0"/>
            <a:ext cx="47656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47558" y="6400412"/>
            <a:ext cx="3096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OpenAI</a:t>
            </a:r>
            <a:endParaRPr lang="en-US" altLang="zh-C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Parallel function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gpt-4 (2024-04-09)</a:t>
            </a:r>
            <a:endParaRPr lang="en-US" dirty="0"/>
          </a:p>
          <a:p>
            <a:r>
              <a:rPr lang="en-US" dirty="0"/>
              <a:t>gpt-4o (2024-05-13)</a:t>
            </a:r>
            <a:endParaRPr lang="en-US" dirty="0"/>
          </a:p>
          <a:p>
            <a:r>
              <a:rPr lang="en-US" dirty="0"/>
              <a:t>gpt-4o (2024-08-06)</a:t>
            </a:r>
            <a:endParaRPr lang="en-US" dirty="0"/>
          </a:p>
          <a:p>
            <a:r>
              <a:rPr lang="en-US" dirty="0"/>
              <a:t>gpt-4o (2024-11-20)</a:t>
            </a:r>
            <a:endParaRPr lang="en-US" dirty="0"/>
          </a:p>
          <a:p>
            <a:r>
              <a:rPr lang="en-US" dirty="0"/>
              <a:t>gpt-4o-mini (2024-07-18)</a:t>
            </a:r>
            <a:endParaRPr lang="en-US" dirty="0"/>
          </a:p>
          <a:p>
            <a:r>
              <a:rPr lang="en-US" dirty="0"/>
              <a:t>gpt-4.1 (2025-04-14)</a:t>
            </a:r>
            <a:endParaRPr lang="en-US" dirty="0"/>
          </a:p>
          <a:p>
            <a:r>
              <a:rPr lang="en-US" dirty="0"/>
              <a:t>gpt-4.1-mini (2025-04-14)</a:t>
            </a:r>
            <a:endParaRPr lang="en-US" dirty="0"/>
          </a:p>
          <a:p>
            <a:r>
              <a:rPr lang="en-US" dirty="0"/>
              <a:t>gpt-5 (2025-08-07)</a:t>
            </a:r>
            <a:endParaRPr lang="en-US" dirty="0"/>
          </a:p>
          <a:p>
            <a:r>
              <a:rPr lang="en-US" dirty="0"/>
              <a:t>gpt-5-mini (2025-08-07)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# Single function call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#messages = [{"role": "user", "content": "What's the current time in </a:t>
            </a:r>
            <a:r>
              <a:rPr lang="en-US" dirty="0">
                <a:solidFill>
                  <a:schemeClr val="accent2"/>
                </a:solidFill>
              </a:rPr>
              <a:t>San Francisco</a:t>
            </a:r>
            <a:r>
              <a:rPr lang="en-US" dirty="0"/>
              <a:t>"}]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# Parallel function call with a single tool/function defined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messages = [{"role": "user", "content": "What's the current time in </a:t>
            </a:r>
            <a:r>
              <a:rPr lang="en-US" dirty="0">
                <a:solidFill>
                  <a:schemeClr val="accent2"/>
                </a:solidFill>
              </a:rPr>
              <a:t>San Francisco, Tokyo, and Paris</a:t>
            </a:r>
            <a:r>
              <a:rPr lang="en-US" dirty="0"/>
              <a:t>?"}]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 calling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Model's response: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ChatCompletionMessage</a:t>
            </a:r>
            <a:r>
              <a:rPr lang="en-US" dirty="0"/>
              <a:t>(content=None, role='assistant', </a:t>
            </a:r>
            <a:r>
              <a:rPr lang="en-US" dirty="0" err="1"/>
              <a:t>function_call</a:t>
            </a:r>
            <a:r>
              <a:rPr lang="en-US" dirty="0"/>
              <a:t>=None, </a:t>
            </a:r>
            <a:r>
              <a:rPr lang="en-US" dirty="0" err="1"/>
              <a:t>tool_calls</a:t>
            </a:r>
            <a:r>
              <a:rPr lang="en-US" dirty="0"/>
              <a:t>=[</a:t>
            </a:r>
            <a:r>
              <a:rPr lang="en-US" dirty="0" err="1"/>
              <a:t>ChatCompletionMessageToolCall</a:t>
            </a:r>
            <a:r>
              <a:rPr lang="en-US" dirty="0"/>
              <a:t>(id='call_oSCSI8NGy5LaETNOB8L8tBjf', function=Function(arguments='{"location": "San Francisco"}', name='</a:t>
            </a:r>
            <a:r>
              <a:rPr lang="en-US" dirty="0" err="1"/>
              <a:t>get_current_time</a:t>
            </a:r>
            <a:r>
              <a:rPr lang="en-US" dirty="0"/>
              <a:t>'), type='function'), </a:t>
            </a:r>
            <a:r>
              <a:rPr lang="en-US" dirty="0" err="1"/>
              <a:t>ChatCompletionMessageToolCall</a:t>
            </a:r>
            <a:r>
              <a:rPr lang="en-US" dirty="0"/>
              <a:t>(id='call_cqWAfjNSi1zyrzxc3qJoQlLF', function=Function(arguments='{"location": "Tokyo"}', name='</a:t>
            </a:r>
            <a:r>
              <a:rPr lang="en-US" dirty="0" err="1"/>
              <a:t>get_current_time</a:t>
            </a:r>
            <a:r>
              <a:rPr lang="en-US" dirty="0"/>
              <a:t>'), type='function'), </a:t>
            </a:r>
            <a:r>
              <a:rPr lang="en-US" dirty="0" err="1"/>
              <a:t>ChatCompletionMessageToolCall</a:t>
            </a:r>
            <a:r>
              <a:rPr lang="en-US" dirty="0"/>
              <a:t>(id='call_a2vN8lqFMnOVjnkknXBAGlP4', function=Function(arguments='{"location": "Paris"}', name='</a:t>
            </a:r>
            <a:r>
              <a:rPr lang="en-US" dirty="0" err="1"/>
              <a:t>get_current_time</a:t>
            </a:r>
            <a:r>
              <a:rPr lang="en-US" dirty="0"/>
              <a:t>'), type='function')])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arguments: {'location': 'San Francisco'}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get_current_time</a:t>
            </a:r>
            <a:r>
              <a:rPr lang="en-US" dirty="0"/>
              <a:t> called with location: San Francisco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Timezone</a:t>
            </a:r>
            <a:r>
              <a:rPr lang="en-US" dirty="0"/>
              <a:t> found for </a:t>
            </a:r>
            <a:r>
              <a:rPr lang="en-US" dirty="0" err="1"/>
              <a:t>san</a:t>
            </a:r>
            <a:r>
              <a:rPr lang="en-US" dirty="0"/>
              <a:t> </a:t>
            </a:r>
            <a:r>
              <a:rPr lang="en-US" dirty="0" err="1"/>
              <a:t>francisco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arguments: {'location': 'Tokyo'}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get_current_time</a:t>
            </a:r>
            <a:r>
              <a:rPr lang="en-US" dirty="0"/>
              <a:t> called with location: Tokyo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Timezone</a:t>
            </a:r>
            <a:r>
              <a:rPr lang="en-US" dirty="0"/>
              <a:t> found for </a:t>
            </a:r>
            <a:r>
              <a:rPr lang="en-US" dirty="0" err="1"/>
              <a:t>tokyo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arguments: {'location': 'Paris'}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get_current_time</a:t>
            </a:r>
            <a:r>
              <a:rPr lang="en-US" dirty="0"/>
              <a:t> called with location: Paris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Timezone</a:t>
            </a:r>
            <a:r>
              <a:rPr lang="en-US" dirty="0"/>
              <a:t> found for </a:t>
            </a:r>
            <a:r>
              <a:rPr lang="en-US" dirty="0" err="1"/>
              <a:t>paris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The current time in San Francisco is 12:17 AM, in Tokyo is 05:17 PM, and in Paris is 09:17 AM.</a:t>
            </a: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Parallel function calling with multiple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messages = [{"role": "user", "content": "What's the </a:t>
            </a:r>
            <a:r>
              <a:rPr lang="en-US" dirty="0">
                <a:solidFill>
                  <a:schemeClr val="accent2"/>
                </a:solidFill>
              </a:rPr>
              <a:t>weather and current time</a:t>
            </a:r>
            <a:r>
              <a:rPr lang="en-US" dirty="0"/>
              <a:t> in San Francisco?"}]</a:t>
            </a:r>
            <a:endParaRPr lang="en-US" dirty="0"/>
          </a:p>
          <a:p>
            <a:pPr marL="0" indent="0">
              <a:buNone/>
            </a:pPr>
            <a:r>
              <a:rPr lang="zh-CN" altLang="en-US" dirty="0"/>
              <a:t>同时</a:t>
            </a:r>
            <a:r>
              <a:rPr lang="en-US" altLang="zh-CN" dirty="0"/>
              <a:t>calling </a:t>
            </a:r>
            <a:r>
              <a:rPr lang="zh-CN" altLang="en-US" dirty="0"/>
              <a:t>两个</a:t>
            </a:r>
            <a:r>
              <a:rPr lang="en-US" altLang="zh-CN" dirty="0"/>
              <a:t>function</a:t>
            </a:r>
            <a:br>
              <a:rPr lang="en-US" dirty="0"/>
            </a:br>
            <a:r>
              <a:rPr lang="en-US" dirty="0"/>
              <a:t># messages = [{"role": "user", "content": "What's the </a:t>
            </a:r>
            <a:r>
              <a:rPr lang="en-US" dirty="0">
                <a:solidFill>
                  <a:schemeClr val="accent2"/>
                </a:solidFill>
              </a:rPr>
              <a:t>weather and current time</a:t>
            </a:r>
            <a:r>
              <a:rPr lang="en-US" dirty="0"/>
              <a:t> in </a:t>
            </a:r>
            <a:r>
              <a:rPr lang="en-US" dirty="0">
                <a:solidFill>
                  <a:schemeClr val="accent2"/>
                </a:solidFill>
              </a:rPr>
              <a:t>San Francisco and Paris</a:t>
            </a:r>
            <a:r>
              <a:rPr lang="en-US" dirty="0"/>
              <a:t>?"}]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Parallel function calling with multiple functions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Model's response: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ChatCompletionMessage</a:t>
            </a:r>
            <a:r>
              <a:rPr lang="en-US" dirty="0"/>
              <a:t>(content=None, role='assistant', </a:t>
            </a:r>
            <a:r>
              <a:rPr lang="en-US" dirty="0" err="1"/>
              <a:t>function_call</a:t>
            </a:r>
            <a:r>
              <a:rPr lang="en-US" dirty="0"/>
              <a:t>=None, </a:t>
            </a:r>
            <a:r>
              <a:rPr lang="en-US" dirty="0" err="1"/>
              <a:t>tool_calls</a:t>
            </a:r>
            <a:r>
              <a:rPr lang="en-US" dirty="0"/>
              <a:t>=[</a:t>
            </a:r>
            <a:r>
              <a:rPr lang="en-US" dirty="0" err="1"/>
              <a:t>ChatCompletionMessageToolCall</a:t>
            </a:r>
            <a:r>
              <a:rPr lang="en-US" dirty="0"/>
              <a:t>(id='call_Rw45VSU2FWcbNAGU2F95jI2W', function=Function(arguments='{"location": "San Francisco", "unit": "</a:t>
            </a:r>
            <a:r>
              <a:rPr lang="en-US" dirty="0" err="1"/>
              <a:t>celsius</a:t>
            </a:r>
            <a:r>
              <a:rPr lang="en-US" dirty="0"/>
              <a:t>"}', name='</a:t>
            </a:r>
            <a:r>
              <a:rPr lang="en-US" dirty="0" err="1"/>
              <a:t>get_current_weather</a:t>
            </a:r>
            <a:r>
              <a:rPr lang="en-US" dirty="0"/>
              <a:t>'), type='function'), </a:t>
            </a:r>
            <a:r>
              <a:rPr lang="en-US" dirty="0" err="1"/>
              <a:t>ChatCompletionMessageToolCall</a:t>
            </a:r>
            <a:r>
              <a:rPr lang="en-US" dirty="0"/>
              <a:t>(id='call_PAlavgX0GpVN1Ofd49waSUj3', function=Function(arguments='{"location": "San Francisco"}', name='</a:t>
            </a:r>
            <a:r>
              <a:rPr lang="en-US" dirty="0" err="1"/>
              <a:t>get_current_time</a:t>
            </a:r>
            <a:r>
              <a:rPr lang="en-US" dirty="0"/>
              <a:t>'), type='function')])</a:t>
            </a:r>
            <a:endParaRPr lang="en-US" dirty="0"/>
          </a:p>
          <a:p>
            <a:pPr marL="0" indent="0">
              <a:buNone/>
            </a:pPr>
            <a:r>
              <a:rPr lang="en-US" u="sng" dirty="0"/>
              <a:t>Function call: </a:t>
            </a:r>
            <a:r>
              <a:rPr lang="en-US" u="sng" dirty="0" err="1"/>
              <a:t>get_current_weather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Function arguments: {'location': 'San Francisco', 'unit': '</a:t>
            </a:r>
            <a:r>
              <a:rPr lang="en-US" dirty="0" err="1"/>
              <a:t>celsius</a:t>
            </a:r>
            <a:r>
              <a:rPr lang="en-US" dirty="0"/>
              <a:t>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get_current_weather</a:t>
            </a:r>
            <a:r>
              <a:rPr lang="en-US" dirty="0"/>
              <a:t> called with location: San Francisco, unit: </a:t>
            </a:r>
            <a:r>
              <a:rPr lang="en-US" dirty="0" err="1"/>
              <a:t>celsius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Weather data found for </a:t>
            </a:r>
            <a:r>
              <a:rPr lang="en-US" dirty="0" err="1"/>
              <a:t>san</a:t>
            </a:r>
            <a:r>
              <a:rPr lang="en-US" dirty="0"/>
              <a:t> </a:t>
            </a:r>
            <a:r>
              <a:rPr lang="en-US" dirty="0" err="1"/>
              <a:t>francisco</a:t>
            </a:r>
            <a:endParaRPr lang="en-US" dirty="0"/>
          </a:p>
          <a:p>
            <a:pPr marL="0" indent="0">
              <a:buNone/>
            </a:pPr>
            <a:r>
              <a:rPr lang="en-US" u="sng" dirty="0"/>
              <a:t>Function call: </a:t>
            </a:r>
            <a:r>
              <a:rPr lang="en-US" u="sng" dirty="0" err="1"/>
              <a:t>get_current_time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Function arguments: {'location': 'San Francisco'}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get_current_time</a:t>
            </a:r>
            <a:r>
              <a:rPr lang="en-US" dirty="0"/>
              <a:t> called with location: San Francisco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Timezone</a:t>
            </a:r>
            <a:r>
              <a:rPr lang="en-US" dirty="0"/>
              <a:t> found for </a:t>
            </a:r>
            <a:r>
              <a:rPr lang="en-US" dirty="0" err="1"/>
              <a:t>san</a:t>
            </a:r>
            <a:r>
              <a:rPr lang="en-US" dirty="0"/>
              <a:t> </a:t>
            </a:r>
            <a:r>
              <a:rPr lang="en-US" dirty="0" err="1"/>
              <a:t>francisco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The current weather in San Francisco is 72°C and the current time is 12:49 AM.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 calling with multiple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Model's response: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ChatCompletionMessage</a:t>
            </a:r>
            <a:r>
              <a:rPr lang="en-US" dirty="0"/>
              <a:t>(content=None, role='assistant', </a:t>
            </a:r>
            <a:r>
              <a:rPr lang="en-US" dirty="0" err="1"/>
              <a:t>function_call</a:t>
            </a:r>
            <a:r>
              <a:rPr lang="en-US" dirty="0"/>
              <a:t>=None, </a:t>
            </a:r>
            <a:r>
              <a:rPr lang="en-US" dirty="0" err="1"/>
              <a:t>tool_calls</a:t>
            </a:r>
            <a:r>
              <a:rPr lang="en-US" dirty="0"/>
              <a:t>=[</a:t>
            </a:r>
            <a:r>
              <a:rPr lang="en-US" dirty="0" err="1"/>
              <a:t>ChatCompletionMessageToolCall</a:t>
            </a:r>
            <a:r>
              <a:rPr lang="en-US" dirty="0"/>
              <a:t>(id='call_vHUWwd5v1cgAeEqIY2OXZMfF', function=Function(arguments='{"location": "San Francisco", "unit": "</a:t>
            </a:r>
            <a:r>
              <a:rPr lang="en-US" dirty="0" err="1"/>
              <a:t>celsius</a:t>
            </a:r>
            <a:r>
              <a:rPr lang="en-US" dirty="0"/>
              <a:t>"}', name='</a:t>
            </a:r>
            <a:r>
              <a:rPr lang="en-US" dirty="0" err="1"/>
              <a:t>get_current_weather</a:t>
            </a:r>
            <a:r>
              <a:rPr lang="en-US" dirty="0"/>
              <a:t>'), type='function'), </a:t>
            </a:r>
            <a:r>
              <a:rPr lang="en-US" dirty="0" err="1"/>
              <a:t>ChatCompletionMessageToolCall</a:t>
            </a:r>
            <a:r>
              <a:rPr lang="en-US" dirty="0"/>
              <a:t>(id='call_3Qb3ShQVtMag1AFI9PziUKP0', function=Function(arguments='{"location": "San Francisco"}', name='</a:t>
            </a:r>
            <a:r>
              <a:rPr lang="en-US" dirty="0" err="1"/>
              <a:t>get_current_time</a:t>
            </a:r>
            <a:r>
              <a:rPr lang="en-US" dirty="0"/>
              <a:t>'), type='function'), </a:t>
            </a:r>
            <a:r>
              <a:rPr lang="en-US" dirty="0" err="1"/>
              <a:t>ChatCompletionMessageToolCall</a:t>
            </a:r>
            <a:r>
              <a:rPr lang="en-US" dirty="0"/>
              <a:t>(id='call_DR9eGrUyssW0RDT6IAF8uguv', function=Function(arguments='{"location": "Paris", "unit": "</a:t>
            </a:r>
            <a:r>
              <a:rPr lang="en-US" dirty="0" err="1"/>
              <a:t>celsius</a:t>
            </a:r>
            <a:r>
              <a:rPr lang="en-US" dirty="0"/>
              <a:t>"}', name='</a:t>
            </a:r>
            <a:r>
              <a:rPr lang="en-US" dirty="0" err="1"/>
              <a:t>get_current_weather</a:t>
            </a:r>
            <a:r>
              <a:rPr lang="en-US" dirty="0"/>
              <a:t>'), type='function'), </a:t>
            </a:r>
            <a:r>
              <a:rPr lang="en-US" dirty="0" err="1"/>
              <a:t>ChatCompletionMessageToolCall</a:t>
            </a:r>
            <a:r>
              <a:rPr lang="en-US" dirty="0"/>
              <a:t>(id='call_3YpRGvRv5gjthzJIy4ZweJuE', function=Function(arguments='{"location": "Paris"}', name='</a:t>
            </a:r>
            <a:r>
              <a:rPr lang="en-US" dirty="0" err="1"/>
              <a:t>get_current_time</a:t>
            </a:r>
            <a:r>
              <a:rPr lang="en-US" dirty="0"/>
              <a:t>'), type='function')])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call: </a:t>
            </a:r>
            <a:r>
              <a:rPr lang="en-US" dirty="0" err="1"/>
              <a:t>get_current_weather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arguments: {'location': 'San Francisco', 'unit': '</a:t>
            </a:r>
            <a:r>
              <a:rPr lang="en-US" dirty="0" err="1"/>
              <a:t>celsius</a:t>
            </a:r>
            <a:r>
              <a:rPr lang="en-US" dirty="0"/>
              <a:t>'}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get_current_weather</a:t>
            </a:r>
            <a:r>
              <a:rPr lang="en-US" dirty="0"/>
              <a:t> called with location: San Francisco, unit: </a:t>
            </a:r>
            <a:r>
              <a:rPr lang="en-US" dirty="0" err="1"/>
              <a:t>celsius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Weather data found for </a:t>
            </a:r>
            <a:r>
              <a:rPr lang="en-US" dirty="0" err="1"/>
              <a:t>san</a:t>
            </a:r>
            <a:r>
              <a:rPr lang="en-US" dirty="0"/>
              <a:t> </a:t>
            </a:r>
            <a:r>
              <a:rPr lang="en-US" dirty="0" err="1"/>
              <a:t>francisco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call: </a:t>
            </a:r>
            <a:r>
              <a:rPr lang="en-US" dirty="0" err="1"/>
              <a:t>get_current_time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Function arguments: {'location': 'San Francisco’}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…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In San Francisco, the current weather is 72°C and the current time is 12:57 AM. In Paris, the current weather is 22°C and the current time is 09:57 AM.</a:t>
            </a:r>
            <a:endParaRPr lang="en-US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Access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Demos: </a:t>
            </a:r>
            <a:r>
              <a:rPr lang="en-US" dirty="0" err="1">
                <a:solidFill>
                  <a:schemeClr val="accent2"/>
                </a:solidFill>
              </a:rPr>
              <a:t>function_call_db.py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chemeClr val="accent2"/>
                </a:solidFill>
              </a:rPr>
              <a:t>function_call_db_streamlit.py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r>
              <a:rPr lang="en-US" dirty="0"/>
              <a:t>SQLite database: </a:t>
            </a:r>
            <a:r>
              <a:rPr lang="en-US" dirty="0" err="1"/>
              <a:t>fb.sqlite</a:t>
            </a:r>
            <a:r>
              <a:rPr lang="en-US" dirty="0"/>
              <a:t> (62.4MB)</a:t>
            </a:r>
            <a:endParaRPr lang="en-US" dirty="0"/>
          </a:p>
          <a:p>
            <a:r>
              <a:rPr lang="en-US" dirty="0"/>
              <a:t>Tables</a:t>
            </a:r>
            <a:endParaRPr lang="en-US" dirty="0"/>
          </a:p>
          <a:p>
            <a:pPr lvl="1"/>
            <a:r>
              <a:rPr lang="en-US" altLang="zh-CN" dirty="0" err="1"/>
              <a:t>imdb_movie_overview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IMDb</a:t>
            </a:r>
            <a:r>
              <a:rPr lang="zh-CN" altLang="en-US" dirty="0"/>
              <a:t> </a:t>
            </a:r>
            <a:r>
              <a:rPr lang="en-US" altLang="zh-CN" dirty="0"/>
              <a:t>movie</a:t>
            </a:r>
            <a:r>
              <a:rPr lang="zh-CN" altLang="en-US" dirty="0"/>
              <a:t> </a:t>
            </a:r>
            <a:r>
              <a:rPr lang="en-US" altLang="zh-CN" dirty="0"/>
              <a:t>detail (including FB page id)</a:t>
            </a:r>
            <a:endParaRPr lang="en-US" altLang="zh-CN" dirty="0"/>
          </a:p>
          <a:p>
            <a:pPr lvl="1"/>
            <a:r>
              <a:rPr lang="en-US" altLang="zh-CN" dirty="0" err="1"/>
              <a:t>boxoffice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Weekly</a:t>
            </a:r>
            <a:r>
              <a:rPr lang="zh-CN" altLang="en-US" dirty="0"/>
              <a:t> </a:t>
            </a:r>
            <a:r>
              <a:rPr lang="en-US" altLang="zh-CN" dirty="0"/>
              <a:t>box</a:t>
            </a:r>
            <a:r>
              <a:rPr lang="zh-CN" altLang="en-US" dirty="0"/>
              <a:t> </a:t>
            </a:r>
            <a:r>
              <a:rPr lang="en-US" altLang="zh-CN" dirty="0"/>
              <a:t>office</a:t>
            </a:r>
            <a:r>
              <a:rPr lang="zh-CN" altLang="en-US" dirty="0"/>
              <a:t> </a:t>
            </a:r>
            <a:r>
              <a:rPr lang="en-US" altLang="zh-CN" dirty="0"/>
              <a:t>revenue</a:t>
            </a:r>
            <a:r>
              <a:rPr lang="zh-CN" altLang="en-US" dirty="0"/>
              <a:t> </a:t>
            </a:r>
            <a:endParaRPr lang="en-US" altLang="zh-CN" dirty="0"/>
          </a:p>
          <a:p>
            <a:pPr lvl="1"/>
            <a:r>
              <a:rPr lang="en-US" altLang="zh-CN" dirty="0" err="1"/>
              <a:t>fbposts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Facebook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posts</a:t>
            </a:r>
            <a:r>
              <a:rPr lang="zh-CN" altLang="en-US" dirty="0"/>
              <a:t> </a:t>
            </a:r>
            <a:r>
              <a:rPr lang="en-US" altLang="zh-CN" dirty="0"/>
              <a:t>(i.e.,</a:t>
            </a:r>
            <a:r>
              <a:rPr lang="zh-CN" altLang="en-US" dirty="0"/>
              <a:t> </a:t>
            </a:r>
            <a:r>
              <a:rPr lang="en-US" altLang="zh-CN" dirty="0"/>
              <a:t>posts</a:t>
            </a:r>
            <a:r>
              <a:rPr lang="zh-CN" altLang="en-US" dirty="0"/>
              <a:t> </a:t>
            </a:r>
            <a:r>
              <a:rPr lang="en-US" altLang="zh-CN" dirty="0"/>
              <a:t>by</a:t>
            </a:r>
            <a:r>
              <a:rPr lang="zh-CN" altLang="en-US" dirty="0"/>
              <a:t> </a:t>
            </a:r>
            <a:r>
              <a:rPr lang="en-US" altLang="zh-CN" dirty="0"/>
              <a:t>page</a:t>
            </a:r>
            <a:r>
              <a:rPr lang="zh-CN" altLang="en-US" dirty="0"/>
              <a:t> </a:t>
            </a:r>
            <a:r>
              <a:rPr lang="en-US" altLang="zh-CN" dirty="0"/>
              <a:t>owners)</a:t>
            </a:r>
            <a:endParaRPr lang="en-US" altLang="zh-CN" dirty="0"/>
          </a:p>
          <a:p>
            <a:pPr lvl="1"/>
            <a:r>
              <a:rPr lang="en-US" dirty="0" err="1"/>
              <a:t>fandango_review</a:t>
            </a:r>
            <a:r>
              <a:rPr lang="en-US" dirty="0"/>
              <a:t>: Fandango movie reviews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SQLite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Management Tools</a:t>
            </a:r>
            <a:endParaRPr lang="en-US" dirty="0"/>
          </a:p>
          <a:p>
            <a:pPr lvl="1"/>
            <a:r>
              <a:rPr lang="en-US" dirty="0"/>
              <a:t>DB Browser for SQLite: </a:t>
            </a:r>
            <a:r>
              <a:rPr lang="en-US" dirty="0">
                <a:hlinkClick r:id="rId1"/>
              </a:rPr>
              <a:t>https://sqlitebrowser.org/</a:t>
            </a:r>
            <a:endParaRPr lang="en-US" dirty="0"/>
          </a:p>
          <a:p>
            <a:r>
              <a:rPr lang="en-US" dirty="0"/>
              <a:t>Python package: sqlite3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Sample Enquiries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What's the movie id for Life of Pi?</a:t>
            </a:r>
            <a:endParaRPr lang="en-US" dirty="0"/>
          </a:p>
          <a:p>
            <a:r>
              <a:rPr lang="en-US" dirty="0"/>
              <a:t>Can you tell me about the movie tt0454876?</a:t>
            </a:r>
            <a:endParaRPr lang="en-US" dirty="0"/>
          </a:p>
          <a:p>
            <a:r>
              <a:rPr lang="en-US" dirty="0"/>
              <a:t>Show me the weekly box office revenue for tt0454876.</a:t>
            </a:r>
            <a:endParaRPr lang="en-US" dirty="0"/>
          </a:p>
          <a:p>
            <a:r>
              <a:rPr lang="en-US" dirty="0"/>
              <a:t>Add a new movie record to the database table </a:t>
            </a:r>
            <a:r>
              <a:rPr lang="en-US" dirty="0" err="1"/>
              <a:t>imdb_movie_overview</a:t>
            </a:r>
            <a:r>
              <a:rPr lang="en-US" dirty="0"/>
              <a:t>: </a:t>
            </a:r>
            <a:r>
              <a:rPr lang="en-US" dirty="0" err="1"/>
              <a:t>imdb_id</a:t>
            </a:r>
            <a:r>
              <a:rPr lang="en-US" dirty="0"/>
              <a:t>=tt1234567, title=My Movie, …</a:t>
            </a:r>
            <a:endParaRPr lang="en-US" dirty="0"/>
          </a:p>
          <a:p>
            <a:r>
              <a:rPr lang="en-US" dirty="0"/>
              <a:t>Delete the movie tt1234567.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Access Functions</a:t>
            </a:r>
            <a:br>
              <a:rPr lang="en-US" dirty="0"/>
            </a:br>
            <a:r>
              <a:rPr lang="zh-CN" altLang="en-US" dirty="0"/>
              <a:t>根据你自己的业务逻辑添加</a:t>
            </a:r>
            <a:r>
              <a:rPr lang="en-US" altLang="zh-CN" dirty="0"/>
              <a:t>function</a:t>
            </a:r>
            <a:br>
              <a:rPr lang="en-US" altLang="zh-CN" dirty="0"/>
            </a:br>
            <a:r>
              <a:rPr lang="zh-CN" altLang="en-US" dirty="0"/>
              <a:t>原始代码非常多</a:t>
            </a:r>
            <a:r>
              <a:rPr lang="zh-CN" altLang="en-US" dirty="0"/>
              <a:t>限制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 err="1"/>
              <a:t>add_movie</a:t>
            </a:r>
            <a:endParaRPr lang="en-US" dirty="0"/>
          </a:p>
          <a:p>
            <a:r>
              <a:rPr lang="en-US" dirty="0" err="1"/>
              <a:t>delete_movie</a:t>
            </a:r>
            <a:endParaRPr lang="en-US" dirty="0"/>
          </a:p>
          <a:p>
            <a:r>
              <a:rPr lang="en-US" dirty="0" err="1"/>
              <a:t>get_imdb_id_by_title</a:t>
            </a:r>
            <a:endParaRPr lang="en-US" dirty="0"/>
          </a:p>
          <a:p>
            <a:r>
              <a:rPr lang="en-US" dirty="0" err="1"/>
              <a:t>get_movie_overview</a:t>
            </a:r>
            <a:endParaRPr lang="en-US" dirty="0"/>
          </a:p>
          <a:p>
            <a:r>
              <a:rPr lang="en-US" dirty="0" err="1"/>
              <a:t>get_boxoffice</a:t>
            </a:r>
            <a:endParaRPr lang="en-US" dirty="0"/>
          </a:p>
          <a:p>
            <a:r>
              <a:rPr lang="en-US" dirty="0" err="1"/>
              <a:t>get_fbposts</a:t>
            </a:r>
            <a:endParaRPr lang="en-US" dirty="0"/>
          </a:p>
          <a:p>
            <a:r>
              <a:rPr lang="en-US" dirty="0" err="1"/>
              <a:t>get_fandango_reviews</a:t>
            </a:r>
            <a:endParaRPr lang="en-US" dirty="0" err="1"/>
          </a:p>
          <a:p>
            <a:r>
              <a:rPr lang="en-US" dirty="0"/>
              <a:t>function calling</a:t>
            </a:r>
            <a:r>
              <a:rPr lang="zh-CN" altLang="en-US" dirty="0"/>
              <a:t>就是</a:t>
            </a:r>
            <a:r>
              <a:rPr lang="en-US" altLang="zh-CN" dirty="0"/>
              <a:t>LLM</a:t>
            </a:r>
            <a:r>
              <a:rPr lang="zh-CN" altLang="en-US" dirty="0"/>
              <a:t>和外界世界交互的基础，</a:t>
            </a:r>
            <a:r>
              <a:rPr lang="zh-CN" altLang="en-US" dirty="0"/>
              <a:t>一句话总结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Challenges and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Context Management:</a:t>
            </a:r>
            <a:endParaRPr lang="en-US" dirty="0"/>
          </a:p>
          <a:p>
            <a:pPr lvl="1"/>
            <a:r>
              <a:rPr lang="en-US" dirty="0"/>
              <a:t>Maintaining context across multiple function calls can be complex, especially in lengthy interactions. The model may struggle to remember previous inputs or outputs, leading to potential misunderstandings.</a:t>
            </a:r>
            <a:endParaRPr lang="en-US" dirty="0"/>
          </a:p>
          <a:p>
            <a:r>
              <a:rPr lang="en-US" dirty="0"/>
              <a:t>Scalability:</a:t>
            </a:r>
            <a:endParaRPr lang="en-US" dirty="0"/>
          </a:p>
          <a:p>
            <a:pPr lvl="1"/>
            <a:r>
              <a:rPr lang="en-US" dirty="0"/>
              <a:t>As the number of functions increases, managing and integrating them into the model becomes more complex. Ensuring that the model can efficiently handle a wide range of functions without performance degradation is essential.</a:t>
            </a:r>
            <a:endParaRPr lang="en-US" dirty="0"/>
          </a:p>
          <a:p>
            <a:r>
              <a:rPr lang="en-US" dirty="0"/>
              <a:t>Error Handling:</a:t>
            </a:r>
            <a:endParaRPr lang="en-US" dirty="0"/>
          </a:p>
          <a:p>
            <a:pPr lvl="1"/>
            <a:r>
              <a:rPr lang="en-US" dirty="0"/>
              <a:t>When functions encounter errors (e.g., invalid inputs or API failures), the model must effectively manage these situations. Providing clear feedback to users about errors is crucial but can be challenging.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and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Dependency on External APIs:</a:t>
            </a:r>
            <a:endParaRPr lang="en-US" dirty="0"/>
          </a:p>
          <a:p>
            <a:pPr lvl="1"/>
            <a:r>
              <a:rPr lang="en-US" dirty="0"/>
              <a:t>Many function calls rely on external services or APIs. If these services experience downtime or changes in their interfaces, it can disrupt the functionality of the model.</a:t>
            </a:r>
            <a:endParaRPr lang="en-US" dirty="0"/>
          </a:p>
          <a:p>
            <a:r>
              <a:rPr lang="en-US" dirty="0"/>
              <a:t>Data Privacy and Security:</a:t>
            </a:r>
            <a:endParaRPr lang="en-US" dirty="0"/>
          </a:p>
          <a:p>
            <a:pPr lvl="1"/>
            <a:r>
              <a:rPr lang="en-US" dirty="0"/>
              <a:t>Function calls that involve sensitive data (e.g., personal information or financial data) raise privacy concerns. Implementing robust security measures to protect user data is critical.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Take-home Assignment 3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the Chat Completions API with the Responses API in </a:t>
            </a:r>
            <a:r>
              <a:rPr lang="en-US" dirty="0" err="1">
                <a:solidFill>
                  <a:schemeClr val="accent2"/>
                </a:solidFill>
              </a:rPr>
              <a:t>function_call.py</a:t>
            </a:r>
            <a:r>
              <a:rPr lang="en-US" dirty="0"/>
              <a:t> and </a:t>
            </a:r>
            <a:r>
              <a:rPr lang="en-US" dirty="0">
                <a:solidFill>
                  <a:schemeClr val="accent2"/>
                </a:solidFill>
              </a:rPr>
              <a:t>function_call2.py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Fine Tuning Functions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Fine-tuning and too calling:</a:t>
            </a:r>
            <a:r>
              <a:rPr lang="en-US" dirty="0"/>
              <a:t> </a:t>
            </a:r>
            <a:r>
              <a:rPr lang="en-US" dirty="0">
                <a:hlinkClick r:id="rId1"/>
              </a:rPr>
              <a:t>https://learn.microsoft.com/en-us/azure/foundry/openai/how-to/fine-tuning-functions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Fine Tuning with Function Calling on Azure OpenAI Service</a:t>
            </a:r>
            <a:r>
              <a:rPr lang="en-US" dirty="0"/>
              <a:t>: </a:t>
            </a:r>
            <a:r>
              <a:rPr lang="en-US" dirty="0">
                <a:hlinkClick r:id="rId2"/>
              </a:rPr>
              <a:t>https://techcommunity.microsoft.com/t5/ai-azure-ai-services-blog/fine-tuning-with-function-calling-on-azure-openai-service/ba-p/4065968</a:t>
            </a:r>
            <a:r>
              <a:rPr 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Model Context Protocol (MCP)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47466"/>
            <a:ext cx="10515600" cy="41076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MCP Architecture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2358231"/>
            <a:ext cx="10515600" cy="3286125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Microsoft Learn MCP Server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Endpoint: </a:t>
            </a:r>
            <a:r>
              <a:rPr lang="en-US" dirty="0">
                <a:hlinkClick r:id="rId1"/>
              </a:rPr>
              <a:t>https://learn.microsoft.com/api/mcp</a:t>
            </a:r>
            <a:endParaRPr lang="en-US" dirty="0"/>
          </a:p>
          <a:p>
            <a:r>
              <a:rPr lang="en-US" dirty="0"/>
              <a:t>Functions:</a:t>
            </a:r>
            <a:endParaRPr lang="en-US" dirty="0"/>
          </a:p>
          <a:p>
            <a:pPr lvl="1"/>
            <a:r>
              <a:rPr lang="en-US" dirty="0"/>
              <a:t>Microsoft Docs Search: Search Microsoft’s official documentation (Learn, Azure, etc.) to quickly find relevant articles, how‑to guides, troubleshooting steps, and official explanations.</a:t>
            </a:r>
            <a:endParaRPr lang="en-US" dirty="0"/>
          </a:p>
          <a:p>
            <a:pPr lvl="1"/>
            <a:r>
              <a:rPr lang="en-US" dirty="0"/>
              <a:t>Microsoft Docs Fetch: Retrieve the full markdown content of a specific documentation page—useful for detailed procedures, code snippets, diagrams, and troubleshooting after identifying a page via search.</a:t>
            </a:r>
            <a:endParaRPr lang="en-US" dirty="0"/>
          </a:p>
          <a:p>
            <a:pPr lvl="1"/>
            <a:r>
              <a:rPr lang="en-US" dirty="0"/>
              <a:t>Microsoft Code Sample Search: Find official Microsoft code examples by querying SDKs, functions, or classes, with optional language filters (e.g., C#, Python, Azure CLI).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26/4/8Microsoft Learn MCP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Queries:</a:t>
            </a:r>
            <a:endParaRPr lang="en-US" dirty="0"/>
          </a:p>
          <a:p>
            <a:pPr lvl="1"/>
            <a:r>
              <a:rPr lang="en-US" dirty="0"/>
              <a:t>What functions are available</a:t>
            </a:r>
            <a:endParaRPr lang="en-US" dirty="0"/>
          </a:p>
          <a:p>
            <a:pPr lvl="1"/>
            <a:r>
              <a:rPr lang="en-US" dirty="0"/>
              <a:t>Show me the available regions for gpt-5-mini model on Azure</a:t>
            </a:r>
            <a:endParaRPr lang="en-US" dirty="0"/>
          </a:p>
          <a:p>
            <a:pPr lvl="1"/>
            <a:r>
              <a:rPr lang="en-US" dirty="0"/>
              <a:t>How to upgrade a free AI search resource on Azure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Python code: </a:t>
            </a:r>
            <a:r>
              <a:rPr lang="en-US" dirty="0" err="1">
                <a:solidFill>
                  <a:schemeClr val="accent2"/>
                </a:solidFill>
              </a:rPr>
              <a:t>agent_mcp_mslearn.py</a:t>
            </a:r>
            <a:endParaRPr lang="en-US" dirty="0">
              <a:solidFill>
                <a:schemeClr val="accent2"/>
              </a:solidFill>
            </a:endParaRPr>
          </a:p>
          <a:p>
            <a:pPr lvl="1"/>
            <a:r>
              <a:rPr lang="en-US" dirty="0"/>
              <a:t>Initialize a MCP tool</a:t>
            </a:r>
            <a:endParaRPr lang="en-US" dirty="0"/>
          </a:p>
          <a:p>
            <a:pPr lvl="1"/>
            <a:r>
              <a:rPr lang="en-US" dirty="0"/>
              <a:t>Create an agent with access to this MCP tool</a:t>
            </a:r>
            <a:endParaRPr lang="en-US" dirty="0"/>
          </a:p>
          <a:p>
            <a:pPr lvl="1"/>
            <a:r>
              <a:rPr lang="zh-CN" altLang="en-US" dirty="0"/>
              <a:t>功能：含有最新</a:t>
            </a:r>
            <a:r>
              <a:rPr lang="en-US" altLang="zh-CN" dirty="0"/>
              <a:t>LLM</a:t>
            </a:r>
            <a:r>
              <a:rPr lang="zh-CN" altLang="en-US" dirty="0"/>
              <a:t>知识库</a:t>
            </a:r>
            <a:r>
              <a:rPr lang="zh-CN" altLang="en-US" dirty="0"/>
              <a:t>方便查询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2"/>
                </a:solidFill>
              </a:rPr>
              <a:t>DefaultAzureCredential</a:t>
            </a:r>
            <a:r>
              <a:rPr lang="en-US" dirty="0">
                <a:solidFill>
                  <a:schemeClr val="accent2"/>
                </a:solidFill>
              </a:rPr>
              <a:t>()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Register on Azure Portal and claim your free student subscription</a:t>
            </a:r>
            <a:endParaRPr lang="en-US" dirty="0"/>
          </a:p>
          <a:p>
            <a:r>
              <a:rPr lang="en-US" dirty="0"/>
              <a:t>Install Azure Command-Line Interface (CLI) on your computer</a:t>
            </a:r>
            <a:endParaRPr lang="en-US" dirty="0"/>
          </a:p>
          <a:p>
            <a:pPr lvl="1"/>
            <a:r>
              <a:rPr lang="en-US" dirty="0">
                <a:hlinkClick r:id="rId1"/>
              </a:rPr>
              <a:t>https://learn.microsoft.com/en-us/cli/azure/?view=azure-cli-latest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Run </a:t>
            </a:r>
            <a:r>
              <a:rPr lang="en-US" dirty="0" err="1"/>
              <a:t>az</a:t>
            </a:r>
            <a:r>
              <a:rPr lang="en-US" dirty="0"/>
              <a:t> login to login with your </a:t>
            </a:r>
            <a:r>
              <a:rPr lang="en-US" dirty="0" err="1"/>
              <a:t>hku</a:t>
            </a:r>
            <a:r>
              <a:rPr lang="en-US" dirty="0"/>
              <a:t> email address and select your student subscription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https://learn.microsoft.com/en-us/cli/azure/get-started-with-azure-cli?view=azure-cli-latest</a:t>
            </a:r>
            <a:r>
              <a:rPr lang="en-US" dirty="0"/>
              <a:t> </a:t>
            </a:r>
            <a:endParaRPr lang="en-US" dirty="0"/>
          </a:p>
          <a:p>
            <a:r>
              <a:rPr lang="en-US" dirty="0"/>
              <a:t>Create a Foundry project on Azure and update the four environment variables starting with “</a:t>
            </a:r>
            <a:r>
              <a:rPr lang="en-US" dirty="0"/>
              <a:t>FOUNDRY_PROJECT_” in the</a:t>
            </a:r>
            <a:r>
              <a:rPr lang="en-US" dirty="0"/>
              <a:t> .env file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https://microsoftlearning.github.io/mslearn-ai-studio/Instructions/Exercises/01-Explore-ai-studio.html</a:t>
            </a:r>
            <a:r>
              <a:rPr lang="en-US" dirty="0"/>
              <a:t>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MCP 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Code: </a:t>
            </a:r>
            <a:r>
              <a:rPr lang="en-US" dirty="0" err="1">
                <a:solidFill>
                  <a:schemeClr val="accent2"/>
                </a:solidFill>
              </a:rPr>
              <a:t>agent_mcp_github.py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r>
              <a:rPr lang="en-US" dirty="0"/>
              <a:t>Set up the MCP tool on the Tools page in Microsoft Foundry</a:t>
            </a:r>
            <a:endParaRPr lang="en-US" dirty="0"/>
          </a:p>
          <a:p>
            <a:pPr lvl="1"/>
            <a:r>
              <a:rPr lang="en-US" dirty="0"/>
              <a:t>Catalog: GitHub + your </a:t>
            </a:r>
            <a:r>
              <a:rPr lang="en-US" dirty="0"/>
              <a:t>Personal Access Token in the Bearer field</a:t>
            </a:r>
            <a:endParaRPr lang="en-US" dirty="0"/>
          </a:p>
          <a:p>
            <a:pPr lvl="1"/>
            <a:r>
              <a:rPr lang="en-US" dirty="0"/>
              <a:t>Custom: </a:t>
            </a:r>
            <a:r>
              <a:rPr lang="en-US" dirty="0"/>
              <a:t>Model Context Protocol (MCP)</a:t>
            </a:r>
            <a:endParaRPr lang="en-US" dirty="0"/>
          </a:p>
          <a:p>
            <a:pPr lvl="2"/>
            <a:r>
              <a:rPr lang="en-US" dirty="0"/>
              <a:t>Name: </a:t>
            </a:r>
            <a:r>
              <a:rPr lang="en-US" dirty="0" err="1"/>
              <a:t>github</a:t>
            </a:r>
            <a:r>
              <a:rPr lang="en-US" dirty="0"/>
              <a:t>-copilot (specified by you)</a:t>
            </a:r>
            <a:endParaRPr lang="en-US" dirty="0"/>
          </a:p>
          <a:p>
            <a:pPr lvl="2"/>
            <a:r>
              <a:rPr lang="en-US" dirty="0"/>
              <a:t>Remote MCP server endpoint: </a:t>
            </a:r>
            <a:r>
              <a:rPr lang="en-US" dirty="0">
                <a:hlinkClick r:id="rId1"/>
              </a:rPr>
              <a:t>https://api.githubcopilot.com/mcp/</a:t>
            </a:r>
            <a:endParaRPr lang="en-US" dirty="0"/>
          </a:p>
          <a:p>
            <a:pPr lvl="2"/>
            <a:r>
              <a:rPr lang="en-US" dirty="0"/>
              <a:t>Authentication: Key-based</a:t>
            </a:r>
            <a:endParaRPr lang="en-US" dirty="0"/>
          </a:p>
          <a:p>
            <a:pPr lvl="2"/>
            <a:r>
              <a:rPr lang="en-US" dirty="0"/>
              <a:t>Key: Authorization</a:t>
            </a:r>
            <a:endParaRPr lang="en-US" dirty="0"/>
          </a:p>
          <a:p>
            <a:pPr lvl="2"/>
            <a:r>
              <a:rPr lang="en-US" dirty="0"/>
              <a:t>Value: your GitHub Personal Access Token</a:t>
            </a:r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GitHub Personal Access Token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Log in</a:t>
            </a:r>
            <a:r>
              <a:rPr lang="en-US" dirty="0"/>
              <a:t> to your GitHub account.</a:t>
            </a:r>
            <a:endParaRPr lang="en-US" dirty="0"/>
          </a:p>
          <a:p>
            <a:r>
              <a:rPr lang="en-US" b="1" dirty="0"/>
              <a:t>Navigate</a:t>
            </a:r>
            <a:r>
              <a:rPr lang="en-US" dirty="0"/>
              <a:t> to your profile picture in the upper-right corner and select </a:t>
            </a:r>
            <a:r>
              <a:rPr lang="en-US" b="1" dirty="0"/>
              <a:t>Settings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In the left sidebar, scroll down and click </a:t>
            </a:r>
            <a:r>
              <a:rPr lang="en-US" b="1" dirty="0"/>
              <a:t>Developer settings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In the left sidebar, under "Personal access tokens," select either </a:t>
            </a:r>
            <a:r>
              <a:rPr lang="en-US" b="1" dirty="0"/>
              <a:t>Fine-grained tokens</a:t>
            </a:r>
            <a:r>
              <a:rPr lang="en-US" dirty="0"/>
              <a:t> or </a:t>
            </a:r>
            <a:r>
              <a:rPr lang="en-US" b="1" dirty="0"/>
              <a:t>Tokens (classic)</a:t>
            </a:r>
            <a:r>
              <a:rPr lang="en-US" dirty="0"/>
              <a:t>.</a:t>
            </a:r>
            <a:endParaRPr lang="en-US" dirty="0"/>
          </a:p>
          <a:p>
            <a:r>
              <a:rPr lang="en-US" dirty="0"/>
              <a:t>Click </a:t>
            </a:r>
            <a:r>
              <a:rPr lang="en-US" b="1" dirty="0"/>
              <a:t>Generate new token</a:t>
            </a:r>
            <a:r>
              <a:rPr lang="en-US" dirty="0"/>
              <a:t> (or </a:t>
            </a:r>
            <a:r>
              <a:rPr lang="en-US" b="1" dirty="0"/>
              <a:t>Generate new token (classic)</a:t>
            </a:r>
            <a:r>
              <a:rPr lang="en-US" dirty="0"/>
              <a:t>).</a:t>
            </a:r>
            <a:endParaRPr lang="en-US" dirty="0"/>
          </a:p>
          <a:p>
            <a:r>
              <a:rPr lang="en-US" b="1" dirty="0"/>
              <a:t>Provide a name</a:t>
            </a:r>
            <a:r>
              <a:rPr lang="en-US" dirty="0"/>
              <a:t> and </a:t>
            </a:r>
            <a:r>
              <a:rPr lang="en-US" b="1" dirty="0"/>
              <a:t>set an expiration</a:t>
            </a:r>
            <a:r>
              <a:rPr lang="en-US" dirty="0"/>
              <a:t> date for the token.</a:t>
            </a:r>
            <a:endParaRPr lang="en-US" dirty="0"/>
          </a:p>
          <a:p>
            <a:r>
              <a:rPr lang="en-US" b="1" dirty="0"/>
              <a:t>Select the appropriate permissions/scopes</a:t>
            </a:r>
            <a:r>
              <a:rPr lang="en-US" dirty="0"/>
              <a:t> required for your task. For command-line access to repositories, the repo scope is typically needed for classic tokens. For fine-grained tokens, you can select specific repositories and granular permissions.</a:t>
            </a:r>
            <a:endParaRPr lang="en-US" dirty="0"/>
          </a:p>
          <a:p>
            <a:r>
              <a:rPr lang="en-US" dirty="0"/>
              <a:t>Click </a:t>
            </a:r>
            <a:r>
              <a:rPr lang="en-US" b="1" dirty="0"/>
              <a:t>Generate token</a:t>
            </a:r>
            <a:r>
              <a:rPr lang="en-US" dirty="0"/>
              <a:t>.</a:t>
            </a:r>
            <a:endParaRPr lang="en-US" dirty="0"/>
          </a:p>
          <a:p>
            <a:r>
              <a:rPr lang="en-US" b="1" dirty="0"/>
              <a:t>Copy the generated token immediately</a:t>
            </a:r>
            <a:r>
              <a:rPr lang="en-US" dirty="0"/>
              <a:t>. For security, you will not be able to see it again once you leave the page. Store it in a secure location, like a password manager.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8CBF50-853B-304C-BCA2-DB5146F0D4EA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12695</Words>
  <Application>WPS 演示</Application>
  <PresentationFormat>Widescreen</PresentationFormat>
  <Paragraphs>340</Paragraphs>
  <Slides>32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Arial</vt:lpstr>
      <vt:lpstr>宋体</vt:lpstr>
      <vt:lpstr>Wingdings</vt:lpstr>
      <vt:lpstr>Calibri Light</vt:lpstr>
      <vt:lpstr>Calibri</vt:lpstr>
      <vt:lpstr>微软雅黑</vt:lpstr>
      <vt:lpstr>Arial Unicode MS</vt:lpstr>
      <vt:lpstr>等线</vt:lpstr>
      <vt:lpstr>等线 Light</vt:lpstr>
      <vt:lpstr>Office Theme</vt:lpstr>
      <vt:lpstr>Function Calling</vt:lpstr>
      <vt:lpstr>LLM Use Cases and Tasks</vt:lpstr>
      <vt:lpstr>Function Calling</vt:lpstr>
      <vt:lpstr>Role of Function Calling in LLMs</vt:lpstr>
      <vt:lpstr>Technical Implementation Steps</vt:lpstr>
      <vt:lpstr>Technical Implementation Steps</vt:lpstr>
      <vt:lpstr>Technical Implementation Steps</vt:lpstr>
      <vt:lpstr>PowerPoint 演示文稿</vt:lpstr>
      <vt:lpstr>Function calling example</vt:lpstr>
      <vt:lpstr>Single function calling</vt:lpstr>
      <vt:lpstr>Real-time Weather Info</vt:lpstr>
      <vt:lpstr>Parallel function calling</vt:lpstr>
      <vt:lpstr>Parallel function calling</vt:lpstr>
      <vt:lpstr>Parallel function calling</vt:lpstr>
      <vt:lpstr>Parallel function calling with multiple functions</vt:lpstr>
      <vt:lpstr>Parallel function calling with multiple functions</vt:lpstr>
      <vt:lpstr>Parallel function calling with multiple functions</vt:lpstr>
      <vt:lpstr>Database Access</vt:lpstr>
      <vt:lpstr>SQLite Database</vt:lpstr>
      <vt:lpstr>Sample Enquiries</vt:lpstr>
      <vt:lpstr>Database Access Functions 根据你自己的业务逻辑添加function 原始代码非常多限制</vt:lpstr>
      <vt:lpstr>Challenges and Limitations</vt:lpstr>
      <vt:lpstr>Challenges and Limitations</vt:lpstr>
      <vt:lpstr>Take-home Assignment 3</vt:lpstr>
      <vt:lpstr>Fine Tuning Functions</vt:lpstr>
      <vt:lpstr>Model Context Protocol (MCP)</vt:lpstr>
      <vt:lpstr>MCP Architecture</vt:lpstr>
      <vt:lpstr>Microsoft Learn MCP Server</vt:lpstr>
      <vt:lpstr>Microsoft Learn MCP Server</vt:lpstr>
      <vt:lpstr>DefaultAzureCredential()</vt:lpstr>
      <vt:lpstr>GitHub MCP Server</vt:lpstr>
      <vt:lpstr>How to Create a GitHub Personal Access Token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Knowledge Mining</dc:title>
  <dc:creator>Hailiang Chen</dc:creator>
  <cp:lastModifiedBy>WPS_1636963851</cp:lastModifiedBy>
  <cp:revision>656</cp:revision>
  <dcterms:created xsi:type="dcterms:W3CDTF">2021-01-12T07:59:00Z</dcterms:created>
  <dcterms:modified xsi:type="dcterms:W3CDTF">2026-04-08T02:40:31Z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E853BC7341114B49B817F6374C149BE9_12</vt:lpwstr>
  </property>
</Properties>
</file>