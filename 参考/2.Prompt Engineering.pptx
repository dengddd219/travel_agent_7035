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70"/>
  </p:notesMasterIdLst>
  <p:sldIdLst>
    <p:sldId id="256" r:id="rId2"/>
    <p:sldId id="2061898238" r:id="rId3"/>
    <p:sldId id="2061898137" r:id="rId4"/>
    <p:sldId id="2061898138" r:id="rId5"/>
    <p:sldId id="2061898146" r:id="rId6"/>
    <p:sldId id="2061898242" r:id="rId7"/>
    <p:sldId id="2061898194" r:id="rId8"/>
    <p:sldId id="2061898151" r:id="rId9"/>
    <p:sldId id="2061898195" r:id="rId10"/>
    <p:sldId id="2061898152" r:id="rId11"/>
    <p:sldId id="2061898157" r:id="rId12"/>
    <p:sldId id="2061898153" r:id="rId13"/>
    <p:sldId id="2061898154" r:id="rId14"/>
    <p:sldId id="2061898155" r:id="rId15"/>
    <p:sldId id="2061898156" r:id="rId16"/>
    <p:sldId id="2061898199" r:id="rId17"/>
    <p:sldId id="273" r:id="rId18"/>
    <p:sldId id="2061898158" r:id="rId19"/>
    <p:sldId id="2061898243" r:id="rId20"/>
    <p:sldId id="2061898159" r:id="rId21"/>
    <p:sldId id="2061898160" r:id="rId22"/>
    <p:sldId id="2061898239" r:id="rId23"/>
    <p:sldId id="2061898161" r:id="rId24"/>
    <p:sldId id="2061898162" r:id="rId25"/>
    <p:sldId id="2061898241" r:id="rId26"/>
    <p:sldId id="2061898240" r:id="rId27"/>
    <p:sldId id="2061898141" r:id="rId28"/>
    <p:sldId id="2061898142" r:id="rId29"/>
    <p:sldId id="2061898200" r:id="rId30"/>
    <p:sldId id="2061898201" r:id="rId31"/>
    <p:sldId id="2061898207" r:id="rId32"/>
    <p:sldId id="2061898208" r:id="rId33"/>
    <p:sldId id="2061898196" r:id="rId34"/>
    <p:sldId id="2061898197" r:id="rId35"/>
    <p:sldId id="2061898209" r:id="rId36"/>
    <p:sldId id="2061898210" r:id="rId37"/>
    <p:sldId id="2061898211" r:id="rId38"/>
    <p:sldId id="2061898212" r:id="rId39"/>
    <p:sldId id="2061898213" r:id="rId40"/>
    <p:sldId id="2061898214" r:id="rId41"/>
    <p:sldId id="2061898202" r:id="rId42"/>
    <p:sldId id="2061898215" r:id="rId43"/>
    <p:sldId id="2061898216" r:id="rId44"/>
    <p:sldId id="2061898203" r:id="rId45"/>
    <p:sldId id="2061898217" r:id="rId46"/>
    <p:sldId id="2061898218" r:id="rId47"/>
    <p:sldId id="2061898219" r:id="rId48"/>
    <p:sldId id="2061898220" r:id="rId49"/>
    <p:sldId id="2061898204" r:id="rId50"/>
    <p:sldId id="2061898221" r:id="rId51"/>
    <p:sldId id="2061898222" r:id="rId52"/>
    <p:sldId id="2061898224" r:id="rId53"/>
    <p:sldId id="2061898223" r:id="rId54"/>
    <p:sldId id="2061898225" r:id="rId55"/>
    <p:sldId id="2061898205" r:id="rId56"/>
    <p:sldId id="2061898226" r:id="rId57"/>
    <p:sldId id="2061898227" r:id="rId58"/>
    <p:sldId id="2061898228" r:id="rId59"/>
    <p:sldId id="2061898229" r:id="rId60"/>
    <p:sldId id="2061898206" r:id="rId61"/>
    <p:sldId id="2061898230" r:id="rId62"/>
    <p:sldId id="2061898231" r:id="rId63"/>
    <p:sldId id="2061898232" r:id="rId64"/>
    <p:sldId id="2061898233" r:id="rId65"/>
    <p:sldId id="2061898234" r:id="rId66"/>
    <p:sldId id="2061898235" r:id="rId67"/>
    <p:sldId id="2061898237" r:id="rId68"/>
    <p:sldId id="2061898236"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D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13"/>
    <p:restoredTop sz="81911"/>
  </p:normalViewPr>
  <p:slideViewPr>
    <p:cSldViewPr snapToGrid="0" snapToObjects="1">
      <p:cViewPr varScale="1">
        <p:scale>
          <a:sx n="112" d="100"/>
          <a:sy n="112" d="100"/>
        </p:scale>
        <p:origin x="3248" y="480"/>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915E8-0D14-5A47-A140-2DDA56A25C59}" type="datetimeFigureOut">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4E518-724E-624D-9EAD-82F09AF346EF}" type="slidenum">
              <a:t>‹#›</a:t>
            </a:fld>
            <a:endParaRPr lang="en-US"/>
          </a:p>
        </p:txBody>
      </p:sp>
    </p:spTree>
    <p:extLst>
      <p:ext uri="{BB962C8B-B14F-4D97-AF65-F5344CB8AC3E}">
        <p14:creationId xmlns:p14="http://schemas.microsoft.com/office/powerpoint/2010/main" val="185975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6</a:t>
            </a:fld>
            <a:endParaRPr lang="en-HK"/>
          </a:p>
        </p:txBody>
      </p:sp>
    </p:spTree>
    <p:extLst>
      <p:ext uri="{BB962C8B-B14F-4D97-AF65-F5344CB8AC3E}">
        <p14:creationId xmlns:p14="http://schemas.microsoft.com/office/powerpoint/2010/main" val="1753527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21</a:t>
            </a:fld>
            <a:endParaRPr lang="en-HK"/>
          </a:p>
        </p:txBody>
      </p:sp>
    </p:spTree>
    <p:extLst>
      <p:ext uri="{BB962C8B-B14F-4D97-AF65-F5344CB8AC3E}">
        <p14:creationId xmlns:p14="http://schemas.microsoft.com/office/powerpoint/2010/main" val="1800069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22</a:t>
            </a:fld>
            <a:endParaRPr lang="en-HK"/>
          </a:p>
        </p:txBody>
      </p:sp>
    </p:spTree>
    <p:extLst>
      <p:ext uri="{BB962C8B-B14F-4D97-AF65-F5344CB8AC3E}">
        <p14:creationId xmlns:p14="http://schemas.microsoft.com/office/powerpoint/2010/main" val="2197936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GPT3.5 performs better than GPT4</a:t>
            </a:r>
          </a:p>
          <a:p>
            <a:endParaRPr lang="en-US" dirty="0"/>
          </a:p>
          <a:p>
            <a:pPr algn="l"/>
            <a:r>
              <a:rPr lang="en-HK" b="0" i="0" dirty="0">
                <a:effectLst/>
                <a:latin typeface="Roboto" panose="02000000000000000000" pitchFamily="2" charset="0"/>
              </a:rPr>
              <a:t>SYSTEM</a:t>
            </a:r>
          </a:p>
          <a:p>
            <a:pPr algn="l"/>
            <a:r>
              <a:rPr lang="en-HK" b="0" i="0" dirty="0">
                <a:effectLst/>
                <a:latin typeface="Roboto" panose="02000000000000000000" pitchFamily="2" charset="0"/>
              </a:rPr>
              <a:t>Determine if the student's solution is correct or not.</a:t>
            </a:r>
          </a:p>
          <a:p>
            <a:pPr algn="l"/>
            <a:r>
              <a:rPr lang="en-HK" b="0" i="0" dirty="0">
                <a:effectLst/>
                <a:latin typeface="Roboto" panose="02000000000000000000" pitchFamily="2" charset="0"/>
              </a:rPr>
              <a:t>USER</a:t>
            </a:r>
          </a:p>
          <a:p>
            <a:pPr algn="l"/>
            <a:r>
              <a:rPr lang="en-HK" b="0" i="0" dirty="0">
                <a:effectLst/>
                <a:latin typeface="Roboto" panose="02000000000000000000" pitchFamily="2" charset="0"/>
              </a:rPr>
              <a:t>Problem Statement: I'm building a solar power installation and I need help working out the financials.</a:t>
            </a:r>
          </a:p>
          <a:p>
            <a:pPr algn="l"/>
            <a:r>
              <a:rPr lang="en-HK" b="0" i="0" dirty="0">
                <a:effectLst/>
                <a:latin typeface="Roboto" panose="02000000000000000000" pitchFamily="2" charset="0"/>
              </a:rPr>
              <a:t>- Land costs $100 / square foot</a:t>
            </a:r>
          </a:p>
          <a:p>
            <a:pPr algn="l"/>
            <a:r>
              <a:rPr lang="en-HK" b="0" i="0" dirty="0">
                <a:effectLst/>
                <a:latin typeface="Roboto" panose="02000000000000000000" pitchFamily="2" charset="0"/>
              </a:rPr>
              <a:t>- I can buy solar panels for $250 / square foot</a:t>
            </a:r>
          </a:p>
          <a:p>
            <a:pPr algn="l"/>
            <a:r>
              <a:rPr lang="en-HK" b="0" i="0" dirty="0">
                <a:effectLst/>
                <a:latin typeface="Roboto" panose="02000000000000000000" pitchFamily="2" charset="0"/>
              </a:rPr>
              <a:t>- I negotiated a contract for maintenance that will cost me a flat $100k per year, and an additional $10 / square foot</a:t>
            </a:r>
          </a:p>
          <a:p>
            <a:pPr algn="l"/>
            <a:r>
              <a:rPr lang="en-HK" b="0" i="0" dirty="0">
                <a:effectLst/>
                <a:latin typeface="Roboto" panose="02000000000000000000" pitchFamily="2" charset="0"/>
              </a:rPr>
              <a:t>What is the total cost for the first year of operations as a function of the number of square feet.</a:t>
            </a:r>
          </a:p>
          <a:p>
            <a:pPr algn="l"/>
            <a:r>
              <a:rPr lang="en-HK" b="0" i="0" dirty="0">
                <a:effectLst/>
                <a:latin typeface="Roboto" panose="02000000000000000000" pitchFamily="2" charset="0"/>
              </a:rPr>
              <a:t>Student's Solution: Let x be the size of the installation in square feet.</a:t>
            </a:r>
          </a:p>
          <a:p>
            <a:pPr algn="l"/>
            <a:r>
              <a:rPr lang="en-HK" b="0" i="0" dirty="0">
                <a:effectLst/>
                <a:latin typeface="Roboto" panose="02000000000000000000" pitchFamily="2" charset="0"/>
              </a:rPr>
              <a:t>1. Land cost: 100x</a:t>
            </a:r>
          </a:p>
          <a:p>
            <a:pPr algn="l"/>
            <a:r>
              <a:rPr lang="en-HK" b="0" i="0" dirty="0">
                <a:effectLst/>
                <a:latin typeface="Roboto" panose="02000000000000000000" pitchFamily="2" charset="0"/>
              </a:rPr>
              <a:t>2. Solar panel cost: 250x</a:t>
            </a:r>
          </a:p>
          <a:p>
            <a:pPr algn="l"/>
            <a:r>
              <a:rPr lang="en-HK" b="0" i="0" dirty="0">
                <a:effectLst/>
                <a:latin typeface="Roboto" panose="02000000000000000000" pitchFamily="2" charset="0"/>
              </a:rPr>
              <a:t>3. Maintenance cost: 100,000 + 100x</a:t>
            </a:r>
          </a:p>
          <a:p>
            <a:pPr algn="l"/>
            <a:r>
              <a:rPr lang="en-HK" b="0" i="0" dirty="0">
                <a:effectLst/>
                <a:latin typeface="Roboto" panose="02000000000000000000" pitchFamily="2" charset="0"/>
              </a:rPr>
              <a:t>Total cost: 100x + 250x + 100,000 + 100x = 450x + 100,000</a:t>
            </a:r>
          </a:p>
          <a:p>
            <a:endParaRPr lang="en-US" dirty="0"/>
          </a:p>
          <a:p>
            <a:pPr algn="l">
              <a:spcBef>
                <a:spcPts val="750"/>
              </a:spcBef>
              <a:spcAft>
                <a:spcPts val="375"/>
              </a:spcAft>
            </a:pPr>
            <a:r>
              <a:rPr lang="en-HK" b="1" i="0" dirty="0">
                <a:solidFill>
                  <a:srgbClr val="A730D0"/>
                </a:solidFill>
                <a:effectLst/>
                <a:latin typeface="Roboto" panose="02000000000000000000" pitchFamily="2" charset="0"/>
              </a:rPr>
              <a:t>GPT-3.5</a:t>
            </a:r>
          </a:p>
          <a:p>
            <a:pPr algn="ctr">
              <a:spcBef>
                <a:spcPts val="900"/>
              </a:spcBef>
              <a:spcAft>
                <a:spcPts val="375"/>
              </a:spcAft>
            </a:pPr>
            <a:r>
              <a:rPr lang="en-HK" b="0" i="0" dirty="0">
                <a:solidFill>
                  <a:srgbClr val="BDBDBD"/>
                </a:solidFill>
                <a:effectLst/>
                <a:latin typeface="Roboto" panose="02000000000000000000" pitchFamily="2" charset="0"/>
              </a:rPr>
              <a:t>(Tokens used 432)</a:t>
            </a:r>
          </a:p>
          <a:p>
            <a:pPr algn="l">
              <a:spcBef>
                <a:spcPts val="900"/>
              </a:spcBef>
              <a:spcAft>
                <a:spcPts val="375"/>
              </a:spcAft>
            </a:pPr>
            <a:r>
              <a:rPr lang="en-HK" b="0" i="0" dirty="0">
                <a:effectLst/>
                <a:latin typeface="Roboto" panose="02000000000000000000" pitchFamily="2" charset="0"/>
              </a:rPr>
              <a:t>To determine if the student's solution is correct, let's </a:t>
            </a:r>
            <a:r>
              <a:rPr lang="en-HK" b="0" i="0" dirty="0" err="1">
                <a:effectLst/>
                <a:latin typeface="Roboto" panose="02000000000000000000" pitchFamily="2" charset="0"/>
              </a:rPr>
              <a:t>analyze</a:t>
            </a:r>
            <a:r>
              <a:rPr lang="en-HK" b="0" i="0" dirty="0">
                <a:effectLst/>
                <a:latin typeface="Roboto" panose="02000000000000000000" pitchFamily="2" charset="0"/>
              </a:rPr>
              <a:t> the calculations step by step:</a:t>
            </a:r>
          </a:p>
          <a:p>
            <a:pPr algn="l">
              <a:spcBef>
                <a:spcPts val="900"/>
              </a:spcBef>
              <a:spcAft>
                <a:spcPts val="375"/>
              </a:spcAft>
              <a:buFont typeface="+mj-lt"/>
              <a:buAutoNum type="arabicPeriod"/>
            </a:pPr>
            <a:r>
              <a:rPr lang="en-HK" b="0" i="0" dirty="0">
                <a:effectLst/>
                <a:latin typeface="Roboto" panose="02000000000000000000" pitchFamily="2" charset="0"/>
              </a:rPr>
              <a:t>Land cost: $100 / square foot</a:t>
            </a:r>
          </a:p>
          <a:p>
            <a:pPr marL="742950" lvl="1" indent="-285750" algn="l">
              <a:spcBef>
                <a:spcPts val="900"/>
              </a:spcBef>
              <a:spcAft>
                <a:spcPts val="375"/>
              </a:spcAft>
              <a:buFont typeface="+mj-lt"/>
              <a:buAutoNum type="arabicPeriod"/>
            </a:pPr>
            <a:r>
              <a:rPr lang="en-HK" b="0" i="0" dirty="0">
                <a:effectLst/>
                <a:latin typeface="Roboto" panose="02000000000000000000" pitchFamily="2" charset="0"/>
              </a:rPr>
              <a:t>Correct: 100x</a:t>
            </a:r>
          </a:p>
          <a:p>
            <a:pPr algn="l">
              <a:spcBef>
                <a:spcPts val="900"/>
              </a:spcBef>
              <a:spcAft>
                <a:spcPts val="375"/>
              </a:spcAft>
              <a:buFont typeface="+mj-lt"/>
              <a:buAutoNum type="arabicPeriod"/>
            </a:pPr>
            <a:r>
              <a:rPr lang="en-HK" b="0" i="0" dirty="0">
                <a:effectLst/>
                <a:latin typeface="Roboto" panose="02000000000000000000" pitchFamily="2" charset="0"/>
              </a:rPr>
              <a:t>Solar panel cost: $250 / square foot</a:t>
            </a:r>
          </a:p>
          <a:p>
            <a:pPr marL="742950" lvl="1" indent="-285750" algn="l">
              <a:spcBef>
                <a:spcPts val="900"/>
              </a:spcBef>
              <a:spcAft>
                <a:spcPts val="375"/>
              </a:spcAft>
              <a:buFont typeface="+mj-lt"/>
              <a:buAutoNum type="arabicPeriod"/>
            </a:pPr>
            <a:r>
              <a:rPr lang="en-HK" b="0" i="0" dirty="0">
                <a:effectLst/>
                <a:latin typeface="Roboto" panose="02000000000000000000" pitchFamily="2" charset="0"/>
              </a:rPr>
              <a:t>Correct: 250x</a:t>
            </a:r>
          </a:p>
          <a:p>
            <a:pPr algn="l">
              <a:spcBef>
                <a:spcPts val="900"/>
              </a:spcBef>
              <a:spcAft>
                <a:spcPts val="375"/>
              </a:spcAft>
              <a:buFont typeface="+mj-lt"/>
              <a:buAutoNum type="arabicPeriod"/>
            </a:pPr>
            <a:r>
              <a:rPr lang="en-HK" b="0" i="0" dirty="0">
                <a:effectLst/>
                <a:latin typeface="Roboto" panose="02000000000000000000" pitchFamily="2" charset="0"/>
              </a:rPr>
              <a:t>Maintenance cost:</a:t>
            </a:r>
          </a:p>
          <a:p>
            <a:pPr marL="742950" lvl="1" indent="-285750" algn="l">
              <a:spcBef>
                <a:spcPts val="900"/>
              </a:spcBef>
              <a:spcAft>
                <a:spcPts val="375"/>
              </a:spcAft>
              <a:buFont typeface="+mj-lt"/>
              <a:buAutoNum type="arabicPeriod"/>
            </a:pPr>
            <a:r>
              <a:rPr lang="en-HK" b="0" i="0" dirty="0">
                <a:effectLst/>
                <a:latin typeface="Roboto" panose="02000000000000000000" pitchFamily="2" charset="0"/>
              </a:rPr>
              <a:t>Flat fee of $100,000 per year</a:t>
            </a:r>
          </a:p>
          <a:p>
            <a:pPr marL="742950" lvl="1" indent="-285750" algn="l">
              <a:spcBef>
                <a:spcPts val="900"/>
              </a:spcBef>
              <a:spcAft>
                <a:spcPts val="375"/>
              </a:spcAft>
              <a:buFont typeface="+mj-lt"/>
              <a:buAutoNum type="arabicPeriod"/>
            </a:pPr>
            <a:r>
              <a:rPr lang="en-HK" b="0" i="0" dirty="0">
                <a:effectLst/>
                <a:latin typeface="Roboto" panose="02000000000000000000" pitchFamily="2" charset="0"/>
              </a:rPr>
              <a:t>Additional $10 / square foot</a:t>
            </a:r>
          </a:p>
          <a:p>
            <a:pPr marL="742950" lvl="1" indent="-285750" algn="l">
              <a:spcBef>
                <a:spcPts val="900"/>
              </a:spcBef>
              <a:spcAft>
                <a:spcPts val="375"/>
              </a:spcAft>
              <a:buFont typeface="+mj-lt"/>
              <a:buAutoNum type="arabicPeriod"/>
            </a:pPr>
            <a:r>
              <a:rPr lang="en-HK" b="0" i="0" dirty="0">
                <a:effectLst/>
                <a:latin typeface="Roboto" panose="02000000000000000000" pitchFamily="2" charset="0"/>
              </a:rPr>
              <a:t>So, the total maintenance cost would be: $100,000 + $10x</a:t>
            </a:r>
          </a:p>
          <a:p>
            <a:pPr algn="l">
              <a:spcBef>
                <a:spcPts val="900"/>
              </a:spcBef>
              <a:spcAft>
                <a:spcPts val="375"/>
              </a:spcAft>
            </a:pPr>
            <a:r>
              <a:rPr lang="en-HK" b="0" i="0" dirty="0">
                <a:effectLst/>
                <a:latin typeface="Roboto" panose="02000000000000000000" pitchFamily="2" charset="0"/>
              </a:rPr>
              <a:t>Total cost for the first year of operations as a function of the number of square feet:</a:t>
            </a:r>
          </a:p>
          <a:p>
            <a:pPr algn="l">
              <a:spcBef>
                <a:spcPts val="900"/>
              </a:spcBef>
              <a:spcAft>
                <a:spcPts val="375"/>
              </a:spcAft>
              <a:buFont typeface="Arial" panose="020B0604020202020204" pitchFamily="34" charset="0"/>
              <a:buChar char="•"/>
            </a:pPr>
            <a:r>
              <a:rPr lang="en-HK" b="0" i="0" dirty="0">
                <a:effectLst/>
                <a:latin typeface="Roboto" panose="02000000000000000000" pitchFamily="2" charset="0"/>
              </a:rPr>
              <a:t>Total Cost = Land Cost + Solar Panel Cost + Maintenance Cost</a:t>
            </a:r>
          </a:p>
          <a:p>
            <a:pPr algn="l">
              <a:spcBef>
                <a:spcPts val="900"/>
              </a:spcBef>
              <a:spcAft>
                <a:spcPts val="375"/>
              </a:spcAft>
              <a:buFont typeface="Arial" panose="020B0604020202020204" pitchFamily="34" charset="0"/>
              <a:buChar char="•"/>
            </a:pPr>
            <a:r>
              <a:rPr lang="en-HK" b="0" i="0" dirty="0">
                <a:effectLst/>
                <a:latin typeface="Roboto" panose="02000000000000000000" pitchFamily="2" charset="0"/>
              </a:rPr>
              <a:t>Total Cost = 100x + 250x + (100,000 + 10x)</a:t>
            </a:r>
          </a:p>
          <a:p>
            <a:pPr algn="l">
              <a:spcBef>
                <a:spcPts val="900"/>
              </a:spcBef>
              <a:spcAft>
                <a:spcPts val="375"/>
              </a:spcAft>
              <a:buFont typeface="Arial" panose="020B0604020202020204" pitchFamily="34" charset="0"/>
              <a:buChar char="•"/>
            </a:pPr>
            <a:r>
              <a:rPr lang="en-HK" b="0" i="0" dirty="0">
                <a:effectLst/>
                <a:latin typeface="Roboto" panose="02000000000000000000" pitchFamily="2" charset="0"/>
              </a:rPr>
              <a:t>Total Cost = 350x + 100,000</a:t>
            </a:r>
          </a:p>
          <a:p>
            <a:pPr algn="l">
              <a:spcBef>
                <a:spcPts val="900"/>
              </a:spcBef>
              <a:spcAft>
                <a:spcPts val="375"/>
              </a:spcAft>
            </a:pPr>
            <a:r>
              <a:rPr lang="en-HK" b="0" i="0" dirty="0">
                <a:effectLst/>
                <a:latin typeface="Roboto" panose="02000000000000000000" pitchFamily="2" charset="0"/>
              </a:rPr>
              <a:t>Therefore, the student's solution for the total cost for the first year of operations should be: 350x + 100,000, not 450x + 100,000.</a:t>
            </a:r>
          </a:p>
          <a:p>
            <a:endParaRPr lang="en-US" dirty="0"/>
          </a:p>
          <a:p>
            <a:pPr algn="l">
              <a:spcBef>
                <a:spcPts val="750"/>
              </a:spcBef>
              <a:spcAft>
                <a:spcPts val="375"/>
              </a:spcAft>
            </a:pPr>
            <a:r>
              <a:rPr lang="en-HK" b="1" i="0" dirty="0">
                <a:solidFill>
                  <a:srgbClr val="218514"/>
                </a:solidFill>
                <a:effectLst/>
                <a:latin typeface="Roboto" panose="02000000000000000000" pitchFamily="2" charset="0"/>
              </a:rPr>
              <a:t>GPT-4</a:t>
            </a:r>
          </a:p>
          <a:p>
            <a:pPr algn="ctr">
              <a:spcBef>
                <a:spcPts val="900"/>
              </a:spcBef>
              <a:spcAft>
                <a:spcPts val="375"/>
              </a:spcAft>
            </a:pPr>
            <a:r>
              <a:rPr lang="en-HK" b="0" i="0" dirty="0">
                <a:solidFill>
                  <a:srgbClr val="BDBDBD"/>
                </a:solidFill>
                <a:effectLst/>
                <a:latin typeface="Roboto" panose="02000000000000000000" pitchFamily="2" charset="0"/>
              </a:rPr>
              <a:t>(Tokens used 279)</a:t>
            </a:r>
          </a:p>
          <a:p>
            <a:pPr algn="l">
              <a:spcBef>
                <a:spcPts val="900"/>
              </a:spcBef>
              <a:spcAft>
                <a:spcPts val="375"/>
              </a:spcAft>
            </a:pPr>
            <a:r>
              <a:rPr lang="en-HK" b="0" i="0" dirty="0">
                <a:effectLst/>
                <a:latin typeface="Roboto" panose="02000000000000000000" pitchFamily="2" charset="0"/>
              </a:rPr>
              <a:t>The student's solution is correct. The total cost of the first year of operations for a solar power installation, given the size in square feet x, is indeed represented by the function 450x + 100,000. This includes the costs for land, solar panels, and maintenance.</a:t>
            </a:r>
          </a:p>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50</a:t>
            </a:fld>
            <a:endParaRPr lang="en-HK"/>
          </a:p>
        </p:txBody>
      </p:sp>
    </p:spTree>
    <p:extLst>
      <p:ext uri="{BB962C8B-B14F-4D97-AF65-F5344CB8AC3E}">
        <p14:creationId xmlns:p14="http://schemas.microsoft.com/office/powerpoint/2010/main" val="1625565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750"/>
              </a:spcBef>
              <a:spcAft>
                <a:spcPts val="375"/>
              </a:spcAft>
            </a:pPr>
            <a:r>
              <a:rPr lang="en-HK" b="1" i="0" dirty="0">
                <a:solidFill>
                  <a:srgbClr val="218514"/>
                </a:solidFill>
                <a:effectLst/>
                <a:latin typeface="Roboto" panose="02000000000000000000" pitchFamily="2" charset="0"/>
              </a:rPr>
              <a:t>GPT-4</a:t>
            </a:r>
          </a:p>
          <a:p>
            <a:pPr algn="ctr">
              <a:spcBef>
                <a:spcPts val="900"/>
              </a:spcBef>
              <a:spcAft>
                <a:spcPts val="375"/>
              </a:spcAft>
            </a:pPr>
            <a:r>
              <a:rPr lang="en-HK" b="0" i="0" dirty="0">
                <a:solidFill>
                  <a:srgbClr val="BDBDBD"/>
                </a:solidFill>
                <a:effectLst/>
                <a:latin typeface="Roboto" panose="02000000000000000000" pitchFamily="2" charset="0"/>
              </a:rPr>
              <a:t>(Tokens used 516)</a:t>
            </a:r>
          </a:p>
          <a:p>
            <a:pPr algn="l">
              <a:spcBef>
                <a:spcPts val="900"/>
              </a:spcBef>
              <a:spcAft>
                <a:spcPts val="375"/>
              </a:spcAft>
            </a:pPr>
            <a:r>
              <a:rPr lang="en-HK" b="0" i="0" dirty="0">
                <a:effectLst/>
                <a:latin typeface="Roboto" panose="02000000000000000000" pitchFamily="2" charset="0"/>
              </a:rPr>
              <a:t>The student's solution is correct.</a:t>
            </a:r>
          </a:p>
          <a:p>
            <a:pPr algn="l">
              <a:spcBef>
                <a:spcPts val="900"/>
              </a:spcBef>
              <a:spcAft>
                <a:spcPts val="375"/>
              </a:spcAft>
            </a:pPr>
            <a:r>
              <a:rPr lang="en-HK" b="0" i="0" dirty="0">
                <a:effectLst/>
                <a:latin typeface="Roboto" panose="02000000000000000000" pitchFamily="2" charset="0"/>
              </a:rPr>
              <a:t>The problem is asking to express the total cost for the first year of operations as a function of the number of square feet. In the student's solution, they correctly identified that the cost for land is $100 per square foot, the cost for solar panels is $250 per square foot, and the maintenance cost is a flat $100,000 per year plus an additional $10 per square foot. They then added these costs together to get the total cost function.</a:t>
            </a:r>
          </a:p>
          <a:p>
            <a:pPr algn="l">
              <a:spcBef>
                <a:spcPts val="900"/>
              </a:spcBef>
              <a:spcAft>
                <a:spcPts val="375"/>
              </a:spcAft>
            </a:pPr>
            <a:r>
              <a:rPr lang="en-HK" b="0" i="0" dirty="0">
                <a:effectLst/>
                <a:latin typeface="Roboto" panose="02000000000000000000" pitchFamily="2" charset="0"/>
              </a:rPr>
              <a:t>My solution would be the same:</a:t>
            </a:r>
          </a:p>
          <a:p>
            <a:pPr algn="l">
              <a:spcBef>
                <a:spcPts val="900"/>
              </a:spcBef>
              <a:spcAft>
                <a:spcPts val="375"/>
              </a:spcAft>
            </a:pPr>
            <a:r>
              <a:rPr lang="en-HK" b="0" i="0" dirty="0">
                <a:effectLst/>
                <a:latin typeface="Roboto" panose="02000000000000000000" pitchFamily="2" charset="0"/>
              </a:rPr>
              <a:t>Let's denote the size of the installation in square feet as x.</a:t>
            </a:r>
          </a:p>
          <a:p>
            <a:pPr algn="l">
              <a:spcBef>
                <a:spcPts val="900"/>
              </a:spcBef>
              <a:spcAft>
                <a:spcPts val="375"/>
              </a:spcAft>
              <a:buFont typeface="+mj-lt"/>
              <a:buAutoNum type="arabicPeriod"/>
            </a:pPr>
            <a:r>
              <a:rPr lang="en-HK" b="0" i="0" dirty="0">
                <a:effectLst/>
                <a:latin typeface="Roboto" panose="02000000000000000000" pitchFamily="2" charset="0"/>
              </a:rPr>
              <a:t>Land cost = 100x</a:t>
            </a:r>
          </a:p>
          <a:p>
            <a:pPr algn="l">
              <a:spcBef>
                <a:spcPts val="900"/>
              </a:spcBef>
              <a:spcAft>
                <a:spcPts val="375"/>
              </a:spcAft>
              <a:buFont typeface="+mj-lt"/>
              <a:buAutoNum type="arabicPeriod"/>
            </a:pPr>
            <a:r>
              <a:rPr lang="en-HK" b="0" i="0" dirty="0">
                <a:effectLst/>
                <a:latin typeface="Roboto" panose="02000000000000000000" pitchFamily="2" charset="0"/>
              </a:rPr>
              <a:t>Solar panel cost = 250x</a:t>
            </a:r>
          </a:p>
          <a:p>
            <a:pPr algn="l">
              <a:spcBef>
                <a:spcPts val="900"/>
              </a:spcBef>
              <a:spcAft>
                <a:spcPts val="375"/>
              </a:spcAft>
              <a:buFont typeface="+mj-lt"/>
              <a:buAutoNum type="arabicPeriod"/>
            </a:pPr>
            <a:r>
              <a:rPr lang="en-HK" b="0" i="0" dirty="0">
                <a:effectLst/>
                <a:latin typeface="Roboto" panose="02000000000000000000" pitchFamily="2" charset="0"/>
              </a:rPr>
              <a:t>Maintenance cost = 100,000 + 10x</a:t>
            </a:r>
          </a:p>
          <a:p>
            <a:pPr algn="l">
              <a:spcBef>
                <a:spcPts val="900"/>
              </a:spcBef>
              <a:spcAft>
                <a:spcPts val="375"/>
              </a:spcAft>
            </a:pPr>
            <a:r>
              <a:rPr lang="en-HK" b="0" i="0" dirty="0">
                <a:effectLst/>
                <a:latin typeface="Roboto" panose="02000000000000000000" pitchFamily="2" charset="0"/>
              </a:rPr>
              <a:t>Adding these costs together gives the total cost for the first year of operations:</a:t>
            </a:r>
          </a:p>
          <a:p>
            <a:pPr algn="l">
              <a:spcBef>
                <a:spcPts val="900"/>
              </a:spcBef>
              <a:spcAft>
                <a:spcPts val="375"/>
              </a:spcAft>
            </a:pPr>
            <a:r>
              <a:rPr lang="en-HK" b="0" i="0" dirty="0">
                <a:effectLst/>
                <a:latin typeface="Roboto" panose="02000000000000000000" pitchFamily="2" charset="0"/>
              </a:rPr>
              <a:t>Total cost = 100x + 250x + 100,000 + 10x = 360x + 100,000</a:t>
            </a:r>
          </a:p>
          <a:p>
            <a:pPr algn="l">
              <a:spcBef>
                <a:spcPts val="900"/>
              </a:spcBef>
              <a:spcAft>
                <a:spcPts val="375"/>
              </a:spcAft>
            </a:pPr>
            <a:r>
              <a:rPr lang="en-HK" b="0" i="0" dirty="0">
                <a:effectLst/>
                <a:latin typeface="Roboto" panose="02000000000000000000" pitchFamily="2" charset="0"/>
              </a:rPr>
              <a:t>However, the student's solution has a small mistake in the final addition, where they've added 100 instead of 10 for the maintenance cost per square foot. So the correct answer should be 360x + 100,000, not 450x + 100,000.</a:t>
            </a:r>
          </a:p>
        </p:txBody>
      </p:sp>
      <p:sp>
        <p:nvSpPr>
          <p:cNvPr id="4" name="Slide Number Placeholder 3"/>
          <p:cNvSpPr>
            <a:spLocks noGrp="1"/>
          </p:cNvSpPr>
          <p:nvPr>
            <p:ph type="sldNum" sz="quarter" idx="5"/>
          </p:nvPr>
        </p:nvSpPr>
        <p:spPr/>
        <p:txBody>
          <a:bodyPr/>
          <a:lstStyle/>
          <a:p>
            <a:fld id="{01B4E518-724E-624D-9EAD-82F09AF346EF}" type="slidenum">
              <a:rPr lang="en-HK" smtClean="0"/>
              <a:t>51</a:t>
            </a:fld>
            <a:endParaRPr lang="en-HK"/>
          </a:p>
        </p:txBody>
      </p:sp>
    </p:spTree>
    <p:extLst>
      <p:ext uri="{BB962C8B-B14F-4D97-AF65-F5344CB8AC3E}">
        <p14:creationId xmlns:p14="http://schemas.microsoft.com/office/powerpoint/2010/main" val="4041104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HK" b="0" i="0" dirty="0">
                <a:effectLst/>
                <a:latin typeface="Roboto" panose="02000000000000000000" pitchFamily="2" charset="0"/>
              </a:rPr>
              <a:t>SYSTEM</a:t>
            </a:r>
          </a:p>
          <a:p>
            <a:pPr algn="l"/>
            <a:r>
              <a:rPr lang="en-HK" b="0" i="0" dirty="0">
                <a:effectLst/>
                <a:latin typeface="Roboto" panose="02000000000000000000" pitchFamily="2" charset="0"/>
              </a:rPr>
              <a:t>Follow these steps to answer the user queries.</a:t>
            </a:r>
          </a:p>
          <a:p>
            <a:pPr algn="l"/>
            <a:r>
              <a:rPr lang="en-HK" b="0" i="0" dirty="0">
                <a:effectLst/>
                <a:latin typeface="Roboto" panose="02000000000000000000" pitchFamily="2" charset="0"/>
              </a:rPr>
              <a:t>Step 1 - First work out your own solution to the problem. Don't rely on the student's solution since it may be incorrect. Enclose all your work for this step within triple quotes (""").</a:t>
            </a:r>
          </a:p>
          <a:p>
            <a:pPr algn="l"/>
            <a:r>
              <a:rPr lang="en-HK" b="0" i="0" dirty="0">
                <a:effectLst/>
                <a:latin typeface="Roboto" panose="02000000000000000000" pitchFamily="2" charset="0"/>
              </a:rPr>
              <a:t>Step 2 - Compare your solution to the student's solution and evaluate if the student's solution is correct or not. Enclose all your work for this step within triple quotes (""").</a:t>
            </a:r>
          </a:p>
          <a:p>
            <a:pPr algn="l"/>
            <a:r>
              <a:rPr lang="en-HK" b="0" i="0" dirty="0">
                <a:effectLst/>
                <a:latin typeface="Roboto" panose="02000000000000000000" pitchFamily="2" charset="0"/>
              </a:rPr>
              <a:t>Step 3 - If the student made a mistake, determine what hint you could give the student without giving away the answer. Enclose all your work for this step within triple quotes (""").</a:t>
            </a:r>
          </a:p>
          <a:p>
            <a:pPr algn="l"/>
            <a:r>
              <a:rPr lang="en-HK" b="0" i="0" dirty="0">
                <a:effectLst/>
                <a:latin typeface="Roboto" panose="02000000000000000000" pitchFamily="2" charset="0"/>
              </a:rPr>
              <a:t>Step 4 - If the student made a mistake, provide the hint from the previous step to the student (outside of triple quotes). Instead of writing "Step 4 - ..." write "Hint:".</a:t>
            </a:r>
          </a:p>
          <a:p>
            <a:pPr algn="l"/>
            <a:r>
              <a:rPr lang="en-HK" b="0" i="0" dirty="0">
                <a:effectLst/>
                <a:latin typeface="Roboto" panose="02000000000000000000" pitchFamily="2" charset="0"/>
              </a:rPr>
              <a:t>USER</a:t>
            </a:r>
          </a:p>
          <a:p>
            <a:pPr algn="l"/>
            <a:r>
              <a:rPr lang="en-HK" b="0" i="0" dirty="0">
                <a:effectLst/>
                <a:latin typeface="Roboto" panose="02000000000000000000" pitchFamily="2" charset="0"/>
              </a:rPr>
              <a:t>Problem Statement: I'm building a solar power installation and I need help working out the financials.</a:t>
            </a:r>
          </a:p>
          <a:p>
            <a:pPr algn="l"/>
            <a:r>
              <a:rPr lang="en-HK" b="0" i="0" dirty="0">
                <a:effectLst/>
                <a:latin typeface="Roboto" panose="02000000000000000000" pitchFamily="2" charset="0"/>
              </a:rPr>
              <a:t>- Land costs $100 / square foot</a:t>
            </a:r>
          </a:p>
          <a:p>
            <a:pPr algn="l"/>
            <a:r>
              <a:rPr lang="en-HK" b="0" i="0" dirty="0">
                <a:effectLst/>
                <a:latin typeface="Roboto" panose="02000000000000000000" pitchFamily="2" charset="0"/>
              </a:rPr>
              <a:t>- I can buy solar panels for $250 / square foot</a:t>
            </a:r>
          </a:p>
          <a:p>
            <a:pPr algn="l"/>
            <a:r>
              <a:rPr lang="en-HK" b="0" i="0" dirty="0">
                <a:effectLst/>
                <a:latin typeface="Roboto" panose="02000000000000000000" pitchFamily="2" charset="0"/>
              </a:rPr>
              <a:t>- I negotiated a contract for maintenance that will cost me a flat $100k per year, and an additional $10 / square foot</a:t>
            </a:r>
          </a:p>
          <a:p>
            <a:pPr algn="l"/>
            <a:r>
              <a:rPr lang="en-HK" b="0" i="0" dirty="0">
                <a:effectLst/>
                <a:latin typeface="Roboto" panose="02000000000000000000" pitchFamily="2" charset="0"/>
              </a:rPr>
              <a:t>What is the total cost for the first year of operations as a function of the number of square feet.</a:t>
            </a:r>
          </a:p>
          <a:p>
            <a:pPr algn="l"/>
            <a:r>
              <a:rPr lang="en-HK" b="0" i="0" dirty="0">
                <a:effectLst/>
                <a:latin typeface="Roboto" panose="02000000000000000000" pitchFamily="2" charset="0"/>
              </a:rPr>
              <a:t>Student's Solution: Let x be the size of the installation in square feet.</a:t>
            </a:r>
          </a:p>
          <a:p>
            <a:pPr algn="l"/>
            <a:r>
              <a:rPr lang="en-HK" b="0" i="0" dirty="0">
                <a:effectLst/>
                <a:latin typeface="Roboto" panose="02000000000000000000" pitchFamily="2" charset="0"/>
              </a:rPr>
              <a:t>1. Land cost: 100x</a:t>
            </a:r>
          </a:p>
          <a:p>
            <a:pPr algn="l"/>
            <a:r>
              <a:rPr lang="en-HK" b="0" i="0" dirty="0">
                <a:effectLst/>
                <a:latin typeface="Roboto" panose="02000000000000000000" pitchFamily="2" charset="0"/>
              </a:rPr>
              <a:t>2. Solar panel cost: 250x</a:t>
            </a:r>
          </a:p>
          <a:p>
            <a:pPr algn="l"/>
            <a:r>
              <a:rPr lang="en-HK" b="0" i="0" dirty="0">
                <a:effectLst/>
                <a:latin typeface="Roboto" panose="02000000000000000000" pitchFamily="2" charset="0"/>
              </a:rPr>
              <a:t>3. Maintenance cost: 100,000 + 100x</a:t>
            </a:r>
          </a:p>
          <a:p>
            <a:pPr algn="l"/>
            <a:r>
              <a:rPr lang="en-HK" b="0" i="0" dirty="0">
                <a:effectLst/>
                <a:latin typeface="Roboto" panose="02000000000000000000" pitchFamily="2" charset="0"/>
              </a:rPr>
              <a:t>Total cost: 100x + 250x + 100,000 + 100x = 450x + 100,000</a:t>
            </a:r>
          </a:p>
          <a:p>
            <a:pPr algn="l">
              <a:spcBef>
                <a:spcPts val="750"/>
              </a:spcBef>
              <a:spcAft>
                <a:spcPts val="375"/>
              </a:spcAft>
            </a:pPr>
            <a:endParaRPr lang="en-HK" b="1" i="0" dirty="0">
              <a:solidFill>
                <a:srgbClr val="0069B6"/>
              </a:solidFill>
              <a:effectLst/>
              <a:latin typeface="Roboto" panose="02000000000000000000" pitchFamily="2" charset="0"/>
            </a:endParaRPr>
          </a:p>
          <a:p>
            <a:pPr algn="l">
              <a:spcBef>
                <a:spcPts val="750"/>
              </a:spcBef>
              <a:spcAft>
                <a:spcPts val="375"/>
              </a:spcAft>
            </a:pPr>
            <a:endParaRPr lang="en-HK" b="1" i="0" dirty="0">
              <a:solidFill>
                <a:srgbClr val="0069B6"/>
              </a:solidFill>
              <a:effectLst/>
              <a:latin typeface="Roboto" panose="02000000000000000000" pitchFamily="2" charset="0"/>
            </a:endParaRPr>
          </a:p>
          <a:p>
            <a:pPr algn="l">
              <a:spcBef>
                <a:spcPts val="750"/>
              </a:spcBef>
              <a:spcAft>
                <a:spcPts val="375"/>
              </a:spcAft>
            </a:pPr>
            <a:r>
              <a:rPr lang="en-HK" b="1" i="0" dirty="0">
                <a:solidFill>
                  <a:srgbClr val="A730D0"/>
                </a:solidFill>
                <a:effectLst/>
                <a:latin typeface="Roboto" panose="02000000000000000000" pitchFamily="2" charset="0"/>
              </a:rPr>
              <a:t>GPT-3.5</a:t>
            </a:r>
          </a:p>
          <a:p>
            <a:pPr algn="ctr">
              <a:spcBef>
                <a:spcPts val="900"/>
              </a:spcBef>
              <a:spcAft>
                <a:spcPts val="375"/>
              </a:spcAft>
            </a:pPr>
            <a:r>
              <a:rPr lang="en-HK" b="0" i="0" dirty="0">
                <a:solidFill>
                  <a:srgbClr val="BDBDBD"/>
                </a:solidFill>
                <a:effectLst/>
                <a:latin typeface="Roboto" panose="02000000000000000000" pitchFamily="2" charset="0"/>
              </a:rPr>
              <a:t>(Tokens used 623)</a:t>
            </a:r>
          </a:p>
          <a:p>
            <a:pPr algn="l">
              <a:spcBef>
                <a:spcPts val="900"/>
              </a:spcBef>
              <a:spcAft>
                <a:spcPts val="375"/>
              </a:spcAft>
            </a:pPr>
            <a:r>
              <a:rPr lang="en-HK" b="0" i="0" dirty="0">
                <a:effectLst/>
                <a:latin typeface="Roboto" panose="02000000000000000000" pitchFamily="2" charset="0"/>
              </a:rPr>
              <a:t>Step 1 - AI Assistant's Solution: Total cost for the first year of operations as a function of the number of square feet: Total Cost = Land Cost + Solar Panel Cost + Maintenance Cost Total Cost = 100x + 250x + (100,000 + 10x) Total Cost = 350x + 100,000 + 10x Total Cost = 360x + 100,000 Therefore, the correct total cost for the first year of operations as a function of the number of square feet is 360x + 100,000. Step 2 - Comparison and Evaluation: The student's solution for the total cost as a function of the number of square feet is incorrect. The correct total cost should be 360x + 100,000, but the student calculated it as 450x + 100,000. Step 3 - Hint: The student made a mistake in calculating the total cost. Check the calculation involving the Solar Panel Cost and the Maintenance Cost. Hint: The student made a mistake in calculating the total cost. Check the calculation involving the Solar Panel Cost and the Maintenance Cost.</a:t>
            </a:r>
          </a:p>
          <a:p>
            <a:pPr algn="l">
              <a:spcBef>
                <a:spcPts val="750"/>
              </a:spcBef>
              <a:spcAft>
                <a:spcPts val="375"/>
              </a:spcAft>
            </a:pPr>
            <a:endParaRPr lang="en-HK" b="1" i="0" dirty="0">
              <a:solidFill>
                <a:srgbClr val="0069B6"/>
              </a:solidFill>
              <a:effectLst/>
              <a:latin typeface="Roboto" panose="02000000000000000000" pitchFamily="2" charset="0"/>
            </a:endParaRPr>
          </a:p>
          <a:p>
            <a:pPr algn="l">
              <a:spcBef>
                <a:spcPts val="750"/>
              </a:spcBef>
              <a:spcAft>
                <a:spcPts val="375"/>
              </a:spcAft>
            </a:pPr>
            <a:r>
              <a:rPr lang="en-HK" b="1" i="0" dirty="0">
                <a:solidFill>
                  <a:srgbClr val="0069B6"/>
                </a:solidFill>
                <a:effectLst/>
                <a:latin typeface="Roboto" panose="02000000000000000000" pitchFamily="2" charset="0"/>
              </a:rPr>
              <a:t>GPT-4o</a:t>
            </a:r>
          </a:p>
          <a:p>
            <a:pPr algn="ctr">
              <a:spcBef>
                <a:spcPts val="900"/>
              </a:spcBef>
              <a:spcAft>
                <a:spcPts val="375"/>
              </a:spcAft>
            </a:pPr>
            <a:r>
              <a:rPr lang="en-HK" b="0" i="0" dirty="0">
                <a:solidFill>
                  <a:srgbClr val="BDBDBD"/>
                </a:solidFill>
                <a:effectLst/>
                <a:latin typeface="Roboto" panose="02000000000000000000" pitchFamily="2" charset="0"/>
              </a:rPr>
              <a:t>(Tokens used 662)</a:t>
            </a:r>
          </a:p>
          <a:p>
            <a:pPr algn="l">
              <a:spcBef>
                <a:spcPts val="900"/>
              </a:spcBef>
              <a:spcAft>
                <a:spcPts val="375"/>
              </a:spcAft>
            </a:pPr>
            <a:r>
              <a:rPr lang="en-HK" b="0" i="0" dirty="0">
                <a:effectLst/>
                <a:latin typeface="Roboto" panose="02000000000000000000" pitchFamily="2" charset="0"/>
              </a:rPr>
              <a:t>Step 1: First, let's work out the total cost for the first year of operations as a function of the number of square feet, ( x ).</a:t>
            </a:r>
          </a:p>
          <a:p>
            <a:pPr algn="l">
              <a:spcBef>
                <a:spcPts val="900"/>
              </a:spcBef>
              <a:spcAft>
                <a:spcPts val="375"/>
              </a:spcAft>
              <a:buFont typeface="+mj-lt"/>
              <a:buAutoNum type="arabicPeriod"/>
            </a:pPr>
            <a:r>
              <a:rPr lang="en-HK" b="0" i="0" dirty="0">
                <a:effectLst/>
                <a:latin typeface="Roboto" panose="02000000000000000000" pitchFamily="2" charset="0"/>
              </a:rPr>
              <a:t>Land cost: ( 100x )</a:t>
            </a:r>
          </a:p>
          <a:p>
            <a:pPr algn="l">
              <a:spcBef>
                <a:spcPts val="900"/>
              </a:spcBef>
              <a:spcAft>
                <a:spcPts val="375"/>
              </a:spcAft>
              <a:buFont typeface="+mj-lt"/>
              <a:buAutoNum type="arabicPeriod"/>
            </a:pPr>
            <a:r>
              <a:rPr lang="en-HK" b="0" i="0" dirty="0">
                <a:effectLst/>
                <a:latin typeface="Roboto" panose="02000000000000000000" pitchFamily="2" charset="0"/>
              </a:rPr>
              <a:t>Solar panel cost: ( 250x )</a:t>
            </a:r>
          </a:p>
          <a:p>
            <a:pPr algn="l">
              <a:spcBef>
                <a:spcPts val="900"/>
              </a:spcBef>
              <a:spcAft>
                <a:spcPts val="375"/>
              </a:spcAft>
              <a:buFont typeface="+mj-lt"/>
              <a:buAutoNum type="arabicPeriod"/>
            </a:pPr>
            <a:r>
              <a:rPr lang="en-HK" b="0" i="0" dirty="0">
                <a:effectLst/>
                <a:latin typeface="Roboto" panose="02000000000000000000" pitchFamily="2" charset="0"/>
              </a:rPr>
              <a:t>Maintenance cost: ( 100,000 + 10x )</a:t>
            </a:r>
          </a:p>
          <a:p>
            <a:pPr algn="l">
              <a:spcBef>
                <a:spcPts val="900"/>
              </a:spcBef>
              <a:spcAft>
                <a:spcPts val="375"/>
              </a:spcAft>
            </a:pPr>
            <a:r>
              <a:rPr lang="en-HK" b="0" i="0" dirty="0">
                <a:effectLst/>
                <a:latin typeface="Roboto" panose="02000000000000000000" pitchFamily="2" charset="0"/>
              </a:rPr>
              <a:t>Adding these together, we get:</a:t>
            </a:r>
          </a:p>
          <a:p>
            <a:pPr algn="l">
              <a:spcBef>
                <a:spcPts val="900"/>
              </a:spcBef>
              <a:spcAft>
                <a:spcPts val="375"/>
              </a:spcAft>
            </a:pPr>
            <a:r>
              <a:rPr lang="en-HK" b="0" i="0" dirty="0">
                <a:effectLst/>
                <a:latin typeface="Roboto" panose="02000000000000000000" pitchFamily="2" charset="0"/>
              </a:rPr>
              <a:t>[ \text{Total cost} = 100x + 250x + 100,000 + 10x = 360x + 100,000 ]</a:t>
            </a:r>
          </a:p>
          <a:p>
            <a:pPr algn="l">
              <a:spcBef>
                <a:spcPts val="900"/>
              </a:spcBef>
              <a:spcAft>
                <a:spcPts val="375"/>
              </a:spcAft>
            </a:pPr>
            <a:r>
              <a:rPr lang="en-HK" b="0" i="0" dirty="0">
                <a:effectLst/>
                <a:latin typeface="Roboto" panose="02000000000000000000" pitchFamily="2" charset="0"/>
              </a:rPr>
              <a:t>Step 2: Now, let's compare my solution to the student's solution.</a:t>
            </a:r>
          </a:p>
          <a:p>
            <a:pPr algn="l">
              <a:spcBef>
                <a:spcPts val="900"/>
              </a:spcBef>
              <a:spcAft>
                <a:spcPts val="375"/>
              </a:spcAft>
            </a:pPr>
            <a:r>
              <a:rPr lang="en-HK" b="0" i="0" dirty="0">
                <a:effectLst/>
                <a:latin typeface="Roboto" panose="02000000000000000000" pitchFamily="2" charset="0"/>
              </a:rPr>
              <a:t>Student's Solution:</a:t>
            </a:r>
          </a:p>
          <a:p>
            <a:pPr algn="l">
              <a:spcBef>
                <a:spcPts val="900"/>
              </a:spcBef>
              <a:spcAft>
                <a:spcPts val="375"/>
              </a:spcAft>
              <a:buFont typeface="+mj-lt"/>
              <a:buAutoNum type="arabicPeriod"/>
            </a:pPr>
            <a:r>
              <a:rPr lang="en-HK" b="0" i="0" dirty="0">
                <a:effectLst/>
                <a:latin typeface="Roboto" panose="02000000000000000000" pitchFamily="2" charset="0"/>
              </a:rPr>
              <a:t>Land cost: ( 100x )</a:t>
            </a:r>
          </a:p>
          <a:p>
            <a:pPr algn="l">
              <a:spcBef>
                <a:spcPts val="900"/>
              </a:spcBef>
              <a:spcAft>
                <a:spcPts val="375"/>
              </a:spcAft>
              <a:buFont typeface="+mj-lt"/>
              <a:buAutoNum type="arabicPeriod"/>
            </a:pPr>
            <a:r>
              <a:rPr lang="en-HK" b="0" i="0" dirty="0">
                <a:effectLst/>
                <a:latin typeface="Roboto" panose="02000000000000000000" pitchFamily="2" charset="0"/>
              </a:rPr>
              <a:t>Solar panel cost: ( 250x )</a:t>
            </a:r>
          </a:p>
          <a:p>
            <a:pPr algn="l">
              <a:spcBef>
                <a:spcPts val="900"/>
              </a:spcBef>
              <a:spcAft>
                <a:spcPts val="375"/>
              </a:spcAft>
              <a:buFont typeface="+mj-lt"/>
              <a:buAutoNum type="arabicPeriod"/>
            </a:pPr>
            <a:r>
              <a:rPr lang="en-HK" b="0" i="0" dirty="0">
                <a:effectLst/>
                <a:latin typeface="Roboto" panose="02000000000000000000" pitchFamily="2" charset="0"/>
              </a:rPr>
              <a:t>Maintenance cost: ( 100,000 + 100x )</a:t>
            </a:r>
          </a:p>
          <a:p>
            <a:pPr algn="l">
              <a:spcBef>
                <a:spcPts val="900"/>
              </a:spcBef>
              <a:spcAft>
                <a:spcPts val="375"/>
              </a:spcAft>
            </a:pPr>
            <a:r>
              <a:rPr lang="en-HK" b="0" i="0" dirty="0">
                <a:effectLst/>
                <a:latin typeface="Roboto" panose="02000000000000000000" pitchFamily="2" charset="0"/>
              </a:rPr>
              <a:t>Total cost according to the student: [ 100x + 250x + 100,000 + 100x = 450x + 100,000 ]</a:t>
            </a:r>
          </a:p>
          <a:p>
            <a:pPr algn="l">
              <a:spcBef>
                <a:spcPts val="900"/>
              </a:spcBef>
              <a:spcAft>
                <a:spcPts val="375"/>
              </a:spcAft>
            </a:pPr>
            <a:r>
              <a:rPr lang="en-HK" b="0" i="0" dirty="0">
                <a:effectLst/>
                <a:latin typeface="Roboto" panose="02000000000000000000" pitchFamily="2" charset="0"/>
              </a:rPr>
              <a:t>The student's solution for the maintenance cost is incorrect. The correct maintenance cost should be ( 100,000 + 10x ).</a:t>
            </a:r>
          </a:p>
          <a:p>
            <a:pPr algn="l">
              <a:spcBef>
                <a:spcPts val="900"/>
              </a:spcBef>
              <a:spcAft>
                <a:spcPts val="375"/>
              </a:spcAft>
            </a:pPr>
            <a:r>
              <a:rPr lang="en-HK" b="0" i="0" dirty="0">
                <a:effectLst/>
                <a:latin typeface="Roboto" panose="02000000000000000000" pitchFamily="2" charset="0"/>
              </a:rPr>
              <a:t>Step 3: The hint should address the mistake in the maintenance cost calculation.</a:t>
            </a:r>
          </a:p>
          <a:p>
            <a:pPr algn="l">
              <a:spcBef>
                <a:spcPts val="900"/>
              </a:spcBef>
              <a:spcAft>
                <a:spcPts val="375"/>
              </a:spcAft>
            </a:pPr>
            <a:r>
              <a:rPr lang="en-HK" b="0" i="0" dirty="0">
                <a:effectLst/>
                <a:latin typeface="Roboto" panose="02000000000000000000" pitchFamily="2" charset="0"/>
              </a:rPr>
              <a:t>Hint: Double-check the maintenance cost. The flat cost is $100,000 per year, and the additional cost is $10 per square foot, not $100 per square foot.</a:t>
            </a:r>
          </a:p>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53</a:t>
            </a:fld>
            <a:endParaRPr lang="en-HK"/>
          </a:p>
        </p:txBody>
      </p:sp>
    </p:spTree>
    <p:extLst>
      <p:ext uri="{BB962C8B-B14F-4D97-AF65-F5344CB8AC3E}">
        <p14:creationId xmlns:p14="http://schemas.microsoft.com/office/powerpoint/2010/main" val="3625527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solidFill>
                  <a:srgbClr val="CC7832"/>
                </a:solidFill>
                <a:effectLst/>
              </a:rPr>
              <a:t>Code by GPT 3.5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dirty="0">
              <a:solidFill>
                <a:srgbClr val="CC7832"/>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dirty="0">
                <a:solidFill>
                  <a:srgbClr val="CC7832"/>
                </a:solidFill>
                <a:effectLst/>
              </a:rPr>
              <a:t>import </a:t>
            </a:r>
            <a:r>
              <a:rPr lang="en-HK" dirty="0" err="1">
                <a:solidFill>
                  <a:srgbClr val="A9B7C6"/>
                </a:solidFill>
                <a:effectLst/>
              </a:rPr>
              <a:t>numpy</a:t>
            </a:r>
            <a:r>
              <a:rPr lang="en-HK" dirty="0">
                <a:solidFill>
                  <a:srgbClr val="A9B7C6"/>
                </a:solidFill>
                <a:effectLst/>
              </a:rPr>
              <a:t> </a:t>
            </a:r>
            <a:r>
              <a:rPr lang="en-HK" dirty="0">
                <a:solidFill>
                  <a:srgbClr val="CC7832"/>
                </a:solidFill>
                <a:effectLst/>
              </a:rPr>
              <a:t>as </a:t>
            </a:r>
            <a:r>
              <a:rPr lang="en-HK" dirty="0">
                <a:solidFill>
                  <a:srgbClr val="A9B7C6"/>
                </a:solidFill>
                <a:effectLst/>
              </a:rPr>
              <a:t>np</a:t>
            </a:r>
            <a:br>
              <a:rPr lang="en-HK" dirty="0">
                <a:solidFill>
                  <a:srgbClr val="A9B7C6"/>
                </a:solidFill>
                <a:effectLst/>
              </a:rPr>
            </a:br>
            <a:r>
              <a:rPr lang="en-HK" dirty="0">
                <a:solidFill>
                  <a:srgbClr val="CC7832"/>
                </a:solidFill>
                <a:effectLst/>
              </a:rPr>
              <a:t>from </a:t>
            </a:r>
            <a:r>
              <a:rPr lang="en-HK" dirty="0" err="1">
                <a:solidFill>
                  <a:srgbClr val="A9B7C6"/>
                </a:solidFill>
                <a:effectLst/>
              </a:rPr>
              <a:t>scipy.optimize</a:t>
            </a:r>
            <a:r>
              <a:rPr lang="en-HK" dirty="0">
                <a:solidFill>
                  <a:srgbClr val="A9B7C6"/>
                </a:solidFill>
                <a:effectLst/>
              </a:rPr>
              <a:t> </a:t>
            </a:r>
            <a:r>
              <a:rPr lang="en-HK" dirty="0">
                <a:solidFill>
                  <a:srgbClr val="CC7832"/>
                </a:solidFill>
                <a:effectLst/>
              </a:rPr>
              <a:t>import </a:t>
            </a:r>
            <a:r>
              <a:rPr lang="en-HK" dirty="0" err="1">
                <a:solidFill>
                  <a:srgbClr val="A9B7C6"/>
                </a:solidFill>
                <a:effectLst/>
              </a:rPr>
              <a:t>root_scalar</a:t>
            </a:r>
            <a:br>
              <a:rPr lang="en-HK" dirty="0">
                <a:solidFill>
                  <a:srgbClr val="A9B7C6"/>
                </a:solidFill>
                <a:effectLst/>
              </a:rPr>
            </a:br>
            <a:br>
              <a:rPr lang="en-HK" dirty="0">
                <a:solidFill>
                  <a:srgbClr val="A9B7C6"/>
                </a:solidFill>
                <a:effectLst/>
              </a:rPr>
            </a:br>
            <a:r>
              <a:rPr lang="en-HK" dirty="0">
                <a:solidFill>
                  <a:srgbClr val="808080"/>
                </a:solidFill>
                <a:effectLst/>
              </a:rPr>
              <a:t># Define the polynomial function</a:t>
            </a:r>
            <a:br>
              <a:rPr lang="en-HK" dirty="0">
                <a:solidFill>
                  <a:srgbClr val="808080"/>
                </a:solidFill>
                <a:effectLst/>
              </a:rPr>
            </a:br>
            <a:r>
              <a:rPr lang="en-HK" dirty="0">
                <a:solidFill>
                  <a:srgbClr val="CC7832"/>
                </a:solidFill>
                <a:effectLst/>
              </a:rPr>
              <a:t>def </a:t>
            </a:r>
            <a:r>
              <a:rPr lang="en-HK" dirty="0">
                <a:solidFill>
                  <a:srgbClr val="FFC66D"/>
                </a:solidFill>
                <a:effectLst/>
              </a:rPr>
              <a:t>f</a:t>
            </a:r>
            <a:r>
              <a:rPr lang="en-HK" dirty="0">
                <a:solidFill>
                  <a:srgbClr val="A9B7C6"/>
                </a:solidFill>
                <a:effectLst/>
              </a:rPr>
              <a:t>(x):</a:t>
            </a:r>
            <a:br>
              <a:rPr lang="en-HK" dirty="0">
                <a:solidFill>
                  <a:srgbClr val="A9B7C6"/>
                </a:solidFill>
                <a:effectLst/>
              </a:rPr>
            </a:br>
            <a:r>
              <a:rPr lang="en-HK" dirty="0">
                <a:solidFill>
                  <a:srgbClr val="A9B7C6"/>
                </a:solidFill>
                <a:effectLst/>
              </a:rPr>
              <a:t>    </a:t>
            </a:r>
            <a:r>
              <a:rPr lang="en-HK" dirty="0">
                <a:solidFill>
                  <a:srgbClr val="CC7832"/>
                </a:solidFill>
                <a:effectLst/>
              </a:rPr>
              <a:t>return </a:t>
            </a:r>
            <a:r>
              <a:rPr lang="en-HK" dirty="0">
                <a:solidFill>
                  <a:srgbClr val="6897BB"/>
                </a:solidFill>
                <a:effectLst/>
              </a:rPr>
              <a:t>3</a:t>
            </a:r>
            <a:r>
              <a:rPr lang="en-HK" dirty="0">
                <a:solidFill>
                  <a:srgbClr val="A9B7C6"/>
                </a:solidFill>
                <a:effectLst/>
              </a:rPr>
              <a:t>*x**</a:t>
            </a:r>
            <a:r>
              <a:rPr lang="en-HK" dirty="0">
                <a:solidFill>
                  <a:srgbClr val="6897BB"/>
                </a:solidFill>
                <a:effectLst/>
              </a:rPr>
              <a:t>5 </a:t>
            </a:r>
            <a:r>
              <a:rPr lang="en-HK" dirty="0">
                <a:solidFill>
                  <a:srgbClr val="A9B7C6"/>
                </a:solidFill>
                <a:effectLst/>
              </a:rPr>
              <a:t>- </a:t>
            </a:r>
            <a:r>
              <a:rPr lang="en-HK" dirty="0">
                <a:solidFill>
                  <a:srgbClr val="6897BB"/>
                </a:solidFill>
                <a:effectLst/>
              </a:rPr>
              <a:t>5</a:t>
            </a:r>
            <a:r>
              <a:rPr lang="en-HK" dirty="0">
                <a:solidFill>
                  <a:srgbClr val="A9B7C6"/>
                </a:solidFill>
                <a:effectLst/>
              </a:rPr>
              <a:t>*x**</a:t>
            </a:r>
            <a:r>
              <a:rPr lang="en-HK" dirty="0">
                <a:solidFill>
                  <a:srgbClr val="6897BB"/>
                </a:solidFill>
                <a:effectLst/>
              </a:rPr>
              <a:t>4 </a:t>
            </a:r>
            <a:r>
              <a:rPr lang="en-HK" dirty="0">
                <a:solidFill>
                  <a:srgbClr val="A9B7C6"/>
                </a:solidFill>
                <a:effectLst/>
              </a:rPr>
              <a:t>- </a:t>
            </a:r>
            <a:r>
              <a:rPr lang="en-HK" dirty="0">
                <a:solidFill>
                  <a:srgbClr val="6897BB"/>
                </a:solidFill>
                <a:effectLst/>
              </a:rPr>
              <a:t>3</a:t>
            </a:r>
            <a:r>
              <a:rPr lang="en-HK" dirty="0">
                <a:solidFill>
                  <a:srgbClr val="A9B7C6"/>
                </a:solidFill>
                <a:effectLst/>
              </a:rPr>
              <a:t>*x**</a:t>
            </a:r>
            <a:r>
              <a:rPr lang="en-HK" dirty="0">
                <a:solidFill>
                  <a:srgbClr val="6897BB"/>
                </a:solidFill>
                <a:effectLst/>
              </a:rPr>
              <a:t>3 </a:t>
            </a:r>
            <a:r>
              <a:rPr lang="en-HK" dirty="0">
                <a:solidFill>
                  <a:srgbClr val="A9B7C6"/>
                </a:solidFill>
                <a:effectLst/>
              </a:rPr>
              <a:t>- </a:t>
            </a:r>
            <a:r>
              <a:rPr lang="en-HK" dirty="0">
                <a:solidFill>
                  <a:srgbClr val="6897BB"/>
                </a:solidFill>
                <a:effectLst/>
              </a:rPr>
              <a:t>7</a:t>
            </a:r>
            <a:r>
              <a:rPr lang="en-HK" dirty="0">
                <a:solidFill>
                  <a:srgbClr val="A9B7C6"/>
                </a:solidFill>
                <a:effectLst/>
              </a:rPr>
              <a:t>*x - </a:t>
            </a:r>
            <a:r>
              <a:rPr lang="en-HK" dirty="0">
                <a:solidFill>
                  <a:srgbClr val="6897BB"/>
                </a:solidFill>
                <a:effectLst/>
              </a:rPr>
              <a:t>10</a:t>
            </a:r>
            <a:br>
              <a:rPr lang="en-HK" dirty="0">
                <a:solidFill>
                  <a:srgbClr val="6897BB"/>
                </a:solidFill>
                <a:effectLst/>
              </a:rPr>
            </a:br>
            <a:br>
              <a:rPr lang="en-HK" dirty="0">
                <a:solidFill>
                  <a:srgbClr val="6897BB"/>
                </a:solidFill>
                <a:effectLst/>
              </a:rPr>
            </a:br>
            <a:r>
              <a:rPr lang="en-HK" dirty="0">
                <a:solidFill>
                  <a:srgbClr val="808080"/>
                </a:solidFill>
                <a:effectLst/>
              </a:rPr>
              <a:t># Find the real roots using </a:t>
            </a:r>
            <a:r>
              <a:rPr lang="en-HK" dirty="0" err="1">
                <a:solidFill>
                  <a:srgbClr val="808080"/>
                </a:solidFill>
                <a:effectLst/>
              </a:rPr>
              <a:t>scipy.optimize.root_scalar</a:t>
            </a:r>
            <a:br>
              <a:rPr lang="en-HK" dirty="0">
                <a:solidFill>
                  <a:srgbClr val="808080"/>
                </a:solidFill>
                <a:effectLst/>
              </a:rPr>
            </a:br>
            <a:r>
              <a:rPr lang="en-HK" dirty="0">
                <a:solidFill>
                  <a:srgbClr val="A9B7C6"/>
                </a:solidFill>
                <a:effectLst/>
              </a:rPr>
              <a:t>roots = []</a:t>
            </a:r>
            <a:br>
              <a:rPr lang="en-HK" dirty="0">
                <a:solidFill>
                  <a:srgbClr val="A9B7C6"/>
                </a:solidFill>
                <a:effectLst/>
              </a:rPr>
            </a:br>
            <a:r>
              <a:rPr lang="en-HK" dirty="0">
                <a:solidFill>
                  <a:srgbClr val="CC7832"/>
                </a:solidFill>
                <a:effectLst/>
              </a:rPr>
              <a:t>for </a:t>
            </a:r>
            <a:r>
              <a:rPr lang="en-HK" dirty="0" err="1">
                <a:solidFill>
                  <a:srgbClr val="A9B7C6"/>
                </a:solidFill>
                <a:effectLst/>
              </a:rPr>
              <a:t>i</a:t>
            </a:r>
            <a:r>
              <a:rPr lang="en-HK" dirty="0">
                <a:solidFill>
                  <a:srgbClr val="A9B7C6"/>
                </a:solidFill>
                <a:effectLst/>
              </a:rPr>
              <a:t> </a:t>
            </a:r>
            <a:r>
              <a:rPr lang="en-HK" dirty="0">
                <a:solidFill>
                  <a:srgbClr val="CC7832"/>
                </a:solidFill>
                <a:effectLst/>
              </a:rPr>
              <a:t>in </a:t>
            </a:r>
            <a:r>
              <a:rPr lang="en-HK" dirty="0">
                <a:solidFill>
                  <a:srgbClr val="8888C6"/>
                </a:solidFill>
                <a:effectLst/>
              </a:rPr>
              <a:t>range</a:t>
            </a:r>
            <a:r>
              <a:rPr lang="en-HK" dirty="0">
                <a:solidFill>
                  <a:srgbClr val="A9B7C6"/>
                </a:solidFill>
                <a:effectLst/>
              </a:rPr>
              <a:t>(</a:t>
            </a:r>
            <a:r>
              <a:rPr lang="en-HK" dirty="0">
                <a:solidFill>
                  <a:srgbClr val="6897BB"/>
                </a:solidFill>
                <a:effectLst/>
              </a:rPr>
              <a:t>5</a:t>
            </a:r>
            <a:r>
              <a:rPr lang="en-HK" dirty="0">
                <a:solidFill>
                  <a:srgbClr val="A9B7C6"/>
                </a:solidFill>
                <a:effectLst/>
              </a:rPr>
              <a:t>):</a:t>
            </a:r>
            <a:br>
              <a:rPr lang="en-HK" dirty="0">
                <a:solidFill>
                  <a:srgbClr val="A9B7C6"/>
                </a:solidFill>
                <a:effectLst/>
              </a:rPr>
            </a:br>
            <a:r>
              <a:rPr lang="en-HK" dirty="0">
                <a:solidFill>
                  <a:srgbClr val="A9B7C6"/>
                </a:solidFill>
                <a:effectLst/>
              </a:rPr>
              <a:t>    sol = </a:t>
            </a:r>
            <a:r>
              <a:rPr lang="en-HK" dirty="0" err="1">
                <a:solidFill>
                  <a:srgbClr val="A9B7C6"/>
                </a:solidFill>
                <a:effectLst/>
              </a:rPr>
              <a:t>root_scalar</a:t>
            </a:r>
            <a:r>
              <a:rPr lang="en-HK" dirty="0">
                <a:solidFill>
                  <a:srgbClr val="A9B7C6"/>
                </a:solidFill>
                <a:effectLst/>
              </a:rPr>
              <a:t>(f</a:t>
            </a:r>
            <a:r>
              <a:rPr lang="en-HK" dirty="0">
                <a:solidFill>
                  <a:srgbClr val="CC7832"/>
                </a:solidFill>
                <a:effectLst/>
              </a:rPr>
              <a:t>, </a:t>
            </a:r>
            <a:r>
              <a:rPr lang="en-HK" dirty="0">
                <a:solidFill>
                  <a:srgbClr val="AA4926"/>
                </a:solidFill>
                <a:effectLst/>
              </a:rPr>
              <a:t>x0</a:t>
            </a:r>
            <a:r>
              <a:rPr lang="en-HK" dirty="0">
                <a:solidFill>
                  <a:srgbClr val="A9B7C6"/>
                </a:solidFill>
                <a:effectLst/>
              </a:rPr>
              <a:t>=</a:t>
            </a:r>
            <a:r>
              <a:rPr lang="en-HK" dirty="0" err="1">
                <a:solidFill>
                  <a:srgbClr val="A9B7C6"/>
                </a:solidFill>
                <a:effectLst/>
              </a:rPr>
              <a:t>i</a:t>
            </a:r>
            <a:r>
              <a:rPr lang="en-HK" dirty="0">
                <a:solidFill>
                  <a:srgbClr val="CC7832"/>
                </a:solidFill>
                <a:effectLst/>
              </a:rPr>
              <a:t>, </a:t>
            </a:r>
            <a:r>
              <a:rPr lang="en-HK" dirty="0">
                <a:solidFill>
                  <a:srgbClr val="AA4926"/>
                </a:solidFill>
                <a:effectLst/>
              </a:rPr>
              <a:t>x1</a:t>
            </a:r>
            <a:r>
              <a:rPr lang="en-HK" dirty="0">
                <a:solidFill>
                  <a:srgbClr val="A9B7C6"/>
                </a:solidFill>
                <a:effectLst/>
              </a:rPr>
              <a:t>=i+</a:t>
            </a:r>
            <a:r>
              <a:rPr lang="en-HK" dirty="0">
                <a:solidFill>
                  <a:srgbClr val="6897BB"/>
                </a:solidFill>
                <a:effectLst/>
              </a:rPr>
              <a:t>1</a:t>
            </a:r>
            <a:r>
              <a:rPr lang="en-HK" dirty="0">
                <a:solidFill>
                  <a:srgbClr val="CC7832"/>
                </a:solidFill>
                <a:effectLst/>
              </a:rPr>
              <a:t>, </a:t>
            </a:r>
            <a:r>
              <a:rPr lang="en-HK" dirty="0">
                <a:solidFill>
                  <a:srgbClr val="AA4926"/>
                </a:solidFill>
                <a:effectLst/>
              </a:rPr>
              <a:t>method</a:t>
            </a:r>
            <a:r>
              <a:rPr lang="en-HK" dirty="0">
                <a:solidFill>
                  <a:srgbClr val="A9B7C6"/>
                </a:solidFill>
                <a:effectLst/>
              </a:rPr>
              <a:t>=</a:t>
            </a:r>
            <a:r>
              <a:rPr lang="en-HK" dirty="0">
                <a:solidFill>
                  <a:srgbClr val="6A8759"/>
                </a:solidFill>
                <a:effectLst/>
              </a:rPr>
              <a:t>'secant'</a:t>
            </a:r>
            <a:r>
              <a:rPr lang="en-HK" dirty="0">
                <a:solidFill>
                  <a:srgbClr val="A9B7C6"/>
                </a:solidFill>
                <a:effectLst/>
              </a:rPr>
              <a:t>)</a:t>
            </a:r>
            <a:br>
              <a:rPr lang="en-HK" dirty="0">
                <a:solidFill>
                  <a:srgbClr val="A9B7C6"/>
                </a:solidFill>
                <a:effectLst/>
              </a:rPr>
            </a:br>
            <a:r>
              <a:rPr lang="en-HK" dirty="0">
                <a:solidFill>
                  <a:srgbClr val="A9B7C6"/>
                </a:solidFill>
                <a:effectLst/>
              </a:rPr>
              <a:t>    </a:t>
            </a:r>
            <a:r>
              <a:rPr lang="en-HK" dirty="0">
                <a:solidFill>
                  <a:srgbClr val="CC7832"/>
                </a:solidFill>
                <a:effectLst/>
              </a:rPr>
              <a:t>if </a:t>
            </a:r>
            <a:r>
              <a:rPr lang="en-HK" dirty="0" err="1">
                <a:solidFill>
                  <a:srgbClr val="A9B7C6"/>
                </a:solidFill>
                <a:effectLst/>
              </a:rPr>
              <a:t>sol.converged</a:t>
            </a:r>
            <a:r>
              <a:rPr lang="en-HK" dirty="0">
                <a:solidFill>
                  <a:srgbClr val="A9B7C6"/>
                </a:solidFill>
                <a:effectLst/>
              </a:rPr>
              <a:t> </a:t>
            </a:r>
            <a:r>
              <a:rPr lang="en-HK" dirty="0">
                <a:solidFill>
                  <a:srgbClr val="CC7832"/>
                </a:solidFill>
                <a:effectLst/>
              </a:rPr>
              <a:t>and </a:t>
            </a:r>
            <a:r>
              <a:rPr lang="en-HK" dirty="0" err="1">
                <a:solidFill>
                  <a:srgbClr val="A9B7C6"/>
                </a:solidFill>
                <a:effectLst/>
              </a:rPr>
              <a:t>np.isclose</a:t>
            </a:r>
            <a:r>
              <a:rPr lang="en-HK" dirty="0">
                <a:solidFill>
                  <a:srgbClr val="A9B7C6"/>
                </a:solidFill>
                <a:effectLst/>
              </a:rPr>
              <a:t>(f(</a:t>
            </a:r>
            <a:r>
              <a:rPr lang="en-HK" dirty="0" err="1">
                <a:solidFill>
                  <a:srgbClr val="A9B7C6"/>
                </a:solidFill>
                <a:effectLst/>
              </a:rPr>
              <a:t>sol.root</a:t>
            </a:r>
            <a:r>
              <a:rPr lang="en-HK" dirty="0">
                <a:solidFill>
                  <a:srgbClr val="A9B7C6"/>
                </a:solidFill>
                <a:effectLst/>
              </a:rPr>
              <a:t>)</a:t>
            </a:r>
            <a:r>
              <a:rPr lang="en-HK" dirty="0">
                <a:solidFill>
                  <a:srgbClr val="CC7832"/>
                </a:solidFill>
                <a:effectLst/>
              </a:rPr>
              <a:t>, </a:t>
            </a:r>
            <a:r>
              <a:rPr lang="en-HK" dirty="0">
                <a:solidFill>
                  <a:srgbClr val="6897BB"/>
                </a:solidFill>
                <a:effectLst/>
              </a:rPr>
              <a:t>0</a:t>
            </a:r>
            <a:r>
              <a:rPr lang="en-HK" dirty="0">
                <a:solidFill>
                  <a:srgbClr val="A9B7C6"/>
                </a:solidFill>
                <a:effectLst/>
              </a:rPr>
              <a:t>):</a:t>
            </a:r>
            <a:br>
              <a:rPr lang="en-HK" dirty="0">
                <a:solidFill>
                  <a:srgbClr val="A9B7C6"/>
                </a:solidFill>
                <a:effectLst/>
              </a:rPr>
            </a:br>
            <a:r>
              <a:rPr lang="en-HK" dirty="0">
                <a:solidFill>
                  <a:srgbClr val="A9B7C6"/>
                </a:solidFill>
                <a:effectLst/>
              </a:rPr>
              <a:t>        </a:t>
            </a:r>
            <a:r>
              <a:rPr lang="en-HK" dirty="0" err="1">
                <a:solidFill>
                  <a:srgbClr val="A9B7C6"/>
                </a:solidFill>
                <a:effectLst/>
              </a:rPr>
              <a:t>roots.append</a:t>
            </a:r>
            <a:r>
              <a:rPr lang="en-HK" dirty="0">
                <a:solidFill>
                  <a:srgbClr val="A9B7C6"/>
                </a:solidFill>
                <a:effectLst/>
              </a:rPr>
              <a:t>(</a:t>
            </a:r>
            <a:r>
              <a:rPr lang="en-HK" dirty="0" err="1">
                <a:solidFill>
                  <a:srgbClr val="A9B7C6"/>
                </a:solidFill>
                <a:effectLst/>
              </a:rPr>
              <a:t>sol.root</a:t>
            </a:r>
            <a:r>
              <a:rPr lang="en-HK" dirty="0">
                <a:solidFill>
                  <a:srgbClr val="A9B7C6"/>
                </a:solidFill>
                <a:effectLst/>
              </a:rPr>
              <a:t>)</a:t>
            </a:r>
            <a:br>
              <a:rPr lang="en-HK" dirty="0">
                <a:solidFill>
                  <a:srgbClr val="A9B7C6"/>
                </a:solidFill>
                <a:effectLst/>
              </a:rPr>
            </a:br>
            <a:br>
              <a:rPr lang="en-HK" dirty="0">
                <a:solidFill>
                  <a:srgbClr val="A9B7C6"/>
                </a:solidFill>
                <a:effectLst/>
              </a:rPr>
            </a:br>
            <a:r>
              <a:rPr lang="en-HK" dirty="0">
                <a:solidFill>
                  <a:srgbClr val="8888C6"/>
                </a:solidFill>
                <a:effectLst/>
              </a:rPr>
              <a:t>print</a:t>
            </a:r>
            <a:r>
              <a:rPr lang="en-HK" dirty="0">
                <a:solidFill>
                  <a:srgbClr val="A9B7C6"/>
                </a:solidFill>
                <a:effectLst/>
              </a:rPr>
              <a:t>(</a:t>
            </a:r>
            <a:r>
              <a:rPr lang="en-HK" dirty="0">
                <a:solidFill>
                  <a:srgbClr val="6A8759"/>
                </a:solidFill>
                <a:effectLst/>
              </a:rPr>
              <a:t>"Real roots of the polynomial are:"</a:t>
            </a:r>
            <a:r>
              <a:rPr lang="en-HK" dirty="0">
                <a:solidFill>
                  <a:srgbClr val="CC7832"/>
                </a:solidFill>
                <a:effectLst/>
              </a:rPr>
              <a:t>, </a:t>
            </a:r>
            <a:r>
              <a:rPr lang="en-HK" dirty="0">
                <a:solidFill>
                  <a:srgbClr val="A9B7C6"/>
                </a:solidFill>
                <a:effectLst/>
              </a:rPr>
              <a:t>roots)</a:t>
            </a:r>
            <a:br>
              <a:rPr lang="en-HK" dirty="0">
                <a:solidFill>
                  <a:srgbClr val="A9B7C6"/>
                </a:solidFill>
                <a:effectLst/>
              </a:rPr>
            </a:br>
            <a:br>
              <a:rPr lang="en-HK" dirty="0">
                <a:solidFill>
                  <a:srgbClr val="A9B7C6"/>
                </a:solidFill>
                <a:effectLst/>
              </a:rPr>
            </a:br>
            <a:r>
              <a:rPr lang="en-HK" dirty="0">
                <a:solidFill>
                  <a:srgbClr val="808080"/>
                </a:solidFill>
                <a:effectLst/>
              </a:rPr>
              <a:t># Value of x</a:t>
            </a:r>
            <a:br>
              <a:rPr lang="en-HK" dirty="0">
                <a:solidFill>
                  <a:srgbClr val="808080"/>
                </a:solidFill>
                <a:effectLst/>
              </a:rPr>
            </a:br>
            <a:r>
              <a:rPr lang="en-HK" dirty="0">
                <a:solidFill>
                  <a:srgbClr val="A9B7C6"/>
                </a:solidFill>
                <a:effectLst/>
              </a:rPr>
              <a:t>x = </a:t>
            </a:r>
            <a:r>
              <a:rPr lang="en-HK" dirty="0">
                <a:solidFill>
                  <a:srgbClr val="6897BB"/>
                </a:solidFill>
                <a:effectLst/>
              </a:rPr>
              <a:t>2.3697093205509536</a:t>
            </a:r>
            <a:br>
              <a:rPr lang="en-HK" dirty="0">
                <a:solidFill>
                  <a:srgbClr val="6897BB"/>
                </a:solidFill>
                <a:effectLst/>
              </a:rPr>
            </a:br>
            <a:br>
              <a:rPr lang="en-HK" dirty="0">
                <a:solidFill>
                  <a:srgbClr val="6897BB"/>
                </a:solidFill>
                <a:effectLst/>
              </a:rPr>
            </a:br>
            <a:r>
              <a:rPr lang="en-HK" dirty="0">
                <a:solidFill>
                  <a:srgbClr val="808080"/>
                </a:solidFill>
                <a:effectLst/>
              </a:rPr>
              <a:t># Calculate the value of the polynomial at x</a:t>
            </a:r>
            <a:br>
              <a:rPr lang="en-HK" dirty="0">
                <a:solidFill>
                  <a:srgbClr val="808080"/>
                </a:solidFill>
                <a:effectLst/>
              </a:rPr>
            </a:br>
            <a:r>
              <a:rPr lang="en-HK" dirty="0">
                <a:solidFill>
                  <a:srgbClr val="A9B7C6"/>
                </a:solidFill>
                <a:effectLst/>
              </a:rPr>
              <a:t>result = f(x)</a:t>
            </a:r>
            <a:br>
              <a:rPr lang="en-HK" dirty="0">
                <a:solidFill>
                  <a:srgbClr val="A9B7C6"/>
                </a:solidFill>
                <a:effectLst/>
              </a:rPr>
            </a:br>
            <a:br>
              <a:rPr lang="en-HK" dirty="0">
                <a:solidFill>
                  <a:srgbClr val="A9B7C6"/>
                </a:solidFill>
                <a:effectLst/>
              </a:rPr>
            </a:br>
            <a:r>
              <a:rPr lang="en-HK" dirty="0">
                <a:solidFill>
                  <a:srgbClr val="808080"/>
                </a:solidFill>
                <a:effectLst/>
              </a:rPr>
              <a:t># Check if the result is close to zero</a:t>
            </a:r>
            <a:br>
              <a:rPr lang="en-HK" dirty="0">
                <a:solidFill>
                  <a:srgbClr val="808080"/>
                </a:solidFill>
                <a:effectLst/>
              </a:rPr>
            </a:br>
            <a:r>
              <a:rPr lang="en-HK" dirty="0">
                <a:solidFill>
                  <a:srgbClr val="CC7832"/>
                </a:solidFill>
                <a:effectLst/>
              </a:rPr>
              <a:t>if </a:t>
            </a:r>
            <a:r>
              <a:rPr lang="en-HK" dirty="0">
                <a:solidFill>
                  <a:srgbClr val="8888C6"/>
                </a:solidFill>
                <a:effectLst/>
              </a:rPr>
              <a:t>abs</a:t>
            </a:r>
            <a:r>
              <a:rPr lang="en-HK" dirty="0">
                <a:solidFill>
                  <a:srgbClr val="A9B7C6"/>
                </a:solidFill>
                <a:effectLst/>
              </a:rPr>
              <a:t>(result) &lt; </a:t>
            </a:r>
            <a:r>
              <a:rPr lang="en-HK" dirty="0">
                <a:solidFill>
                  <a:srgbClr val="6897BB"/>
                </a:solidFill>
                <a:effectLst/>
              </a:rPr>
              <a:t>1e-10</a:t>
            </a:r>
            <a:r>
              <a:rPr lang="en-HK" dirty="0">
                <a:solidFill>
                  <a:srgbClr val="A9B7C6"/>
                </a:solidFill>
                <a:effectLst/>
              </a:rPr>
              <a:t>:</a:t>
            </a:r>
            <a:br>
              <a:rPr lang="en-HK" dirty="0">
                <a:solidFill>
                  <a:srgbClr val="A9B7C6"/>
                </a:solidFill>
                <a:effectLst/>
              </a:rPr>
            </a:br>
            <a:r>
              <a:rPr lang="en-HK" dirty="0">
                <a:solidFill>
                  <a:srgbClr val="A9B7C6"/>
                </a:solidFill>
                <a:effectLst/>
              </a:rPr>
              <a:t>    </a:t>
            </a:r>
            <a:r>
              <a:rPr lang="en-HK" dirty="0">
                <a:solidFill>
                  <a:srgbClr val="8888C6"/>
                </a:solidFill>
                <a:effectLst/>
              </a:rPr>
              <a:t>print</a:t>
            </a:r>
            <a:r>
              <a:rPr lang="en-HK" dirty="0">
                <a:solidFill>
                  <a:srgbClr val="A9B7C6"/>
                </a:solidFill>
                <a:effectLst/>
              </a:rPr>
              <a:t>(</a:t>
            </a:r>
            <a:r>
              <a:rPr lang="en-HK" dirty="0" err="1">
                <a:solidFill>
                  <a:srgbClr val="6A8759"/>
                </a:solidFill>
                <a:effectLst/>
              </a:rPr>
              <a:t>f"x</a:t>
            </a:r>
            <a:r>
              <a:rPr lang="en-HK" dirty="0">
                <a:solidFill>
                  <a:srgbClr val="6A8759"/>
                </a:solidFill>
                <a:effectLst/>
              </a:rPr>
              <a:t> = </a:t>
            </a:r>
            <a:r>
              <a:rPr lang="en-HK" dirty="0">
                <a:solidFill>
                  <a:srgbClr val="CC7832"/>
                </a:solidFill>
                <a:effectLst/>
              </a:rPr>
              <a:t>{</a:t>
            </a:r>
            <a:r>
              <a:rPr lang="en-HK" dirty="0">
                <a:solidFill>
                  <a:srgbClr val="A9B7C6"/>
                </a:solidFill>
                <a:effectLst/>
              </a:rPr>
              <a:t>x</a:t>
            </a:r>
            <a:r>
              <a:rPr lang="en-HK" dirty="0">
                <a:solidFill>
                  <a:srgbClr val="CC7832"/>
                </a:solidFill>
                <a:effectLst/>
              </a:rPr>
              <a:t>}</a:t>
            </a:r>
            <a:r>
              <a:rPr lang="en-HK" dirty="0">
                <a:solidFill>
                  <a:srgbClr val="6A8759"/>
                </a:solidFill>
                <a:effectLst/>
              </a:rPr>
              <a:t> is a real root of the polynomial."</a:t>
            </a:r>
            <a:r>
              <a:rPr lang="en-HK" dirty="0">
                <a:solidFill>
                  <a:srgbClr val="A9B7C6"/>
                </a:solidFill>
                <a:effectLst/>
              </a:rPr>
              <a:t>)</a:t>
            </a:r>
            <a:br>
              <a:rPr lang="en-HK" dirty="0">
                <a:solidFill>
                  <a:srgbClr val="A9B7C6"/>
                </a:solidFill>
                <a:effectLst/>
              </a:rPr>
            </a:br>
            <a:r>
              <a:rPr lang="en-HK" dirty="0">
                <a:solidFill>
                  <a:srgbClr val="CC7832"/>
                </a:solidFill>
                <a:effectLst/>
              </a:rPr>
              <a:t>else</a:t>
            </a:r>
            <a:r>
              <a:rPr lang="en-HK" dirty="0">
                <a:solidFill>
                  <a:srgbClr val="A9B7C6"/>
                </a:solidFill>
                <a:effectLst/>
              </a:rPr>
              <a:t>:</a:t>
            </a:r>
            <a:br>
              <a:rPr lang="en-HK" dirty="0">
                <a:solidFill>
                  <a:srgbClr val="A9B7C6"/>
                </a:solidFill>
                <a:effectLst/>
              </a:rPr>
            </a:br>
            <a:r>
              <a:rPr lang="en-HK" dirty="0">
                <a:solidFill>
                  <a:srgbClr val="A9B7C6"/>
                </a:solidFill>
                <a:effectLst/>
              </a:rPr>
              <a:t>    </a:t>
            </a:r>
            <a:r>
              <a:rPr lang="en-HK" dirty="0">
                <a:solidFill>
                  <a:srgbClr val="8888C6"/>
                </a:solidFill>
                <a:effectLst/>
              </a:rPr>
              <a:t>print</a:t>
            </a:r>
            <a:r>
              <a:rPr lang="en-HK" dirty="0">
                <a:solidFill>
                  <a:srgbClr val="A9B7C6"/>
                </a:solidFill>
                <a:effectLst/>
              </a:rPr>
              <a:t>(</a:t>
            </a:r>
            <a:r>
              <a:rPr lang="en-HK" dirty="0" err="1">
                <a:solidFill>
                  <a:srgbClr val="6A8759"/>
                </a:solidFill>
                <a:effectLst/>
              </a:rPr>
              <a:t>f"x</a:t>
            </a:r>
            <a:r>
              <a:rPr lang="en-HK" dirty="0">
                <a:solidFill>
                  <a:srgbClr val="6A8759"/>
                </a:solidFill>
                <a:effectLst/>
              </a:rPr>
              <a:t> = </a:t>
            </a:r>
            <a:r>
              <a:rPr lang="en-HK" dirty="0">
                <a:solidFill>
                  <a:srgbClr val="CC7832"/>
                </a:solidFill>
                <a:effectLst/>
              </a:rPr>
              <a:t>{</a:t>
            </a:r>
            <a:r>
              <a:rPr lang="en-HK" dirty="0">
                <a:solidFill>
                  <a:srgbClr val="A9B7C6"/>
                </a:solidFill>
                <a:effectLst/>
              </a:rPr>
              <a:t>x</a:t>
            </a:r>
            <a:r>
              <a:rPr lang="en-HK" dirty="0">
                <a:solidFill>
                  <a:srgbClr val="CC7832"/>
                </a:solidFill>
                <a:effectLst/>
              </a:rPr>
              <a:t>}</a:t>
            </a:r>
            <a:r>
              <a:rPr lang="en-HK" dirty="0">
                <a:solidFill>
                  <a:srgbClr val="6A8759"/>
                </a:solidFill>
                <a:effectLst/>
              </a:rPr>
              <a:t> is not a real root of the polynomial."</a:t>
            </a:r>
            <a:r>
              <a:rPr lang="en-HK" dirty="0">
                <a:solidFill>
                  <a:srgbClr val="A9B7C6"/>
                </a:solidFill>
                <a:effectLst/>
              </a:rPr>
              <a:t>)</a:t>
            </a:r>
          </a:p>
          <a:p>
            <a:endParaRPr lang="en-US" dirty="0"/>
          </a:p>
          <a:p>
            <a:endParaRPr lang="en-US" dirty="0"/>
          </a:p>
          <a:p>
            <a:r>
              <a:rPr lang="en-US" dirty="0"/>
              <a:t>Real roots of the polynomial are: [2.3697093205509536, 2.369709320551014, 2.3697093205509536]</a:t>
            </a:r>
          </a:p>
          <a:p>
            <a:endParaRPr lang="en-US" dirty="0"/>
          </a:p>
          <a:p>
            <a:r>
              <a:rPr lang="en-US" dirty="0"/>
              <a:t>x = 2.3697093205509536 is a real root of the polynomial.</a:t>
            </a:r>
          </a:p>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HK" smtClean="0"/>
              <a:t>58</a:t>
            </a:fld>
            <a:endParaRPr lang="en-HK"/>
          </a:p>
        </p:txBody>
      </p:sp>
    </p:spTree>
    <p:extLst>
      <p:ext uri="{BB962C8B-B14F-4D97-AF65-F5344CB8AC3E}">
        <p14:creationId xmlns:p14="http://schemas.microsoft.com/office/powerpoint/2010/main" val="550713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93A9CAC-3B5C-514B-80A1-94C71E97D081}" type="datetime1">
              <a:rPr lang="en-HK" smtClean="0"/>
              <a:t>24/3/2026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HK" smtClean="0"/>
              <a:t>‹#›</a:t>
            </a:fld>
            <a:endParaRPr lang="en-HK"/>
          </a:p>
        </p:txBody>
      </p:sp>
    </p:spTree>
    <p:extLst>
      <p:ext uri="{BB962C8B-B14F-4D97-AF65-F5344CB8AC3E}">
        <p14:creationId xmlns:p14="http://schemas.microsoft.com/office/powerpoint/2010/main" val="310747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4A1253F-7772-8347-AAFB-A3B8C9754FC7}" type="datetime1">
              <a:rPr lang="en-HK" smtClean="0"/>
              <a:t>24/3/2026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HK" smtClean="0"/>
              <a:t>‹#›</a:t>
            </a:fld>
            <a:endParaRPr lang="en-HK"/>
          </a:p>
        </p:txBody>
      </p:sp>
      <p:pic>
        <p:nvPicPr>
          <p:cNvPr id="8" name="Picture 7">
            <a:extLst>
              <a:ext uri="{FF2B5EF4-FFF2-40B4-BE49-F238E27FC236}">
                <a16:creationId xmlns:a16="http://schemas.microsoft.com/office/drawing/2014/main" id="{A7153AFE-A860-8E43-9CB7-294559C409A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8200" y="6307963"/>
            <a:ext cx="1730728" cy="461898"/>
          </a:xfrm>
          <a:prstGeom prst="rect">
            <a:avLst/>
          </a:prstGeom>
        </p:spPr>
      </p:pic>
    </p:spTree>
    <p:extLst>
      <p:ext uri="{BB962C8B-B14F-4D97-AF65-F5344CB8AC3E}">
        <p14:creationId xmlns:p14="http://schemas.microsoft.com/office/powerpoint/2010/main" val="3297504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C29EF81-0844-7D49-9451-7455E8474CB5}" type="datetime1">
              <a:rPr lang="en-HK" smtClean="0"/>
              <a:t>24/3/2026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HK" smtClean="0"/>
              <a:t>‹#›</a:t>
            </a:fld>
            <a:endParaRPr lang="en-HK"/>
          </a:p>
        </p:txBody>
      </p:sp>
      <p:pic>
        <p:nvPicPr>
          <p:cNvPr id="9" name="Picture 8">
            <a:extLst>
              <a:ext uri="{FF2B5EF4-FFF2-40B4-BE49-F238E27FC236}">
                <a16:creationId xmlns:a16="http://schemas.microsoft.com/office/drawing/2014/main" id="{C584B387-0542-6B40-87C9-78765E62D78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1850" y="6307963"/>
            <a:ext cx="1730728" cy="461898"/>
          </a:xfrm>
          <a:prstGeom prst="rect">
            <a:avLst/>
          </a:prstGeom>
        </p:spPr>
      </p:pic>
    </p:spTree>
    <p:extLst>
      <p:ext uri="{BB962C8B-B14F-4D97-AF65-F5344CB8AC3E}">
        <p14:creationId xmlns:p14="http://schemas.microsoft.com/office/powerpoint/2010/main" val="315793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8D71D33-885D-B948-8339-64719ADBFF91}" type="datetime1">
              <a:rPr lang="en-HK" smtClean="0"/>
              <a:t>24/3/2026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HK" smtClean="0"/>
              <a:t>‹#›</a:t>
            </a:fld>
            <a:endParaRPr lang="en-HK"/>
          </a:p>
        </p:txBody>
      </p:sp>
      <p:pic>
        <p:nvPicPr>
          <p:cNvPr id="9" name="Picture 8">
            <a:extLst>
              <a:ext uri="{FF2B5EF4-FFF2-40B4-BE49-F238E27FC236}">
                <a16:creationId xmlns:a16="http://schemas.microsoft.com/office/drawing/2014/main" id="{E7DE8367-27F6-574B-8573-90DBCE96831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1850" y="6307963"/>
            <a:ext cx="1730728" cy="461898"/>
          </a:xfrm>
          <a:prstGeom prst="rect">
            <a:avLst/>
          </a:prstGeom>
        </p:spPr>
      </p:pic>
    </p:spTree>
    <p:extLst>
      <p:ext uri="{BB962C8B-B14F-4D97-AF65-F5344CB8AC3E}">
        <p14:creationId xmlns:p14="http://schemas.microsoft.com/office/powerpoint/2010/main" val="170553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D5E43E2-B09B-E444-9771-3A4167F39F6C}" type="datetime1">
              <a:rPr lang="en-HK" smtClean="0"/>
              <a:t>24/3/2026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8CBF50-853B-304C-BCA2-DB5146F0D4EA}" type="slidenum">
              <a:rPr lang="en-HK" smtClean="0"/>
              <a:t>‹#›</a:t>
            </a:fld>
            <a:endParaRPr lang="en-HK"/>
          </a:p>
        </p:txBody>
      </p:sp>
      <p:pic>
        <p:nvPicPr>
          <p:cNvPr id="11" name="Picture 10">
            <a:extLst>
              <a:ext uri="{FF2B5EF4-FFF2-40B4-BE49-F238E27FC236}">
                <a16:creationId xmlns:a16="http://schemas.microsoft.com/office/drawing/2014/main" id="{21CDC535-5E9B-ED46-8DA7-641E24130B8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1850" y="6307963"/>
            <a:ext cx="1730728" cy="461898"/>
          </a:xfrm>
          <a:prstGeom prst="rect">
            <a:avLst/>
          </a:prstGeom>
        </p:spPr>
      </p:pic>
    </p:spTree>
    <p:extLst>
      <p:ext uri="{BB962C8B-B14F-4D97-AF65-F5344CB8AC3E}">
        <p14:creationId xmlns:p14="http://schemas.microsoft.com/office/powerpoint/2010/main" val="2806367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27E9F69-7C6B-2D48-BD1D-DD395FDC78F3}" type="datetime1">
              <a:rPr lang="en-HK" smtClean="0"/>
              <a:t>24/3/2026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8CBF50-853B-304C-BCA2-DB5146F0D4EA}" type="slidenum">
              <a:rPr lang="en-HK" smtClean="0"/>
              <a:t>‹#›</a:t>
            </a:fld>
            <a:endParaRPr lang="en-HK"/>
          </a:p>
        </p:txBody>
      </p:sp>
      <p:pic>
        <p:nvPicPr>
          <p:cNvPr id="7" name="Picture 6">
            <a:extLst>
              <a:ext uri="{FF2B5EF4-FFF2-40B4-BE49-F238E27FC236}">
                <a16:creationId xmlns:a16="http://schemas.microsoft.com/office/drawing/2014/main" id="{CCDFEB7C-CEA5-FC44-B182-5DA1BB89424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1850" y="6307963"/>
            <a:ext cx="1730728" cy="461898"/>
          </a:xfrm>
          <a:prstGeom prst="rect">
            <a:avLst/>
          </a:prstGeom>
        </p:spPr>
      </p:pic>
    </p:spTree>
    <p:extLst>
      <p:ext uri="{BB962C8B-B14F-4D97-AF65-F5344CB8AC3E}">
        <p14:creationId xmlns:p14="http://schemas.microsoft.com/office/powerpoint/2010/main" val="26137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DA475-570C-654D-AB31-D2F2DC8E69AA}" type="datetime1">
              <a:rPr lang="en-HK" smtClean="0"/>
              <a:t>24/3/2026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HK" smtClean="0"/>
              <a:t>‹#›</a:t>
            </a:fld>
            <a:endParaRPr lang="en-HK"/>
          </a:p>
        </p:txBody>
      </p:sp>
      <p:pic>
        <p:nvPicPr>
          <p:cNvPr id="6" name="Picture 2" descr="HKU Business School">
            <a:extLst>
              <a:ext uri="{FF2B5EF4-FFF2-40B4-BE49-F238E27FC236}">
                <a16:creationId xmlns:a16="http://schemas.microsoft.com/office/drawing/2014/main" id="{E2750214-276E-F24A-B856-0923552D0591}"/>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38200" y="6311079"/>
            <a:ext cx="2057400" cy="455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5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9CDFA85-9CF0-B04A-AF86-D157508B57EA}" type="datetime1">
              <a:rPr lang="en-HK" smtClean="0"/>
              <a:t>24/3/2026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HK" smtClean="0"/>
              <a:t>‹#›</a:t>
            </a:fld>
            <a:endParaRPr lang="en-HK"/>
          </a:p>
        </p:txBody>
      </p:sp>
    </p:spTree>
    <p:extLst>
      <p:ext uri="{BB962C8B-B14F-4D97-AF65-F5344CB8AC3E}">
        <p14:creationId xmlns:p14="http://schemas.microsoft.com/office/powerpoint/2010/main" val="4234591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DB9529B-3CFB-764D-A152-9E1FCC5C6001}" type="datetime1">
              <a:rPr lang="en-HK" smtClean="0"/>
              <a:t>24/3/2026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HK" smtClean="0"/>
              <a:t>‹#›</a:t>
            </a:fld>
            <a:endParaRPr lang="en-HK"/>
          </a:p>
        </p:txBody>
      </p:sp>
    </p:spTree>
    <p:extLst>
      <p:ext uri="{BB962C8B-B14F-4D97-AF65-F5344CB8AC3E}">
        <p14:creationId xmlns:p14="http://schemas.microsoft.com/office/powerpoint/2010/main" val="337937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49DA506-CC25-A449-94CA-76F61B3ABDB7}" type="datetime1">
              <a:rPr lang="en-HK" smtClean="0"/>
              <a:t>24/3/2026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HK" smtClean="0"/>
              <a:t>‹#›</a:t>
            </a:fld>
            <a:endParaRPr lang="en-HK"/>
          </a:p>
        </p:txBody>
      </p:sp>
    </p:spTree>
    <p:extLst>
      <p:ext uri="{BB962C8B-B14F-4D97-AF65-F5344CB8AC3E}">
        <p14:creationId xmlns:p14="http://schemas.microsoft.com/office/powerpoint/2010/main" val="2348636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10FE732-FDE2-1D42-A871-A09E74C68931}" type="datetime1">
              <a:rPr lang="en-HK" smtClean="0"/>
              <a:t>24/3/2026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HK" smtClean="0"/>
              <a:t>‹#›</a:t>
            </a:fld>
            <a:endParaRPr lang="en-HK"/>
          </a:p>
        </p:txBody>
      </p:sp>
    </p:spTree>
    <p:extLst>
      <p:ext uri="{BB962C8B-B14F-4D97-AF65-F5344CB8AC3E}">
        <p14:creationId xmlns:p14="http://schemas.microsoft.com/office/powerpoint/2010/main" val="2999601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3E3519-75C1-224A-8DAC-8D9E233C6E4D}" type="datetime1">
              <a:rPr lang="en-HK" smtClean="0"/>
              <a:t>24/3/2026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CBF50-853B-304C-BCA2-DB5146F0D4EA}" type="slidenum">
              <a:rPr lang="en-HK" smtClean="0"/>
              <a:t>‹#›</a:t>
            </a:fld>
            <a:endParaRPr lang="en-HK"/>
          </a:p>
        </p:txBody>
      </p:sp>
    </p:spTree>
    <p:extLst>
      <p:ext uri="{BB962C8B-B14F-4D97-AF65-F5344CB8AC3E}">
        <p14:creationId xmlns:p14="http://schemas.microsoft.com/office/powerpoint/2010/main" val="2409355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9666-3E5F-1E49-A0A2-F3E5A0E0A3AB}"/>
              </a:ext>
            </a:extLst>
          </p:cNvPr>
          <p:cNvSpPr>
            <a:spLocks noGrp="1"/>
          </p:cNvSpPr>
          <p:nvPr>
            <p:ph type="ctrTitle"/>
          </p:nvPr>
        </p:nvSpPr>
        <p:spPr/>
        <p:txBody>
          <a:bodyPr>
            <a:normAutofit/>
          </a:bodyPr>
          <a:lstStyle/>
          <a:p>
            <a:r>
              <a:rPr lang="en-US" dirty="0">
                <a:solidFill>
                  <a:schemeClr val="accent2"/>
                </a:solidFill>
              </a:rPr>
              <a:t>Prompt Engineering</a:t>
            </a:r>
            <a:endParaRPr lang="en-US" dirty="0"/>
          </a:p>
        </p:txBody>
      </p:sp>
      <p:sp>
        <p:nvSpPr>
          <p:cNvPr id="3" name="Subtitle 2">
            <a:extLst>
              <a:ext uri="{FF2B5EF4-FFF2-40B4-BE49-F238E27FC236}">
                <a16:creationId xmlns:a16="http://schemas.microsoft.com/office/drawing/2014/main" id="{9569ABFE-EE6A-3340-A806-4190CDE6A715}"/>
              </a:ext>
            </a:extLst>
          </p:cNvPr>
          <p:cNvSpPr>
            <a:spLocks noGrp="1"/>
          </p:cNvSpPr>
          <p:nvPr>
            <p:ph type="subTitle" idx="1"/>
          </p:nvPr>
        </p:nvSpPr>
        <p:spPr/>
        <p:txBody>
          <a:bodyPr>
            <a:normAutofit/>
          </a:bodyPr>
          <a:lstStyle/>
          <a:p>
            <a:endParaRPr lang="en-US" dirty="0"/>
          </a:p>
          <a:p>
            <a:r>
              <a:rPr lang="en-HK" dirty="0" err="1"/>
              <a:t>Hailiang</a:t>
            </a:r>
            <a:r>
              <a:rPr lang="en-HK" dirty="0"/>
              <a:t> Chen</a:t>
            </a:r>
          </a:p>
          <a:p>
            <a:r>
              <a:rPr lang="en-US" altLang="zh-CN" dirty="0"/>
              <a:t>HKU</a:t>
            </a:r>
            <a:r>
              <a:rPr lang="zh-CN" altLang="en-US" dirty="0"/>
              <a:t> </a:t>
            </a:r>
            <a:r>
              <a:rPr lang="en-US" altLang="zh-CN" dirty="0"/>
              <a:t>Business</a:t>
            </a:r>
            <a:r>
              <a:rPr lang="zh-CN" altLang="en-US" dirty="0"/>
              <a:t> </a:t>
            </a:r>
            <a:r>
              <a:rPr lang="en-US" altLang="zh-CN" dirty="0"/>
              <a:t>School</a:t>
            </a:r>
          </a:p>
        </p:txBody>
      </p:sp>
    </p:spTree>
    <p:extLst>
      <p:ext uri="{BB962C8B-B14F-4D97-AF65-F5344CB8AC3E}">
        <p14:creationId xmlns:p14="http://schemas.microsoft.com/office/powerpoint/2010/main" val="1168777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10;&#10;Description automatically generated">
            <a:extLst>
              <a:ext uri="{FF2B5EF4-FFF2-40B4-BE49-F238E27FC236}">
                <a16:creationId xmlns:a16="http://schemas.microsoft.com/office/drawing/2014/main" id="{7D252366-0BA7-CDD1-3DB8-C48BD7B50B89}"/>
              </a:ext>
            </a:extLst>
          </p:cNvPr>
          <p:cNvPicPr>
            <a:picLocks noGrp="1" noChangeAspect="1"/>
          </p:cNvPicPr>
          <p:nvPr>
            <p:ph idx="1"/>
          </p:nvPr>
        </p:nvPicPr>
        <p:blipFill>
          <a:blip r:embed="rId2"/>
          <a:srcRect b="1334"/>
          <a:stretch/>
        </p:blipFill>
        <p:spPr>
          <a:xfrm>
            <a:off x="20" y="1282"/>
            <a:ext cx="12191980" cy="6856718"/>
          </a:xfrm>
          <a:prstGeom prst="rect">
            <a:avLst/>
          </a:prstGeom>
        </p:spPr>
      </p:pic>
      <p:sp>
        <p:nvSpPr>
          <p:cNvPr id="4" name="Slide Number Placeholder 3">
            <a:extLst>
              <a:ext uri="{FF2B5EF4-FFF2-40B4-BE49-F238E27FC236}">
                <a16:creationId xmlns:a16="http://schemas.microsoft.com/office/drawing/2014/main" id="{F7A7A12A-BE0C-7E6B-F65E-2969353CB39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a:solidFill>
                  <a:srgbClr val="FFFFFF"/>
                </a:solidFill>
              </a:rPr>
              <a:pPr defTabSz="914400">
                <a:spcAft>
                  <a:spcPts val="600"/>
                </a:spcAft>
              </a:pPr>
              <a:t>2</a:t>
            </a:fld>
            <a:endParaRPr lang="en-US">
              <a:solidFill>
                <a:srgbClr val="FFFFFF"/>
              </a:solidFill>
            </a:endParaRPr>
          </a:p>
        </p:txBody>
      </p:sp>
      <p:sp>
        <p:nvSpPr>
          <p:cNvPr id="6" name="TextBox 5">
            <a:extLst>
              <a:ext uri="{FF2B5EF4-FFF2-40B4-BE49-F238E27FC236}">
                <a16:creationId xmlns:a16="http://schemas.microsoft.com/office/drawing/2014/main" id="{4E70DB19-B710-A720-70C5-865DB02CCA67}"/>
              </a:ext>
            </a:extLst>
          </p:cNvPr>
          <p:cNvSpPr txBox="1"/>
          <p:nvPr/>
        </p:nvSpPr>
        <p:spPr>
          <a:xfrm>
            <a:off x="-551569" y="6464254"/>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Databricks</a:t>
            </a:r>
          </a:p>
        </p:txBody>
      </p:sp>
    </p:spTree>
    <p:extLst>
      <p:ext uri="{BB962C8B-B14F-4D97-AF65-F5344CB8AC3E}">
        <p14:creationId xmlns:p14="http://schemas.microsoft.com/office/powerpoint/2010/main" val="2574804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84C41-A2F2-BBA9-6DA3-ADC8739C3C7C}"/>
              </a:ext>
            </a:extLst>
          </p:cNvPr>
          <p:cNvSpPr>
            <a:spLocks noGrp="1"/>
          </p:cNvSpPr>
          <p:nvPr>
            <p:ph type="title"/>
          </p:nvPr>
        </p:nvSpPr>
        <p:spPr/>
        <p:txBody>
          <a:bodyPr/>
          <a:lstStyle/>
          <a:p>
            <a:r>
              <a:rPr lang="en-US" dirty="0"/>
              <a:t>Prompt and Completion</a:t>
            </a:r>
          </a:p>
        </p:txBody>
      </p:sp>
      <p:sp>
        <p:nvSpPr>
          <p:cNvPr id="3" name="Content Placeholder 2">
            <a:extLst>
              <a:ext uri="{FF2B5EF4-FFF2-40B4-BE49-F238E27FC236}">
                <a16:creationId xmlns:a16="http://schemas.microsoft.com/office/drawing/2014/main" id="{DBA20708-0E1E-6753-F3DC-0FFD4FC4D697}"/>
              </a:ext>
            </a:extLst>
          </p:cNvPr>
          <p:cNvSpPr>
            <a:spLocks noGrp="1"/>
          </p:cNvSpPr>
          <p:nvPr>
            <p:ph idx="1"/>
          </p:nvPr>
        </p:nvSpPr>
        <p:spPr/>
        <p:txBody>
          <a:bodyPr>
            <a:normAutofit/>
          </a:bodyPr>
          <a:lstStyle/>
          <a:p>
            <a:r>
              <a:rPr lang="en-US" dirty="0"/>
              <a:t>The input of a large language model is known as </a:t>
            </a:r>
            <a:r>
              <a:rPr lang="en-US" dirty="0">
                <a:solidFill>
                  <a:schemeClr val="accent2"/>
                </a:solidFill>
              </a:rPr>
              <a:t>prompt</a:t>
            </a:r>
            <a:r>
              <a:rPr lang="en-US" dirty="0"/>
              <a:t>, while the output is known as </a:t>
            </a:r>
            <a:r>
              <a:rPr lang="en-US" dirty="0">
                <a:solidFill>
                  <a:schemeClr val="accent2"/>
                </a:solidFill>
              </a:rPr>
              <a:t>completion</a:t>
            </a:r>
            <a:r>
              <a:rPr lang="en-US" dirty="0"/>
              <a:t>, which refers to the model mechanism of generating the next token to complete the current input.</a:t>
            </a:r>
          </a:p>
          <a:p>
            <a:r>
              <a:rPr lang="en-US" dirty="0"/>
              <a:t>A prompt can be an instruction specifying the type of output we expect from the model; the instruction can embed some examples or some additional data.</a:t>
            </a:r>
          </a:p>
          <a:p>
            <a:endParaRPr lang="en-US" dirty="0"/>
          </a:p>
        </p:txBody>
      </p:sp>
      <p:sp>
        <p:nvSpPr>
          <p:cNvPr id="4" name="Slide Number Placeholder 3">
            <a:extLst>
              <a:ext uri="{FF2B5EF4-FFF2-40B4-BE49-F238E27FC236}">
                <a16:creationId xmlns:a16="http://schemas.microsoft.com/office/drawing/2014/main" id="{907549AF-56B6-11BC-1EE2-5294CAF3E7A4}"/>
              </a:ext>
            </a:extLst>
          </p:cNvPr>
          <p:cNvSpPr>
            <a:spLocks noGrp="1"/>
          </p:cNvSpPr>
          <p:nvPr>
            <p:ph type="sldNum" sz="quarter" idx="12"/>
          </p:nvPr>
        </p:nvSpPr>
        <p:spPr/>
        <p:txBody>
          <a:bodyPr/>
          <a:lstStyle/>
          <a:p>
            <a:fld id="{7F8CBF50-853B-304C-BCA2-DB5146F0D4EA}" type="slidenum">
              <a:rPr lang="en-HK" smtClean="0"/>
              <a:t>3</a:t>
            </a:fld>
            <a:endParaRPr lang="en-HK"/>
          </a:p>
        </p:txBody>
      </p:sp>
    </p:spTree>
    <p:extLst>
      <p:ext uri="{BB962C8B-B14F-4D97-AF65-F5344CB8AC3E}">
        <p14:creationId xmlns:p14="http://schemas.microsoft.com/office/powerpoint/2010/main" val="2022728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16EC-14C5-47BF-3ADA-9C64EA19582A}"/>
              </a:ext>
            </a:extLst>
          </p:cNvPr>
          <p:cNvSpPr>
            <a:spLocks noGrp="1"/>
          </p:cNvSpPr>
          <p:nvPr>
            <p:ph type="title"/>
          </p:nvPr>
        </p:nvSpPr>
        <p:spPr/>
        <p:txBody>
          <a:bodyPr/>
          <a:lstStyle/>
          <a:p>
            <a:r>
              <a:rPr lang="en-US" dirty="0"/>
              <a:t>Prompt Examples</a:t>
            </a:r>
          </a:p>
        </p:txBody>
      </p:sp>
      <p:sp>
        <p:nvSpPr>
          <p:cNvPr id="3" name="Content Placeholder 2">
            <a:extLst>
              <a:ext uri="{FF2B5EF4-FFF2-40B4-BE49-F238E27FC236}">
                <a16:creationId xmlns:a16="http://schemas.microsoft.com/office/drawing/2014/main" id="{EC924DD2-B8DF-67D5-EDE2-AB5A06D430F5}"/>
              </a:ext>
            </a:extLst>
          </p:cNvPr>
          <p:cNvSpPr>
            <a:spLocks noGrp="1"/>
          </p:cNvSpPr>
          <p:nvPr>
            <p:ph idx="1"/>
          </p:nvPr>
        </p:nvSpPr>
        <p:spPr/>
        <p:txBody>
          <a:bodyPr/>
          <a:lstStyle/>
          <a:p>
            <a:r>
              <a:rPr lang="en-US" dirty="0"/>
              <a:t>A question, asked in the form of a conversation with an agent.</a:t>
            </a:r>
          </a:p>
          <a:p>
            <a:r>
              <a:rPr lang="en-US" dirty="0"/>
              <a:t>A chunk of text to complete, which implicitly is an ask for writing assistance.</a:t>
            </a:r>
          </a:p>
          <a:p>
            <a:r>
              <a:rPr lang="en-US" dirty="0"/>
              <a:t>A chunk of code together with the ask of explaining and documenting it.</a:t>
            </a:r>
          </a:p>
          <a:p>
            <a:r>
              <a:rPr lang="en-US" dirty="0"/>
              <a:t>A comment asking to generate a piece of code performing a specific task.</a:t>
            </a:r>
          </a:p>
          <a:p>
            <a:endParaRPr lang="en-US" dirty="0"/>
          </a:p>
        </p:txBody>
      </p:sp>
      <p:sp>
        <p:nvSpPr>
          <p:cNvPr id="4" name="Slide Number Placeholder 3">
            <a:extLst>
              <a:ext uri="{FF2B5EF4-FFF2-40B4-BE49-F238E27FC236}">
                <a16:creationId xmlns:a16="http://schemas.microsoft.com/office/drawing/2014/main" id="{B32BAFCB-5DED-3F74-23A1-15EDE1A3BCC7}"/>
              </a:ext>
            </a:extLst>
          </p:cNvPr>
          <p:cNvSpPr>
            <a:spLocks noGrp="1"/>
          </p:cNvSpPr>
          <p:nvPr>
            <p:ph type="sldNum" sz="quarter" idx="12"/>
          </p:nvPr>
        </p:nvSpPr>
        <p:spPr/>
        <p:txBody>
          <a:bodyPr/>
          <a:lstStyle/>
          <a:p>
            <a:fld id="{7F8CBF50-853B-304C-BCA2-DB5146F0D4EA}" type="slidenum">
              <a:rPr lang="en-HK" smtClean="0"/>
              <a:t>4</a:t>
            </a:fld>
            <a:endParaRPr lang="en-HK"/>
          </a:p>
        </p:txBody>
      </p:sp>
    </p:spTree>
    <p:extLst>
      <p:ext uri="{BB962C8B-B14F-4D97-AF65-F5344CB8AC3E}">
        <p14:creationId xmlns:p14="http://schemas.microsoft.com/office/powerpoint/2010/main" val="2250930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EA6F5-08C6-44F7-8358-FEED97D7F89A}"/>
              </a:ext>
            </a:extLst>
          </p:cNvPr>
          <p:cNvSpPr>
            <a:spLocks noGrp="1"/>
          </p:cNvSpPr>
          <p:nvPr>
            <p:ph type="title"/>
          </p:nvPr>
        </p:nvSpPr>
        <p:spPr/>
        <p:txBody>
          <a:bodyPr/>
          <a:lstStyle/>
          <a:p>
            <a:r>
              <a:rPr lang="en-US" dirty="0"/>
              <a:t>Prompt Engineering</a:t>
            </a:r>
          </a:p>
        </p:txBody>
      </p:sp>
      <p:sp>
        <p:nvSpPr>
          <p:cNvPr id="3" name="Content Placeholder 2">
            <a:extLst>
              <a:ext uri="{FF2B5EF4-FFF2-40B4-BE49-F238E27FC236}">
                <a16:creationId xmlns:a16="http://schemas.microsoft.com/office/drawing/2014/main" id="{B29C03A7-C023-85FF-F71C-777492B51379}"/>
              </a:ext>
            </a:extLst>
          </p:cNvPr>
          <p:cNvSpPr>
            <a:spLocks noGrp="1"/>
          </p:cNvSpPr>
          <p:nvPr>
            <p:ph idx="1"/>
          </p:nvPr>
        </p:nvSpPr>
        <p:spPr/>
        <p:txBody>
          <a:bodyPr/>
          <a:lstStyle/>
          <a:p>
            <a:r>
              <a:rPr lang="en-US" dirty="0"/>
              <a:t>The practice of designing and refining inputs to guide AI models toward producing desired outputs</a:t>
            </a:r>
          </a:p>
          <a:p>
            <a:r>
              <a:rPr lang="en-US" dirty="0"/>
              <a:t>The primary programming interface for generative AI apps</a:t>
            </a:r>
          </a:p>
          <a:p>
            <a:r>
              <a:rPr lang="en-US" dirty="0"/>
              <a:t>Currently more art than science</a:t>
            </a:r>
          </a:p>
          <a:p>
            <a:r>
              <a:rPr lang="en-US" dirty="0"/>
              <a:t>Two steps</a:t>
            </a:r>
          </a:p>
          <a:p>
            <a:pPr lvl="1"/>
            <a:r>
              <a:rPr lang="en-US" dirty="0"/>
              <a:t>designing the initial prompt for a given model and objective</a:t>
            </a:r>
          </a:p>
          <a:p>
            <a:pPr lvl="1"/>
            <a:r>
              <a:rPr lang="en-US" dirty="0"/>
              <a:t>refining the prompt iteratively to improve the quality of the response</a:t>
            </a:r>
          </a:p>
          <a:p>
            <a:endParaRPr lang="en-US" dirty="0"/>
          </a:p>
          <a:p>
            <a:endParaRPr lang="en-US" dirty="0"/>
          </a:p>
        </p:txBody>
      </p:sp>
      <p:sp>
        <p:nvSpPr>
          <p:cNvPr id="4" name="Slide Number Placeholder 3">
            <a:extLst>
              <a:ext uri="{FF2B5EF4-FFF2-40B4-BE49-F238E27FC236}">
                <a16:creationId xmlns:a16="http://schemas.microsoft.com/office/drawing/2014/main" id="{167C8034-19F0-ED44-F66F-94C3CB13C232}"/>
              </a:ext>
            </a:extLst>
          </p:cNvPr>
          <p:cNvSpPr>
            <a:spLocks noGrp="1"/>
          </p:cNvSpPr>
          <p:nvPr>
            <p:ph type="sldNum" sz="quarter" idx="12"/>
          </p:nvPr>
        </p:nvSpPr>
        <p:spPr/>
        <p:txBody>
          <a:bodyPr/>
          <a:lstStyle/>
          <a:p>
            <a:fld id="{7F8CBF50-853B-304C-BCA2-DB5146F0D4EA}" type="slidenum">
              <a:rPr lang="en-HK" smtClean="0"/>
              <a:t>5</a:t>
            </a:fld>
            <a:endParaRPr lang="en-HK"/>
          </a:p>
        </p:txBody>
      </p:sp>
    </p:spTree>
    <p:extLst>
      <p:ext uri="{BB962C8B-B14F-4D97-AF65-F5344CB8AC3E}">
        <p14:creationId xmlns:p14="http://schemas.microsoft.com/office/powerpoint/2010/main" val="3690060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AD994B1-64A2-C073-56AA-5077D40C7143}"/>
              </a:ext>
            </a:extLst>
          </p:cNvPr>
          <p:cNvSpPr>
            <a:spLocks noGrp="1"/>
          </p:cNvSpPr>
          <p:nvPr>
            <p:ph type="title"/>
          </p:nvPr>
        </p:nvSpPr>
        <p:spPr>
          <a:xfrm>
            <a:off x="838200" y="365125"/>
            <a:ext cx="10515600" cy="1325563"/>
          </a:xfrm>
        </p:spPr>
        <p:txBody>
          <a:bodyPr>
            <a:normAutofit/>
          </a:bodyPr>
          <a:lstStyle/>
          <a:p>
            <a:pPr lvl="0"/>
            <a:r>
              <a:rPr lang="en-HK" dirty="0"/>
              <a:t>Why Prompt Engineering Matters</a:t>
            </a:r>
            <a:endParaRPr lang="en-US" dirty="0"/>
          </a:p>
        </p:txBody>
      </p:sp>
      <p:sp>
        <p:nvSpPr>
          <p:cNvPr id="3" name="Content Placeholder 2">
            <a:extLst>
              <a:ext uri="{FF2B5EF4-FFF2-40B4-BE49-F238E27FC236}">
                <a16:creationId xmlns:a16="http://schemas.microsoft.com/office/drawing/2014/main" id="{EEC5A90A-6FA3-78DC-C604-3F1FED5B8F7D}"/>
              </a:ext>
            </a:extLst>
          </p:cNvPr>
          <p:cNvSpPr>
            <a:spLocks noGrp="1"/>
          </p:cNvSpPr>
          <p:nvPr>
            <p:ph idx="1"/>
          </p:nvPr>
        </p:nvSpPr>
        <p:spPr>
          <a:xfrm>
            <a:off x="838200" y="1825625"/>
            <a:ext cx="10515600" cy="4351338"/>
          </a:xfrm>
        </p:spPr>
        <p:txBody>
          <a:bodyPr/>
          <a:lstStyle/>
          <a:p>
            <a:r>
              <a:rPr lang="en-HK" dirty="0"/>
              <a:t>Performance: Extracts higher-quality, more reliable outputs from the same model </a:t>
            </a:r>
          </a:p>
          <a:p>
            <a:r>
              <a:rPr lang="en-HK" dirty="0"/>
              <a:t>Control: Shapes tone, format, reasoning depth, and </a:t>
            </a:r>
            <a:r>
              <a:rPr lang="en-HK" dirty="0" err="1"/>
              <a:t>behavior</a:t>
            </a:r>
            <a:r>
              <a:rPr lang="en-HK" dirty="0"/>
              <a:t> </a:t>
            </a:r>
          </a:p>
          <a:p>
            <a:r>
              <a:rPr lang="en-HK" dirty="0"/>
              <a:t>Efficiency: Reduces trial‑and‑error, rework, and compute cost </a:t>
            </a:r>
          </a:p>
          <a:p>
            <a:r>
              <a:rPr lang="en-HK" dirty="0"/>
              <a:t>Capability Unlock: Enables complex tasks (reasoning, planning, tool use) </a:t>
            </a:r>
          </a:p>
          <a:p>
            <a:r>
              <a:rPr lang="en-HK" dirty="0"/>
              <a:t>Consistency: Improves repeatability and evaluation in workflows </a:t>
            </a:r>
          </a:p>
          <a:p>
            <a:r>
              <a:rPr lang="en-HK" dirty="0"/>
              <a:t>Business Value: Faster prototyping, better decisions, scalable AI use</a:t>
            </a:r>
          </a:p>
        </p:txBody>
      </p:sp>
      <p:sp>
        <p:nvSpPr>
          <p:cNvPr id="4" name="Slide Number Placeholder 3">
            <a:extLst>
              <a:ext uri="{FF2B5EF4-FFF2-40B4-BE49-F238E27FC236}">
                <a16:creationId xmlns:a16="http://schemas.microsoft.com/office/drawing/2014/main" id="{AD704BCE-6C70-D884-0AB7-C1B254591BF5}"/>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a:t>
            </a:fld>
            <a:endParaRPr lang="en-HK"/>
          </a:p>
        </p:txBody>
      </p:sp>
    </p:spTree>
    <p:extLst>
      <p:ext uri="{BB962C8B-B14F-4D97-AF65-F5344CB8AC3E}">
        <p14:creationId xmlns:p14="http://schemas.microsoft.com/office/powerpoint/2010/main" val="65622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F4811BE-6ADA-8729-60F7-D574DEA6F3C5}"/>
              </a:ext>
            </a:extLst>
          </p:cNvPr>
          <p:cNvSpPr>
            <a:spLocks noGrp="1"/>
          </p:cNvSpPr>
          <p:nvPr>
            <p:ph type="title"/>
          </p:nvPr>
        </p:nvSpPr>
        <p:spPr/>
        <p:txBody>
          <a:bodyPr/>
          <a:lstStyle/>
          <a:p>
            <a:r>
              <a:rPr lang="en-US" dirty="0"/>
              <a:t>Prompt is often augmented with:</a:t>
            </a:r>
          </a:p>
        </p:txBody>
      </p:sp>
      <p:sp>
        <p:nvSpPr>
          <p:cNvPr id="3" name="Content Placeholder 2">
            <a:extLst>
              <a:ext uri="{FF2B5EF4-FFF2-40B4-BE49-F238E27FC236}">
                <a16:creationId xmlns:a16="http://schemas.microsoft.com/office/drawing/2014/main" id="{3CDC23B0-8132-10E2-B311-880CBF5AF14E}"/>
              </a:ext>
            </a:extLst>
          </p:cNvPr>
          <p:cNvSpPr>
            <a:spLocks noGrp="1"/>
          </p:cNvSpPr>
          <p:nvPr>
            <p:ph idx="1"/>
          </p:nvPr>
        </p:nvSpPr>
        <p:spPr>
          <a:xfrm>
            <a:off x="838200" y="1825625"/>
            <a:ext cx="10515600" cy="4351338"/>
          </a:xfrm>
        </p:spPr>
        <p:txBody>
          <a:bodyPr>
            <a:normAutofit lnSpcReduction="10000"/>
          </a:bodyPr>
          <a:lstStyle/>
          <a:p>
            <a:r>
              <a:rPr lang="en-HK" dirty="0"/>
              <a:t>A </a:t>
            </a:r>
            <a:r>
              <a:rPr lang="en-HK" dirty="0">
                <a:solidFill>
                  <a:schemeClr val="accent2"/>
                </a:solidFill>
              </a:rPr>
              <a:t>system message </a:t>
            </a:r>
            <a:r>
              <a:rPr lang="en-HK" dirty="0"/>
              <a:t>that sets conditions and constraints for the language model </a:t>
            </a:r>
            <a:r>
              <a:rPr lang="en-HK" dirty="0" err="1"/>
              <a:t>behavior</a:t>
            </a:r>
            <a:r>
              <a:rPr lang="en-HK" dirty="0"/>
              <a:t>. For example, "You're a helpful assistant that responds in a cheerful, friendly manner." These system messages determine constraints and styles for the model's responses.</a:t>
            </a:r>
          </a:p>
          <a:p>
            <a:r>
              <a:rPr lang="en-HK" dirty="0"/>
              <a:t>The </a:t>
            </a:r>
            <a:r>
              <a:rPr lang="en-HK" dirty="0">
                <a:solidFill>
                  <a:schemeClr val="accent2"/>
                </a:solidFill>
              </a:rPr>
              <a:t>conversation history </a:t>
            </a:r>
            <a:r>
              <a:rPr lang="en-HK" dirty="0"/>
              <a:t>for the current session, including past prompts and responses. The history enables you to refine the response iteratively while maintaining the context of the conversation.</a:t>
            </a:r>
          </a:p>
          <a:p>
            <a:r>
              <a:rPr lang="en-HK" dirty="0"/>
              <a:t>The </a:t>
            </a:r>
            <a:r>
              <a:rPr lang="en-HK" dirty="0">
                <a:solidFill>
                  <a:schemeClr val="accent2"/>
                </a:solidFill>
              </a:rPr>
              <a:t>current prompt </a:t>
            </a:r>
            <a:r>
              <a:rPr lang="en-HK" dirty="0"/>
              <a:t>– potentially optimized by the application to reword it appropriately for the model or to add more grounding data to scope the response.</a:t>
            </a:r>
          </a:p>
          <a:p>
            <a:endParaRPr lang="en-US" dirty="0"/>
          </a:p>
        </p:txBody>
      </p:sp>
      <p:sp>
        <p:nvSpPr>
          <p:cNvPr id="4" name="Slide Number Placeholder 3">
            <a:extLst>
              <a:ext uri="{FF2B5EF4-FFF2-40B4-BE49-F238E27FC236}">
                <a16:creationId xmlns:a16="http://schemas.microsoft.com/office/drawing/2014/main" id="{39F8E71D-3429-3099-DB03-A4A02642E4AA}"/>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7</a:t>
            </a:fld>
            <a:endParaRPr lang="en-HK"/>
          </a:p>
        </p:txBody>
      </p:sp>
    </p:spTree>
    <p:extLst>
      <p:ext uri="{BB962C8B-B14F-4D97-AF65-F5344CB8AC3E}">
        <p14:creationId xmlns:p14="http://schemas.microsoft.com/office/powerpoint/2010/main" val="1352090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080B-E0FA-A276-BE5D-94CC623155E7}"/>
              </a:ext>
            </a:extLst>
          </p:cNvPr>
          <p:cNvSpPr>
            <a:spLocks noGrp="1"/>
          </p:cNvSpPr>
          <p:nvPr>
            <p:ph type="title"/>
          </p:nvPr>
        </p:nvSpPr>
        <p:spPr/>
        <p:txBody>
          <a:bodyPr/>
          <a:lstStyle/>
          <a:p>
            <a:r>
              <a:rPr lang="en-US" altLang="zh-CN" dirty="0"/>
              <a:t>Complex Prompt</a:t>
            </a:r>
            <a:endParaRPr lang="en-US" dirty="0"/>
          </a:p>
        </p:txBody>
      </p:sp>
      <p:sp>
        <p:nvSpPr>
          <p:cNvPr id="3" name="Content Placeholder 2">
            <a:extLst>
              <a:ext uri="{FF2B5EF4-FFF2-40B4-BE49-F238E27FC236}">
                <a16:creationId xmlns:a16="http://schemas.microsoft.com/office/drawing/2014/main" id="{47F525E5-A696-2F09-9051-8C96569F2E0D}"/>
              </a:ext>
            </a:extLst>
          </p:cNvPr>
          <p:cNvSpPr>
            <a:spLocks noGrp="1"/>
          </p:cNvSpPr>
          <p:nvPr>
            <p:ph idx="1"/>
          </p:nvPr>
        </p:nvSpPr>
        <p:spPr/>
        <p:txBody>
          <a:bodyPr/>
          <a:lstStyle/>
          <a:p>
            <a:r>
              <a:rPr lang="en-US" dirty="0"/>
              <a:t>System message setting the </a:t>
            </a:r>
            <a:r>
              <a:rPr lang="en-US" dirty="0">
                <a:solidFill>
                  <a:schemeClr val="accent2"/>
                </a:solidFill>
              </a:rPr>
              <a:t>context</a:t>
            </a:r>
            <a:r>
              <a:rPr lang="en-US" dirty="0"/>
              <a:t> for assistant behavior or </a:t>
            </a:r>
            <a:r>
              <a:rPr lang="en-US" dirty="0">
                <a:solidFill>
                  <a:schemeClr val="accent2"/>
                </a:solidFill>
              </a:rPr>
              <a:t>personality (e.g., persona)</a:t>
            </a:r>
            <a:r>
              <a:rPr lang="en-US" dirty="0"/>
              <a:t>.</a:t>
            </a:r>
          </a:p>
          <a:p>
            <a:r>
              <a:rPr lang="en-US" dirty="0"/>
              <a:t>Input/output pairs reflecting user input and assistant response (e.g., conversation history or memory).</a:t>
            </a:r>
          </a:p>
          <a:p>
            <a:endParaRPr lang="en-US" dirty="0"/>
          </a:p>
        </p:txBody>
      </p:sp>
      <p:sp>
        <p:nvSpPr>
          <p:cNvPr id="4" name="Slide Number Placeholder 3">
            <a:extLst>
              <a:ext uri="{FF2B5EF4-FFF2-40B4-BE49-F238E27FC236}">
                <a16:creationId xmlns:a16="http://schemas.microsoft.com/office/drawing/2014/main" id="{C771C51F-FF99-BA0B-4694-12822637AA6C}"/>
              </a:ext>
            </a:extLst>
          </p:cNvPr>
          <p:cNvSpPr>
            <a:spLocks noGrp="1"/>
          </p:cNvSpPr>
          <p:nvPr>
            <p:ph type="sldNum" sz="quarter" idx="12"/>
          </p:nvPr>
        </p:nvSpPr>
        <p:spPr/>
        <p:txBody>
          <a:bodyPr/>
          <a:lstStyle/>
          <a:p>
            <a:fld id="{7F8CBF50-853B-304C-BCA2-DB5146F0D4EA}" type="slidenum">
              <a:rPr lang="en-HK" smtClean="0"/>
              <a:t>8</a:t>
            </a:fld>
            <a:endParaRPr lang="en-HK"/>
          </a:p>
        </p:txBody>
      </p:sp>
      <p:sp>
        <p:nvSpPr>
          <p:cNvPr id="8" name="TextBox 7">
            <a:extLst>
              <a:ext uri="{FF2B5EF4-FFF2-40B4-BE49-F238E27FC236}">
                <a16:creationId xmlns:a16="http://schemas.microsoft.com/office/drawing/2014/main" id="{DB8F7E7D-2E59-E2A9-0F29-557151EB10C9}"/>
              </a:ext>
            </a:extLst>
          </p:cNvPr>
          <p:cNvSpPr txBox="1"/>
          <p:nvPr/>
        </p:nvSpPr>
        <p:spPr>
          <a:xfrm>
            <a:off x="985520" y="3591560"/>
            <a:ext cx="9489440" cy="2585323"/>
          </a:xfrm>
          <a:prstGeom prst="rect">
            <a:avLst/>
          </a:prstGeom>
          <a:noFill/>
          <a:ln>
            <a:solidFill>
              <a:schemeClr val="accent2"/>
            </a:solidFill>
          </a:ln>
        </p:spPr>
        <p:txBody>
          <a:bodyPr wrap="square">
            <a:spAutoFit/>
          </a:bodyPr>
          <a:lstStyle/>
          <a:p>
            <a:r>
              <a:rPr lang="en-US" dirty="0"/>
              <a:t>response = </a:t>
            </a:r>
            <a:r>
              <a:rPr lang="en-US" dirty="0" err="1"/>
              <a:t>client.chat.completions.create</a:t>
            </a:r>
            <a:r>
              <a:rPr lang="en-US" dirty="0"/>
              <a:t>(</a:t>
            </a:r>
          </a:p>
          <a:p>
            <a:r>
              <a:rPr lang="en-US" dirty="0"/>
              <a:t>    model="gpt-5",</a:t>
            </a:r>
          </a:p>
          <a:p>
            <a:r>
              <a:rPr lang="en-US" dirty="0"/>
              <a:t>    messages=[</a:t>
            </a:r>
          </a:p>
          <a:p>
            <a:r>
              <a:rPr lang="en-US" dirty="0"/>
              <a:t>        {"role": "</a:t>
            </a:r>
            <a:r>
              <a:rPr lang="en-US" dirty="0">
                <a:solidFill>
                  <a:schemeClr val="accent2"/>
                </a:solidFill>
              </a:rPr>
              <a:t>system</a:t>
            </a:r>
            <a:r>
              <a:rPr lang="en-US" dirty="0"/>
              <a:t>", "content": "You are a helpful assistant."},</a:t>
            </a:r>
          </a:p>
          <a:p>
            <a:r>
              <a:rPr lang="en-US" dirty="0"/>
              <a:t>        {"role": "user", "content": "Who won the world series in 2020?"},</a:t>
            </a:r>
          </a:p>
          <a:p>
            <a:r>
              <a:rPr lang="en-US" dirty="0"/>
              <a:t>        {"role": "assistant", "content": "The Los Angeles Dodgers won the World Series in 2020."},</a:t>
            </a:r>
          </a:p>
          <a:p>
            <a:r>
              <a:rPr lang="en-US" dirty="0"/>
              <a:t>        {"role": "user", "content": "Where was it played?"}</a:t>
            </a:r>
          </a:p>
          <a:p>
            <a:r>
              <a:rPr lang="en-US" dirty="0"/>
              <a:t>    ]</a:t>
            </a:r>
          </a:p>
          <a:p>
            <a:r>
              <a:rPr lang="en-US" dirty="0"/>
              <a:t>)</a:t>
            </a:r>
          </a:p>
        </p:txBody>
      </p:sp>
    </p:spTree>
    <p:extLst>
      <p:ext uri="{BB962C8B-B14F-4D97-AF65-F5344CB8AC3E}">
        <p14:creationId xmlns:p14="http://schemas.microsoft.com/office/powerpoint/2010/main" val="301691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381BA-4F23-961A-8589-4A84101AACC0}"/>
              </a:ext>
            </a:extLst>
          </p:cNvPr>
          <p:cNvSpPr>
            <a:spLocks noGrp="1"/>
          </p:cNvSpPr>
          <p:nvPr>
            <p:ph type="title"/>
          </p:nvPr>
        </p:nvSpPr>
        <p:spPr>
          <a:xfrm>
            <a:off x="838200" y="365125"/>
            <a:ext cx="10515600" cy="1325563"/>
          </a:xfrm>
        </p:spPr>
        <p:txBody>
          <a:bodyPr/>
          <a:lstStyle/>
          <a:p>
            <a:r>
              <a:rPr lang="en-US" dirty="0"/>
              <a:t>General Guidelines</a:t>
            </a:r>
          </a:p>
        </p:txBody>
      </p:sp>
      <p:sp>
        <p:nvSpPr>
          <p:cNvPr id="3" name="Content Placeholder 2">
            <a:extLst>
              <a:ext uri="{FF2B5EF4-FFF2-40B4-BE49-F238E27FC236}">
                <a16:creationId xmlns:a16="http://schemas.microsoft.com/office/drawing/2014/main" id="{2FFCBB00-F8F9-2F56-BF95-080F834CEEA5}"/>
              </a:ext>
            </a:extLst>
          </p:cNvPr>
          <p:cNvSpPr>
            <a:spLocks noGrp="1"/>
          </p:cNvSpPr>
          <p:nvPr>
            <p:ph idx="1"/>
          </p:nvPr>
        </p:nvSpPr>
        <p:spPr>
          <a:xfrm>
            <a:off x="838200" y="1825625"/>
            <a:ext cx="10515600" cy="4351338"/>
          </a:xfrm>
        </p:spPr>
        <p:txBody>
          <a:bodyPr/>
          <a:lstStyle/>
          <a:p>
            <a:pPr marL="514350" indent="-514350">
              <a:buFont typeface="+mj-lt"/>
              <a:buAutoNum type="arabicPeriod"/>
            </a:pPr>
            <a:r>
              <a:rPr lang="en-HK" dirty="0"/>
              <a:t>Start with a specific goal for what you want the LLM to do</a:t>
            </a:r>
          </a:p>
          <a:p>
            <a:pPr marL="514350" indent="-514350">
              <a:buFont typeface="+mj-lt"/>
              <a:buAutoNum type="arabicPeriod"/>
            </a:pPr>
            <a:r>
              <a:rPr lang="en-HK" dirty="0"/>
              <a:t>Provide a source to ground the response in a specific scope of information</a:t>
            </a:r>
          </a:p>
          <a:p>
            <a:pPr marL="514350" indent="-514350">
              <a:buFont typeface="+mj-lt"/>
              <a:buAutoNum type="arabicPeriod"/>
            </a:pPr>
            <a:r>
              <a:rPr lang="en-HK" dirty="0"/>
              <a:t>Add context to maximize response appropriateness and relevance</a:t>
            </a:r>
          </a:p>
          <a:p>
            <a:pPr marL="514350" indent="-514350">
              <a:buFont typeface="+mj-lt"/>
              <a:buAutoNum type="arabicPeriod"/>
            </a:pPr>
            <a:r>
              <a:rPr lang="en-HK" dirty="0"/>
              <a:t>Set clear expectations for the response</a:t>
            </a:r>
          </a:p>
          <a:p>
            <a:pPr marL="514350" indent="-514350">
              <a:buFont typeface="+mj-lt"/>
              <a:buAutoNum type="arabicPeriod"/>
            </a:pPr>
            <a:r>
              <a:rPr lang="en-HK" dirty="0"/>
              <a:t>Iterate based on previous prompts and responses to refine the result</a:t>
            </a:r>
          </a:p>
          <a:p>
            <a:pPr marL="0" indent="0">
              <a:buNone/>
            </a:pPr>
            <a:endParaRPr lang="en-US" dirty="0"/>
          </a:p>
        </p:txBody>
      </p:sp>
      <p:sp>
        <p:nvSpPr>
          <p:cNvPr id="4" name="Slide Number Placeholder 3">
            <a:extLst>
              <a:ext uri="{FF2B5EF4-FFF2-40B4-BE49-F238E27FC236}">
                <a16:creationId xmlns:a16="http://schemas.microsoft.com/office/drawing/2014/main" id="{723B42EF-AA04-F489-35B9-753C8B8F39D1}"/>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9</a:t>
            </a:fld>
            <a:endParaRPr lang="en-HK"/>
          </a:p>
        </p:txBody>
      </p:sp>
    </p:spTree>
    <p:extLst>
      <p:ext uri="{BB962C8B-B14F-4D97-AF65-F5344CB8AC3E}">
        <p14:creationId xmlns:p14="http://schemas.microsoft.com/office/powerpoint/2010/main" val="166339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26A9-FB21-35C8-EEC4-00AEA5FEA2F2}"/>
              </a:ext>
            </a:extLst>
          </p:cNvPr>
          <p:cNvSpPr>
            <a:spLocks noGrp="1"/>
          </p:cNvSpPr>
          <p:nvPr>
            <p:ph type="title"/>
          </p:nvPr>
        </p:nvSpPr>
        <p:spPr>
          <a:xfrm>
            <a:off x="838200" y="365125"/>
            <a:ext cx="10515600" cy="1325563"/>
          </a:xfrm>
        </p:spPr>
        <p:txBody>
          <a:bodyPr>
            <a:normAutofit/>
          </a:bodyPr>
          <a:lstStyle/>
          <a:p>
            <a:r>
              <a:rPr lang="en-HK" dirty="0"/>
              <a:t>Instruction Prompt</a:t>
            </a:r>
            <a:endParaRPr lang="en-US" dirty="0"/>
          </a:p>
        </p:txBody>
      </p:sp>
      <p:graphicFrame>
        <p:nvGraphicFramePr>
          <p:cNvPr id="5" name="Content Placeholder 4">
            <a:extLst>
              <a:ext uri="{FF2B5EF4-FFF2-40B4-BE49-F238E27FC236}">
                <a16:creationId xmlns:a16="http://schemas.microsoft.com/office/drawing/2014/main" id="{F864F424-222B-67EA-AE3B-53FC14464E60}"/>
              </a:ext>
            </a:extLst>
          </p:cNvPr>
          <p:cNvGraphicFramePr>
            <a:graphicFrameLocks noGrp="1"/>
          </p:cNvGraphicFramePr>
          <p:nvPr>
            <p:ph idx="1"/>
            <p:extLst>
              <p:ext uri="{D42A27DB-BD31-4B8C-83A1-F6EECF244321}">
                <p14:modId xmlns:p14="http://schemas.microsoft.com/office/powerpoint/2010/main" val="2513684620"/>
              </p:ext>
            </p:extLst>
          </p:nvPr>
        </p:nvGraphicFramePr>
        <p:xfrm>
          <a:off x="838200" y="1825625"/>
          <a:ext cx="10515600" cy="3810000"/>
        </p:xfrm>
        <a:graphic>
          <a:graphicData uri="http://schemas.openxmlformats.org/drawingml/2006/table">
            <a:tbl>
              <a:tblPr firstRow="1" bandRow="1">
                <a:tableStyleId>{72833802-FEF1-4C79-8D5D-14CF1EAF98D9}</a:tableStyleId>
              </a:tblPr>
              <a:tblGrid>
                <a:gridCol w="1965960">
                  <a:extLst>
                    <a:ext uri="{9D8B030D-6E8A-4147-A177-3AD203B41FA5}">
                      <a16:colId xmlns:a16="http://schemas.microsoft.com/office/drawing/2014/main" val="1117042400"/>
                    </a:ext>
                  </a:extLst>
                </a:gridCol>
                <a:gridCol w="5044440">
                  <a:extLst>
                    <a:ext uri="{9D8B030D-6E8A-4147-A177-3AD203B41FA5}">
                      <a16:colId xmlns:a16="http://schemas.microsoft.com/office/drawing/2014/main" val="2731362889"/>
                    </a:ext>
                  </a:extLst>
                </a:gridCol>
                <a:gridCol w="3505200">
                  <a:extLst>
                    <a:ext uri="{9D8B030D-6E8A-4147-A177-3AD203B41FA5}">
                      <a16:colId xmlns:a16="http://schemas.microsoft.com/office/drawing/2014/main" val="4004263622"/>
                    </a:ext>
                  </a:extLst>
                </a:gridCol>
              </a:tblGrid>
              <a:tr h="370840">
                <a:tc>
                  <a:txBody>
                    <a:bodyPr/>
                    <a:lstStyle/>
                    <a:p>
                      <a:pPr algn="l"/>
                      <a:r>
                        <a:rPr lang="en-HK" sz="2000">
                          <a:effectLst/>
                        </a:rPr>
                        <a:t>Instruction Type</a:t>
                      </a:r>
                      <a:endParaRPr lang="en-HK" sz="2000" dirty="0">
                        <a:effectLst/>
                      </a:endParaRPr>
                    </a:p>
                  </a:txBody>
                  <a:tcPr marL="123825" marR="123825" marT="57150" marB="57150" anchor="ctr"/>
                </a:tc>
                <a:tc>
                  <a:txBody>
                    <a:bodyPr/>
                    <a:lstStyle/>
                    <a:p>
                      <a:pPr algn="l"/>
                      <a:r>
                        <a:rPr lang="en-HK" sz="2000" dirty="0">
                          <a:effectLst/>
                        </a:rPr>
                        <a:t>Prompt (Input)</a:t>
                      </a:r>
                    </a:p>
                  </a:txBody>
                  <a:tcPr marL="123825" marR="123825" marT="57150" marB="57150" anchor="ctr"/>
                </a:tc>
                <a:tc>
                  <a:txBody>
                    <a:bodyPr/>
                    <a:lstStyle/>
                    <a:p>
                      <a:pPr algn="l"/>
                      <a:r>
                        <a:rPr lang="en-HK" sz="2000">
                          <a:effectLst/>
                        </a:rPr>
                        <a:t>Completion (Output)</a:t>
                      </a:r>
                    </a:p>
                  </a:txBody>
                  <a:tcPr marL="123825" marR="123825" marT="57150" marB="57150" anchor="ctr"/>
                </a:tc>
                <a:extLst>
                  <a:ext uri="{0D108BD9-81ED-4DB2-BD59-A6C34878D82A}">
                    <a16:rowId xmlns:a16="http://schemas.microsoft.com/office/drawing/2014/main" val="4181448716"/>
                  </a:ext>
                </a:extLst>
              </a:tr>
              <a:tr h="370840">
                <a:tc>
                  <a:txBody>
                    <a:bodyPr/>
                    <a:lstStyle/>
                    <a:p>
                      <a:pPr algn="l"/>
                      <a:r>
                        <a:rPr lang="en-HK" sz="2000" dirty="0">
                          <a:effectLst/>
                        </a:rPr>
                        <a:t>Simple</a:t>
                      </a:r>
                    </a:p>
                  </a:txBody>
                  <a:tcPr marL="123825" marR="123825" marT="57150" marB="57150" anchor="ctr"/>
                </a:tc>
                <a:tc>
                  <a:txBody>
                    <a:bodyPr/>
                    <a:lstStyle/>
                    <a:p>
                      <a:pPr algn="l"/>
                      <a:r>
                        <a:rPr lang="en-HK" sz="2000" b="0" kern="1200">
                          <a:solidFill>
                            <a:schemeClr val="dk1"/>
                          </a:solidFill>
                          <a:effectLst/>
                        </a:rPr>
                        <a:t>Write a description of large language models.</a:t>
                      </a:r>
                      <a:endParaRPr lang="en-HK" sz="2000" dirty="0">
                        <a:effectLst/>
                      </a:endParaRPr>
                    </a:p>
                  </a:txBody>
                  <a:tcPr marL="123825" marR="123825" marT="57150" marB="57150" anchor="ctr"/>
                </a:tc>
                <a:tc>
                  <a:txBody>
                    <a:bodyPr/>
                    <a:lstStyle/>
                    <a:p>
                      <a:pPr algn="l"/>
                      <a:r>
                        <a:rPr lang="en-HK" sz="2000">
                          <a:effectLst/>
                        </a:rPr>
                        <a:t>returned one paragraph or two</a:t>
                      </a:r>
                      <a:endParaRPr lang="en-HK" sz="2000" dirty="0">
                        <a:effectLst/>
                      </a:endParaRPr>
                    </a:p>
                  </a:txBody>
                  <a:tcPr marL="123825" marR="123825" marT="57150" marB="57150" anchor="ctr"/>
                </a:tc>
                <a:extLst>
                  <a:ext uri="{0D108BD9-81ED-4DB2-BD59-A6C34878D82A}">
                    <a16:rowId xmlns:a16="http://schemas.microsoft.com/office/drawing/2014/main" val="713425824"/>
                  </a:ext>
                </a:extLst>
              </a:tr>
              <a:tr h="370840">
                <a:tc>
                  <a:txBody>
                    <a:bodyPr/>
                    <a:lstStyle/>
                    <a:p>
                      <a:pPr algn="l"/>
                      <a:r>
                        <a:rPr lang="en-HK" sz="2000">
                          <a:effectLst/>
                        </a:rPr>
                        <a:t>Complex</a:t>
                      </a:r>
                      <a:endParaRPr lang="en-HK" sz="2000" dirty="0">
                        <a:effectLst/>
                      </a:endParaRPr>
                    </a:p>
                  </a:txBody>
                  <a:tcPr marL="123825" marR="123825" marT="57150" marB="57150" anchor="ctr"/>
                </a:tc>
                <a:tc>
                  <a:txBody>
                    <a:bodyPr/>
                    <a:lstStyle/>
                    <a:p>
                      <a:pPr algn="l"/>
                      <a:r>
                        <a:rPr lang="en-HK" sz="2000" b="0" kern="1200" dirty="0">
                          <a:solidFill>
                            <a:schemeClr val="dk1"/>
                          </a:solidFill>
                          <a:effectLst/>
                        </a:rPr>
                        <a:t>Write a description of large language models. Provide key developments and breakthroughs and describe their significance.</a:t>
                      </a:r>
                      <a:endParaRPr lang="en-HK" sz="2000" dirty="0">
                        <a:effectLst/>
                      </a:endParaRPr>
                    </a:p>
                  </a:txBody>
                  <a:tcPr marL="123825" marR="123825" marT="57150" marB="57150" anchor="ctr"/>
                </a:tc>
                <a:tc>
                  <a:txBody>
                    <a:bodyPr/>
                    <a:lstStyle/>
                    <a:p>
                      <a:pPr algn="l"/>
                      <a:r>
                        <a:rPr lang="en-HK" sz="2000">
                          <a:effectLst/>
                        </a:rPr>
                        <a:t>returned a paragraph followed by a list of key development dates with descriptions</a:t>
                      </a:r>
                      <a:endParaRPr lang="en-HK" sz="2000" dirty="0">
                        <a:effectLst/>
                      </a:endParaRPr>
                    </a:p>
                  </a:txBody>
                  <a:tcPr marL="123825" marR="123825" marT="57150" marB="57150" anchor="ctr"/>
                </a:tc>
                <a:extLst>
                  <a:ext uri="{0D108BD9-81ED-4DB2-BD59-A6C34878D82A}">
                    <a16:rowId xmlns:a16="http://schemas.microsoft.com/office/drawing/2014/main" val="4195666857"/>
                  </a:ext>
                </a:extLst>
              </a:tr>
              <a:tr h="370840">
                <a:tc>
                  <a:txBody>
                    <a:bodyPr/>
                    <a:lstStyle/>
                    <a:p>
                      <a:pPr algn="l"/>
                      <a:r>
                        <a:rPr lang="en-HK" sz="2000" dirty="0">
                          <a:effectLst/>
                        </a:rPr>
                        <a:t>Complex. </a:t>
                      </a:r>
                    </a:p>
                    <a:p>
                      <a:pPr algn="l"/>
                      <a:r>
                        <a:rPr lang="en-HK" sz="2000" dirty="0">
                          <a:effectLst/>
                        </a:rPr>
                        <a:t>Formatted.</a:t>
                      </a:r>
                    </a:p>
                  </a:txBody>
                  <a:tcPr marL="123825" marR="123825" marT="57150" marB="57150" anchor="ctr"/>
                </a:tc>
                <a:tc>
                  <a:txBody>
                    <a:bodyPr/>
                    <a:lstStyle/>
                    <a:p>
                      <a:pPr algn="l"/>
                      <a:r>
                        <a:rPr lang="en-HK" sz="2000" b="0" kern="1200">
                          <a:solidFill>
                            <a:schemeClr val="dk1"/>
                          </a:solidFill>
                          <a:effectLst/>
                        </a:rPr>
                        <a:t>Write a description of large language models in 1 paragraph. Provide 3 bullet points with key developments and their significance. Provide 3 more bullet points with key researchers and their contributions. Return the output as a JSON file.</a:t>
                      </a:r>
                      <a:endParaRPr lang="en-HK" sz="2000" dirty="0">
                        <a:effectLst/>
                      </a:endParaRPr>
                    </a:p>
                  </a:txBody>
                  <a:tcPr marL="123825" marR="123825" marT="57150" marB="57150" anchor="ctr"/>
                </a:tc>
                <a:tc>
                  <a:txBody>
                    <a:bodyPr/>
                    <a:lstStyle/>
                    <a:p>
                      <a:pPr algn="l"/>
                      <a:r>
                        <a:rPr lang="en-HK" sz="2000" dirty="0">
                          <a:effectLst/>
                        </a:rPr>
                        <a:t>returns more extensive details in a text box, formatted as JSON that you can copy-paste to a file and validate as needed</a:t>
                      </a:r>
                    </a:p>
                  </a:txBody>
                  <a:tcPr marL="123825" marR="123825" marT="57150" marB="57150" anchor="ctr"/>
                </a:tc>
                <a:extLst>
                  <a:ext uri="{0D108BD9-81ED-4DB2-BD59-A6C34878D82A}">
                    <a16:rowId xmlns:a16="http://schemas.microsoft.com/office/drawing/2014/main" val="1968341689"/>
                  </a:ext>
                </a:extLst>
              </a:tr>
            </a:tbl>
          </a:graphicData>
        </a:graphic>
      </p:graphicFrame>
      <p:sp>
        <p:nvSpPr>
          <p:cNvPr id="4" name="Slide Number Placeholder 3">
            <a:extLst>
              <a:ext uri="{FF2B5EF4-FFF2-40B4-BE49-F238E27FC236}">
                <a16:creationId xmlns:a16="http://schemas.microsoft.com/office/drawing/2014/main" id="{D5C07F62-9D6B-A248-CC31-EF9CEB416042}"/>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10</a:t>
            </a:fld>
            <a:endParaRPr lang="en-HK"/>
          </a:p>
        </p:txBody>
      </p:sp>
    </p:spTree>
    <p:extLst>
      <p:ext uri="{BB962C8B-B14F-4D97-AF65-F5344CB8AC3E}">
        <p14:creationId xmlns:p14="http://schemas.microsoft.com/office/powerpoint/2010/main" val="31339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8C7B-7BEF-E70B-A5BD-C2BF63C1344D}"/>
              </a:ext>
            </a:extLst>
          </p:cNvPr>
          <p:cNvSpPr>
            <a:spLocks noGrp="1"/>
          </p:cNvSpPr>
          <p:nvPr>
            <p:ph type="title"/>
          </p:nvPr>
        </p:nvSpPr>
        <p:spPr/>
        <p:txBody>
          <a:bodyPr/>
          <a:lstStyle/>
          <a:p>
            <a:r>
              <a:rPr lang="en-US"/>
              <a:t>Prompt Construction</a:t>
            </a:r>
          </a:p>
        </p:txBody>
      </p:sp>
      <p:sp>
        <p:nvSpPr>
          <p:cNvPr id="3" name="Content Placeholder 2">
            <a:extLst>
              <a:ext uri="{FF2B5EF4-FFF2-40B4-BE49-F238E27FC236}">
                <a16:creationId xmlns:a16="http://schemas.microsoft.com/office/drawing/2014/main" id="{B67AA97E-5F71-3506-4220-4C5E14DFAE9C}"/>
              </a:ext>
            </a:extLst>
          </p:cNvPr>
          <p:cNvSpPr>
            <a:spLocks noGrp="1"/>
          </p:cNvSpPr>
          <p:nvPr>
            <p:ph idx="1"/>
          </p:nvPr>
        </p:nvSpPr>
        <p:spPr/>
        <p:txBody>
          <a:bodyPr>
            <a:normAutofit fontScale="92500" lnSpcReduction="10000"/>
          </a:bodyPr>
          <a:lstStyle/>
          <a:p>
            <a:r>
              <a:rPr lang="en-US" dirty="0"/>
              <a:t>Task: an instruction (action)</a:t>
            </a:r>
          </a:p>
          <a:p>
            <a:r>
              <a:rPr lang="en-US" dirty="0"/>
              <a:t>Primary Content</a:t>
            </a:r>
          </a:p>
          <a:p>
            <a:pPr lvl="1"/>
            <a:r>
              <a:rPr lang="en-US" b="1" dirty="0"/>
              <a:t>Examples</a:t>
            </a:r>
            <a:r>
              <a:rPr lang="en-US" dirty="0"/>
              <a:t>: </a:t>
            </a:r>
            <a:r>
              <a:rPr lang="en-HK" dirty="0"/>
              <a:t>instead of telling the model what to do with an explicit instruction, give it examples of what to do and let it infer the pattern</a:t>
            </a:r>
            <a:endParaRPr lang="en-US" dirty="0"/>
          </a:p>
          <a:p>
            <a:pPr lvl="1"/>
            <a:r>
              <a:rPr lang="en-US" b="1" dirty="0"/>
              <a:t>Cues</a:t>
            </a:r>
            <a:r>
              <a:rPr lang="en-US" dirty="0"/>
              <a:t>: </a:t>
            </a:r>
            <a:r>
              <a:rPr lang="en-HK" dirty="0"/>
              <a:t>follow the instruction with a "cue" that primes the completion, guiding the model towards more relevant responses.</a:t>
            </a:r>
            <a:endParaRPr lang="en-US" dirty="0"/>
          </a:p>
          <a:p>
            <a:pPr lvl="1"/>
            <a:r>
              <a:rPr lang="en-US" b="1" dirty="0"/>
              <a:t>Templates</a:t>
            </a:r>
            <a:r>
              <a:rPr lang="en-US" dirty="0"/>
              <a:t>: </a:t>
            </a:r>
            <a:r>
              <a:rPr lang="en-HK" dirty="0"/>
              <a:t>these are repeatable 'recipes' for prompts with placeholders (variables) that can be customized with data for specific use cases.</a:t>
            </a:r>
            <a:endParaRPr lang="en-US" dirty="0"/>
          </a:p>
          <a:p>
            <a:r>
              <a:rPr lang="en-US" dirty="0"/>
              <a:t>Secondary (or Supporting) Content</a:t>
            </a:r>
          </a:p>
          <a:p>
            <a:pPr lvl="1"/>
            <a:r>
              <a:rPr lang="en-US" dirty="0"/>
              <a:t>Additional context to influence the output in some way</a:t>
            </a:r>
          </a:p>
          <a:p>
            <a:pPr lvl="1"/>
            <a:r>
              <a:rPr lang="en-US" dirty="0"/>
              <a:t>It could be tuning parameters, formatting instructions, topic taxonomies, etc. that can help the model tailor its response to be suit the desired user objectives or expectations.</a:t>
            </a:r>
          </a:p>
          <a:p>
            <a:endParaRPr lang="en-US" dirty="0"/>
          </a:p>
        </p:txBody>
      </p:sp>
      <p:sp>
        <p:nvSpPr>
          <p:cNvPr id="4" name="Slide Number Placeholder 3">
            <a:extLst>
              <a:ext uri="{FF2B5EF4-FFF2-40B4-BE49-F238E27FC236}">
                <a16:creationId xmlns:a16="http://schemas.microsoft.com/office/drawing/2014/main" id="{34276A76-EB2A-ABE3-63EC-32300FF8E0E5}"/>
              </a:ext>
            </a:extLst>
          </p:cNvPr>
          <p:cNvSpPr>
            <a:spLocks noGrp="1"/>
          </p:cNvSpPr>
          <p:nvPr>
            <p:ph type="sldNum" sz="quarter" idx="12"/>
          </p:nvPr>
        </p:nvSpPr>
        <p:spPr/>
        <p:txBody>
          <a:bodyPr/>
          <a:lstStyle/>
          <a:p>
            <a:fld id="{7F8CBF50-853B-304C-BCA2-DB5146F0D4EA}" type="slidenum">
              <a:rPr lang="en-HK" smtClean="0"/>
              <a:t>11</a:t>
            </a:fld>
            <a:endParaRPr lang="en-HK"/>
          </a:p>
        </p:txBody>
      </p:sp>
    </p:spTree>
    <p:extLst>
      <p:ext uri="{BB962C8B-B14F-4D97-AF65-F5344CB8AC3E}">
        <p14:creationId xmlns:p14="http://schemas.microsoft.com/office/powerpoint/2010/main" val="3112943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C4C5-3D34-DED7-7683-C66001FC7B79}"/>
              </a:ext>
            </a:extLst>
          </p:cNvPr>
          <p:cNvSpPr>
            <a:spLocks noGrp="1"/>
          </p:cNvSpPr>
          <p:nvPr>
            <p:ph type="title"/>
          </p:nvPr>
        </p:nvSpPr>
        <p:spPr>
          <a:xfrm>
            <a:off x="838200" y="365125"/>
            <a:ext cx="10515600" cy="1325563"/>
          </a:xfrm>
        </p:spPr>
        <p:txBody>
          <a:bodyPr/>
          <a:lstStyle/>
          <a:p>
            <a:r>
              <a:rPr lang="en-US" dirty="0"/>
              <a:t>Primary Content</a:t>
            </a:r>
          </a:p>
        </p:txBody>
      </p:sp>
      <p:sp>
        <p:nvSpPr>
          <p:cNvPr id="3" name="Content Placeholder 2">
            <a:extLst>
              <a:ext uri="{FF2B5EF4-FFF2-40B4-BE49-F238E27FC236}">
                <a16:creationId xmlns:a16="http://schemas.microsoft.com/office/drawing/2014/main" id="{66D6A31E-EDD8-AA05-F33F-9A5D193927F3}"/>
              </a:ext>
            </a:extLst>
          </p:cNvPr>
          <p:cNvSpPr>
            <a:spLocks noGrp="1"/>
          </p:cNvSpPr>
          <p:nvPr>
            <p:ph idx="1"/>
          </p:nvPr>
        </p:nvSpPr>
        <p:spPr>
          <a:xfrm>
            <a:off x="838200" y="1825625"/>
            <a:ext cx="10515600" cy="4351338"/>
          </a:xfrm>
        </p:spPr>
        <p:txBody>
          <a:bodyPr/>
          <a:lstStyle/>
          <a:p>
            <a:r>
              <a:rPr lang="en-US" dirty="0"/>
              <a:t>Examples: </a:t>
            </a:r>
            <a:r>
              <a:rPr lang="en-HK" dirty="0"/>
              <a:t>instead of telling the model what to do with an explicit instruction, give it examples of what to do and let it infer the pattern</a:t>
            </a:r>
            <a:endParaRPr lang="en-US" dirty="0"/>
          </a:p>
          <a:p>
            <a:r>
              <a:rPr lang="en-US" dirty="0"/>
              <a:t>Cues: </a:t>
            </a:r>
            <a:r>
              <a:rPr lang="en-HK" dirty="0"/>
              <a:t>follow the instruction with a "cue" that primes the completion, guiding the model towards more relevant responses.</a:t>
            </a:r>
            <a:endParaRPr lang="en-US" dirty="0"/>
          </a:p>
          <a:p>
            <a:r>
              <a:rPr lang="en-US" dirty="0"/>
              <a:t>Templates: </a:t>
            </a:r>
            <a:r>
              <a:rPr lang="en-HK" dirty="0"/>
              <a:t>these are repeatable 'recipes' for prompts with placeholders (variables) that can be customized with data for specific use cases.</a:t>
            </a:r>
            <a:endParaRPr lang="en-US" dirty="0"/>
          </a:p>
        </p:txBody>
      </p:sp>
      <p:sp>
        <p:nvSpPr>
          <p:cNvPr id="4" name="Slide Number Placeholder 3">
            <a:extLst>
              <a:ext uri="{FF2B5EF4-FFF2-40B4-BE49-F238E27FC236}">
                <a16:creationId xmlns:a16="http://schemas.microsoft.com/office/drawing/2014/main" id="{2A93F49F-D0BF-DFDC-E604-106478361CFE}"/>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12</a:t>
            </a:fld>
            <a:endParaRPr lang="en-HK"/>
          </a:p>
        </p:txBody>
      </p:sp>
    </p:spTree>
    <p:extLst>
      <p:ext uri="{BB962C8B-B14F-4D97-AF65-F5344CB8AC3E}">
        <p14:creationId xmlns:p14="http://schemas.microsoft.com/office/powerpoint/2010/main" val="2800943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0BD5D-3B5B-1E69-82B2-82EEDED3E6CD}"/>
              </a:ext>
            </a:extLst>
          </p:cNvPr>
          <p:cNvSpPr>
            <a:spLocks noGrp="1"/>
          </p:cNvSpPr>
          <p:nvPr>
            <p:ph type="title"/>
          </p:nvPr>
        </p:nvSpPr>
        <p:spPr/>
        <p:txBody>
          <a:bodyPr/>
          <a:lstStyle/>
          <a:p>
            <a:r>
              <a:rPr lang="en-US" dirty="0"/>
              <a:t>Using Examples</a:t>
            </a:r>
          </a:p>
        </p:txBody>
      </p:sp>
      <p:graphicFrame>
        <p:nvGraphicFramePr>
          <p:cNvPr id="5" name="Content Placeholder 4">
            <a:extLst>
              <a:ext uri="{FF2B5EF4-FFF2-40B4-BE49-F238E27FC236}">
                <a16:creationId xmlns:a16="http://schemas.microsoft.com/office/drawing/2014/main" id="{3AA5574E-ACB0-B42D-FA43-C8A48C095C35}"/>
              </a:ext>
            </a:extLst>
          </p:cNvPr>
          <p:cNvGraphicFramePr>
            <a:graphicFrameLocks noGrp="1"/>
          </p:cNvGraphicFramePr>
          <p:nvPr>
            <p:ph idx="1"/>
            <p:extLst>
              <p:ext uri="{D42A27DB-BD31-4B8C-83A1-F6EECF244321}">
                <p14:modId xmlns:p14="http://schemas.microsoft.com/office/powerpoint/2010/main" val="1484323776"/>
              </p:ext>
            </p:extLst>
          </p:nvPr>
        </p:nvGraphicFramePr>
        <p:xfrm>
          <a:off x="838200" y="1825625"/>
          <a:ext cx="10515597" cy="3810000"/>
        </p:xfrm>
        <a:graphic>
          <a:graphicData uri="http://schemas.openxmlformats.org/drawingml/2006/table">
            <a:tbl>
              <a:tblPr firstRow="1" bandRow="1">
                <a:tableStyleId>{72833802-FEF1-4C79-8D5D-14CF1EAF98D9}</a:tableStyleId>
              </a:tblPr>
              <a:tblGrid>
                <a:gridCol w="1905000">
                  <a:extLst>
                    <a:ext uri="{9D8B030D-6E8A-4147-A177-3AD203B41FA5}">
                      <a16:colId xmlns:a16="http://schemas.microsoft.com/office/drawing/2014/main" val="2530748981"/>
                    </a:ext>
                  </a:extLst>
                </a:gridCol>
                <a:gridCol w="5105398">
                  <a:extLst>
                    <a:ext uri="{9D8B030D-6E8A-4147-A177-3AD203B41FA5}">
                      <a16:colId xmlns:a16="http://schemas.microsoft.com/office/drawing/2014/main" val="1474959235"/>
                    </a:ext>
                  </a:extLst>
                </a:gridCol>
                <a:gridCol w="3505199">
                  <a:extLst>
                    <a:ext uri="{9D8B030D-6E8A-4147-A177-3AD203B41FA5}">
                      <a16:colId xmlns:a16="http://schemas.microsoft.com/office/drawing/2014/main" val="3210653550"/>
                    </a:ext>
                  </a:extLst>
                </a:gridCol>
              </a:tblGrid>
              <a:tr h="370840">
                <a:tc>
                  <a:txBody>
                    <a:bodyPr/>
                    <a:lstStyle/>
                    <a:p>
                      <a:pPr algn="l"/>
                      <a:r>
                        <a:rPr lang="en-HK" sz="2000">
                          <a:effectLst/>
                        </a:rPr>
                        <a:t>Learning Type</a:t>
                      </a:r>
                    </a:p>
                  </a:txBody>
                  <a:tcPr marL="123825" marR="123825" marT="57150" marB="57150" anchor="ctr"/>
                </a:tc>
                <a:tc>
                  <a:txBody>
                    <a:bodyPr/>
                    <a:lstStyle/>
                    <a:p>
                      <a:pPr algn="l"/>
                      <a:r>
                        <a:rPr lang="en-HK" sz="2000">
                          <a:effectLst/>
                        </a:rPr>
                        <a:t>Prompt (Input)</a:t>
                      </a:r>
                    </a:p>
                  </a:txBody>
                  <a:tcPr marL="123825" marR="123825" marT="57150" marB="57150" anchor="ctr"/>
                </a:tc>
                <a:tc>
                  <a:txBody>
                    <a:bodyPr/>
                    <a:lstStyle/>
                    <a:p>
                      <a:pPr algn="l"/>
                      <a:r>
                        <a:rPr lang="en-HK" sz="2000">
                          <a:effectLst/>
                        </a:rPr>
                        <a:t>Completion (Output)</a:t>
                      </a:r>
                    </a:p>
                  </a:txBody>
                  <a:tcPr marL="123825" marR="123825" marT="57150" marB="57150" anchor="ctr"/>
                </a:tc>
                <a:extLst>
                  <a:ext uri="{0D108BD9-81ED-4DB2-BD59-A6C34878D82A}">
                    <a16:rowId xmlns:a16="http://schemas.microsoft.com/office/drawing/2014/main" val="3033151978"/>
                  </a:ext>
                </a:extLst>
              </a:tr>
              <a:tr h="370840">
                <a:tc>
                  <a:txBody>
                    <a:bodyPr/>
                    <a:lstStyle/>
                    <a:p>
                      <a:pPr algn="l"/>
                      <a:r>
                        <a:rPr lang="en-HK" sz="2000" dirty="0">
                          <a:effectLst/>
                        </a:rPr>
                        <a:t>Zero-shot</a:t>
                      </a:r>
                    </a:p>
                  </a:txBody>
                  <a:tcPr marL="123825" marR="123825" marT="57150" marB="57150" anchor="ctr"/>
                </a:tc>
                <a:tc>
                  <a:txBody>
                    <a:bodyPr/>
                    <a:lstStyle/>
                    <a:p>
                      <a:pPr algn="l"/>
                      <a:r>
                        <a:rPr lang="en-HK" sz="2000" b="0" kern="1200" dirty="0">
                          <a:solidFill>
                            <a:schemeClr val="dk1"/>
                          </a:solidFill>
                          <a:effectLst/>
                        </a:rPr>
                        <a:t>I had an amazing vacation</a:t>
                      </a:r>
                      <a:r>
                        <a:rPr lang="en-HK" sz="2000" dirty="0">
                          <a:effectLst/>
                        </a:rPr>
                        <a:t>. Classify the sentiment</a:t>
                      </a:r>
                    </a:p>
                  </a:txBody>
                  <a:tcPr marL="123825" marR="123825" marT="57150" marB="57150" anchor="ctr"/>
                </a:tc>
                <a:tc>
                  <a:txBody>
                    <a:bodyPr/>
                    <a:lstStyle/>
                    <a:p>
                      <a:pPr algn="l"/>
                      <a:r>
                        <a:rPr lang="en-HK" sz="2000" b="0" kern="1200" dirty="0">
                          <a:solidFill>
                            <a:schemeClr val="dk1"/>
                          </a:solidFill>
                          <a:effectLst/>
                        </a:rPr>
                        <a:t>The sentiment of the statement "I had an amazing vacation" can be classified as positive.</a:t>
                      </a:r>
                      <a:endParaRPr lang="en-HK" sz="2000" dirty="0">
                        <a:effectLst/>
                      </a:endParaRPr>
                    </a:p>
                  </a:txBody>
                  <a:tcPr marL="123825" marR="123825" marT="57150" marB="57150" anchor="ctr"/>
                </a:tc>
                <a:extLst>
                  <a:ext uri="{0D108BD9-81ED-4DB2-BD59-A6C34878D82A}">
                    <a16:rowId xmlns:a16="http://schemas.microsoft.com/office/drawing/2014/main" val="3982834602"/>
                  </a:ext>
                </a:extLst>
              </a:tr>
              <a:tr h="370840">
                <a:tc>
                  <a:txBody>
                    <a:bodyPr/>
                    <a:lstStyle/>
                    <a:p>
                      <a:pPr algn="l"/>
                      <a:r>
                        <a:rPr lang="en-HK" sz="2000">
                          <a:effectLst/>
                        </a:rPr>
                        <a:t>One-shot</a:t>
                      </a:r>
                    </a:p>
                  </a:txBody>
                  <a:tcPr marL="123825" marR="123825" marT="57150" marB="57150" anchor="ctr"/>
                </a:tc>
                <a:tc>
                  <a:txBody>
                    <a:bodyPr/>
                    <a:lstStyle/>
                    <a:p>
                      <a:pPr algn="l"/>
                      <a:r>
                        <a:rPr lang="en-HK" sz="2000" b="0" kern="1200" dirty="0">
                          <a:solidFill>
                            <a:schemeClr val="dk1"/>
                          </a:solidFill>
                          <a:effectLst/>
                        </a:rPr>
                        <a:t>I had an amazing vacation.</a:t>
                      </a:r>
                      <a:r>
                        <a:rPr lang="en-HK" sz="2000" dirty="0">
                          <a:effectLst/>
                        </a:rPr>
                        <a:t> =&gt; Positive</a:t>
                      </a:r>
                    </a:p>
                    <a:p>
                      <a:pPr algn="l"/>
                      <a:r>
                        <a:rPr lang="en-HK" sz="2000" b="0" kern="1200" dirty="0">
                          <a:solidFill>
                            <a:schemeClr val="dk1"/>
                          </a:solidFill>
                          <a:effectLst/>
                        </a:rPr>
                        <a:t>This weather is really gloomy.</a:t>
                      </a:r>
                      <a:r>
                        <a:rPr lang="en-HK" sz="2000" dirty="0">
                          <a:effectLst/>
                        </a:rPr>
                        <a:t> =&gt;</a:t>
                      </a:r>
                    </a:p>
                  </a:txBody>
                  <a:tcPr marL="123825" marR="123825" marT="57150" marB="57150" anchor="ctr"/>
                </a:tc>
                <a:tc>
                  <a:txBody>
                    <a:bodyPr/>
                    <a:lstStyle/>
                    <a:p>
                      <a:pPr algn="l"/>
                      <a:r>
                        <a:rPr lang="en-HK" sz="2000" b="0" kern="1200" dirty="0">
                          <a:solidFill>
                            <a:schemeClr val="dk1"/>
                          </a:solidFill>
                          <a:effectLst/>
                        </a:rPr>
                        <a:t>Negative.</a:t>
                      </a:r>
                      <a:endParaRPr lang="en-HK" sz="2000" dirty="0">
                        <a:effectLst/>
                      </a:endParaRPr>
                    </a:p>
                  </a:txBody>
                  <a:tcPr marL="123825" marR="123825" marT="57150" marB="57150" anchor="ctr"/>
                </a:tc>
                <a:extLst>
                  <a:ext uri="{0D108BD9-81ED-4DB2-BD59-A6C34878D82A}">
                    <a16:rowId xmlns:a16="http://schemas.microsoft.com/office/drawing/2014/main" val="3104029830"/>
                  </a:ext>
                </a:extLst>
              </a:tr>
              <a:tr h="370840">
                <a:tc>
                  <a:txBody>
                    <a:bodyPr/>
                    <a:lstStyle/>
                    <a:p>
                      <a:pPr algn="l"/>
                      <a:r>
                        <a:rPr lang="en-HK" sz="2000" dirty="0">
                          <a:effectLst/>
                        </a:rPr>
                        <a:t>Few-shot</a:t>
                      </a:r>
                    </a:p>
                  </a:txBody>
                  <a:tcPr marL="123825" marR="123825" marT="57150" marB="57150" anchor="ctr"/>
                </a:tc>
                <a:tc>
                  <a:txBody>
                    <a:bodyPr/>
                    <a:lstStyle/>
                    <a:p>
                      <a:pPr algn="l"/>
                      <a:r>
                        <a:rPr lang="en-HK" sz="2000" b="0" kern="1200" dirty="0">
                          <a:solidFill>
                            <a:schemeClr val="dk1"/>
                          </a:solidFill>
                          <a:effectLst/>
                        </a:rPr>
                        <a:t>I had an amazing vacation. </a:t>
                      </a:r>
                      <a:r>
                        <a:rPr lang="en-HK" sz="2000" dirty="0">
                          <a:effectLst/>
                        </a:rPr>
                        <a:t>=&gt; Positive</a:t>
                      </a:r>
                      <a:br>
                        <a:rPr lang="en-HK" sz="2000" dirty="0">
                          <a:effectLst/>
                        </a:rPr>
                      </a:br>
                      <a:r>
                        <a:rPr lang="en-HK" sz="2000" b="0" kern="1200" dirty="0">
                          <a:solidFill>
                            <a:schemeClr val="dk1"/>
                          </a:solidFill>
                          <a:effectLst/>
                        </a:rPr>
                        <a:t>This weather is really gloomy.</a:t>
                      </a:r>
                      <a:r>
                        <a:rPr lang="en-HK" sz="2000" dirty="0">
                          <a:effectLst/>
                        </a:rPr>
                        <a:t> =&gt; Negative</a:t>
                      </a:r>
                      <a:br>
                        <a:rPr lang="en-HK" sz="2000" dirty="0">
                          <a:effectLst/>
                        </a:rPr>
                      </a:br>
                      <a:r>
                        <a:rPr lang="en-HK" sz="2000" b="0" kern="1200" dirty="0">
                          <a:solidFill>
                            <a:schemeClr val="dk1"/>
                          </a:solidFill>
                          <a:effectLst/>
                        </a:rPr>
                        <a:t>The store is open until 10 PM. </a:t>
                      </a:r>
                      <a:r>
                        <a:rPr lang="en-HK" sz="2000" dirty="0">
                          <a:effectLst/>
                        </a:rPr>
                        <a:t>=&gt; Neutral</a:t>
                      </a:r>
                      <a:br>
                        <a:rPr lang="en-HK" sz="2000" dirty="0">
                          <a:effectLst/>
                        </a:rPr>
                      </a:br>
                      <a:r>
                        <a:rPr lang="en-HK" sz="2000" dirty="0">
                          <a:effectLst/>
                        </a:rPr>
                        <a:t>The player made a slam-dunk. =&gt;</a:t>
                      </a:r>
                    </a:p>
                  </a:txBody>
                  <a:tcPr marL="123825" marR="123825" marT="57150" marB="57150" anchor="ctr"/>
                </a:tc>
                <a:tc>
                  <a:txBody>
                    <a:bodyPr/>
                    <a:lstStyle/>
                    <a:p>
                      <a:pPr algn="l"/>
                      <a:r>
                        <a:rPr lang="en-HK" sz="2000" dirty="0">
                          <a:effectLst/>
                        </a:rPr>
                        <a:t>Positive</a:t>
                      </a:r>
                    </a:p>
                  </a:txBody>
                  <a:tcPr marL="123825" marR="123825" marT="57150" marB="57150" anchor="ctr"/>
                </a:tc>
                <a:extLst>
                  <a:ext uri="{0D108BD9-81ED-4DB2-BD59-A6C34878D82A}">
                    <a16:rowId xmlns:a16="http://schemas.microsoft.com/office/drawing/2014/main" val="1949270869"/>
                  </a:ext>
                </a:extLst>
              </a:tr>
            </a:tbl>
          </a:graphicData>
        </a:graphic>
      </p:graphicFrame>
      <p:sp>
        <p:nvSpPr>
          <p:cNvPr id="4" name="Slide Number Placeholder 3">
            <a:extLst>
              <a:ext uri="{FF2B5EF4-FFF2-40B4-BE49-F238E27FC236}">
                <a16:creationId xmlns:a16="http://schemas.microsoft.com/office/drawing/2014/main" id="{85CDC548-93A0-5A80-39F2-E3FE661221C3}"/>
              </a:ext>
            </a:extLst>
          </p:cNvPr>
          <p:cNvSpPr>
            <a:spLocks noGrp="1"/>
          </p:cNvSpPr>
          <p:nvPr>
            <p:ph type="sldNum" sz="quarter" idx="12"/>
          </p:nvPr>
        </p:nvSpPr>
        <p:spPr/>
        <p:txBody>
          <a:bodyPr/>
          <a:lstStyle/>
          <a:p>
            <a:fld id="{7F8CBF50-853B-304C-BCA2-DB5146F0D4EA}" type="slidenum">
              <a:rPr lang="en-HK" smtClean="0"/>
              <a:t>13</a:t>
            </a:fld>
            <a:endParaRPr lang="en-HK"/>
          </a:p>
        </p:txBody>
      </p:sp>
    </p:spTree>
    <p:extLst>
      <p:ext uri="{BB962C8B-B14F-4D97-AF65-F5344CB8AC3E}">
        <p14:creationId xmlns:p14="http://schemas.microsoft.com/office/powerpoint/2010/main" val="2113869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89D7C-767E-5D17-98D2-99AF22CB88B9}"/>
              </a:ext>
            </a:extLst>
          </p:cNvPr>
          <p:cNvSpPr>
            <a:spLocks noGrp="1"/>
          </p:cNvSpPr>
          <p:nvPr>
            <p:ph type="title"/>
          </p:nvPr>
        </p:nvSpPr>
        <p:spPr>
          <a:xfrm>
            <a:off x="838200" y="365125"/>
            <a:ext cx="10515600" cy="1325563"/>
          </a:xfrm>
        </p:spPr>
        <p:txBody>
          <a:bodyPr/>
          <a:lstStyle/>
          <a:p>
            <a:r>
              <a:rPr lang="en-US" dirty="0"/>
              <a:t>Using Examples</a:t>
            </a:r>
          </a:p>
        </p:txBody>
      </p:sp>
      <p:sp>
        <p:nvSpPr>
          <p:cNvPr id="3" name="Content Placeholder 2">
            <a:extLst>
              <a:ext uri="{FF2B5EF4-FFF2-40B4-BE49-F238E27FC236}">
                <a16:creationId xmlns:a16="http://schemas.microsoft.com/office/drawing/2014/main" id="{445BCD55-04C5-4656-D730-87E4B6499DEC}"/>
              </a:ext>
            </a:extLst>
          </p:cNvPr>
          <p:cNvSpPr>
            <a:spLocks noGrp="1"/>
          </p:cNvSpPr>
          <p:nvPr>
            <p:ph idx="1"/>
          </p:nvPr>
        </p:nvSpPr>
        <p:spPr>
          <a:xfrm>
            <a:off x="838200" y="1825625"/>
            <a:ext cx="10515600" cy="4351338"/>
          </a:xfrm>
        </p:spPr>
        <p:txBody>
          <a:bodyPr/>
          <a:lstStyle/>
          <a:p>
            <a:r>
              <a:rPr lang="en-HK" dirty="0"/>
              <a:t>Components of a Prompt:</a:t>
            </a:r>
          </a:p>
          <a:p>
            <a:pPr lvl="1"/>
            <a:r>
              <a:rPr lang="en-HK" dirty="0"/>
              <a:t>A task description</a:t>
            </a:r>
          </a:p>
          <a:p>
            <a:pPr lvl="1"/>
            <a:r>
              <a:rPr lang="en-HK" dirty="0"/>
              <a:t>A few examples of the desired output</a:t>
            </a:r>
          </a:p>
          <a:p>
            <a:pPr lvl="1"/>
            <a:r>
              <a:rPr lang="en-HK" dirty="0"/>
              <a:t>The start of a new example (which becomes an implicit task description)</a:t>
            </a:r>
          </a:p>
          <a:p>
            <a:endParaRPr lang="en-US" dirty="0"/>
          </a:p>
        </p:txBody>
      </p:sp>
      <p:sp>
        <p:nvSpPr>
          <p:cNvPr id="4" name="Slide Number Placeholder 3">
            <a:extLst>
              <a:ext uri="{FF2B5EF4-FFF2-40B4-BE49-F238E27FC236}">
                <a16:creationId xmlns:a16="http://schemas.microsoft.com/office/drawing/2014/main" id="{EB28101C-E47E-6C12-E0FF-E10C6CDBEACA}"/>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14</a:t>
            </a:fld>
            <a:endParaRPr lang="en-HK"/>
          </a:p>
        </p:txBody>
      </p:sp>
    </p:spTree>
    <p:extLst>
      <p:ext uri="{BB962C8B-B14F-4D97-AF65-F5344CB8AC3E}">
        <p14:creationId xmlns:p14="http://schemas.microsoft.com/office/powerpoint/2010/main" val="302752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55A32-CE9B-6C6A-6DBC-2548C9FD314D}"/>
              </a:ext>
            </a:extLst>
          </p:cNvPr>
          <p:cNvSpPr>
            <a:spLocks noGrp="1"/>
          </p:cNvSpPr>
          <p:nvPr>
            <p:ph type="title"/>
          </p:nvPr>
        </p:nvSpPr>
        <p:spPr/>
        <p:txBody>
          <a:bodyPr/>
          <a:lstStyle/>
          <a:p>
            <a:r>
              <a:rPr lang="en-US"/>
              <a:t>Prompt Cues</a:t>
            </a:r>
          </a:p>
        </p:txBody>
      </p:sp>
      <p:graphicFrame>
        <p:nvGraphicFramePr>
          <p:cNvPr id="5" name="Content Placeholder 4">
            <a:extLst>
              <a:ext uri="{FF2B5EF4-FFF2-40B4-BE49-F238E27FC236}">
                <a16:creationId xmlns:a16="http://schemas.microsoft.com/office/drawing/2014/main" id="{C407AE53-2DCB-4711-2A2D-5698C6B9CC16}"/>
              </a:ext>
            </a:extLst>
          </p:cNvPr>
          <p:cNvGraphicFramePr>
            <a:graphicFrameLocks noGrp="1"/>
          </p:cNvGraphicFramePr>
          <p:nvPr>
            <p:ph idx="1"/>
            <p:extLst>
              <p:ext uri="{D42A27DB-BD31-4B8C-83A1-F6EECF244321}">
                <p14:modId xmlns:p14="http://schemas.microsoft.com/office/powerpoint/2010/main" val="515028412"/>
              </p:ext>
            </p:extLst>
          </p:nvPr>
        </p:nvGraphicFramePr>
        <p:xfrm>
          <a:off x="838200" y="1825625"/>
          <a:ext cx="10515597" cy="4023360"/>
        </p:xfrm>
        <a:graphic>
          <a:graphicData uri="http://schemas.openxmlformats.org/drawingml/2006/table">
            <a:tbl>
              <a:tblPr firstRow="1" bandRow="1">
                <a:tableStyleId>{72833802-FEF1-4C79-8D5D-14CF1EAF98D9}</a:tableStyleId>
              </a:tblPr>
              <a:tblGrid>
                <a:gridCol w="1882698">
                  <a:extLst>
                    <a:ext uri="{9D8B030D-6E8A-4147-A177-3AD203B41FA5}">
                      <a16:colId xmlns:a16="http://schemas.microsoft.com/office/drawing/2014/main" val="282763377"/>
                    </a:ext>
                  </a:extLst>
                </a:gridCol>
                <a:gridCol w="5127700">
                  <a:extLst>
                    <a:ext uri="{9D8B030D-6E8A-4147-A177-3AD203B41FA5}">
                      <a16:colId xmlns:a16="http://schemas.microsoft.com/office/drawing/2014/main" val="1351105224"/>
                    </a:ext>
                  </a:extLst>
                </a:gridCol>
                <a:gridCol w="3505199">
                  <a:extLst>
                    <a:ext uri="{9D8B030D-6E8A-4147-A177-3AD203B41FA5}">
                      <a16:colId xmlns:a16="http://schemas.microsoft.com/office/drawing/2014/main" val="1781834792"/>
                    </a:ext>
                  </a:extLst>
                </a:gridCol>
              </a:tblGrid>
              <a:tr h="370840">
                <a:tc>
                  <a:txBody>
                    <a:bodyPr/>
                    <a:lstStyle/>
                    <a:p>
                      <a:pPr algn="l"/>
                      <a:r>
                        <a:rPr lang="en-HK" sz="2000">
                          <a:effectLst/>
                        </a:rPr>
                        <a:t>Number of Cues</a:t>
                      </a:r>
                    </a:p>
                  </a:txBody>
                  <a:tcPr anchor="ctr"/>
                </a:tc>
                <a:tc>
                  <a:txBody>
                    <a:bodyPr/>
                    <a:lstStyle/>
                    <a:p>
                      <a:pPr algn="l"/>
                      <a:r>
                        <a:rPr lang="en-HK" sz="2000" dirty="0">
                          <a:effectLst/>
                        </a:rPr>
                        <a:t>Prompt (Input)</a:t>
                      </a:r>
                    </a:p>
                  </a:txBody>
                  <a:tcPr anchor="ctr"/>
                </a:tc>
                <a:tc>
                  <a:txBody>
                    <a:bodyPr/>
                    <a:lstStyle/>
                    <a:p>
                      <a:pPr algn="l"/>
                      <a:r>
                        <a:rPr lang="en-HK" sz="2000">
                          <a:effectLst/>
                        </a:rPr>
                        <a:t>Completion (Output)</a:t>
                      </a:r>
                    </a:p>
                  </a:txBody>
                  <a:tcPr anchor="ctr"/>
                </a:tc>
                <a:extLst>
                  <a:ext uri="{0D108BD9-81ED-4DB2-BD59-A6C34878D82A}">
                    <a16:rowId xmlns:a16="http://schemas.microsoft.com/office/drawing/2014/main" val="3680001069"/>
                  </a:ext>
                </a:extLst>
              </a:tr>
              <a:tr h="370840">
                <a:tc>
                  <a:txBody>
                    <a:bodyPr/>
                    <a:lstStyle/>
                    <a:p>
                      <a:r>
                        <a:rPr lang="en-US" sz="2000" dirty="0"/>
                        <a:t>0</a:t>
                      </a:r>
                    </a:p>
                  </a:txBody>
                  <a:tcPr/>
                </a:tc>
                <a:tc>
                  <a:txBody>
                    <a:bodyPr/>
                    <a:lstStyle/>
                    <a:p>
                      <a:r>
                        <a:rPr lang="en-HK" sz="2000" b="0" kern="1200" dirty="0">
                          <a:solidFill>
                            <a:schemeClr val="dk1"/>
                          </a:solidFill>
                          <a:effectLst/>
                        </a:rPr>
                        <a:t>The Transformer model is a neural network architecture that was introduced in 2017 and ...</a:t>
                      </a:r>
                    </a:p>
                    <a:p>
                      <a:r>
                        <a:rPr lang="en-HK" sz="2000" b="1" kern="1200" dirty="0">
                          <a:solidFill>
                            <a:schemeClr val="dk1"/>
                          </a:solidFill>
                          <a:effectLst/>
                        </a:rPr>
                        <a:t>Summarize the above.</a:t>
                      </a:r>
                      <a:endParaRPr lang="en-US" sz="2000" dirty="0"/>
                    </a:p>
                  </a:txBody>
                  <a:tcPr/>
                </a:tc>
                <a:tc>
                  <a:txBody>
                    <a:bodyPr/>
                    <a:lstStyle/>
                    <a:p>
                      <a:r>
                        <a:rPr lang="en-HK" sz="2000" b="0" kern="1200">
                          <a:solidFill>
                            <a:schemeClr val="dk1"/>
                          </a:solidFill>
                          <a:effectLst/>
                        </a:rPr>
                        <a:t>The Transformer model is a neural network architecture widely used for natural language processing tasks. It uses self-attention to …</a:t>
                      </a:r>
                      <a:endParaRPr lang="en-US" sz="2000"/>
                    </a:p>
                  </a:txBody>
                  <a:tcPr/>
                </a:tc>
                <a:extLst>
                  <a:ext uri="{0D108BD9-81ED-4DB2-BD59-A6C34878D82A}">
                    <a16:rowId xmlns:a16="http://schemas.microsoft.com/office/drawing/2014/main" val="2887834314"/>
                  </a:ext>
                </a:extLst>
              </a:tr>
              <a:tr h="370840">
                <a:tc>
                  <a:txBody>
                    <a:bodyPr/>
                    <a:lstStyle/>
                    <a:p>
                      <a:r>
                        <a:rPr lang="en-US" sz="2000"/>
                        <a:t>1</a:t>
                      </a:r>
                    </a:p>
                  </a:txBody>
                  <a:tcPr/>
                </a:tc>
                <a:tc>
                  <a:txBody>
                    <a:bodyPr/>
                    <a:lstStyle/>
                    <a:p>
                      <a:r>
                        <a:rPr lang="en-US" sz="2000" dirty="0"/>
                        <a:t>xxx</a:t>
                      </a:r>
                    </a:p>
                    <a:p>
                      <a:r>
                        <a:rPr lang="en-HK" sz="2000" b="1" kern="1200" dirty="0">
                          <a:solidFill>
                            <a:schemeClr val="dk1"/>
                          </a:solidFill>
                          <a:effectLst/>
                        </a:rPr>
                        <a:t>Summarize the above.</a:t>
                      </a:r>
                      <a:br>
                        <a:rPr lang="en-HK" sz="2000" dirty="0"/>
                      </a:br>
                      <a:r>
                        <a:rPr lang="en-HK" sz="2000" b="0" kern="1200" dirty="0">
                          <a:solidFill>
                            <a:schemeClr val="accent2"/>
                          </a:solidFill>
                          <a:effectLst/>
                        </a:rPr>
                        <a:t>What we learned </a:t>
                      </a:r>
                      <a:r>
                        <a:rPr lang="en-HK" sz="2000" b="0" kern="1200" dirty="0">
                          <a:solidFill>
                            <a:schemeClr val="dk1"/>
                          </a:solidFill>
                          <a:effectLst/>
                        </a:rPr>
                        <a:t>is that the Transformer</a:t>
                      </a:r>
                      <a:endParaRPr lang="en-US" sz="2000" dirty="0"/>
                    </a:p>
                  </a:txBody>
                  <a:tcPr/>
                </a:tc>
                <a:tc>
                  <a:txBody>
                    <a:bodyPr/>
                    <a:lstStyle/>
                    <a:p>
                      <a:r>
                        <a:rPr lang="en-US" sz="2000"/>
                        <a:t>…</a:t>
                      </a:r>
                    </a:p>
                  </a:txBody>
                  <a:tcPr/>
                </a:tc>
                <a:extLst>
                  <a:ext uri="{0D108BD9-81ED-4DB2-BD59-A6C34878D82A}">
                    <a16:rowId xmlns:a16="http://schemas.microsoft.com/office/drawing/2014/main" val="46514662"/>
                  </a:ext>
                </a:extLst>
              </a:tr>
              <a:tr h="370840">
                <a:tc>
                  <a:txBody>
                    <a:bodyPr/>
                    <a:lstStyle/>
                    <a:p>
                      <a:r>
                        <a:rPr lang="en-US" sz="20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xxx</a:t>
                      </a:r>
                    </a:p>
                    <a:p>
                      <a:r>
                        <a:rPr lang="en-HK" sz="2000" b="1" kern="1200" dirty="0">
                          <a:solidFill>
                            <a:schemeClr val="dk1"/>
                          </a:solidFill>
                          <a:effectLst/>
                        </a:rPr>
                        <a:t>Summarize the above.</a:t>
                      </a:r>
                      <a:br>
                        <a:rPr lang="en-HK" sz="2000" dirty="0"/>
                      </a:br>
                      <a:r>
                        <a:rPr lang="en-HK" sz="2000" b="0" kern="1200" dirty="0">
                          <a:solidFill>
                            <a:schemeClr val="accent2"/>
                          </a:solidFill>
                          <a:effectLst/>
                        </a:rPr>
                        <a:t>Top 3 Facts </a:t>
                      </a:r>
                      <a:r>
                        <a:rPr lang="en-HK" sz="2000" b="0" kern="1200" dirty="0">
                          <a:solidFill>
                            <a:schemeClr val="accent1"/>
                          </a:solidFill>
                          <a:effectLst/>
                        </a:rPr>
                        <a:t>We Learned</a:t>
                      </a:r>
                      <a:r>
                        <a:rPr lang="en-HK" sz="2000" b="0" kern="1200" dirty="0">
                          <a:solidFill>
                            <a:schemeClr val="dk1"/>
                          </a:solidFill>
                          <a:effectLst/>
                        </a:rPr>
                        <a:t>:</a:t>
                      </a:r>
                      <a:endParaRPr lang="en-US" sz="2000" dirty="0"/>
                    </a:p>
                  </a:txBody>
                  <a:tcPr/>
                </a:tc>
                <a:tc>
                  <a:txBody>
                    <a:bodyPr/>
                    <a:lstStyle/>
                    <a:p>
                      <a:r>
                        <a:rPr lang="en-US" sz="2000" dirty="0"/>
                        <a:t>…</a:t>
                      </a:r>
                    </a:p>
                  </a:txBody>
                  <a:tcPr/>
                </a:tc>
                <a:extLst>
                  <a:ext uri="{0D108BD9-81ED-4DB2-BD59-A6C34878D82A}">
                    <a16:rowId xmlns:a16="http://schemas.microsoft.com/office/drawing/2014/main" val="3790821111"/>
                  </a:ext>
                </a:extLst>
              </a:tr>
            </a:tbl>
          </a:graphicData>
        </a:graphic>
      </p:graphicFrame>
      <p:sp>
        <p:nvSpPr>
          <p:cNvPr id="4" name="Slide Number Placeholder 3">
            <a:extLst>
              <a:ext uri="{FF2B5EF4-FFF2-40B4-BE49-F238E27FC236}">
                <a16:creationId xmlns:a16="http://schemas.microsoft.com/office/drawing/2014/main" id="{FB7CA0F1-4B4F-7DE0-AD49-92F5B9FEEFED}"/>
              </a:ext>
            </a:extLst>
          </p:cNvPr>
          <p:cNvSpPr>
            <a:spLocks noGrp="1"/>
          </p:cNvSpPr>
          <p:nvPr>
            <p:ph type="sldNum" sz="quarter" idx="12"/>
          </p:nvPr>
        </p:nvSpPr>
        <p:spPr/>
        <p:txBody>
          <a:bodyPr/>
          <a:lstStyle/>
          <a:p>
            <a:fld id="{7F8CBF50-853B-304C-BCA2-DB5146F0D4EA}" type="slidenum">
              <a:rPr lang="en-HK" smtClean="0"/>
              <a:t>15</a:t>
            </a:fld>
            <a:endParaRPr lang="en-HK"/>
          </a:p>
        </p:txBody>
      </p:sp>
    </p:spTree>
    <p:extLst>
      <p:ext uri="{BB962C8B-B14F-4D97-AF65-F5344CB8AC3E}">
        <p14:creationId xmlns:p14="http://schemas.microsoft.com/office/powerpoint/2010/main" val="218835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B70C-25C8-95D5-E887-EC7AE3802502}"/>
              </a:ext>
            </a:extLst>
          </p:cNvPr>
          <p:cNvSpPr>
            <a:spLocks noGrp="1"/>
          </p:cNvSpPr>
          <p:nvPr>
            <p:ph type="title"/>
          </p:nvPr>
        </p:nvSpPr>
        <p:spPr/>
        <p:txBody>
          <a:bodyPr/>
          <a:lstStyle/>
          <a:p>
            <a:r>
              <a:rPr lang="en-US" dirty="0"/>
              <a:t>Prompt Templates</a:t>
            </a:r>
          </a:p>
        </p:txBody>
      </p:sp>
      <p:sp>
        <p:nvSpPr>
          <p:cNvPr id="3" name="Content Placeholder 2">
            <a:extLst>
              <a:ext uri="{FF2B5EF4-FFF2-40B4-BE49-F238E27FC236}">
                <a16:creationId xmlns:a16="http://schemas.microsoft.com/office/drawing/2014/main" id="{3C49436E-E0AF-0EEE-CFB2-C58C684F76B1}"/>
              </a:ext>
            </a:extLst>
          </p:cNvPr>
          <p:cNvSpPr>
            <a:spLocks noGrp="1"/>
          </p:cNvSpPr>
          <p:nvPr>
            <p:ph idx="1"/>
          </p:nvPr>
        </p:nvSpPr>
        <p:spPr/>
        <p:txBody>
          <a:bodyPr/>
          <a:lstStyle/>
          <a:p>
            <a:r>
              <a:rPr lang="en-HK" dirty="0"/>
              <a:t>Template: "Using the dataset </a:t>
            </a:r>
            <a:r>
              <a:rPr lang="en-HK" dirty="0">
                <a:solidFill>
                  <a:schemeClr val="accent2"/>
                </a:solidFill>
              </a:rPr>
              <a:t>[Dataset Name]</a:t>
            </a:r>
            <a:r>
              <a:rPr lang="en-HK" dirty="0"/>
              <a:t>, build a predictive model to forecast </a:t>
            </a:r>
            <a:r>
              <a:rPr lang="en-HK" dirty="0">
                <a:solidFill>
                  <a:schemeClr val="accent2"/>
                </a:solidFill>
              </a:rPr>
              <a:t>[Target Variable]</a:t>
            </a:r>
            <a:r>
              <a:rPr lang="en-HK" dirty="0"/>
              <a:t>. Explain the model selection process, the features used, and the accuracy of the model.”</a:t>
            </a:r>
          </a:p>
          <a:p>
            <a:r>
              <a:rPr lang="en-HK" b="1" i="0" dirty="0">
                <a:solidFill>
                  <a:srgbClr val="111111"/>
                </a:solidFill>
                <a:effectLst/>
                <a:latin typeface="-apple-system"/>
              </a:rPr>
              <a:t>Example Prompt</a:t>
            </a:r>
            <a:r>
              <a:rPr lang="en-HK" b="0" i="0" dirty="0">
                <a:solidFill>
                  <a:srgbClr val="111111"/>
                </a:solidFill>
                <a:effectLst/>
                <a:latin typeface="-apple-system"/>
              </a:rPr>
              <a:t>: “Using the dataset ‘</a:t>
            </a:r>
            <a:r>
              <a:rPr lang="en-HK" b="0" i="0" dirty="0" err="1">
                <a:solidFill>
                  <a:srgbClr val="111111"/>
                </a:solidFill>
                <a:effectLst/>
                <a:latin typeface="-apple-system"/>
              </a:rPr>
              <a:t>Customer_Churn</a:t>
            </a:r>
            <a:r>
              <a:rPr lang="en-HK" b="0" i="0" dirty="0">
                <a:solidFill>
                  <a:srgbClr val="111111"/>
                </a:solidFill>
                <a:effectLst/>
                <a:latin typeface="-apple-system"/>
              </a:rPr>
              <a:t>’, build a predictive model to forecast customer churn. Explain the model selection process, the features used, and the accuracy of the model.”</a:t>
            </a:r>
            <a:endParaRPr lang="en-US" dirty="0"/>
          </a:p>
        </p:txBody>
      </p:sp>
      <p:sp>
        <p:nvSpPr>
          <p:cNvPr id="4" name="Slide Number Placeholder 3">
            <a:extLst>
              <a:ext uri="{FF2B5EF4-FFF2-40B4-BE49-F238E27FC236}">
                <a16:creationId xmlns:a16="http://schemas.microsoft.com/office/drawing/2014/main" id="{F427CA84-7D45-4EA2-75E2-39195D7D32F6}"/>
              </a:ext>
            </a:extLst>
          </p:cNvPr>
          <p:cNvSpPr>
            <a:spLocks noGrp="1"/>
          </p:cNvSpPr>
          <p:nvPr>
            <p:ph type="sldNum" sz="quarter" idx="12"/>
          </p:nvPr>
        </p:nvSpPr>
        <p:spPr/>
        <p:txBody>
          <a:bodyPr/>
          <a:lstStyle/>
          <a:p>
            <a:fld id="{7F8CBF50-853B-304C-BCA2-DB5146F0D4EA}" type="slidenum">
              <a:rPr lang="en-HK" smtClean="0"/>
              <a:t>16</a:t>
            </a:fld>
            <a:endParaRPr lang="en-HK"/>
          </a:p>
        </p:txBody>
      </p:sp>
    </p:spTree>
    <p:extLst>
      <p:ext uri="{BB962C8B-B14F-4D97-AF65-F5344CB8AC3E}">
        <p14:creationId xmlns:p14="http://schemas.microsoft.com/office/powerpoint/2010/main" val="2931395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81381-C538-7649-BBCE-BB58214E8018}"/>
              </a:ext>
            </a:extLst>
          </p:cNvPr>
          <p:cNvSpPr>
            <a:spLocks noGrp="1"/>
          </p:cNvSpPr>
          <p:nvPr>
            <p:ph type="title"/>
          </p:nvPr>
        </p:nvSpPr>
        <p:spPr/>
        <p:txBody>
          <a:bodyPr/>
          <a:lstStyle/>
          <a:p>
            <a:r>
              <a:rPr lang="en-US" dirty="0"/>
              <a:t>Sentiment Analysis: </a:t>
            </a:r>
            <a:r>
              <a:rPr lang="en-US" dirty="0" err="1">
                <a:solidFill>
                  <a:schemeClr val="accent2"/>
                </a:solidFill>
              </a:rPr>
              <a:t>sentiment.py</a:t>
            </a:r>
            <a:endParaRPr lang="en-US" dirty="0">
              <a:solidFill>
                <a:schemeClr val="accent2"/>
              </a:solidFill>
            </a:endParaRPr>
          </a:p>
        </p:txBody>
      </p:sp>
      <p:sp>
        <p:nvSpPr>
          <p:cNvPr id="3" name="Content Placeholder 2">
            <a:extLst>
              <a:ext uri="{FF2B5EF4-FFF2-40B4-BE49-F238E27FC236}">
                <a16:creationId xmlns:a16="http://schemas.microsoft.com/office/drawing/2014/main" id="{5E4A4A47-0339-783C-7E39-850868C74A38}"/>
              </a:ext>
            </a:extLst>
          </p:cNvPr>
          <p:cNvSpPr>
            <a:spLocks noGrp="1"/>
          </p:cNvSpPr>
          <p:nvPr>
            <p:ph idx="1"/>
          </p:nvPr>
        </p:nvSpPr>
        <p:spPr/>
        <p:txBody>
          <a:bodyPr>
            <a:normAutofit/>
          </a:bodyPr>
          <a:lstStyle/>
          <a:p>
            <a:r>
              <a:rPr lang="en-US" dirty="0"/>
              <a:t>No training or data labelling is needed any more.</a:t>
            </a:r>
          </a:p>
          <a:p>
            <a:r>
              <a:rPr lang="en-US" dirty="0"/>
              <a:t>Prompt Engineering Techniques:</a:t>
            </a:r>
          </a:p>
          <a:p>
            <a:pPr lvl="1"/>
            <a:r>
              <a:rPr lang="en-US" dirty="0"/>
              <a:t>Zero shot</a:t>
            </a:r>
          </a:p>
          <a:p>
            <a:pPr lvl="1"/>
            <a:r>
              <a:rPr lang="en-US" dirty="0"/>
              <a:t>One shot</a:t>
            </a:r>
          </a:p>
          <a:p>
            <a:pPr lvl="1"/>
            <a:r>
              <a:rPr lang="en-US" dirty="0"/>
              <a:t>Few shot</a:t>
            </a:r>
          </a:p>
          <a:p>
            <a:r>
              <a:rPr lang="en-US" dirty="0"/>
              <a:t>Examples help LLM be more consistent in output format.</a:t>
            </a:r>
          </a:p>
        </p:txBody>
      </p:sp>
      <p:sp>
        <p:nvSpPr>
          <p:cNvPr id="4" name="Slide Number Placeholder 3">
            <a:extLst>
              <a:ext uri="{FF2B5EF4-FFF2-40B4-BE49-F238E27FC236}">
                <a16:creationId xmlns:a16="http://schemas.microsoft.com/office/drawing/2014/main" id="{0EA3E74E-E3CF-8F56-C9D7-00AF2B95FD9E}"/>
              </a:ext>
            </a:extLst>
          </p:cNvPr>
          <p:cNvSpPr>
            <a:spLocks noGrp="1"/>
          </p:cNvSpPr>
          <p:nvPr>
            <p:ph type="sldNum" sz="quarter" idx="12"/>
          </p:nvPr>
        </p:nvSpPr>
        <p:spPr/>
        <p:txBody>
          <a:bodyPr/>
          <a:lstStyle/>
          <a:p>
            <a:fld id="{7F8CBF50-853B-304C-BCA2-DB5146F0D4EA}" type="slidenum">
              <a:rPr lang="en-HK" smtClean="0"/>
              <a:t>17</a:t>
            </a:fld>
            <a:endParaRPr lang="en-HK"/>
          </a:p>
        </p:txBody>
      </p:sp>
    </p:spTree>
    <p:extLst>
      <p:ext uri="{BB962C8B-B14F-4D97-AF65-F5344CB8AC3E}">
        <p14:creationId xmlns:p14="http://schemas.microsoft.com/office/powerpoint/2010/main" val="4014165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4C01-3C2E-D3C4-8E01-1C5CF5267FD1}"/>
              </a:ext>
            </a:extLst>
          </p:cNvPr>
          <p:cNvSpPr>
            <a:spLocks noGrp="1"/>
          </p:cNvSpPr>
          <p:nvPr>
            <p:ph type="title"/>
          </p:nvPr>
        </p:nvSpPr>
        <p:spPr/>
        <p:txBody>
          <a:bodyPr/>
          <a:lstStyle/>
          <a:p>
            <a:r>
              <a:rPr lang="en-US"/>
              <a:t>Prompt Engineering Techniques</a:t>
            </a:r>
          </a:p>
        </p:txBody>
      </p:sp>
      <p:sp>
        <p:nvSpPr>
          <p:cNvPr id="3" name="Content Placeholder 2">
            <a:extLst>
              <a:ext uri="{FF2B5EF4-FFF2-40B4-BE49-F238E27FC236}">
                <a16:creationId xmlns:a16="http://schemas.microsoft.com/office/drawing/2014/main" id="{F2F4FFE3-6FDB-7F40-7D72-5BC41ED4C5C2}"/>
              </a:ext>
            </a:extLst>
          </p:cNvPr>
          <p:cNvSpPr>
            <a:spLocks noGrp="1"/>
          </p:cNvSpPr>
          <p:nvPr>
            <p:ph idx="1"/>
          </p:nvPr>
        </p:nvSpPr>
        <p:spPr/>
        <p:txBody>
          <a:bodyPr/>
          <a:lstStyle/>
          <a:p>
            <a:r>
              <a:rPr lang="en-US" dirty="0"/>
              <a:t>Zero-shot prompting</a:t>
            </a:r>
          </a:p>
          <a:p>
            <a:r>
              <a:rPr lang="en-US" dirty="0"/>
              <a:t>Few-shot prompting</a:t>
            </a:r>
          </a:p>
          <a:p>
            <a:r>
              <a:rPr lang="en-US" dirty="0"/>
              <a:t>Chain-of-thought (</a:t>
            </a:r>
            <a:r>
              <a:rPr lang="en-US" dirty="0" err="1"/>
              <a:t>CoT</a:t>
            </a:r>
            <a:r>
              <a:rPr lang="en-US" dirty="0"/>
              <a:t>)</a:t>
            </a:r>
          </a:p>
          <a:p>
            <a:r>
              <a:rPr lang="en-US" dirty="0"/>
              <a:t>Self-refine</a:t>
            </a:r>
          </a:p>
          <a:p>
            <a:r>
              <a:rPr lang="en-US" dirty="0"/>
              <a:t>Program-aided Language Models (PAL)</a:t>
            </a:r>
          </a:p>
          <a:p>
            <a:r>
              <a:rPr lang="en-US" dirty="0" err="1"/>
              <a:t>ReAct</a:t>
            </a:r>
            <a:endParaRPr lang="en-US" dirty="0"/>
          </a:p>
        </p:txBody>
      </p:sp>
      <p:sp>
        <p:nvSpPr>
          <p:cNvPr id="4" name="Slide Number Placeholder 3">
            <a:extLst>
              <a:ext uri="{FF2B5EF4-FFF2-40B4-BE49-F238E27FC236}">
                <a16:creationId xmlns:a16="http://schemas.microsoft.com/office/drawing/2014/main" id="{538DA633-1B3D-2C6F-03E5-7E94BB0D125A}"/>
              </a:ext>
            </a:extLst>
          </p:cNvPr>
          <p:cNvSpPr>
            <a:spLocks noGrp="1"/>
          </p:cNvSpPr>
          <p:nvPr>
            <p:ph type="sldNum" sz="quarter" idx="12"/>
          </p:nvPr>
        </p:nvSpPr>
        <p:spPr/>
        <p:txBody>
          <a:bodyPr/>
          <a:lstStyle/>
          <a:p>
            <a:fld id="{7F8CBF50-853B-304C-BCA2-DB5146F0D4EA}" type="slidenum">
              <a:rPr lang="en-HK" smtClean="0"/>
              <a:t>18</a:t>
            </a:fld>
            <a:endParaRPr lang="en-HK"/>
          </a:p>
        </p:txBody>
      </p:sp>
    </p:spTree>
    <p:extLst>
      <p:ext uri="{BB962C8B-B14F-4D97-AF65-F5344CB8AC3E}">
        <p14:creationId xmlns:p14="http://schemas.microsoft.com/office/powerpoint/2010/main" val="2771413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F139E323-BDDA-2847-2D33-36B0A07A0285}"/>
              </a:ext>
            </a:extLst>
          </p:cNvPr>
          <p:cNvSpPr>
            <a:spLocks noGrp="1"/>
          </p:cNvSpPr>
          <p:nvPr>
            <p:ph type="title"/>
          </p:nvPr>
        </p:nvSpPr>
        <p:spPr>
          <a:xfrm>
            <a:off x="838200" y="365125"/>
            <a:ext cx="4065270" cy="1325563"/>
          </a:xfrm>
        </p:spPr>
        <p:txBody>
          <a:bodyPr/>
          <a:lstStyle/>
          <a:p>
            <a:r>
              <a:rPr lang="en-US" dirty="0"/>
              <a:t>Zero-shot vs. Few-shot</a:t>
            </a:r>
          </a:p>
        </p:txBody>
      </p:sp>
      <p:pic>
        <p:nvPicPr>
          <p:cNvPr id="1026" name="Picture 2" descr="A screenshot of a computer  Description automatically generated">
            <a:extLst>
              <a:ext uri="{FF2B5EF4-FFF2-40B4-BE49-F238E27FC236}">
                <a16:creationId xmlns:a16="http://schemas.microsoft.com/office/drawing/2014/main" id="{71641485-49C2-4065-521D-88C08A56DF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43550" y="542510"/>
            <a:ext cx="6648450" cy="5950365"/>
          </a:xfrm>
          <a:prstGeom prst="rect">
            <a:avLst/>
          </a:prstGeom>
          <a:solidFill>
            <a:srgbClr val="FFFFFF"/>
          </a:solidFill>
        </p:spPr>
      </p:pic>
      <p:sp>
        <p:nvSpPr>
          <p:cNvPr id="4" name="Slide Number Placeholder 3">
            <a:extLst>
              <a:ext uri="{FF2B5EF4-FFF2-40B4-BE49-F238E27FC236}">
                <a16:creationId xmlns:a16="http://schemas.microsoft.com/office/drawing/2014/main" id="{97794A3C-A51D-2F7C-6F27-5111323A61D9}"/>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HK" smtClean="0"/>
              <a:pPr>
                <a:spcAft>
                  <a:spcPts val="600"/>
                </a:spcAft>
              </a:pPr>
              <a:t>19</a:t>
            </a:fld>
            <a:endParaRPr lang="en-HK"/>
          </a:p>
        </p:txBody>
      </p:sp>
    </p:spTree>
    <p:extLst>
      <p:ext uri="{BB962C8B-B14F-4D97-AF65-F5344CB8AC3E}">
        <p14:creationId xmlns:p14="http://schemas.microsoft.com/office/powerpoint/2010/main" val="3829879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2A3D8-FA74-5C87-5EF9-9F8CB9BC5882}"/>
              </a:ext>
            </a:extLst>
          </p:cNvPr>
          <p:cNvSpPr>
            <a:spLocks noGrp="1"/>
          </p:cNvSpPr>
          <p:nvPr>
            <p:ph type="title"/>
          </p:nvPr>
        </p:nvSpPr>
        <p:spPr>
          <a:xfrm>
            <a:off x="838200" y="365125"/>
            <a:ext cx="10515600" cy="1325563"/>
          </a:xfrm>
        </p:spPr>
        <p:txBody>
          <a:bodyPr/>
          <a:lstStyle/>
          <a:p>
            <a:r>
              <a:rPr lang="en-US" dirty="0"/>
              <a:t>Chain-of-thought (</a:t>
            </a:r>
            <a:r>
              <a:rPr lang="en-US" dirty="0" err="1"/>
              <a:t>CoT</a:t>
            </a:r>
            <a:r>
              <a:rPr lang="en-US" dirty="0"/>
              <a:t>)</a:t>
            </a:r>
          </a:p>
        </p:txBody>
      </p:sp>
      <p:sp>
        <p:nvSpPr>
          <p:cNvPr id="3" name="Content Placeholder 2">
            <a:extLst>
              <a:ext uri="{FF2B5EF4-FFF2-40B4-BE49-F238E27FC236}">
                <a16:creationId xmlns:a16="http://schemas.microsoft.com/office/drawing/2014/main" id="{AEED7623-840D-EA57-146E-0CD58BAA0A23}"/>
              </a:ext>
            </a:extLst>
          </p:cNvPr>
          <p:cNvSpPr>
            <a:spLocks noGrp="1"/>
          </p:cNvSpPr>
          <p:nvPr>
            <p:ph idx="1"/>
          </p:nvPr>
        </p:nvSpPr>
        <p:spPr>
          <a:xfrm>
            <a:off x="838200" y="1825625"/>
            <a:ext cx="10515600" cy="4351338"/>
          </a:xfrm>
        </p:spPr>
        <p:txBody>
          <a:bodyPr/>
          <a:lstStyle/>
          <a:p>
            <a:r>
              <a:rPr lang="en-HK" dirty="0"/>
              <a:t>It’s about taking the LLM through a series of steps. </a:t>
            </a:r>
          </a:p>
          <a:p>
            <a:r>
              <a:rPr lang="en-HK" dirty="0"/>
              <a:t>The idea is to instruct the LLM in such a way that it understands how to do something.</a:t>
            </a:r>
          </a:p>
          <a:p>
            <a:r>
              <a:rPr lang="en-HK" dirty="0"/>
              <a:t>Steps</a:t>
            </a:r>
          </a:p>
          <a:p>
            <a:pPr marL="914400" lvl="1" indent="-457200">
              <a:buFont typeface="+mj-lt"/>
              <a:buAutoNum type="arabicPeriod"/>
            </a:pPr>
            <a:r>
              <a:rPr lang="en-HK" dirty="0"/>
              <a:t>Give the LLM a similar example (or a few examples). [one-shot / few-shot]</a:t>
            </a:r>
          </a:p>
          <a:p>
            <a:pPr marL="914400" lvl="1" indent="-457200">
              <a:buFont typeface="+mj-lt"/>
              <a:buAutoNum type="arabicPeriod"/>
            </a:pPr>
            <a:r>
              <a:rPr lang="en-HK" dirty="0"/>
              <a:t>Show the steps of how to do it correctly.</a:t>
            </a:r>
          </a:p>
          <a:p>
            <a:pPr marL="914400" lvl="1" indent="-457200">
              <a:buFont typeface="+mj-lt"/>
              <a:buAutoNum type="arabicPeriod"/>
            </a:pPr>
            <a:r>
              <a:rPr lang="en-HK" dirty="0"/>
              <a:t>Provide the original prompt.</a:t>
            </a:r>
          </a:p>
          <a:p>
            <a:endParaRPr lang="en-US" dirty="0"/>
          </a:p>
        </p:txBody>
      </p:sp>
      <p:sp>
        <p:nvSpPr>
          <p:cNvPr id="4" name="Slide Number Placeholder 3">
            <a:extLst>
              <a:ext uri="{FF2B5EF4-FFF2-40B4-BE49-F238E27FC236}">
                <a16:creationId xmlns:a16="http://schemas.microsoft.com/office/drawing/2014/main" id="{37A3766E-89E6-A612-8781-6F3974BDF71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20</a:t>
            </a:fld>
            <a:endParaRPr lang="en-HK"/>
          </a:p>
        </p:txBody>
      </p:sp>
    </p:spTree>
    <p:extLst>
      <p:ext uri="{BB962C8B-B14F-4D97-AF65-F5344CB8AC3E}">
        <p14:creationId xmlns:p14="http://schemas.microsoft.com/office/powerpoint/2010/main" val="4243077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AA4A-12F4-3F94-5C2C-A3F84FABF2ED}"/>
              </a:ext>
            </a:extLst>
          </p:cNvPr>
          <p:cNvSpPr>
            <a:spLocks noGrp="1"/>
          </p:cNvSpPr>
          <p:nvPr>
            <p:ph type="title"/>
          </p:nvPr>
        </p:nvSpPr>
        <p:spPr/>
        <p:txBody>
          <a:bodyPr/>
          <a:lstStyle/>
          <a:p>
            <a:r>
              <a:rPr lang="en-US"/>
              <a:t>CoT Example</a:t>
            </a:r>
          </a:p>
        </p:txBody>
      </p:sp>
      <p:sp>
        <p:nvSpPr>
          <p:cNvPr id="4" name="Slide Number Placeholder 3">
            <a:extLst>
              <a:ext uri="{FF2B5EF4-FFF2-40B4-BE49-F238E27FC236}">
                <a16:creationId xmlns:a16="http://schemas.microsoft.com/office/drawing/2014/main" id="{3E394F5A-5B92-AC3F-B04A-2A00280072DA}"/>
              </a:ext>
            </a:extLst>
          </p:cNvPr>
          <p:cNvSpPr>
            <a:spLocks noGrp="1"/>
          </p:cNvSpPr>
          <p:nvPr>
            <p:ph type="sldNum" sz="quarter" idx="12"/>
          </p:nvPr>
        </p:nvSpPr>
        <p:spPr/>
        <p:txBody>
          <a:bodyPr/>
          <a:lstStyle/>
          <a:p>
            <a:fld id="{7F8CBF50-853B-304C-BCA2-DB5146F0D4EA}" type="slidenum">
              <a:rPr lang="en-HK" smtClean="0"/>
              <a:t>21</a:t>
            </a:fld>
            <a:endParaRPr lang="en-HK"/>
          </a:p>
        </p:txBody>
      </p:sp>
      <p:pic>
        <p:nvPicPr>
          <p:cNvPr id="1026" name="Picture 2" descr="COT">
            <a:extLst>
              <a:ext uri="{FF2B5EF4-FFF2-40B4-BE49-F238E27FC236}">
                <a16:creationId xmlns:a16="http://schemas.microsoft.com/office/drawing/2014/main" id="{5FB4DD2C-ADE5-14A5-52AF-C9AF07B06B0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72260" y="1825625"/>
            <a:ext cx="8647479"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933F07-6019-1F47-E6B1-F22A7C79B005}"/>
              </a:ext>
            </a:extLst>
          </p:cNvPr>
          <p:cNvSpPr txBox="1"/>
          <p:nvPr/>
        </p:nvSpPr>
        <p:spPr>
          <a:xfrm>
            <a:off x="2901636" y="6400412"/>
            <a:ext cx="78578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Wei et al. (2022)</a:t>
            </a:r>
          </a:p>
        </p:txBody>
      </p:sp>
    </p:spTree>
    <p:extLst>
      <p:ext uri="{BB962C8B-B14F-4D97-AF65-F5344CB8AC3E}">
        <p14:creationId xmlns:p14="http://schemas.microsoft.com/office/powerpoint/2010/main" val="621323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9F624-4CBF-4F81-12BE-C04A73A20EF1}"/>
              </a:ext>
            </a:extLst>
          </p:cNvPr>
          <p:cNvSpPr>
            <a:spLocks noGrp="1"/>
          </p:cNvSpPr>
          <p:nvPr>
            <p:ph type="title"/>
          </p:nvPr>
        </p:nvSpPr>
        <p:spPr>
          <a:xfrm>
            <a:off x="838200" y="365125"/>
            <a:ext cx="10515600" cy="1325563"/>
          </a:xfrm>
        </p:spPr>
        <p:txBody>
          <a:bodyPr anchor="ctr">
            <a:normAutofit/>
          </a:bodyPr>
          <a:lstStyle/>
          <a:p>
            <a:r>
              <a:rPr lang="en-HK" dirty="0"/>
              <a:t>Zero-shot </a:t>
            </a:r>
            <a:r>
              <a:rPr lang="en-HK" dirty="0" err="1"/>
              <a:t>CoT</a:t>
            </a:r>
            <a:r>
              <a:rPr lang="en-HK" dirty="0"/>
              <a:t> Prompting</a:t>
            </a:r>
            <a:endParaRPr lang="en-US" dirty="0"/>
          </a:p>
        </p:txBody>
      </p:sp>
      <p:pic>
        <p:nvPicPr>
          <p:cNvPr id="2050" name="Picture 2" descr="Zero-shot COT">
            <a:extLst>
              <a:ext uri="{FF2B5EF4-FFF2-40B4-BE49-F238E27FC236}">
                <a16:creationId xmlns:a16="http://schemas.microsoft.com/office/drawing/2014/main" id="{8A85A6CB-A161-9E19-D9C7-CB75868FD3B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053025" y="1825625"/>
            <a:ext cx="8085950" cy="4351338"/>
          </a:xfrm>
          <a:prstGeom prst="rect">
            <a:avLst/>
          </a:prstGeom>
          <a:solidFill>
            <a:srgbClr val="FFFFFF"/>
          </a:solidFill>
        </p:spPr>
      </p:pic>
      <p:sp>
        <p:nvSpPr>
          <p:cNvPr id="4" name="Slide Number Placeholder 3">
            <a:extLst>
              <a:ext uri="{FF2B5EF4-FFF2-40B4-BE49-F238E27FC236}">
                <a16:creationId xmlns:a16="http://schemas.microsoft.com/office/drawing/2014/main" id="{74014A40-4AC3-2E43-5407-1A940BEB94B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HK" smtClean="0"/>
              <a:pPr>
                <a:spcAft>
                  <a:spcPts val="600"/>
                </a:spcAft>
              </a:pPr>
              <a:t>22</a:t>
            </a:fld>
            <a:endParaRPr lang="en-HK"/>
          </a:p>
        </p:txBody>
      </p:sp>
      <p:sp>
        <p:nvSpPr>
          <p:cNvPr id="9" name="TextBox 8">
            <a:extLst>
              <a:ext uri="{FF2B5EF4-FFF2-40B4-BE49-F238E27FC236}">
                <a16:creationId xmlns:a16="http://schemas.microsoft.com/office/drawing/2014/main" id="{094FCA0A-B923-6759-3748-0AC007EB5A43}"/>
              </a:ext>
            </a:extLst>
          </p:cNvPr>
          <p:cNvSpPr txBox="1"/>
          <p:nvPr/>
        </p:nvSpPr>
        <p:spPr>
          <a:xfrm>
            <a:off x="2901636" y="6400412"/>
            <a:ext cx="78578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Kojima et al. (2022)</a:t>
            </a:r>
          </a:p>
        </p:txBody>
      </p:sp>
    </p:spTree>
    <p:extLst>
      <p:ext uri="{BB962C8B-B14F-4D97-AF65-F5344CB8AC3E}">
        <p14:creationId xmlns:p14="http://schemas.microsoft.com/office/powerpoint/2010/main" val="136973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D59B-E9E0-F5CC-554B-C740A7538C7B}"/>
              </a:ext>
            </a:extLst>
          </p:cNvPr>
          <p:cNvSpPr>
            <a:spLocks noGrp="1"/>
          </p:cNvSpPr>
          <p:nvPr>
            <p:ph type="title"/>
          </p:nvPr>
        </p:nvSpPr>
        <p:spPr>
          <a:xfrm>
            <a:off x="838200" y="365125"/>
            <a:ext cx="10515600" cy="1325563"/>
          </a:xfrm>
        </p:spPr>
        <p:txBody>
          <a:bodyPr/>
          <a:lstStyle/>
          <a:p>
            <a:r>
              <a:rPr lang="en-US"/>
              <a:t>Self-refine</a:t>
            </a:r>
          </a:p>
        </p:txBody>
      </p:sp>
      <p:sp>
        <p:nvSpPr>
          <p:cNvPr id="3" name="Content Placeholder 2">
            <a:extLst>
              <a:ext uri="{FF2B5EF4-FFF2-40B4-BE49-F238E27FC236}">
                <a16:creationId xmlns:a16="http://schemas.microsoft.com/office/drawing/2014/main" id="{BF2CFC1E-9B37-D766-0F7D-CD8429E2D13D}"/>
              </a:ext>
            </a:extLst>
          </p:cNvPr>
          <p:cNvSpPr>
            <a:spLocks noGrp="1"/>
          </p:cNvSpPr>
          <p:nvPr>
            <p:ph idx="1"/>
          </p:nvPr>
        </p:nvSpPr>
        <p:spPr>
          <a:xfrm>
            <a:off x="838200" y="1825625"/>
            <a:ext cx="10515600" cy="4351338"/>
          </a:xfrm>
        </p:spPr>
        <p:txBody>
          <a:bodyPr/>
          <a:lstStyle/>
          <a:p>
            <a:r>
              <a:rPr lang="en-HK"/>
              <a:t>Initial prompt asking the LLM to solve a problem</a:t>
            </a:r>
          </a:p>
          <a:p>
            <a:r>
              <a:rPr lang="en-HK"/>
              <a:t>LLM answers</a:t>
            </a:r>
          </a:p>
          <a:p>
            <a:r>
              <a:rPr lang="en-HK"/>
              <a:t>You critique the answer and ask the AI to improve</a:t>
            </a:r>
          </a:p>
          <a:p>
            <a:r>
              <a:rPr lang="en-HK"/>
              <a:t>LLM answers again, this time considering the critique and suggest solutions it came up with</a:t>
            </a:r>
          </a:p>
          <a:p>
            <a:endParaRPr lang="en-US"/>
          </a:p>
        </p:txBody>
      </p:sp>
      <p:sp>
        <p:nvSpPr>
          <p:cNvPr id="4" name="Slide Number Placeholder 3">
            <a:extLst>
              <a:ext uri="{FF2B5EF4-FFF2-40B4-BE49-F238E27FC236}">
                <a16:creationId xmlns:a16="http://schemas.microsoft.com/office/drawing/2014/main" id="{7FE91ACF-7CA2-0D4A-0567-20D41CCC2872}"/>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23</a:t>
            </a:fld>
            <a:endParaRPr lang="en-HK"/>
          </a:p>
        </p:txBody>
      </p:sp>
    </p:spTree>
    <p:extLst>
      <p:ext uri="{BB962C8B-B14F-4D97-AF65-F5344CB8AC3E}">
        <p14:creationId xmlns:p14="http://schemas.microsoft.com/office/powerpoint/2010/main" val="2620582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02661-754B-59B4-7353-908CCCE5F0FC}"/>
              </a:ext>
            </a:extLst>
          </p:cNvPr>
          <p:cNvSpPr>
            <a:spLocks noGrp="1"/>
          </p:cNvSpPr>
          <p:nvPr>
            <p:ph type="title"/>
          </p:nvPr>
        </p:nvSpPr>
        <p:spPr/>
        <p:txBody>
          <a:bodyPr/>
          <a:lstStyle/>
          <a:p>
            <a:r>
              <a:rPr lang="en-US"/>
              <a:t>Self-refine Example</a:t>
            </a:r>
          </a:p>
        </p:txBody>
      </p:sp>
      <p:sp>
        <p:nvSpPr>
          <p:cNvPr id="3" name="Content Placeholder 2">
            <a:extLst>
              <a:ext uri="{FF2B5EF4-FFF2-40B4-BE49-F238E27FC236}">
                <a16:creationId xmlns:a16="http://schemas.microsoft.com/office/drawing/2014/main" id="{4EEB85C2-4688-ADB0-C4E4-BDB4F94A4C2C}"/>
              </a:ext>
            </a:extLst>
          </p:cNvPr>
          <p:cNvSpPr>
            <a:spLocks noGrp="1"/>
          </p:cNvSpPr>
          <p:nvPr>
            <p:ph idx="1"/>
          </p:nvPr>
        </p:nvSpPr>
        <p:spPr/>
        <p:txBody>
          <a:bodyPr/>
          <a:lstStyle/>
          <a:p>
            <a:r>
              <a:rPr lang="en-HK" b="0" i="0" dirty="0">
                <a:effectLst/>
                <a:latin typeface="Roboto" panose="02000000000000000000" pitchFamily="2" charset="0"/>
              </a:rPr>
              <a:t>Prompt 1: Write a Python program to reverse a user input string.</a:t>
            </a:r>
          </a:p>
          <a:p>
            <a:r>
              <a:rPr lang="en-HK" b="0" i="0" dirty="0">
                <a:effectLst/>
                <a:latin typeface="Roboto" panose="02000000000000000000" pitchFamily="2" charset="0"/>
              </a:rPr>
              <a:t>Prompt 2: Suggest 3 improvements of the above code.</a:t>
            </a:r>
            <a:endParaRPr lang="en-US" dirty="0"/>
          </a:p>
        </p:txBody>
      </p:sp>
      <p:sp>
        <p:nvSpPr>
          <p:cNvPr id="4" name="Slide Number Placeholder 3">
            <a:extLst>
              <a:ext uri="{FF2B5EF4-FFF2-40B4-BE49-F238E27FC236}">
                <a16:creationId xmlns:a16="http://schemas.microsoft.com/office/drawing/2014/main" id="{711BA075-5730-6F16-5FF2-42F711890257}"/>
              </a:ext>
            </a:extLst>
          </p:cNvPr>
          <p:cNvSpPr>
            <a:spLocks noGrp="1"/>
          </p:cNvSpPr>
          <p:nvPr>
            <p:ph type="sldNum" sz="quarter" idx="12"/>
          </p:nvPr>
        </p:nvSpPr>
        <p:spPr/>
        <p:txBody>
          <a:bodyPr/>
          <a:lstStyle/>
          <a:p>
            <a:fld id="{7F8CBF50-853B-304C-BCA2-DB5146F0D4EA}" type="slidenum">
              <a:rPr lang="en-HK" smtClean="0"/>
              <a:t>24</a:t>
            </a:fld>
            <a:endParaRPr lang="en-HK"/>
          </a:p>
        </p:txBody>
      </p:sp>
    </p:spTree>
    <p:extLst>
      <p:ext uri="{BB962C8B-B14F-4D97-AF65-F5344CB8AC3E}">
        <p14:creationId xmlns:p14="http://schemas.microsoft.com/office/powerpoint/2010/main" val="3158795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BFBCA5-A594-8D87-7C00-92E2DC30CC9C}"/>
              </a:ext>
            </a:extLst>
          </p:cNvPr>
          <p:cNvSpPr>
            <a:spLocks noGrp="1"/>
          </p:cNvSpPr>
          <p:nvPr>
            <p:ph type="title"/>
          </p:nvPr>
        </p:nvSpPr>
        <p:spPr>
          <a:xfrm>
            <a:off x="838200" y="365125"/>
            <a:ext cx="10515600" cy="1325563"/>
          </a:xfrm>
        </p:spPr>
        <p:txBody>
          <a:bodyPr/>
          <a:lstStyle/>
          <a:p>
            <a:r>
              <a:rPr lang="en-HK" dirty="0"/>
              <a:t>PAL: Program-aided Language Models</a:t>
            </a:r>
            <a:endParaRPr lang="en-US" dirty="0"/>
          </a:p>
        </p:txBody>
      </p:sp>
      <p:sp>
        <p:nvSpPr>
          <p:cNvPr id="3" name="Content Placeholder 2">
            <a:extLst>
              <a:ext uri="{FF2B5EF4-FFF2-40B4-BE49-F238E27FC236}">
                <a16:creationId xmlns:a16="http://schemas.microsoft.com/office/drawing/2014/main" id="{41840BAE-BAE8-3E41-31A6-C7901CC09664}"/>
              </a:ext>
            </a:extLst>
          </p:cNvPr>
          <p:cNvSpPr>
            <a:spLocks noGrp="1"/>
          </p:cNvSpPr>
          <p:nvPr>
            <p:ph idx="1"/>
          </p:nvPr>
        </p:nvSpPr>
        <p:spPr>
          <a:xfrm>
            <a:off x="838200" y="1825625"/>
            <a:ext cx="10515600" cy="4351338"/>
          </a:xfrm>
        </p:spPr>
        <p:txBody>
          <a:bodyPr/>
          <a:lstStyle/>
          <a:p>
            <a:pPr lvl="0"/>
            <a:r>
              <a:rPr lang="en-HK" dirty="0"/>
              <a:t>Uses LLMs to read natural language problems and generate programs for intermediate reasoning steps.</a:t>
            </a:r>
          </a:p>
          <a:p>
            <a:pPr lvl="0"/>
            <a:r>
              <a:rPr lang="en-HK" dirty="0"/>
              <a:t>Problem-Solving: Offloads the solution step to a runtime such as a Python interpreter.</a:t>
            </a:r>
          </a:p>
          <a:p>
            <a:pPr lvl="0"/>
            <a:r>
              <a:rPr lang="en-HK" dirty="0"/>
              <a:t>Advantages:</a:t>
            </a:r>
          </a:p>
          <a:p>
            <a:pPr lvl="1"/>
            <a:r>
              <a:rPr lang="en-HK" dirty="0"/>
              <a:t>LLM focuses on decomposing the problem into runnable steps.</a:t>
            </a:r>
          </a:p>
          <a:p>
            <a:pPr lvl="1"/>
            <a:r>
              <a:rPr lang="en-HK" dirty="0"/>
              <a:t>Reduces logical and arithmetic mistakes in solutions.</a:t>
            </a:r>
          </a:p>
          <a:p>
            <a:endParaRPr lang="en-US" dirty="0"/>
          </a:p>
        </p:txBody>
      </p:sp>
      <p:sp>
        <p:nvSpPr>
          <p:cNvPr id="4" name="Slide Number Placeholder 3">
            <a:extLst>
              <a:ext uri="{FF2B5EF4-FFF2-40B4-BE49-F238E27FC236}">
                <a16:creationId xmlns:a16="http://schemas.microsoft.com/office/drawing/2014/main" id="{1E641966-19EB-3B9D-649B-11B4684E72E4}"/>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25</a:t>
            </a:fld>
            <a:endParaRPr lang="en-HK"/>
          </a:p>
        </p:txBody>
      </p:sp>
    </p:spTree>
    <p:extLst>
      <p:ext uri="{BB962C8B-B14F-4D97-AF65-F5344CB8AC3E}">
        <p14:creationId xmlns:p14="http://schemas.microsoft.com/office/powerpoint/2010/main" val="4104393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D96D0-DEAA-3EFF-C8E5-392CCB049C22}"/>
              </a:ext>
            </a:extLst>
          </p:cNvPr>
          <p:cNvSpPr>
            <a:spLocks noGrp="1"/>
          </p:cNvSpPr>
          <p:nvPr>
            <p:ph type="title"/>
          </p:nvPr>
        </p:nvSpPr>
        <p:spPr>
          <a:xfrm>
            <a:off x="229135" y="289821"/>
            <a:ext cx="3572435" cy="3400051"/>
          </a:xfrm>
        </p:spPr>
        <p:txBody>
          <a:bodyPr>
            <a:normAutofit/>
          </a:bodyPr>
          <a:lstStyle/>
          <a:p>
            <a:r>
              <a:rPr lang="en-HK" dirty="0"/>
              <a:t>PAL: </a:t>
            </a:r>
            <a:br>
              <a:rPr lang="en-HK" dirty="0"/>
            </a:br>
            <a:r>
              <a:rPr lang="en-HK" dirty="0"/>
              <a:t>Program-aided Language Models</a:t>
            </a:r>
            <a:endParaRPr lang="en-US" dirty="0"/>
          </a:p>
        </p:txBody>
      </p:sp>
      <p:pic>
        <p:nvPicPr>
          <p:cNvPr id="3074" name="Picture 2" descr="PAL">
            <a:extLst>
              <a:ext uri="{FF2B5EF4-FFF2-40B4-BE49-F238E27FC236}">
                <a16:creationId xmlns:a16="http://schemas.microsoft.com/office/drawing/2014/main" id="{9E3C2755-2C09-5885-9A1D-876A653633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01570" y="170703"/>
            <a:ext cx="8390430" cy="6185647"/>
          </a:xfr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B33CF30-6765-E48D-B6B7-D616DADC37D8}"/>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26</a:t>
            </a:fld>
            <a:endParaRPr lang="en-HK"/>
          </a:p>
        </p:txBody>
      </p:sp>
      <p:sp>
        <p:nvSpPr>
          <p:cNvPr id="3" name="TextBox 2">
            <a:extLst>
              <a:ext uri="{FF2B5EF4-FFF2-40B4-BE49-F238E27FC236}">
                <a16:creationId xmlns:a16="http://schemas.microsoft.com/office/drawing/2014/main" id="{BAD91AF6-9285-D3D5-B944-FB5D787313B7}"/>
              </a:ext>
            </a:extLst>
          </p:cNvPr>
          <p:cNvSpPr txBox="1"/>
          <p:nvPr/>
        </p:nvSpPr>
        <p:spPr>
          <a:xfrm>
            <a:off x="4074221" y="6372264"/>
            <a:ext cx="5317204" cy="333296"/>
          </a:xfrm>
          <a:prstGeom prst="rect">
            <a:avLst/>
          </a:prstGeom>
          <a:noFill/>
        </p:spPr>
        <p:txBody>
          <a:bodyPr wrap="square" rtlCol="0">
            <a:spAutoFit/>
          </a:bodyPr>
          <a:lstStyle/>
          <a:p>
            <a:pPr algn="ctr">
              <a:lnSpc>
                <a:spcPts val="2099"/>
              </a:lnSpc>
              <a:spcAft>
                <a:spcPts val="900"/>
              </a:spcAft>
            </a:pPr>
            <a:r>
              <a:rPr lang="en-US" altLang="zh-CN" sz="1200" dirty="0">
                <a:solidFill>
                  <a:schemeClr val="tx1">
                    <a:lumMod val="50000"/>
                    <a:lumOff val="50000"/>
                  </a:schemeClr>
                </a:solidFill>
              </a:rPr>
              <a:t>Source: </a:t>
            </a:r>
            <a:r>
              <a:rPr lang="en-HK" sz="1200" dirty="0">
                <a:solidFill>
                  <a:schemeClr val="tx1">
                    <a:lumMod val="50000"/>
                    <a:lumOff val="50000"/>
                  </a:schemeClr>
                </a:solidFill>
              </a:rPr>
              <a:t>PAL: Program-aided Language Models</a:t>
            </a:r>
          </a:p>
        </p:txBody>
      </p:sp>
    </p:spTree>
    <p:extLst>
      <p:ext uri="{BB962C8B-B14F-4D97-AF65-F5344CB8AC3E}">
        <p14:creationId xmlns:p14="http://schemas.microsoft.com/office/powerpoint/2010/main" val="938621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97B6-B43F-05E5-A074-14982D7C1E83}"/>
              </a:ext>
            </a:extLst>
          </p:cNvPr>
          <p:cNvSpPr>
            <a:spLocks noGrp="1"/>
          </p:cNvSpPr>
          <p:nvPr>
            <p:ph type="title"/>
          </p:nvPr>
        </p:nvSpPr>
        <p:spPr>
          <a:xfrm>
            <a:off x="838200" y="365125"/>
            <a:ext cx="10515600" cy="1325563"/>
          </a:xfrm>
        </p:spPr>
        <p:txBody>
          <a:bodyPr/>
          <a:lstStyle/>
          <a:p>
            <a:r>
              <a:rPr lang="en-US" dirty="0" err="1"/>
              <a:t>ReAct</a:t>
            </a:r>
            <a:r>
              <a:rPr lang="en-US" dirty="0"/>
              <a:t>: Reasoning and Acting</a:t>
            </a:r>
          </a:p>
        </p:txBody>
      </p:sp>
      <p:sp>
        <p:nvSpPr>
          <p:cNvPr id="3" name="Content Placeholder 2">
            <a:extLst>
              <a:ext uri="{FF2B5EF4-FFF2-40B4-BE49-F238E27FC236}">
                <a16:creationId xmlns:a16="http://schemas.microsoft.com/office/drawing/2014/main" id="{0E28BD0C-0D2F-DA2C-536B-6956E9A455CA}"/>
              </a:ext>
            </a:extLst>
          </p:cNvPr>
          <p:cNvSpPr>
            <a:spLocks noGrp="1"/>
          </p:cNvSpPr>
          <p:nvPr>
            <p:ph idx="1"/>
          </p:nvPr>
        </p:nvSpPr>
        <p:spPr>
          <a:xfrm>
            <a:off x="838200" y="1825625"/>
            <a:ext cx="10515600" cy="4351338"/>
          </a:xfrm>
        </p:spPr>
        <p:txBody>
          <a:bodyPr/>
          <a:lstStyle/>
          <a:p>
            <a:r>
              <a:rPr lang="en-HK" dirty="0"/>
              <a:t>Combines reasoning and acting for better decision-making.</a:t>
            </a:r>
          </a:p>
          <a:p>
            <a:r>
              <a:rPr lang="en-HK" dirty="0"/>
              <a:t>Enhances LLMs by integrating logical reasoning with actions.</a:t>
            </a:r>
          </a:p>
          <a:p>
            <a:r>
              <a:rPr lang="en-HK" dirty="0"/>
              <a:t>Improves response accuracy and relevance.</a:t>
            </a:r>
          </a:p>
          <a:p>
            <a:endParaRPr lang="en-HK" dirty="0"/>
          </a:p>
          <a:p>
            <a:r>
              <a:rPr lang="en-HK" dirty="0"/>
              <a:t>Two Components:</a:t>
            </a:r>
          </a:p>
          <a:p>
            <a:pPr lvl="1"/>
            <a:r>
              <a:rPr lang="en-HK" dirty="0"/>
              <a:t>Reasoning: Logical inference and deduction.</a:t>
            </a:r>
          </a:p>
          <a:p>
            <a:pPr lvl="1"/>
            <a:r>
              <a:rPr lang="en-HK" dirty="0"/>
              <a:t>Acting: Executing actions based on reasoning.</a:t>
            </a:r>
          </a:p>
          <a:p>
            <a:endParaRPr lang="en-HK" dirty="0"/>
          </a:p>
          <a:p>
            <a:endParaRPr lang="en-US" dirty="0"/>
          </a:p>
        </p:txBody>
      </p:sp>
      <p:sp>
        <p:nvSpPr>
          <p:cNvPr id="4" name="Slide Number Placeholder 3">
            <a:extLst>
              <a:ext uri="{FF2B5EF4-FFF2-40B4-BE49-F238E27FC236}">
                <a16:creationId xmlns:a16="http://schemas.microsoft.com/office/drawing/2014/main" id="{5653167C-52EF-235E-D39F-7857F4961589}"/>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27</a:t>
            </a:fld>
            <a:endParaRPr lang="en-HK"/>
          </a:p>
        </p:txBody>
      </p:sp>
    </p:spTree>
    <p:extLst>
      <p:ext uri="{BB962C8B-B14F-4D97-AF65-F5344CB8AC3E}">
        <p14:creationId xmlns:p14="http://schemas.microsoft.com/office/powerpoint/2010/main" val="698730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62F6F4-5DB4-0C66-78E3-27E664911DC4}"/>
              </a:ext>
            </a:extLst>
          </p:cNvPr>
          <p:cNvPicPr>
            <a:picLocks noChangeAspect="1"/>
          </p:cNvPicPr>
          <p:nvPr/>
        </p:nvPicPr>
        <p:blipFill>
          <a:blip r:embed="rId2"/>
          <a:stretch>
            <a:fillRect/>
          </a:stretch>
        </p:blipFill>
        <p:spPr>
          <a:xfrm>
            <a:off x="3962016" y="0"/>
            <a:ext cx="8229984" cy="6789737"/>
          </a:xfrm>
          <a:prstGeom prst="rect">
            <a:avLst/>
          </a:prstGeom>
          <a:noFill/>
        </p:spPr>
      </p:pic>
      <p:sp>
        <p:nvSpPr>
          <p:cNvPr id="4" name="Slide Number Placeholder 3" hidden="1">
            <a:extLst>
              <a:ext uri="{FF2B5EF4-FFF2-40B4-BE49-F238E27FC236}">
                <a16:creationId xmlns:a16="http://schemas.microsoft.com/office/drawing/2014/main" id="{EAC13980-0EE2-7830-3565-A643B6837063}"/>
              </a:ext>
            </a:extLst>
          </p:cNvPr>
          <p:cNvSpPr>
            <a:spLocks noGrp="1"/>
          </p:cNvSpPr>
          <p:nvPr>
            <p:ph type="sldNum" sz="quarter" idx="12"/>
          </p:nvPr>
        </p:nvSpPr>
        <p:spPr/>
        <p:txBody>
          <a:bodyPr/>
          <a:lstStyle/>
          <a:p>
            <a:pPr>
              <a:spcAft>
                <a:spcPts val="600"/>
              </a:spcAft>
            </a:pPr>
            <a:fld id="{7F8CBF50-853B-304C-BCA2-DB5146F0D4EA}" type="slidenum">
              <a:rPr lang="en-HK" smtClean="0"/>
              <a:pPr>
                <a:spcAft>
                  <a:spcPts val="600"/>
                </a:spcAft>
              </a:pPr>
              <a:t>28</a:t>
            </a:fld>
            <a:endParaRPr lang="en-HK"/>
          </a:p>
        </p:txBody>
      </p:sp>
      <p:sp>
        <p:nvSpPr>
          <p:cNvPr id="10" name="TextBox 9">
            <a:extLst>
              <a:ext uri="{FF2B5EF4-FFF2-40B4-BE49-F238E27FC236}">
                <a16:creationId xmlns:a16="http://schemas.microsoft.com/office/drawing/2014/main" id="{22C0CD1D-09EB-355D-3281-4F25A67A133C}"/>
              </a:ext>
            </a:extLst>
          </p:cNvPr>
          <p:cNvSpPr txBox="1"/>
          <p:nvPr/>
        </p:nvSpPr>
        <p:spPr>
          <a:xfrm>
            <a:off x="412360" y="839096"/>
            <a:ext cx="3062505"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Reason Only (</a:t>
            </a:r>
            <a:r>
              <a:rPr lang="en-US" sz="2400" dirty="0" err="1"/>
              <a:t>CoT</a:t>
            </a:r>
            <a:r>
              <a:rPr lang="en-US" sz="2400" dirty="0"/>
              <a:t>)</a:t>
            </a:r>
          </a:p>
          <a:p>
            <a:pPr marL="285750" indent="-285750">
              <a:buFont typeface="Arial" panose="020B0604020202020204" pitchFamily="34" charset="0"/>
              <a:buChar char="•"/>
            </a:pPr>
            <a:r>
              <a:rPr lang="en-US" sz="2400" dirty="0"/>
              <a:t>Act Only</a:t>
            </a:r>
          </a:p>
          <a:p>
            <a:pPr marL="285750" indent="-285750">
              <a:buFont typeface="Arial" panose="020B0604020202020204" pitchFamily="34" charset="0"/>
              <a:buChar char="•"/>
            </a:pPr>
            <a:r>
              <a:rPr lang="en-US" sz="2400" dirty="0"/>
              <a:t>Reason + Act (</a:t>
            </a:r>
            <a:r>
              <a:rPr lang="en-US" sz="2400" dirty="0" err="1"/>
              <a:t>ReAct</a:t>
            </a:r>
            <a:r>
              <a:rPr lang="en-US" sz="2400" dirty="0"/>
              <a:t>)</a:t>
            </a:r>
          </a:p>
        </p:txBody>
      </p:sp>
      <p:sp>
        <p:nvSpPr>
          <p:cNvPr id="11" name="TextBox 10">
            <a:extLst>
              <a:ext uri="{FF2B5EF4-FFF2-40B4-BE49-F238E27FC236}">
                <a16:creationId xmlns:a16="http://schemas.microsoft.com/office/drawing/2014/main" id="{D21506AE-3DB3-0B61-3485-94FE41B3AB67}"/>
              </a:ext>
            </a:extLst>
          </p:cNvPr>
          <p:cNvSpPr txBox="1"/>
          <p:nvPr/>
        </p:nvSpPr>
        <p:spPr>
          <a:xfrm>
            <a:off x="46455" y="5680538"/>
            <a:ext cx="4087906" cy="461665"/>
          </a:xfrm>
          <a:prstGeom prst="rect">
            <a:avLst/>
          </a:prstGeom>
          <a:noFill/>
        </p:spPr>
        <p:txBody>
          <a:bodyPr wrap="square" rtlCol="0">
            <a:spAutoFit/>
          </a:bodyPr>
          <a:lstStyle/>
          <a:p>
            <a:r>
              <a:rPr lang="en-US" altLang="zh-CN" sz="1200" dirty="0">
                <a:solidFill>
                  <a:schemeClr val="tx1">
                    <a:lumMod val="50000"/>
                    <a:lumOff val="50000"/>
                  </a:schemeClr>
                </a:solidFill>
              </a:rPr>
              <a:t>Source: </a:t>
            </a:r>
          </a:p>
          <a:p>
            <a:r>
              <a:rPr lang="en-US" altLang="zh-CN" sz="1200" dirty="0" err="1">
                <a:solidFill>
                  <a:schemeClr val="tx1">
                    <a:lumMod val="50000"/>
                    <a:lumOff val="50000"/>
                  </a:schemeClr>
                </a:solidFill>
              </a:rPr>
              <a:t>ReAct</a:t>
            </a:r>
            <a:r>
              <a:rPr lang="en-US" altLang="zh-CN" sz="1200" dirty="0">
                <a:solidFill>
                  <a:schemeClr val="tx1">
                    <a:lumMod val="50000"/>
                    <a:lumOff val="50000"/>
                  </a:schemeClr>
                </a:solidFill>
              </a:rPr>
              <a:t>: Synergizing Reasoning and Acting in Language Models</a:t>
            </a:r>
          </a:p>
        </p:txBody>
      </p:sp>
    </p:spTree>
    <p:extLst>
      <p:ext uri="{BB962C8B-B14F-4D97-AF65-F5344CB8AC3E}">
        <p14:creationId xmlns:p14="http://schemas.microsoft.com/office/powerpoint/2010/main" val="838739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DA1B9-7920-CEDF-9379-C201D1CE1427}"/>
              </a:ext>
            </a:extLst>
          </p:cNvPr>
          <p:cNvSpPr>
            <a:spLocks noGrp="1"/>
          </p:cNvSpPr>
          <p:nvPr>
            <p:ph type="title"/>
          </p:nvPr>
        </p:nvSpPr>
        <p:spPr/>
        <p:txBody>
          <a:bodyPr/>
          <a:lstStyle/>
          <a:p>
            <a:r>
              <a:rPr lang="en-US" altLang="zh-CN" dirty="0"/>
              <a:t>Prompting Guides from OpenAI</a:t>
            </a:r>
            <a:endParaRPr lang="en-US" dirty="0"/>
          </a:p>
        </p:txBody>
      </p:sp>
      <p:sp>
        <p:nvSpPr>
          <p:cNvPr id="3" name="Content Placeholder 2">
            <a:extLst>
              <a:ext uri="{FF2B5EF4-FFF2-40B4-BE49-F238E27FC236}">
                <a16:creationId xmlns:a16="http://schemas.microsoft.com/office/drawing/2014/main" id="{CFB3F863-E237-8CE9-D04B-674B14101640}"/>
              </a:ext>
            </a:extLst>
          </p:cNvPr>
          <p:cNvSpPr>
            <a:spLocks noGrp="1"/>
          </p:cNvSpPr>
          <p:nvPr>
            <p:ph idx="1"/>
          </p:nvPr>
        </p:nvSpPr>
        <p:spPr/>
        <p:txBody>
          <a:bodyPr/>
          <a:lstStyle/>
          <a:p>
            <a:pPr marL="514350" indent="-514350" algn="l">
              <a:spcBef>
                <a:spcPts val="900"/>
              </a:spcBef>
              <a:buFont typeface="+mj-lt"/>
              <a:buAutoNum type="arabicPeriod"/>
            </a:pPr>
            <a:r>
              <a:rPr lang="en-HK" b="0" i="0" dirty="0">
                <a:solidFill>
                  <a:srgbClr val="111111"/>
                </a:solidFill>
                <a:effectLst/>
                <a:latin typeface="-apple-system"/>
              </a:rPr>
              <a:t>Write clear instructions</a:t>
            </a:r>
          </a:p>
          <a:p>
            <a:pPr marL="514350" indent="-514350" algn="l">
              <a:spcBef>
                <a:spcPts val="900"/>
              </a:spcBef>
              <a:buFont typeface="+mj-lt"/>
              <a:buAutoNum type="arabicPeriod"/>
            </a:pPr>
            <a:r>
              <a:rPr lang="en-HK" b="0" i="0" dirty="0">
                <a:solidFill>
                  <a:srgbClr val="111111"/>
                </a:solidFill>
                <a:effectLst/>
                <a:latin typeface="-apple-system"/>
              </a:rPr>
              <a:t>Provide reference text</a:t>
            </a:r>
          </a:p>
          <a:p>
            <a:pPr marL="514350" indent="-514350" algn="l">
              <a:spcBef>
                <a:spcPts val="900"/>
              </a:spcBef>
              <a:buFont typeface="+mj-lt"/>
              <a:buAutoNum type="arabicPeriod"/>
            </a:pPr>
            <a:r>
              <a:rPr lang="en-HK" b="0" i="0" dirty="0">
                <a:solidFill>
                  <a:srgbClr val="111111"/>
                </a:solidFill>
                <a:effectLst/>
                <a:latin typeface="-apple-system"/>
              </a:rPr>
              <a:t>Split complex tasks into simpler subtasks</a:t>
            </a:r>
          </a:p>
          <a:p>
            <a:pPr marL="514350" indent="-514350" algn="l">
              <a:spcBef>
                <a:spcPts val="900"/>
              </a:spcBef>
              <a:buFont typeface="+mj-lt"/>
              <a:buAutoNum type="arabicPeriod"/>
            </a:pPr>
            <a:r>
              <a:rPr lang="en-HK" b="0" i="0" dirty="0">
                <a:solidFill>
                  <a:srgbClr val="111111"/>
                </a:solidFill>
                <a:effectLst/>
                <a:latin typeface="-apple-system"/>
              </a:rPr>
              <a:t>Give the model time to “think”</a:t>
            </a:r>
          </a:p>
          <a:p>
            <a:pPr marL="514350" indent="-514350" algn="l">
              <a:spcBef>
                <a:spcPts val="900"/>
              </a:spcBef>
              <a:buFont typeface="+mj-lt"/>
              <a:buAutoNum type="arabicPeriod"/>
            </a:pPr>
            <a:r>
              <a:rPr lang="en-HK" b="0" i="0" dirty="0">
                <a:solidFill>
                  <a:srgbClr val="111111"/>
                </a:solidFill>
                <a:effectLst/>
                <a:latin typeface="-apple-system"/>
              </a:rPr>
              <a:t>Use external tools</a:t>
            </a:r>
          </a:p>
          <a:p>
            <a:pPr marL="514350" indent="-514350" algn="l">
              <a:spcBef>
                <a:spcPts val="900"/>
              </a:spcBef>
              <a:buFont typeface="+mj-lt"/>
              <a:buAutoNum type="arabicPeriod"/>
            </a:pPr>
            <a:r>
              <a:rPr lang="en-HK" b="0" i="0" dirty="0">
                <a:solidFill>
                  <a:srgbClr val="111111"/>
                </a:solidFill>
                <a:effectLst/>
                <a:latin typeface="-apple-system"/>
              </a:rPr>
              <a:t>Test changes systematically</a:t>
            </a:r>
          </a:p>
          <a:p>
            <a:endParaRPr lang="en-US" dirty="0"/>
          </a:p>
        </p:txBody>
      </p:sp>
      <p:sp>
        <p:nvSpPr>
          <p:cNvPr id="4" name="Slide Number Placeholder 3">
            <a:extLst>
              <a:ext uri="{FF2B5EF4-FFF2-40B4-BE49-F238E27FC236}">
                <a16:creationId xmlns:a16="http://schemas.microsoft.com/office/drawing/2014/main" id="{704B6292-D0A5-7ECE-F747-992A822B718C}"/>
              </a:ext>
            </a:extLst>
          </p:cNvPr>
          <p:cNvSpPr>
            <a:spLocks noGrp="1"/>
          </p:cNvSpPr>
          <p:nvPr>
            <p:ph type="sldNum" sz="quarter" idx="12"/>
          </p:nvPr>
        </p:nvSpPr>
        <p:spPr/>
        <p:txBody>
          <a:bodyPr/>
          <a:lstStyle/>
          <a:p>
            <a:fld id="{7F8CBF50-853B-304C-BCA2-DB5146F0D4EA}" type="slidenum">
              <a:rPr lang="en-HK" smtClean="0"/>
              <a:t>29</a:t>
            </a:fld>
            <a:endParaRPr lang="en-HK"/>
          </a:p>
        </p:txBody>
      </p:sp>
    </p:spTree>
    <p:extLst>
      <p:ext uri="{BB962C8B-B14F-4D97-AF65-F5344CB8AC3E}">
        <p14:creationId xmlns:p14="http://schemas.microsoft.com/office/powerpoint/2010/main" val="3314530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1505-800A-7DE3-073F-983812138797}"/>
              </a:ext>
            </a:extLst>
          </p:cNvPr>
          <p:cNvSpPr>
            <a:spLocks noGrp="1"/>
          </p:cNvSpPr>
          <p:nvPr>
            <p:ph type="title"/>
          </p:nvPr>
        </p:nvSpPr>
        <p:spPr>
          <a:xfrm>
            <a:off x="838200" y="365125"/>
            <a:ext cx="10515600" cy="1325563"/>
          </a:xfrm>
        </p:spPr>
        <p:txBody>
          <a:bodyPr>
            <a:normAutofit/>
          </a:bodyPr>
          <a:lstStyle/>
          <a:p>
            <a:r>
              <a:rPr lang="en-US" dirty="0"/>
              <a:t>1. </a:t>
            </a:r>
            <a:r>
              <a:rPr lang="en-HK" dirty="0"/>
              <a:t>Write Clear Instructions</a:t>
            </a:r>
            <a:endParaRPr lang="en-US" dirty="0"/>
          </a:p>
        </p:txBody>
      </p:sp>
      <p:sp>
        <p:nvSpPr>
          <p:cNvPr id="7" name="Content Placeholder 6">
            <a:extLst>
              <a:ext uri="{FF2B5EF4-FFF2-40B4-BE49-F238E27FC236}">
                <a16:creationId xmlns:a16="http://schemas.microsoft.com/office/drawing/2014/main" id="{C6A30BB3-EC59-4A3D-4C8C-69277B8D9419}"/>
              </a:ext>
            </a:extLst>
          </p:cNvPr>
          <p:cNvSpPr>
            <a:spLocks noGrp="1"/>
          </p:cNvSpPr>
          <p:nvPr>
            <p:ph idx="1"/>
          </p:nvPr>
        </p:nvSpPr>
        <p:spPr/>
        <p:txBody>
          <a:bodyPr/>
          <a:lstStyle/>
          <a:p>
            <a:pPr algn="l">
              <a:spcBef>
                <a:spcPts val="900"/>
              </a:spcBef>
              <a:buFont typeface="Arial" panose="020B0604020202020204" pitchFamily="34" charset="0"/>
              <a:buChar char="•"/>
            </a:pPr>
            <a:r>
              <a:rPr lang="en-HK" dirty="0"/>
              <a:t>Models can’t read your mind; clarity reduces guesswork</a:t>
            </a:r>
            <a:endParaRPr lang="en-HK" b="0" i="0" dirty="0">
              <a:solidFill>
                <a:srgbClr val="111111"/>
              </a:solidFill>
              <a:effectLst/>
              <a:latin typeface="-apple-system"/>
            </a:endParaRPr>
          </a:p>
          <a:p>
            <a:pPr algn="l">
              <a:spcBef>
                <a:spcPts val="900"/>
              </a:spcBef>
              <a:buFont typeface="Arial" panose="020B0604020202020204" pitchFamily="34" charset="0"/>
              <a:buChar char="•"/>
            </a:pPr>
            <a:r>
              <a:rPr lang="en-HK" dirty="0">
                <a:solidFill>
                  <a:srgbClr val="111111"/>
                </a:solidFill>
                <a:latin typeface="-apple-system"/>
              </a:rPr>
              <a:t>Tactics</a:t>
            </a:r>
            <a:endParaRPr lang="en-HK" b="0" i="0" dirty="0">
              <a:solidFill>
                <a:srgbClr val="111111"/>
              </a:solidFill>
              <a:effectLst/>
              <a:latin typeface="-apple-system"/>
            </a:endParaRPr>
          </a:p>
          <a:p>
            <a:pPr marL="971550" lvl="1" indent="-514350">
              <a:spcBef>
                <a:spcPts val="900"/>
              </a:spcBef>
              <a:buFont typeface="+mj-lt"/>
              <a:buAutoNum type="arabicPeriod"/>
            </a:pPr>
            <a:r>
              <a:rPr lang="en-HK" b="0" i="0" dirty="0">
                <a:solidFill>
                  <a:srgbClr val="111111"/>
                </a:solidFill>
                <a:effectLst/>
                <a:latin typeface="-apple-system"/>
              </a:rPr>
              <a:t>Include details in your query to get more relevant answers.</a:t>
            </a:r>
          </a:p>
          <a:p>
            <a:pPr marL="971550" lvl="1" indent="-514350">
              <a:spcBef>
                <a:spcPts val="900"/>
              </a:spcBef>
              <a:buFont typeface="+mj-lt"/>
              <a:buAutoNum type="arabicPeriod"/>
            </a:pPr>
            <a:r>
              <a:rPr lang="en-HK" b="0" i="0" dirty="0">
                <a:solidFill>
                  <a:srgbClr val="111111"/>
                </a:solidFill>
                <a:effectLst/>
                <a:latin typeface="-apple-system"/>
              </a:rPr>
              <a:t>Ask the model to adopt a persona.</a:t>
            </a:r>
          </a:p>
          <a:p>
            <a:pPr marL="971550" lvl="1" indent="-514350">
              <a:spcBef>
                <a:spcPts val="900"/>
              </a:spcBef>
              <a:buFont typeface="+mj-lt"/>
              <a:buAutoNum type="arabicPeriod"/>
            </a:pPr>
            <a:r>
              <a:rPr lang="en-HK" b="0" i="0" dirty="0">
                <a:solidFill>
                  <a:srgbClr val="111111"/>
                </a:solidFill>
                <a:effectLst/>
                <a:latin typeface="-apple-system"/>
              </a:rPr>
              <a:t>Use delimiters to clearly indicate distinct parts of the input.</a:t>
            </a:r>
          </a:p>
          <a:p>
            <a:pPr marL="971550" lvl="1" indent="-514350">
              <a:spcBef>
                <a:spcPts val="900"/>
              </a:spcBef>
              <a:buFont typeface="+mj-lt"/>
              <a:buAutoNum type="arabicPeriod"/>
            </a:pPr>
            <a:r>
              <a:rPr lang="en-HK" b="0" i="0" dirty="0">
                <a:solidFill>
                  <a:srgbClr val="111111"/>
                </a:solidFill>
                <a:effectLst/>
                <a:latin typeface="-apple-system"/>
              </a:rPr>
              <a:t>Specify steps required to complete a task.</a:t>
            </a:r>
          </a:p>
          <a:p>
            <a:pPr marL="971550" lvl="1" indent="-514350">
              <a:spcBef>
                <a:spcPts val="900"/>
              </a:spcBef>
              <a:buFont typeface="+mj-lt"/>
              <a:buAutoNum type="arabicPeriod"/>
            </a:pPr>
            <a:r>
              <a:rPr lang="en-HK" b="0" i="0" dirty="0">
                <a:solidFill>
                  <a:srgbClr val="111111"/>
                </a:solidFill>
                <a:effectLst/>
                <a:latin typeface="-apple-system"/>
              </a:rPr>
              <a:t>Provide examples.</a:t>
            </a:r>
          </a:p>
          <a:p>
            <a:pPr marL="971550" lvl="1" indent="-514350">
              <a:spcBef>
                <a:spcPts val="900"/>
              </a:spcBef>
              <a:buFont typeface="+mj-lt"/>
              <a:buAutoNum type="arabicPeriod"/>
            </a:pPr>
            <a:r>
              <a:rPr lang="en-HK" b="0" i="0" dirty="0">
                <a:solidFill>
                  <a:srgbClr val="111111"/>
                </a:solidFill>
                <a:effectLst/>
                <a:latin typeface="-apple-system"/>
              </a:rPr>
              <a:t>Specify the desired length of the output.</a:t>
            </a:r>
          </a:p>
          <a:p>
            <a:endParaRPr lang="en-US" dirty="0"/>
          </a:p>
        </p:txBody>
      </p:sp>
      <p:sp>
        <p:nvSpPr>
          <p:cNvPr id="4" name="Slide Number Placeholder 3">
            <a:extLst>
              <a:ext uri="{FF2B5EF4-FFF2-40B4-BE49-F238E27FC236}">
                <a16:creationId xmlns:a16="http://schemas.microsoft.com/office/drawing/2014/main" id="{5078F3CF-CFEE-5045-226A-F6743E9E15F7}"/>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30</a:t>
            </a:fld>
            <a:endParaRPr lang="en-HK"/>
          </a:p>
        </p:txBody>
      </p:sp>
    </p:spTree>
    <p:extLst>
      <p:ext uri="{BB962C8B-B14F-4D97-AF65-F5344CB8AC3E}">
        <p14:creationId xmlns:p14="http://schemas.microsoft.com/office/powerpoint/2010/main" val="673762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9658-3548-C739-FB51-4F04A35CBAAA}"/>
              </a:ext>
            </a:extLst>
          </p:cNvPr>
          <p:cNvSpPr>
            <a:spLocks noGrp="1"/>
          </p:cNvSpPr>
          <p:nvPr>
            <p:ph type="title"/>
          </p:nvPr>
        </p:nvSpPr>
        <p:spPr>
          <a:xfrm>
            <a:off x="838200" y="365125"/>
            <a:ext cx="10515600" cy="1325563"/>
          </a:xfrm>
        </p:spPr>
        <p:txBody>
          <a:bodyPr>
            <a:normAutofit/>
          </a:bodyPr>
          <a:lstStyle/>
          <a:p>
            <a:r>
              <a:rPr lang="en-US" dirty="0"/>
              <a:t>1.1 Include details in your query to get more relevant answers</a:t>
            </a:r>
          </a:p>
        </p:txBody>
      </p:sp>
      <p:graphicFrame>
        <p:nvGraphicFramePr>
          <p:cNvPr id="20" name="Content Placeholder 19">
            <a:extLst>
              <a:ext uri="{FF2B5EF4-FFF2-40B4-BE49-F238E27FC236}">
                <a16:creationId xmlns:a16="http://schemas.microsoft.com/office/drawing/2014/main" id="{4B3DB6C8-F2CE-E303-0847-877C6FDF7696}"/>
              </a:ext>
            </a:extLst>
          </p:cNvPr>
          <p:cNvGraphicFramePr>
            <a:graphicFrameLocks noGrp="1"/>
          </p:cNvGraphicFramePr>
          <p:nvPr>
            <p:ph idx="1"/>
            <p:extLst>
              <p:ext uri="{D42A27DB-BD31-4B8C-83A1-F6EECF244321}">
                <p14:modId xmlns:p14="http://schemas.microsoft.com/office/powerpoint/2010/main" val="1950135218"/>
              </p:ext>
            </p:extLst>
          </p:nvPr>
        </p:nvGraphicFramePr>
        <p:xfrm>
          <a:off x="838200" y="1825625"/>
          <a:ext cx="10515600" cy="4358640"/>
        </p:xfrm>
        <a:graphic>
          <a:graphicData uri="http://schemas.openxmlformats.org/drawingml/2006/table">
            <a:tbl>
              <a:tblPr firstRow="1" bandRow="1">
                <a:tableStyleId>{72833802-FEF1-4C79-8D5D-14CF1EAF98D9}</a:tableStyleId>
              </a:tblPr>
              <a:tblGrid>
                <a:gridCol w="2989521">
                  <a:extLst>
                    <a:ext uri="{9D8B030D-6E8A-4147-A177-3AD203B41FA5}">
                      <a16:colId xmlns:a16="http://schemas.microsoft.com/office/drawing/2014/main" val="15976517"/>
                    </a:ext>
                  </a:extLst>
                </a:gridCol>
                <a:gridCol w="7526079">
                  <a:extLst>
                    <a:ext uri="{9D8B030D-6E8A-4147-A177-3AD203B41FA5}">
                      <a16:colId xmlns:a16="http://schemas.microsoft.com/office/drawing/2014/main" val="4201700800"/>
                    </a:ext>
                  </a:extLst>
                </a:gridCol>
              </a:tblGrid>
              <a:tr h="370840">
                <a:tc>
                  <a:txBody>
                    <a:bodyPr/>
                    <a:lstStyle/>
                    <a:p>
                      <a:r>
                        <a:rPr lang="en-US" sz="2000" dirty="0"/>
                        <a:t>Worse</a:t>
                      </a:r>
                    </a:p>
                  </a:txBody>
                  <a:tcPr/>
                </a:tc>
                <a:tc>
                  <a:txBody>
                    <a:bodyPr/>
                    <a:lstStyle/>
                    <a:p>
                      <a:r>
                        <a:rPr lang="en-US" sz="2000" dirty="0"/>
                        <a:t>Better</a:t>
                      </a:r>
                    </a:p>
                  </a:txBody>
                  <a:tcPr/>
                </a:tc>
                <a:extLst>
                  <a:ext uri="{0D108BD9-81ED-4DB2-BD59-A6C34878D82A}">
                    <a16:rowId xmlns:a16="http://schemas.microsoft.com/office/drawing/2014/main" val="930742050"/>
                  </a:ext>
                </a:extLst>
              </a:tr>
              <a:tr h="370840">
                <a:tc>
                  <a:txBody>
                    <a:bodyPr/>
                    <a:lstStyle/>
                    <a:p>
                      <a:pPr fontAlgn="t"/>
                      <a:r>
                        <a:rPr lang="en-HK" sz="2000" dirty="0">
                          <a:effectLst/>
                        </a:rPr>
                        <a:t>How do I add numbers in Excel?</a:t>
                      </a:r>
                    </a:p>
                  </a:txBody>
                  <a:tcPr marR="76200" marT="76200" marB="76200"/>
                </a:tc>
                <a:tc>
                  <a:txBody>
                    <a:bodyPr/>
                    <a:lstStyle/>
                    <a:p>
                      <a:pPr fontAlgn="t"/>
                      <a:r>
                        <a:rPr lang="en-HK" sz="2000">
                          <a:effectLst/>
                        </a:rPr>
                        <a:t>How do I add up a row of dollar amounts in Excel? I want to do this automatically for a whole sheet of rows with all the totals ending up on the right in a column called "Total".</a:t>
                      </a:r>
                    </a:p>
                  </a:txBody>
                  <a:tcPr marL="76200" marT="76200" marB="76200"/>
                </a:tc>
                <a:extLst>
                  <a:ext uri="{0D108BD9-81ED-4DB2-BD59-A6C34878D82A}">
                    <a16:rowId xmlns:a16="http://schemas.microsoft.com/office/drawing/2014/main" val="2105334447"/>
                  </a:ext>
                </a:extLst>
              </a:tr>
              <a:tr h="370840">
                <a:tc>
                  <a:txBody>
                    <a:bodyPr/>
                    <a:lstStyle/>
                    <a:p>
                      <a:pPr fontAlgn="t"/>
                      <a:r>
                        <a:rPr lang="en-HK" sz="2000">
                          <a:effectLst/>
                        </a:rPr>
                        <a:t>Who’s president?</a:t>
                      </a:r>
                    </a:p>
                  </a:txBody>
                  <a:tcPr marR="76200" marT="76200" marB="76200"/>
                </a:tc>
                <a:tc>
                  <a:txBody>
                    <a:bodyPr/>
                    <a:lstStyle/>
                    <a:p>
                      <a:pPr fontAlgn="t"/>
                      <a:r>
                        <a:rPr lang="en-HK" sz="2000">
                          <a:effectLst/>
                        </a:rPr>
                        <a:t>Who was the president of Mexico in 2021, and how frequently are elections held?</a:t>
                      </a:r>
                    </a:p>
                  </a:txBody>
                  <a:tcPr marL="76200" marT="76200" marB="76200"/>
                </a:tc>
                <a:extLst>
                  <a:ext uri="{0D108BD9-81ED-4DB2-BD59-A6C34878D82A}">
                    <a16:rowId xmlns:a16="http://schemas.microsoft.com/office/drawing/2014/main" val="2608713217"/>
                  </a:ext>
                </a:extLst>
              </a:tr>
              <a:tr h="370840">
                <a:tc>
                  <a:txBody>
                    <a:bodyPr/>
                    <a:lstStyle/>
                    <a:p>
                      <a:pPr fontAlgn="t"/>
                      <a:r>
                        <a:rPr lang="en-HK" sz="2000">
                          <a:effectLst/>
                        </a:rPr>
                        <a:t>Write code to calculate the Fibonacci sequence.</a:t>
                      </a:r>
                    </a:p>
                  </a:txBody>
                  <a:tcPr marR="76200" marT="76200" marB="76200"/>
                </a:tc>
                <a:tc>
                  <a:txBody>
                    <a:bodyPr/>
                    <a:lstStyle/>
                    <a:p>
                      <a:pPr fontAlgn="t"/>
                      <a:r>
                        <a:rPr lang="en-HK" sz="2000">
                          <a:effectLst/>
                        </a:rPr>
                        <a:t>Write a TypeScript function to efficiently calculate the Fibonacci sequence. Comment the code liberally to explain what each piece does and why it's written that way.</a:t>
                      </a:r>
                    </a:p>
                  </a:txBody>
                  <a:tcPr marL="76200" marT="76200" marB="76200"/>
                </a:tc>
                <a:extLst>
                  <a:ext uri="{0D108BD9-81ED-4DB2-BD59-A6C34878D82A}">
                    <a16:rowId xmlns:a16="http://schemas.microsoft.com/office/drawing/2014/main" val="345674499"/>
                  </a:ext>
                </a:extLst>
              </a:tr>
              <a:tr h="370840">
                <a:tc>
                  <a:txBody>
                    <a:bodyPr/>
                    <a:lstStyle/>
                    <a:p>
                      <a:pPr fontAlgn="t"/>
                      <a:r>
                        <a:rPr lang="en-HK" sz="2000" dirty="0">
                          <a:effectLst/>
                        </a:rPr>
                        <a:t>Summarize the meeting notes.</a:t>
                      </a:r>
                    </a:p>
                  </a:txBody>
                  <a:tcPr marR="76200" marT="76200" marB="76200"/>
                </a:tc>
                <a:tc>
                  <a:txBody>
                    <a:bodyPr/>
                    <a:lstStyle/>
                    <a:p>
                      <a:pPr fontAlgn="t"/>
                      <a:r>
                        <a:rPr lang="en-HK" sz="2000" dirty="0">
                          <a:effectLst/>
                        </a:rPr>
                        <a:t>Summarize the meeting notes in a single paragraph. Then write a markdown list of the speakers and each of their key points. Finally, list the next steps or action items suggested by the speakers, if any.</a:t>
                      </a:r>
                    </a:p>
                  </a:txBody>
                  <a:tcPr marL="76200" marT="76200" marB="76200"/>
                </a:tc>
                <a:extLst>
                  <a:ext uri="{0D108BD9-81ED-4DB2-BD59-A6C34878D82A}">
                    <a16:rowId xmlns:a16="http://schemas.microsoft.com/office/drawing/2014/main" val="4129939094"/>
                  </a:ext>
                </a:extLst>
              </a:tr>
            </a:tbl>
          </a:graphicData>
        </a:graphic>
      </p:graphicFrame>
      <p:sp>
        <p:nvSpPr>
          <p:cNvPr id="4" name="Slide Number Placeholder 3">
            <a:extLst>
              <a:ext uri="{FF2B5EF4-FFF2-40B4-BE49-F238E27FC236}">
                <a16:creationId xmlns:a16="http://schemas.microsoft.com/office/drawing/2014/main" id="{EA5E7CB4-D33C-A29B-081A-B1B17B27DC9E}"/>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31</a:t>
            </a:fld>
            <a:endParaRPr lang="en-HK"/>
          </a:p>
        </p:txBody>
      </p:sp>
    </p:spTree>
    <p:extLst>
      <p:ext uri="{BB962C8B-B14F-4D97-AF65-F5344CB8AC3E}">
        <p14:creationId xmlns:p14="http://schemas.microsoft.com/office/powerpoint/2010/main" val="986096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C961-C127-479F-7F01-916415346C78}"/>
              </a:ext>
            </a:extLst>
          </p:cNvPr>
          <p:cNvSpPr>
            <a:spLocks noGrp="1"/>
          </p:cNvSpPr>
          <p:nvPr>
            <p:ph type="title"/>
          </p:nvPr>
        </p:nvSpPr>
        <p:spPr>
          <a:xfrm>
            <a:off x="838200" y="365125"/>
            <a:ext cx="10515600" cy="1325563"/>
          </a:xfrm>
        </p:spPr>
        <p:txBody>
          <a:bodyPr/>
          <a:lstStyle/>
          <a:p>
            <a:r>
              <a:rPr lang="en-US"/>
              <a:t>1.2 Ask the model to adopt a persona</a:t>
            </a:r>
            <a:endParaRPr lang="en-US" dirty="0"/>
          </a:p>
        </p:txBody>
      </p:sp>
      <p:sp>
        <p:nvSpPr>
          <p:cNvPr id="3" name="Content Placeholder 2">
            <a:extLst>
              <a:ext uri="{FF2B5EF4-FFF2-40B4-BE49-F238E27FC236}">
                <a16:creationId xmlns:a16="http://schemas.microsoft.com/office/drawing/2014/main" id="{A7EBEEA7-F378-F4BE-7B5C-E1CA70FC8B0D}"/>
              </a:ext>
            </a:extLst>
          </p:cNvPr>
          <p:cNvSpPr>
            <a:spLocks noGrp="1"/>
          </p:cNvSpPr>
          <p:nvPr>
            <p:ph idx="1"/>
          </p:nvPr>
        </p:nvSpPr>
        <p:spPr>
          <a:xfrm>
            <a:off x="838200" y="1825625"/>
            <a:ext cx="10515600" cy="4351338"/>
          </a:xfrm>
          <a:ln>
            <a:noFill/>
          </a:ln>
        </p:spPr>
        <p:txBody>
          <a:bodyPr>
            <a:normAutofit/>
          </a:bodyPr>
          <a:lstStyle/>
          <a:p>
            <a:r>
              <a:rPr lang="en-HK" dirty="0"/>
              <a:t>The system message can be used to specify the persona used by the model in its replies.</a:t>
            </a:r>
            <a:endParaRPr lang="en-US" dirty="0"/>
          </a:p>
          <a:p>
            <a:r>
              <a:rPr lang="en-HK" dirty="0"/>
              <a:t>SYSTEM</a:t>
            </a:r>
          </a:p>
          <a:p>
            <a:pPr marL="0" indent="0">
              <a:buNone/>
            </a:pPr>
            <a:r>
              <a:rPr lang="en-HK" dirty="0"/>
              <a:t>When I ask for help to write something, you will reply with a document that contains at least one joke or playful comment in every paragraph. </a:t>
            </a:r>
          </a:p>
          <a:p>
            <a:r>
              <a:rPr lang="en-HK" dirty="0"/>
              <a:t>USER</a:t>
            </a:r>
          </a:p>
          <a:p>
            <a:pPr marL="0" indent="0">
              <a:buNone/>
            </a:pPr>
            <a:r>
              <a:rPr lang="en-HK" dirty="0"/>
              <a:t>Write a thank you note to my steel bolt vendor for getting the delivery in on time and in short notice. This made it possible for us to deliver an important order.</a:t>
            </a:r>
          </a:p>
          <a:p>
            <a:endParaRPr lang="en-US" dirty="0"/>
          </a:p>
        </p:txBody>
      </p:sp>
      <p:sp>
        <p:nvSpPr>
          <p:cNvPr id="4" name="Slide Number Placeholder 3">
            <a:extLst>
              <a:ext uri="{FF2B5EF4-FFF2-40B4-BE49-F238E27FC236}">
                <a16:creationId xmlns:a16="http://schemas.microsoft.com/office/drawing/2014/main" id="{471015D6-4486-759B-8451-3B92BA1E2C3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32</a:t>
            </a:fld>
            <a:endParaRPr lang="en-HK"/>
          </a:p>
        </p:txBody>
      </p:sp>
    </p:spTree>
    <p:extLst>
      <p:ext uri="{BB962C8B-B14F-4D97-AF65-F5344CB8AC3E}">
        <p14:creationId xmlns:p14="http://schemas.microsoft.com/office/powerpoint/2010/main" val="3856978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C2038-6DEF-B629-AFE3-AC88D733306B}"/>
              </a:ext>
            </a:extLst>
          </p:cNvPr>
          <p:cNvSpPr>
            <a:spLocks noGrp="1"/>
          </p:cNvSpPr>
          <p:nvPr>
            <p:ph type="title"/>
          </p:nvPr>
        </p:nvSpPr>
        <p:spPr/>
        <p:txBody>
          <a:bodyPr/>
          <a:lstStyle/>
          <a:p>
            <a:r>
              <a:rPr lang="en-US" dirty="0"/>
              <a:t>Persona</a:t>
            </a:r>
          </a:p>
        </p:txBody>
      </p:sp>
      <p:sp>
        <p:nvSpPr>
          <p:cNvPr id="3" name="Content Placeholder 2">
            <a:extLst>
              <a:ext uri="{FF2B5EF4-FFF2-40B4-BE49-F238E27FC236}">
                <a16:creationId xmlns:a16="http://schemas.microsoft.com/office/drawing/2014/main" id="{DD2F57AB-8845-9197-214A-820F4207313D}"/>
              </a:ext>
            </a:extLst>
          </p:cNvPr>
          <p:cNvSpPr>
            <a:spLocks noGrp="1"/>
          </p:cNvSpPr>
          <p:nvPr>
            <p:ph idx="1"/>
          </p:nvPr>
        </p:nvSpPr>
        <p:spPr/>
        <p:txBody>
          <a:bodyPr/>
          <a:lstStyle/>
          <a:p>
            <a:r>
              <a:rPr lang="en-HK" b="0" i="0" dirty="0">
                <a:solidFill>
                  <a:srgbClr val="111111"/>
                </a:solidFill>
                <a:effectLst/>
                <a:latin typeface="-apple-system"/>
              </a:rPr>
              <a:t>A </a:t>
            </a:r>
            <a:r>
              <a:rPr lang="en-HK" b="1" i="0" dirty="0">
                <a:solidFill>
                  <a:srgbClr val="111111"/>
                </a:solidFill>
                <a:effectLst/>
                <a:latin typeface="-apple-system"/>
              </a:rPr>
              <a:t>persona</a:t>
            </a:r>
            <a:r>
              <a:rPr lang="en-HK" b="0" i="0" dirty="0">
                <a:solidFill>
                  <a:srgbClr val="111111"/>
                </a:solidFill>
                <a:effectLst/>
                <a:latin typeface="-apple-system"/>
              </a:rPr>
              <a:t> is a fictional character created to represent different user types that might use a product, service, or brand in a similar way. Personas are used in various fields, including marketing, design, and psychology, to better understand and empathize with target users.</a:t>
            </a:r>
          </a:p>
          <a:p>
            <a:r>
              <a:rPr lang="en-HK" b="0" i="0" dirty="0">
                <a:solidFill>
                  <a:srgbClr val="111111"/>
                </a:solidFill>
                <a:effectLst/>
                <a:latin typeface="-apple-system"/>
              </a:rPr>
              <a:t>In </a:t>
            </a:r>
            <a:r>
              <a:rPr lang="en-HK" b="1" i="0" dirty="0">
                <a:solidFill>
                  <a:srgbClr val="111111"/>
                </a:solidFill>
                <a:effectLst/>
                <a:latin typeface="-apple-system"/>
              </a:rPr>
              <a:t>prompt engineering</a:t>
            </a:r>
            <a:r>
              <a:rPr lang="en-HK" b="0" i="0" dirty="0">
                <a:solidFill>
                  <a:srgbClr val="111111"/>
                </a:solidFill>
                <a:effectLst/>
                <a:latin typeface="-apple-system"/>
              </a:rPr>
              <a:t>, personas are used to shape the </a:t>
            </a:r>
            <a:r>
              <a:rPr lang="en-HK" b="0" i="0" dirty="0" err="1">
                <a:solidFill>
                  <a:srgbClr val="111111"/>
                </a:solidFill>
                <a:effectLst/>
                <a:latin typeface="-apple-system"/>
              </a:rPr>
              <a:t>behavior</a:t>
            </a:r>
            <a:r>
              <a:rPr lang="en-HK" b="0" i="0" dirty="0">
                <a:solidFill>
                  <a:srgbClr val="111111"/>
                </a:solidFill>
                <a:effectLst/>
                <a:latin typeface="-apple-system"/>
              </a:rPr>
              <a:t> and responses of AI models. By defining a specific persona, developers can guide the AI to generate more contextually appropriate, engaging, and tailored responses.</a:t>
            </a:r>
            <a:endParaRPr lang="en-US" dirty="0"/>
          </a:p>
        </p:txBody>
      </p:sp>
      <p:sp>
        <p:nvSpPr>
          <p:cNvPr id="4" name="Slide Number Placeholder 3">
            <a:extLst>
              <a:ext uri="{FF2B5EF4-FFF2-40B4-BE49-F238E27FC236}">
                <a16:creationId xmlns:a16="http://schemas.microsoft.com/office/drawing/2014/main" id="{9CE5BD77-6686-29BC-E3BA-DE4A04875EAD}"/>
              </a:ext>
            </a:extLst>
          </p:cNvPr>
          <p:cNvSpPr>
            <a:spLocks noGrp="1"/>
          </p:cNvSpPr>
          <p:nvPr>
            <p:ph type="sldNum" sz="quarter" idx="12"/>
          </p:nvPr>
        </p:nvSpPr>
        <p:spPr/>
        <p:txBody>
          <a:bodyPr/>
          <a:lstStyle/>
          <a:p>
            <a:fld id="{7F8CBF50-853B-304C-BCA2-DB5146F0D4EA}" type="slidenum">
              <a:rPr lang="en-HK" smtClean="0"/>
              <a:t>33</a:t>
            </a:fld>
            <a:endParaRPr lang="en-HK"/>
          </a:p>
        </p:txBody>
      </p:sp>
    </p:spTree>
    <p:extLst>
      <p:ext uri="{BB962C8B-B14F-4D97-AF65-F5344CB8AC3E}">
        <p14:creationId xmlns:p14="http://schemas.microsoft.com/office/powerpoint/2010/main" val="3730568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CBB77-D6A4-B467-8018-BAFC60A31D4E}"/>
              </a:ext>
            </a:extLst>
          </p:cNvPr>
          <p:cNvSpPr>
            <a:spLocks noGrp="1"/>
          </p:cNvSpPr>
          <p:nvPr>
            <p:ph type="title"/>
          </p:nvPr>
        </p:nvSpPr>
        <p:spPr>
          <a:xfrm>
            <a:off x="838200" y="365125"/>
            <a:ext cx="10515600" cy="1325563"/>
          </a:xfrm>
        </p:spPr>
        <p:txBody>
          <a:bodyPr/>
          <a:lstStyle/>
          <a:p>
            <a:r>
              <a:rPr lang="en-US" dirty="0"/>
              <a:t>Types of Persona</a:t>
            </a:r>
          </a:p>
        </p:txBody>
      </p:sp>
      <p:sp>
        <p:nvSpPr>
          <p:cNvPr id="3" name="Content Placeholder 2">
            <a:extLst>
              <a:ext uri="{FF2B5EF4-FFF2-40B4-BE49-F238E27FC236}">
                <a16:creationId xmlns:a16="http://schemas.microsoft.com/office/drawing/2014/main" id="{CAC2A1E6-0692-1617-726A-D7607C3F2967}"/>
              </a:ext>
            </a:extLst>
          </p:cNvPr>
          <p:cNvSpPr>
            <a:spLocks noGrp="1"/>
          </p:cNvSpPr>
          <p:nvPr>
            <p:ph idx="1"/>
          </p:nvPr>
        </p:nvSpPr>
        <p:spPr>
          <a:xfrm>
            <a:off x="838200" y="1825625"/>
            <a:ext cx="10515600" cy="4351338"/>
          </a:xfrm>
        </p:spPr>
        <p:txBody>
          <a:bodyPr>
            <a:normAutofit fontScale="92500"/>
          </a:bodyPr>
          <a:lstStyle/>
          <a:p>
            <a:r>
              <a:rPr lang="en-HK" dirty="0"/>
              <a:t>Expert Persona: a specialist in a particular field, e.g., a renowned physicist.</a:t>
            </a:r>
          </a:p>
          <a:p>
            <a:r>
              <a:rPr lang="en-HK" dirty="0"/>
              <a:t>Historical Figure Persona: a historical figure to provide unique perspectives on modern issues or explain concepts through a historical lens. </a:t>
            </a:r>
          </a:p>
          <a:p>
            <a:r>
              <a:rPr lang="en-HK" dirty="0"/>
              <a:t>Critic Persona: a discerning evaluator, useful for generating detailed analyses or reviews. </a:t>
            </a:r>
          </a:p>
          <a:p>
            <a:r>
              <a:rPr lang="en-HK" dirty="0"/>
              <a:t>Friendly Persona: a warm and approachable tone, making interactions feel more personal and less mechanical, e.g., in customer service or support scenarios.</a:t>
            </a:r>
          </a:p>
          <a:p>
            <a:r>
              <a:rPr lang="en-HK" dirty="0"/>
              <a:t>Professional Persona: a formal and serious tone, suitable for business or academic contexts where professionalism is key.</a:t>
            </a:r>
          </a:p>
          <a:p>
            <a:endParaRPr lang="en-HK" dirty="0"/>
          </a:p>
          <a:p>
            <a:endParaRPr lang="en-US" dirty="0"/>
          </a:p>
        </p:txBody>
      </p:sp>
      <p:sp>
        <p:nvSpPr>
          <p:cNvPr id="4" name="Slide Number Placeholder 3">
            <a:extLst>
              <a:ext uri="{FF2B5EF4-FFF2-40B4-BE49-F238E27FC236}">
                <a16:creationId xmlns:a16="http://schemas.microsoft.com/office/drawing/2014/main" id="{3F897C76-F5FE-93B1-A2C7-4A65A767C20B}"/>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34</a:t>
            </a:fld>
            <a:endParaRPr lang="en-HK"/>
          </a:p>
        </p:txBody>
      </p:sp>
    </p:spTree>
    <p:extLst>
      <p:ext uri="{BB962C8B-B14F-4D97-AF65-F5344CB8AC3E}">
        <p14:creationId xmlns:p14="http://schemas.microsoft.com/office/powerpoint/2010/main" val="3226261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1FC95-9130-4B07-A501-D47C4490BCD6}"/>
              </a:ext>
            </a:extLst>
          </p:cNvPr>
          <p:cNvSpPr>
            <a:spLocks noGrp="1"/>
          </p:cNvSpPr>
          <p:nvPr>
            <p:ph type="title"/>
          </p:nvPr>
        </p:nvSpPr>
        <p:spPr>
          <a:xfrm>
            <a:off x="838200" y="365125"/>
            <a:ext cx="10515600" cy="1325563"/>
          </a:xfrm>
        </p:spPr>
        <p:txBody>
          <a:bodyPr>
            <a:normAutofit/>
          </a:bodyPr>
          <a:lstStyle/>
          <a:p>
            <a:r>
              <a:rPr lang="en-US" dirty="0"/>
              <a:t>1.3 Use delimiters to clearly indicate distinct parts of the input</a:t>
            </a:r>
          </a:p>
        </p:txBody>
      </p:sp>
      <p:sp>
        <p:nvSpPr>
          <p:cNvPr id="3" name="Content Placeholder 2">
            <a:extLst>
              <a:ext uri="{FF2B5EF4-FFF2-40B4-BE49-F238E27FC236}">
                <a16:creationId xmlns:a16="http://schemas.microsoft.com/office/drawing/2014/main" id="{09809054-6D0F-3764-EFCD-B89A77B0D6E5}"/>
              </a:ext>
            </a:extLst>
          </p:cNvPr>
          <p:cNvSpPr>
            <a:spLocks noGrp="1"/>
          </p:cNvSpPr>
          <p:nvPr>
            <p:ph idx="1"/>
          </p:nvPr>
        </p:nvSpPr>
        <p:spPr>
          <a:xfrm>
            <a:off x="838200" y="1825625"/>
            <a:ext cx="10515600" cy="4351338"/>
          </a:xfrm>
        </p:spPr>
        <p:txBody>
          <a:bodyPr/>
          <a:lstStyle/>
          <a:p>
            <a:r>
              <a:rPr lang="en-HK" dirty="0"/>
              <a:t>Delimiters like triple quotation marks, XML tags, section titles, etc. can help demarcate sections of text to be treated differently.</a:t>
            </a:r>
          </a:p>
          <a:p>
            <a:r>
              <a:rPr lang="en-HK" dirty="0"/>
              <a:t>The more complex a task is the more important it is to disambiguate task details. </a:t>
            </a:r>
          </a:p>
          <a:p>
            <a:r>
              <a:rPr lang="en-HK" dirty="0"/>
              <a:t>Don’t make the model work to understand exactly what you are asking of them.</a:t>
            </a:r>
          </a:p>
          <a:p>
            <a:r>
              <a:rPr lang="en-HK" dirty="0"/>
              <a:t>USER</a:t>
            </a:r>
          </a:p>
          <a:p>
            <a:pPr marL="0" indent="0">
              <a:buNone/>
            </a:pPr>
            <a:r>
              <a:rPr lang="en-HK" dirty="0"/>
              <a:t>Summarize the text delimited by triple quotes with a haiku. </a:t>
            </a:r>
          </a:p>
          <a:p>
            <a:pPr marL="0" indent="0">
              <a:buNone/>
            </a:pPr>
            <a:r>
              <a:rPr lang="en-HK" dirty="0"/>
              <a:t>"""insert text here"""</a:t>
            </a:r>
          </a:p>
          <a:p>
            <a:endParaRPr lang="en-HK" dirty="0"/>
          </a:p>
        </p:txBody>
      </p:sp>
      <p:sp>
        <p:nvSpPr>
          <p:cNvPr id="4" name="Slide Number Placeholder 3">
            <a:extLst>
              <a:ext uri="{FF2B5EF4-FFF2-40B4-BE49-F238E27FC236}">
                <a16:creationId xmlns:a16="http://schemas.microsoft.com/office/drawing/2014/main" id="{E14BCE51-0388-3764-A5FA-965D6A3B4CC2}"/>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35</a:t>
            </a:fld>
            <a:endParaRPr lang="en-HK"/>
          </a:p>
        </p:txBody>
      </p:sp>
    </p:spTree>
    <p:extLst>
      <p:ext uri="{BB962C8B-B14F-4D97-AF65-F5344CB8AC3E}">
        <p14:creationId xmlns:p14="http://schemas.microsoft.com/office/powerpoint/2010/main" val="3130611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705D803-A41E-388E-8A5F-231028492831}"/>
              </a:ext>
            </a:extLst>
          </p:cNvPr>
          <p:cNvSpPr>
            <a:spLocks noGrp="1"/>
          </p:cNvSpPr>
          <p:nvPr>
            <p:ph type="title"/>
          </p:nvPr>
        </p:nvSpPr>
        <p:spPr/>
        <p:txBody>
          <a:bodyPr/>
          <a:lstStyle/>
          <a:p>
            <a:r>
              <a:rPr lang="en-US" dirty="0"/>
              <a:t>1.3 Use delimiters to clearly indicate distinct parts of the input</a:t>
            </a:r>
          </a:p>
        </p:txBody>
      </p:sp>
      <p:sp>
        <p:nvSpPr>
          <p:cNvPr id="3" name="Content Placeholder 2">
            <a:extLst>
              <a:ext uri="{FF2B5EF4-FFF2-40B4-BE49-F238E27FC236}">
                <a16:creationId xmlns:a16="http://schemas.microsoft.com/office/drawing/2014/main" id="{1438BDEF-D2FF-D955-8258-046EACBF853F}"/>
              </a:ext>
            </a:extLst>
          </p:cNvPr>
          <p:cNvSpPr>
            <a:spLocks noGrp="1"/>
          </p:cNvSpPr>
          <p:nvPr>
            <p:ph idx="1"/>
          </p:nvPr>
        </p:nvSpPr>
        <p:spPr>
          <a:xfrm>
            <a:off x="838200" y="1825625"/>
            <a:ext cx="10515600" cy="4351338"/>
          </a:xfrm>
        </p:spPr>
        <p:txBody>
          <a:bodyPr/>
          <a:lstStyle/>
          <a:p>
            <a:r>
              <a:rPr lang="en-HK" dirty="0"/>
              <a:t>SYSTEM</a:t>
            </a:r>
          </a:p>
          <a:p>
            <a:pPr marL="0" indent="0">
              <a:buNone/>
            </a:pPr>
            <a:r>
              <a:rPr lang="en-HK" dirty="0"/>
              <a:t>You will be provided with a pair of articles (delimited with XML tags) about the same topic. First summarize the arguments of each article. Then indicate which of them makes a better argument and explain why. </a:t>
            </a:r>
          </a:p>
          <a:p>
            <a:r>
              <a:rPr lang="en-HK" dirty="0"/>
              <a:t>USER</a:t>
            </a:r>
          </a:p>
          <a:p>
            <a:pPr marL="0" indent="0">
              <a:buNone/>
            </a:pPr>
            <a:r>
              <a:rPr lang="en-HK" dirty="0"/>
              <a:t>&lt;article&gt; insert first article here &lt;/article&gt; </a:t>
            </a:r>
          </a:p>
          <a:p>
            <a:pPr marL="0" indent="0">
              <a:buNone/>
            </a:pPr>
            <a:r>
              <a:rPr lang="en-HK" dirty="0"/>
              <a:t>&lt;article&gt; insert second article here &lt;/article&gt;</a:t>
            </a:r>
          </a:p>
          <a:p>
            <a:endParaRPr lang="en-US" dirty="0"/>
          </a:p>
        </p:txBody>
      </p:sp>
      <p:sp>
        <p:nvSpPr>
          <p:cNvPr id="4" name="Slide Number Placeholder 3">
            <a:extLst>
              <a:ext uri="{FF2B5EF4-FFF2-40B4-BE49-F238E27FC236}">
                <a16:creationId xmlns:a16="http://schemas.microsoft.com/office/drawing/2014/main" id="{F67788C6-A471-FF9D-8B36-D9DBBCCB75F3}"/>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36</a:t>
            </a:fld>
            <a:endParaRPr lang="en-HK"/>
          </a:p>
        </p:txBody>
      </p:sp>
    </p:spTree>
    <p:extLst>
      <p:ext uri="{BB962C8B-B14F-4D97-AF65-F5344CB8AC3E}">
        <p14:creationId xmlns:p14="http://schemas.microsoft.com/office/powerpoint/2010/main" val="1831931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7DD827-E69D-8964-3407-360E9EAE69EA}"/>
              </a:ext>
            </a:extLst>
          </p:cNvPr>
          <p:cNvSpPr>
            <a:spLocks noGrp="1"/>
          </p:cNvSpPr>
          <p:nvPr>
            <p:ph type="title"/>
          </p:nvPr>
        </p:nvSpPr>
        <p:spPr/>
        <p:txBody>
          <a:bodyPr/>
          <a:lstStyle/>
          <a:p>
            <a:r>
              <a:rPr lang="en-US" dirty="0"/>
              <a:t>1.3 Use delimiters to clearly indicate distinct parts of the input</a:t>
            </a:r>
          </a:p>
        </p:txBody>
      </p:sp>
      <p:sp>
        <p:nvSpPr>
          <p:cNvPr id="3" name="Content Placeholder 2">
            <a:extLst>
              <a:ext uri="{FF2B5EF4-FFF2-40B4-BE49-F238E27FC236}">
                <a16:creationId xmlns:a16="http://schemas.microsoft.com/office/drawing/2014/main" id="{599DD889-0B3A-8695-DBDF-AE30EB60A9A8}"/>
              </a:ext>
            </a:extLst>
          </p:cNvPr>
          <p:cNvSpPr>
            <a:spLocks noGrp="1"/>
          </p:cNvSpPr>
          <p:nvPr>
            <p:ph idx="1"/>
          </p:nvPr>
        </p:nvSpPr>
        <p:spPr>
          <a:xfrm>
            <a:off x="838200" y="1825625"/>
            <a:ext cx="10515600" cy="4351338"/>
          </a:xfrm>
        </p:spPr>
        <p:txBody>
          <a:bodyPr/>
          <a:lstStyle/>
          <a:p>
            <a:r>
              <a:rPr lang="en-HK" dirty="0"/>
              <a:t>SYSTEM</a:t>
            </a:r>
          </a:p>
          <a:p>
            <a:pPr marL="0" indent="0">
              <a:buNone/>
            </a:pPr>
            <a:r>
              <a:rPr lang="en-HK" dirty="0"/>
              <a:t>You will be provided with a thesis abstract and a suggested title for it. The thesis title should give the reader a good idea of the topic of the thesis but should also be eye-catching. If the title does not meet these criteria, suggest 5 alternatives. </a:t>
            </a:r>
          </a:p>
          <a:p>
            <a:r>
              <a:rPr lang="en-HK" dirty="0"/>
              <a:t>USER</a:t>
            </a:r>
          </a:p>
          <a:p>
            <a:pPr marL="0" indent="0">
              <a:buNone/>
            </a:pPr>
            <a:r>
              <a:rPr lang="en-HK" dirty="0"/>
              <a:t>Abstract: insert abstract here </a:t>
            </a:r>
          </a:p>
          <a:p>
            <a:pPr marL="0" indent="0">
              <a:buNone/>
            </a:pPr>
            <a:r>
              <a:rPr lang="en-HK" dirty="0"/>
              <a:t>Title: insert title here</a:t>
            </a:r>
          </a:p>
          <a:p>
            <a:endParaRPr lang="en-US" dirty="0"/>
          </a:p>
        </p:txBody>
      </p:sp>
      <p:sp>
        <p:nvSpPr>
          <p:cNvPr id="4" name="Slide Number Placeholder 3">
            <a:extLst>
              <a:ext uri="{FF2B5EF4-FFF2-40B4-BE49-F238E27FC236}">
                <a16:creationId xmlns:a16="http://schemas.microsoft.com/office/drawing/2014/main" id="{D0C5BA16-A952-25BC-803C-AB634258419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37</a:t>
            </a:fld>
            <a:endParaRPr lang="en-HK"/>
          </a:p>
        </p:txBody>
      </p:sp>
    </p:spTree>
    <p:extLst>
      <p:ext uri="{BB962C8B-B14F-4D97-AF65-F5344CB8AC3E}">
        <p14:creationId xmlns:p14="http://schemas.microsoft.com/office/powerpoint/2010/main" val="843058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1174-B87A-58DE-F3A2-5EFAC655E63B}"/>
              </a:ext>
            </a:extLst>
          </p:cNvPr>
          <p:cNvSpPr>
            <a:spLocks noGrp="1"/>
          </p:cNvSpPr>
          <p:nvPr>
            <p:ph type="title"/>
          </p:nvPr>
        </p:nvSpPr>
        <p:spPr>
          <a:xfrm>
            <a:off x="838200" y="365125"/>
            <a:ext cx="10515600" cy="1325563"/>
          </a:xfrm>
        </p:spPr>
        <p:txBody>
          <a:bodyPr>
            <a:normAutofit/>
          </a:bodyPr>
          <a:lstStyle/>
          <a:p>
            <a:r>
              <a:rPr lang="en-US" dirty="0"/>
              <a:t>1.4 Specify the steps required to complete a task</a:t>
            </a:r>
          </a:p>
        </p:txBody>
      </p:sp>
      <p:sp>
        <p:nvSpPr>
          <p:cNvPr id="3" name="Content Placeholder 2">
            <a:extLst>
              <a:ext uri="{FF2B5EF4-FFF2-40B4-BE49-F238E27FC236}">
                <a16:creationId xmlns:a16="http://schemas.microsoft.com/office/drawing/2014/main" id="{E6BCE569-4E2B-294B-C122-7FA94D16E0F0}"/>
              </a:ext>
            </a:extLst>
          </p:cNvPr>
          <p:cNvSpPr>
            <a:spLocks noGrp="1"/>
          </p:cNvSpPr>
          <p:nvPr>
            <p:ph idx="1"/>
          </p:nvPr>
        </p:nvSpPr>
        <p:spPr>
          <a:xfrm>
            <a:off x="838200" y="1825625"/>
            <a:ext cx="10515600" cy="4351338"/>
          </a:xfrm>
        </p:spPr>
        <p:txBody>
          <a:bodyPr>
            <a:normAutofit lnSpcReduction="10000"/>
          </a:bodyPr>
          <a:lstStyle/>
          <a:p>
            <a:r>
              <a:rPr lang="en-HK" dirty="0"/>
              <a:t>Some tasks are best specified as a sequence of steps. Writing the steps out explicitly can make it easier for the model to follow them.</a:t>
            </a:r>
          </a:p>
          <a:p>
            <a:r>
              <a:rPr lang="en-HK" dirty="0"/>
              <a:t>SYSTEM</a:t>
            </a:r>
          </a:p>
          <a:p>
            <a:pPr marL="0" indent="0">
              <a:buNone/>
            </a:pPr>
            <a:r>
              <a:rPr lang="en-HK" dirty="0"/>
              <a:t>Use the following step-by-step instructions to respond to user inputs. Step 1 - The user will provide you with text in triple quotes. Summarize this text in one sentence with a prefix that says "Summary: ". </a:t>
            </a:r>
          </a:p>
          <a:p>
            <a:pPr marL="0" indent="0">
              <a:buNone/>
            </a:pPr>
            <a:r>
              <a:rPr lang="en-HK" dirty="0"/>
              <a:t>Step 2 - Translate the summary from Step 1 into Spanish, with a prefix that says "Translation: ". </a:t>
            </a:r>
          </a:p>
          <a:p>
            <a:r>
              <a:rPr lang="en-HK" dirty="0"/>
              <a:t>USER</a:t>
            </a:r>
          </a:p>
          <a:p>
            <a:pPr marL="0" indent="0">
              <a:buNone/>
            </a:pPr>
            <a:r>
              <a:rPr lang="en-HK" dirty="0"/>
              <a:t>"""insert text here"""</a:t>
            </a:r>
          </a:p>
          <a:p>
            <a:endParaRPr lang="en-US" dirty="0"/>
          </a:p>
        </p:txBody>
      </p:sp>
      <p:sp>
        <p:nvSpPr>
          <p:cNvPr id="4" name="Slide Number Placeholder 3">
            <a:extLst>
              <a:ext uri="{FF2B5EF4-FFF2-40B4-BE49-F238E27FC236}">
                <a16:creationId xmlns:a16="http://schemas.microsoft.com/office/drawing/2014/main" id="{925E9BF4-A4F8-066F-153E-F5BBBCA925AE}"/>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38</a:t>
            </a:fld>
            <a:endParaRPr lang="en-HK"/>
          </a:p>
        </p:txBody>
      </p:sp>
    </p:spTree>
    <p:extLst>
      <p:ext uri="{BB962C8B-B14F-4D97-AF65-F5344CB8AC3E}">
        <p14:creationId xmlns:p14="http://schemas.microsoft.com/office/powerpoint/2010/main" val="786417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E103-3EB3-7D8B-F7EF-D897726F401A}"/>
              </a:ext>
            </a:extLst>
          </p:cNvPr>
          <p:cNvSpPr>
            <a:spLocks noGrp="1"/>
          </p:cNvSpPr>
          <p:nvPr>
            <p:ph type="title"/>
          </p:nvPr>
        </p:nvSpPr>
        <p:spPr>
          <a:xfrm>
            <a:off x="838200" y="365125"/>
            <a:ext cx="10515600" cy="1325563"/>
          </a:xfrm>
        </p:spPr>
        <p:txBody>
          <a:bodyPr/>
          <a:lstStyle/>
          <a:p>
            <a:r>
              <a:rPr lang="en-US" dirty="0"/>
              <a:t>1.5 Provide examples</a:t>
            </a:r>
          </a:p>
        </p:txBody>
      </p:sp>
      <p:sp>
        <p:nvSpPr>
          <p:cNvPr id="3" name="Content Placeholder 2">
            <a:extLst>
              <a:ext uri="{FF2B5EF4-FFF2-40B4-BE49-F238E27FC236}">
                <a16:creationId xmlns:a16="http://schemas.microsoft.com/office/drawing/2014/main" id="{D3E714E9-7C4F-7B1F-C4C3-C8B1C7466D1C}"/>
              </a:ext>
            </a:extLst>
          </p:cNvPr>
          <p:cNvSpPr>
            <a:spLocks noGrp="1"/>
          </p:cNvSpPr>
          <p:nvPr>
            <p:ph idx="1"/>
          </p:nvPr>
        </p:nvSpPr>
        <p:spPr>
          <a:xfrm>
            <a:off x="838200" y="1825625"/>
            <a:ext cx="10515600" cy="4351338"/>
          </a:xfrm>
        </p:spPr>
        <p:txBody>
          <a:bodyPr>
            <a:normAutofit fontScale="77500" lnSpcReduction="20000"/>
          </a:bodyPr>
          <a:lstStyle/>
          <a:p>
            <a:r>
              <a:rPr lang="en-HK" dirty="0"/>
              <a:t>Providing general instructions that apply to all examples is generally more efficient than demonstrating all permutations of a task by example, but in some cases providing examples may be easier.</a:t>
            </a:r>
          </a:p>
          <a:p>
            <a:r>
              <a:rPr lang="en-HK" dirty="0"/>
              <a:t>SYSTEM</a:t>
            </a:r>
          </a:p>
          <a:p>
            <a:pPr marL="0" indent="0">
              <a:buNone/>
            </a:pPr>
            <a:r>
              <a:rPr lang="en-HK" dirty="0"/>
              <a:t>Answer in a consistent style. </a:t>
            </a:r>
          </a:p>
          <a:p>
            <a:r>
              <a:rPr lang="en-HK" dirty="0"/>
              <a:t>USER</a:t>
            </a:r>
          </a:p>
          <a:p>
            <a:pPr marL="0" indent="0">
              <a:buNone/>
            </a:pPr>
            <a:r>
              <a:rPr lang="en-HK" dirty="0"/>
              <a:t>Teach me about patience. </a:t>
            </a:r>
          </a:p>
          <a:p>
            <a:pPr marL="0" indent="0">
              <a:buNone/>
            </a:pPr>
            <a:r>
              <a:rPr lang="en-HK" dirty="0"/>
              <a:t>ASSISTANT</a:t>
            </a:r>
          </a:p>
          <a:p>
            <a:pPr marL="0" indent="0">
              <a:buNone/>
            </a:pPr>
            <a:r>
              <a:rPr lang="en-HK" dirty="0"/>
              <a:t>The river that carves the deepest valley flows from a modest spring; the grandest symphony originates from a single note; the most intricate tapestry begins with a solitary thread. </a:t>
            </a:r>
          </a:p>
          <a:p>
            <a:pPr marL="0" indent="0">
              <a:buNone/>
            </a:pPr>
            <a:r>
              <a:rPr lang="en-HK" dirty="0"/>
              <a:t>USER</a:t>
            </a:r>
          </a:p>
          <a:p>
            <a:pPr marL="0" indent="0">
              <a:buNone/>
            </a:pPr>
            <a:r>
              <a:rPr lang="en-HK" dirty="0"/>
              <a:t>Teach me about the ocean.</a:t>
            </a:r>
          </a:p>
        </p:txBody>
      </p:sp>
      <p:sp>
        <p:nvSpPr>
          <p:cNvPr id="4" name="Slide Number Placeholder 3">
            <a:extLst>
              <a:ext uri="{FF2B5EF4-FFF2-40B4-BE49-F238E27FC236}">
                <a16:creationId xmlns:a16="http://schemas.microsoft.com/office/drawing/2014/main" id="{6CC188B0-B5A4-F06E-5C14-50E2CD1F1424}"/>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39</a:t>
            </a:fld>
            <a:endParaRPr lang="en-HK"/>
          </a:p>
        </p:txBody>
      </p:sp>
    </p:spTree>
    <p:extLst>
      <p:ext uri="{BB962C8B-B14F-4D97-AF65-F5344CB8AC3E}">
        <p14:creationId xmlns:p14="http://schemas.microsoft.com/office/powerpoint/2010/main" val="2485087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EE986-2524-A694-860F-1BDAA88F8385}"/>
              </a:ext>
            </a:extLst>
          </p:cNvPr>
          <p:cNvSpPr>
            <a:spLocks noGrp="1"/>
          </p:cNvSpPr>
          <p:nvPr>
            <p:ph type="title"/>
          </p:nvPr>
        </p:nvSpPr>
        <p:spPr>
          <a:xfrm>
            <a:off x="838200" y="365125"/>
            <a:ext cx="10515600" cy="1325563"/>
          </a:xfrm>
        </p:spPr>
        <p:txBody>
          <a:bodyPr/>
          <a:lstStyle/>
          <a:p>
            <a:r>
              <a:rPr lang="en-US" dirty="0"/>
              <a:t>1.6 Specify the desired length of the output</a:t>
            </a:r>
          </a:p>
        </p:txBody>
      </p:sp>
      <p:sp>
        <p:nvSpPr>
          <p:cNvPr id="3" name="Content Placeholder 2">
            <a:extLst>
              <a:ext uri="{FF2B5EF4-FFF2-40B4-BE49-F238E27FC236}">
                <a16:creationId xmlns:a16="http://schemas.microsoft.com/office/drawing/2014/main" id="{122E06FF-67AD-AF43-2BC2-2F58EE408C1C}"/>
              </a:ext>
            </a:extLst>
          </p:cNvPr>
          <p:cNvSpPr>
            <a:spLocks noGrp="1"/>
          </p:cNvSpPr>
          <p:nvPr>
            <p:ph idx="1"/>
          </p:nvPr>
        </p:nvSpPr>
        <p:spPr>
          <a:xfrm>
            <a:off x="838200" y="1825625"/>
            <a:ext cx="10515600" cy="4351338"/>
          </a:xfrm>
        </p:spPr>
        <p:txBody>
          <a:bodyPr/>
          <a:lstStyle/>
          <a:p>
            <a:r>
              <a:rPr lang="en-HK" dirty="0"/>
              <a:t>USER</a:t>
            </a:r>
          </a:p>
          <a:p>
            <a:pPr marL="0" indent="0">
              <a:buNone/>
            </a:pPr>
            <a:r>
              <a:rPr lang="en-HK" dirty="0"/>
              <a:t>Summarize the text delimited by triple quotes in </a:t>
            </a:r>
            <a:r>
              <a:rPr lang="en-HK" dirty="0">
                <a:solidFill>
                  <a:schemeClr val="accent2"/>
                </a:solidFill>
              </a:rPr>
              <a:t>about 50 words</a:t>
            </a:r>
            <a:r>
              <a:rPr lang="en-HK" dirty="0"/>
              <a:t>. """insert text here"""</a:t>
            </a:r>
          </a:p>
          <a:p>
            <a:r>
              <a:rPr lang="en-HK" dirty="0"/>
              <a:t>USER</a:t>
            </a:r>
          </a:p>
          <a:p>
            <a:pPr marL="0" indent="0">
              <a:buNone/>
            </a:pPr>
            <a:r>
              <a:rPr lang="en-HK" dirty="0"/>
              <a:t>Summarize the text delimited by triple quotes in 2 paragraphs. """insert text here"""</a:t>
            </a:r>
          </a:p>
          <a:p>
            <a:r>
              <a:rPr lang="en-HK" dirty="0"/>
              <a:t>USER</a:t>
            </a:r>
          </a:p>
          <a:p>
            <a:pPr marL="0" indent="0">
              <a:buNone/>
            </a:pPr>
            <a:r>
              <a:rPr lang="en-HK" dirty="0"/>
              <a:t>Summarize the text delimited by triple quotes in 3 bullet points. """insert text here"""</a:t>
            </a:r>
          </a:p>
          <a:p>
            <a:endParaRPr lang="en-US" dirty="0"/>
          </a:p>
        </p:txBody>
      </p:sp>
      <p:sp>
        <p:nvSpPr>
          <p:cNvPr id="4" name="Slide Number Placeholder 3">
            <a:extLst>
              <a:ext uri="{FF2B5EF4-FFF2-40B4-BE49-F238E27FC236}">
                <a16:creationId xmlns:a16="http://schemas.microsoft.com/office/drawing/2014/main" id="{7438CB2F-96EF-5C04-BC67-9FB62746C596}"/>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40</a:t>
            </a:fld>
            <a:endParaRPr lang="en-HK"/>
          </a:p>
        </p:txBody>
      </p:sp>
    </p:spTree>
    <p:extLst>
      <p:ext uri="{BB962C8B-B14F-4D97-AF65-F5344CB8AC3E}">
        <p14:creationId xmlns:p14="http://schemas.microsoft.com/office/powerpoint/2010/main" val="972424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054F-2FC4-18DE-E87A-4FFBD2FEF984}"/>
              </a:ext>
            </a:extLst>
          </p:cNvPr>
          <p:cNvSpPr>
            <a:spLocks noGrp="1"/>
          </p:cNvSpPr>
          <p:nvPr>
            <p:ph type="title"/>
          </p:nvPr>
        </p:nvSpPr>
        <p:spPr>
          <a:xfrm>
            <a:off x="838200" y="365125"/>
            <a:ext cx="10515600" cy="1325563"/>
          </a:xfrm>
        </p:spPr>
        <p:txBody>
          <a:bodyPr/>
          <a:lstStyle/>
          <a:p>
            <a:r>
              <a:rPr lang="en-US" dirty="0"/>
              <a:t>2. </a:t>
            </a:r>
            <a:r>
              <a:rPr lang="en-HK" dirty="0"/>
              <a:t>Provide Reference Text</a:t>
            </a:r>
            <a:endParaRPr lang="en-US" dirty="0"/>
          </a:p>
        </p:txBody>
      </p:sp>
      <p:sp>
        <p:nvSpPr>
          <p:cNvPr id="3" name="Content Placeholder 2">
            <a:extLst>
              <a:ext uri="{FF2B5EF4-FFF2-40B4-BE49-F238E27FC236}">
                <a16:creationId xmlns:a16="http://schemas.microsoft.com/office/drawing/2014/main" id="{E8837793-26AC-032D-DDFC-4E1239ADA26E}"/>
              </a:ext>
            </a:extLst>
          </p:cNvPr>
          <p:cNvSpPr>
            <a:spLocks noGrp="1"/>
          </p:cNvSpPr>
          <p:nvPr>
            <p:ph idx="1"/>
          </p:nvPr>
        </p:nvSpPr>
        <p:spPr>
          <a:xfrm>
            <a:off x="838200" y="1825625"/>
            <a:ext cx="10515600" cy="4351338"/>
          </a:xfrm>
        </p:spPr>
        <p:txBody>
          <a:bodyPr/>
          <a:lstStyle/>
          <a:p>
            <a:r>
              <a:rPr lang="en-HK" dirty="0"/>
              <a:t>Reduce fabrications by providing trusted information</a:t>
            </a:r>
          </a:p>
          <a:p>
            <a:r>
              <a:rPr lang="en-HK" dirty="0"/>
              <a:t>Tactics</a:t>
            </a:r>
          </a:p>
          <a:p>
            <a:pPr marL="914400" lvl="1" indent="-457200">
              <a:buFont typeface="+mj-lt"/>
              <a:buAutoNum type="arabicPeriod"/>
            </a:pPr>
            <a:r>
              <a:rPr lang="en-HK" dirty="0"/>
              <a:t>Instruct the model to answer using a reference text.</a:t>
            </a:r>
          </a:p>
          <a:p>
            <a:pPr marL="914400" lvl="1" indent="-457200">
              <a:buFont typeface="+mj-lt"/>
              <a:buAutoNum type="arabicPeriod"/>
            </a:pPr>
            <a:r>
              <a:rPr lang="en-HK" dirty="0"/>
              <a:t>Instruct the model to answer with citations from a reference text.</a:t>
            </a:r>
          </a:p>
          <a:p>
            <a:endParaRPr lang="en-US" dirty="0"/>
          </a:p>
        </p:txBody>
      </p:sp>
      <p:sp>
        <p:nvSpPr>
          <p:cNvPr id="4" name="Slide Number Placeholder 3">
            <a:extLst>
              <a:ext uri="{FF2B5EF4-FFF2-40B4-BE49-F238E27FC236}">
                <a16:creationId xmlns:a16="http://schemas.microsoft.com/office/drawing/2014/main" id="{1DBBB484-D935-B39D-BD3E-53C9C567C6D1}"/>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41</a:t>
            </a:fld>
            <a:endParaRPr lang="en-HK"/>
          </a:p>
        </p:txBody>
      </p:sp>
    </p:spTree>
    <p:extLst>
      <p:ext uri="{BB962C8B-B14F-4D97-AF65-F5344CB8AC3E}">
        <p14:creationId xmlns:p14="http://schemas.microsoft.com/office/powerpoint/2010/main" val="2469927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E6ED-2A2B-5C11-976D-06161B42372D}"/>
              </a:ext>
            </a:extLst>
          </p:cNvPr>
          <p:cNvSpPr>
            <a:spLocks noGrp="1"/>
          </p:cNvSpPr>
          <p:nvPr>
            <p:ph type="title"/>
          </p:nvPr>
        </p:nvSpPr>
        <p:spPr>
          <a:xfrm>
            <a:off x="838200" y="365125"/>
            <a:ext cx="10515600" cy="1325563"/>
          </a:xfrm>
        </p:spPr>
        <p:txBody>
          <a:bodyPr>
            <a:normAutofit/>
          </a:bodyPr>
          <a:lstStyle/>
          <a:p>
            <a:r>
              <a:rPr lang="en-US" dirty="0"/>
              <a:t>2.1 Instruct the model to answer using a reference text</a:t>
            </a:r>
          </a:p>
        </p:txBody>
      </p:sp>
      <p:sp>
        <p:nvSpPr>
          <p:cNvPr id="3" name="Content Placeholder 2">
            <a:extLst>
              <a:ext uri="{FF2B5EF4-FFF2-40B4-BE49-F238E27FC236}">
                <a16:creationId xmlns:a16="http://schemas.microsoft.com/office/drawing/2014/main" id="{7F30128B-8787-91B9-E4DE-E0D24714E61B}"/>
              </a:ext>
            </a:extLst>
          </p:cNvPr>
          <p:cNvSpPr>
            <a:spLocks noGrp="1"/>
          </p:cNvSpPr>
          <p:nvPr>
            <p:ph idx="1"/>
          </p:nvPr>
        </p:nvSpPr>
        <p:spPr>
          <a:xfrm>
            <a:off x="838200" y="1825625"/>
            <a:ext cx="10515600" cy="4351338"/>
          </a:xfrm>
        </p:spPr>
        <p:txBody>
          <a:bodyPr>
            <a:normAutofit lnSpcReduction="10000"/>
          </a:bodyPr>
          <a:lstStyle/>
          <a:p>
            <a:r>
              <a:rPr lang="en-HK" dirty="0"/>
              <a:t>If we can provide a model with trusted information that is relevant to the current query, then we can instruct the model to use the provided information to compose its answer.</a:t>
            </a:r>
            <a:endParaRPr lang="en-US" dirty="0"/>
          </a:p>
          <a:p>
            <a:r>
              <a:rPr lang="en-HK" dirty="0"/>
              <a:t>SYSTEM</a:t>
            </a:r>
          </a:p>
          <a:p>
            <a:pPr marL="0" indent="0">
              <a:buNone/>
            </a:pPr>
            <a:r>
              <a:rPr lang="en-HK" dirty="0"/>
              <a:t>Use the provided articles delimited by triple quotes to answer questions. If the answer cannot be found in the articles, write "I could not find an answer." </a:t>
            </a:r>
          </a:p>
          <a:p>
            <a:r>
              <a:rPr lang="en-HK" dirty="0"/>
              <a:t>USER</a:t>
            </a:r>
          </a:p>
          <a:p>
            <a:pPr marL="0" indent="0">
              <a:buNone/>
            </a:pPr>
            <a:r>
              <a:rPr lang="en-HK" dirty="0"/>
              <a:t>&lt;insert articles, each delimited by triple quotes&gt; </a:t>
            </a:r>
          </a:p>
          <a:p>
            <a:pPr marL="0" indent="0">
              <a:buNone/>
            </a:pPr>
            <a:r>
              <a:rPr lang="en-HK" dirty="0"/>
              <a:t>Question: &lt;insert question here&gt;</a:t>
            </a:r>
          </a:p>
          <a:p>
            <a:endParaRPr lang="en-US" dirty="0"/>
          </a:p>
        </p:txBody>
      </p:sp>
      <p:sp>
        <p:nvSpPr>
          <p:cNvPr id="4" name="Slide Number Placeholder 3">
            <a:extLst>
              <a:ext uri="{FF2B5EF4-FFF2-40B4-BE49-F238E27FC236}">
                <a16:creationId xmlns:a16="http://schemas.microsoft.com/office/drawing/2014/main" id="{105A0E5E-B2EA-C3A0-9D20-C8341CB77BD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42</a:t>
            </a:fld>
            <a:endParaRPr lang="en-HK"/>
          </a:p>
        </p:txBody>
      </p:sp>
    </p:spTree>
    <p:extLst>
      <p:ext uri="{BB962C8B-B14F-4D97-AF65-F5344CB8AC3E}">
        <p14:creationId xmlns:p14="http://schemas.microsoft.com/office/powerpoint/2010/main" val="817049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07A2-2A38-E710-85D7-66E0BD59BE13}"/>
              </a:ext>
            </a:extLst>
          </p:cNvPr>
          <p:cNvSpPr>
            <a:spLocks noGrp="1"/>
          </p:cNvSpPr>
          <p:nvPr>
            <p:ph type="title"/>
          </p:nvPr>
        </p:nvSpPr>
        <p:spPr>
          <a:xfrm>
            <a:off x="838200" y="365125"/>
            <a:ext cx="10515600" cy="1325563"/>
          </a:xfrm>
        </p:spPr>
        <p:txBody>
          <a:bodyPr>
            <a:normAutofit/>
          </a:bodyPr>
          <a:lstStyle/>
          <a:p>
            <a:r>
              <a:rPr lang="en-US" dirty="0"/>
              <a:t>2.2 Instruct the model to answer with citations from a reference text</a:t>
            </a:r>
          </a:p>
        </p:txBody>
      </p:sp>
      <p:sp>
        <p:nvSpPr>
          <p:cNvPr id="3" name="Content Placeholder 2">
            <a:extLst>
              <a:ext uri="{FF2B5EF4-FFF2-40B4-BE49-F238E27FC236}">
                <a16:creationId xmlns:a16="http://schemas.microsoft.com/office/drawing/2014/main" id="{AEC19EEA-A03E-4F10-49FA-CC9D9D6E75EF}"/>
              </a:ext>
            </a:extLst>
          </p:cNvPr>
          <p:cNvSpPr>
            <a:spLocks noGrp="1"/>
          </p:cNvSpPr>
          <p:nvPr>
            <p:ph idx="1"/>
          </p:nvPr>
        </p:nvSpPr>
        <p:spPr>
          <a:xfrm>
            <a:off x="838200" y="1825625"/>
            <a:ext cx="10515600" cy="4351338"/>
          </a:xfrm>
        </p:spPr>
        <p:txBody>
          <a:bodyPr>
            <a:normAutofit fontScale="92500" lnSpcReduction="10000"/>
          </a:bodyPr>
          <a:lstStyle/>
          <a:p>
            <a:r>
              <a:rPr lang="en-HK" dirty="0"/>
              <a:t>SYSTEM</a:t>
            </a:r>
          </a:p>
          <a:p>
            <a:pPr marL="0" indent="0">
              <a:buNone/>
            </a:pPr>
            <a:r>
              <a:rPr lang="en-HK" dirty="0"/>
              <a:t>You will be provided with a document delimited by triple quotes and a question. Your task is to answer the question using only the provided document and to cite the passage(s) of the document used to answer the question. If the document does not contain the information needed to answer this question then simply write: "Insufficient information." If an answer to the question is provided, it must be annotated with a citation. Use the following format for to cite relevant passages ({"citation": …}). </a:t>
            </a:r>
          </a:p>
          <a:p>
            <a:r>
              <a:rPr lang="en-HK" dirty="0"/>
              <a:t>USER</a:t>
            </a:r>
          </a:p>
          <a:p>
            <a:pPr marL="0" indent="0">
              <a:buNone/>
            </a:pPr>
            <a:r>
              <a:rPr lang="en-HK" dirty="0"/>
              <a:t>"""&lt;insert document here&gt;""" </a:t>
            </a:r>
          </a:p>
          <a:p>
            <a:pPr marL="0" indent="0">
              <a:buNone/>
            </a:pPr>
            <a:r>
              <a:rPr lang="en-HK" dirty="0"/>
              <a:t>Question: &lt;insert question here&gt;</a:t>
            </a:r>
          </a:p>
          <a:p>
            <a:endParaRPr lang="en-US" dirty="0"/>
          </a:p>
        </p:txBody>
      </p:sp>
      <p:sp>
        <p:nvSpPr>
          <p:cNvPr id="4" name="Slide Number Placeholder 3">
            <a:extLst>
              <a:ext uri="{FF2B5EF4-FFF2-40B4-BE49-F238E27FC236}">
                <a16:creationId xmlns:a16="http://schemas.microsoft.com/office/drawing/2014/main" id="{980604C1-BA09-F470-E420-16AEE89BD6E8}"/>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43</a:t>
            </a:fld>
            <a:endParaRPr lang="en-HK"/>
          </a:p>
        </p:txBody>
      </p:sp>
    </p:spTree>
    <p:extLst>
      <p:ext uri="{BB962C8B-B14F-4D97-AF65-F5344CB8AC3E}">
        <p14:creationId xmlns:p14="http://schemas.microsoft.com/office/powerpoint/2010/main" val="2318218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522D-EB28-E4F3-FA60-81F7A42B70DF}"/>
              </a:ext>
            </a:extLst>
          </p:cNvPr>
          <p:cNvSpPr>
            <a:spLocks noGrp="1"/>
          </p:cNvSpPr>
          <p:nvPr>
            <p:ph type="title"/>
          </p:nvPr>
        </p:nvSpPr>
        <p:spPr>
          <a:xfrm>
            <a:off x="838200" y="365125"/>
            <a:ext cx="10515600" cy="1325563"/>
          </a:xfrm>
        </p:spPr>
        <p:txBody>
          <a:bodyPr/>
          <a:lstStyle/>
          <a:p>
            <a:r>
              <a:rPr lang="en-US" dirty="0"/>
              <a:t>3. </a:t>
            </a:r>
            <a:r>
              <a:rPr lang="en-HK" dirty="0"/>
              <a:t>Split Complex Tasks into Simpler Subtasks</a:t>
            </a:r>
            <a:endParaRPr lang="en-US" dirty="0"/>
          </a:p>
        </p:txBody>
      </p:sp>
      <p:sp>
        <p:nvSpPr>
          <p:cNvPr id="3" name="Content Placeholder 2">
            <a:extLst>
              <a:ext uri="{FF2B5EF4-FFF2-40B4-BE49-F238E27FC236}">
                <a16:creationId xmlns:a16="http://schemas.microsoft.com/office/drawing/2014/main" id="{41A9FDF3-995B-8D9A-3DFB-9820DA9D25B3}"/>
              </a:ext>
            </a:extLst>
          </p:cNvPr>
          <p:cNvSpPr>
            <a:spLocks noGrp="1"/>
          </p:cNvSpPr>
          <p:nvPr>
            <p:ph idx="1"/>
          </p:nvPr>
        </p:nvSpPr>
        <p:spPr>
          <a:xfrm>
            <a:off x="838200" y="1825625"/>
            <a:ext cx="10515600" cy="4351338"/>
          </a:xfrm>
        </p:spPr>
        <p:txBody>
          <a:bodyPr/>
          <a:lstStyle/>
          <a:p>
            <a:r>
              <a:rPr lang="en-HK" dirty="0"/>
              <a:t>Simplifies tasks, reducing error rates</a:t>
            </a:r>
          </a:p>
          <a:p>
            <a:r>
              <a:rPr lang="en-HK" dirty="0"/>
              <a:t>Tactics:</a:t>
            </a:r>
          </a:p>
          <a:p>
            <a:pPr marL="914400" lvl="1" indent="-457200">
              <a:buFont typeface="+mj-lt"/>
              <a:buAutoNum type="arabicPeriod"/>
            </a:pPr>
            <a:r>
              <a:rPr lang="en-HK" dirty="0"/>
              <a:t>Use intent classification to identify the most relevant instructions for a user query.</a:t>
            </a:r>
          </a:p>
          <a:p>
            <a:pPr marL="914400" lvl="1" indent="-457200">
              <a:buFont typeface="+mj-lt"/>
              <a:buAutoNum type="arabicPeriod"/>
            </a:pPr>
            <a:r>
              <a:rPr lang="en-HK" dirty="0"/>
              <a:t>For dialogue applications that require very long conversations, summarize or filter previous dialogue.</a:t>
            </a:r>
          </a:p>
          <a:p>
            <a:pPr marL="914400" lvl="1" indent="-457200">
              <a:buFont typeface="+mj-lt"/>
              <a:buAutoNum type="arabicPeriod"/>
            </a:pPr>
            <a:r>
              <a:rPr lang="en-HK" dirty="0"/>
              <a:t>Summarize long documents piecewise and construct a full summary recursively.</a:t>
            </a:r>
          </a:p>
          <a:p>
            <a:endParaRPr lang="en-US" dirty="0"/>
          </a:p>
        </p:txBody>
      </p:sp>
      <p:sp>
        <p:nvSpPr>
          <p:cNvPr id="4" name="Slide Number Placeholder 3">
            <a:extLst>
              <a:ext uri="{FF2B5EF4-FFF2-40B4-BE49-F238E27FC236}">
                <a16:creationId xmlns:a16="http://schemas.microsoft.com/office/drawing/2014/main" id="{F2A1C4A0-F83D-B04C-52CC-EBD06D4F2AD7}"/>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44</a:t>
            </a:fld>
            <a:endParaRPr lang="en-HK"/>
          </a:p>
        </p:txBody>
      </p:sp>
    </p:spTree>
    <p:extLst>
      <p:ext uri="{BB962C8B-B14F-4D97-AF65-F5344CB8AC3E}">
        <p14:creationId xmlns:p14="http://schemas.microsoft.com/office/powerpoint/2010/main" val="2282627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B535-EF4A-DF41-C237-6772F99E1DD2}"/>
              </a:ext>
            </a:extLst>
          </p:cNvPr>
          <p:cNvSpPr>
            <a:spLocks noGrp="1"/>
          </p:cNvSpPr>
          <p:nvPr>
            <p:ph type="title"/>
          </p:nvPr>
        </p:nvSpPr>
        <p:spPr>
          <a:xfrm>
            <a:off x="838200" y="365125"/>
            <a:ext cx="10515600" cy="1325563"/>
          </a:xfrm>
        </p:spPr>
        <p:txBody>
          <a:bodyPr/>
          <a:lstStyle/>
          <a:p>
            <a:r>
              <a:rPr lang="en-US" dirty="0"/>
              <a:t>3.1 Split complex tasks into simpler subtasks</a:t>
            </a:r>
          </a:p>
        </p:txBody>
      </p:sp>
      <p:sp>
        <p:nvSpPr>
          <p:cNvPr id="3" name="Content Placeholder 2">
            <a:extLst>
              <a:ext uri="{FF2B5EF4-FFF2-40B4-BE49-F238E27FC236}">
                <a16:creationId xmlns:a16="http://schemas.microsoft.com/office/drawing/2014/main" id="{55B69B3A-2D04-A62D-BBB7-36C39468D403}"/>
              </a:ext>
            </a:extLst>
          </p:cNvPr>
          <p:cNvSpPr>
            <a:spLocks noGrp="1"/>
          </p:cNvSpPr>
          <p:nvPr>
            <p:ph idx="1"/>
          </p:nvPr>
        </p:nvSpPr>
        <p:spPr>
          <a:xfrm>
            <a:off x="838200" y="1825625"/>
            <a:ext cx="10515600" cy="4351338"/>
          </a:xfrm>
        </p:spPr>
        <p:txBody>
          <a:bodyPr>
            <a:normAutofit fontScale="70000" lnSpcReduction="20000"/>
          </a:bodyPr>
          <a:lstStyle/>
          <a:p>
            <a:r>
              <a:rPr lang="en-HK" dirty="0"/>
              <a:t>SYSTEM</a:t>
            </a:r>
          </a:p>
          <a:p>
            <a:pPr marL="0" indent="0">
              <a:buNone/>
            </a:pPr>
            <a:r>
              <a:rPr lang="en-HK" dirty="0"/>
              <a:t>You will be provided with customer service queries. Classify each query into a primary category and a secondary category. Provide your output in </a:t>
            </a:r>
            <a:r>
              <a:rPr lang="en-HK" dirty="0" err="1"/>
              <a:t>json</a:t>
            </a:r>
            <a:r>
              <a:rPr lang="en-HK" dirty="0"/>
              <a:t> format with the keys: primary and secondary. </a:t>
            </a:r>
          </a:p>
          <a:p>
            <a:pPr marL="0" indent="0">
              <a:buNone/>
            </a:pPr>
            <a:r>
              <a:rPr lang="en-HK" dirty="0"/>
              <a:t>Primary categories: Billing, Technical Support, Account Management, or General Inquiry. </a:t>
            </a:r>
          </a:p>
          <a:p>
            <a:pPr marL="0" indent="0">
              <a:buNone/>
            </a:pPr>
            <a:r>
              <a:rPr lang="en-HK" dirty="0"/>
              <a:t>Billing secondary categories: - Unsubscribe or upgrade - Add a payment method - Explanation for charge - Dispute a charge </a:t>
            </a:r>
          </a:p>
          <a:p>
            <a:pPr marL="0" indent="0">
              <a:buNone/>
            </a:pPr>
            <a:r>
              <a:rPr lang="en-HK" dirty="0"/>
              <a:t>Technical Support secondary categories: - Troubleshooting - Device compatibility - Software updates </a:t>
            </a:r>
          </a:p>
          <a:p>
            <a:pPr marL="0" indent="0">
              <a:buNone/>
            </a:pPr>
            <a:r>
              <a:rPr lang="en-HK" dirty="0"/>
              <a:t>Account Management secondary categories: - Password reset - Update personal information - Close account - Account security </a:t>
            </a:r>
          </a:p>
          <a:p>
            <a:pPr marL="0" indent="0">
              <a:buNone/>
            </a:pPr>
            <a:r>
              <a:rPr lang="en-HK" dirty="0"/>
              <a:t>General Inquiry secondary categories: - Product information - Pricing - Feedback - Speak to a human </a:t>
            </a:r>
          </a:p>
          <a:p>
            <a:r>
              <a:rPr lang="en-HK" dirty="0"/>
              <a:t>USER</a:t>
            </a:r>
          </a:p>
          <a:p>
            <a:pPr marL="0" indent="0">
              <a:buNone/>
            </a:pPr>
            <a:r>
              <a:rPr lang="en-HK" dirty="0"/>
              <a:t>I need to get my internet working again.</a:t>
            </a:r>
          </a:p>
        </p:txBody>
      </p:sp>
      <p:sp>
        <p:nvSpPr>
          <p:cNvPr id="4" name="Slide Number Placeholder 3">
            <a:extLst>
              <a:ext uri="{FF2B5EF4-FFF2-40B4-BE49-F238E27FC236}">
                <a16:creationId xmlns:a16="http://schemas.microsoft.com/office/drawing/2014/main" id="{91C19961-61A1-3A80-2B06-2748292A7EE1}"/>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45</a:t>
            </a:fld>
            <a:endParaRPr lang="en-HK"/>
          </a:p>
        </p:txBody>
      </p:sp>
    </p:spTree>
    <p:extLst>
      <p:ext uri="{BB962C8B-B14F-4D97-AF65-F5344CB8AC3E}">
        <p14:creationId xmlns:p14="http://schemas.microsoft.com/office/powerpoint/2010/main" val="36294838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3B8E-14F4-6BE1-D01B-8C26D60DAAB4}"/>
              </a:ext>
            </a:extLst>
          </p:cNvPr>
          <p:cNvSpPr>
            <a:spLocks noGrp="1"/>
          </p:cNvSpPr>
          <p:nvPr>
            <p:ph type="title"/>
          </p:nvPr>
        </p:nvSpPr>
        <p:spPr>
          <a:xfrm>
            <a:off x="838200" y="365125"/>
            <a:ext cx="10515600" cy="1325563"/>
          </a:xfrm>
        </p:spPr>
        <p:txBody>
          <a:bodyPr/>
          <a:lstStyle/>
          <a:p>
            <a:r>
              <a:rPr lang="en-US" dirty="0"/>
              <a:t>3.1 Split complex tasks into simpler subtasks</a:t>
            </a:r>
          </a:p>
        </p:txBody>
      </p:sp>
      <p:sp>
        <p:nvSpPr>
          <p:cNvPr id="3" name="Content Placeholder 2">
            <a:extLst>
              <a:ext uri="{FF2B5EF4-FFF2-40B4-BE49-F238E27FC236}">
                <a16:creationId xmlns:a16="http://schemas.microsoft.com/office/drawing/2014/main" id="{E63B2C25-F01D-6A61-779C-41964DD1D34C}"/>
              </a:ext>
            </a:extLst>
          </p:cNvPr>
          <p:cNvSpPr>
            <a:spLocks noGrp="1"/>
          </p:cNvSpPr>
          <p:nvPr>
            <p:ph idx="1"/>
          </p:nvPr>
        </p:nvSpPr>
        <p:spPr>
          <a:xfrm>
            <a:off x="838200" y="1825625"/>
            <a:ext cx="10515600" cy="4351338"/>
          </a:xfrm>
        </p:spPr>
        <p:txBody>
          <a:bodyPr>
            <a:normAutofit fontScale="70000" lnSpcReduction="20000"/>
          </a:bodyPr>
          <a:lstStyle/>
          <a:p>
            <a:r>
              <a:rPr lang="en-HK" dirty="0"/>
              <a:t>SYSTEM</a:t>
            </a:r>
          </a:p>
          <a:p>
            <a:pPr marL="0" indent="0">
              <a:buNone/>
            </a:pPr>
            <a:r>
              <a:rPr lang="en-HK" dirty="0"/>
              <a:t>You will be provided with customer service inquiries that require troubleshooting in a technical support context. </a:t>
            </a:r>
          </a:p>
          <a:p>
            <a:pPr marL="0" indent="0">
              <a:buNone/>
            </a:pPr>
            <a:r>
              <a:rPr lang="en-HK" dirty="0"/>
              <a:t>Help the user by: - Ask them to check that all cables to/from the router are connected. Note that it is common for cables to come loose over time. - If all cables are connected and the issue persists, ask them which router model they are using - Now you will advise them how to restart their device: -- If the model number is MTD-327J, advise them to push the red button and hold it for 5 seconds, then wait 5 minutes before testing the connection. -- If the model number is MTD-327S, advise them to unplug and </a:t>
            </a:r>
            <a:r>
              <a:rPr lang="en-HK" dirty="0" err="1"/>
              <a:t>replug</a:t>
            </a:r>
            <a:r>
              <a:rPr lang="en-HK" dirty="0"/>
              <a:t> it, then wait 5 minutes before testing the connection. - If the customer's issue persists after restarting the device and waiting 5 minutes, connect them to IT support by outputting {"IT support requested"}. - If the user starts asking questions that are unrelated to this topic then confirm if they would like to end the current chat about troubleshooting and classify their request according to the following scheme: </a:t>
            </a:r>
            <a:r>
              <a:rPr lang="en-HK" dirty="0">
                <a:solidFill>
                  <a:schemeClr val="accent2"/>
                </a:solidFill>
              </a:rPr>
              <a:t>&lt;insert primary/secondary classification scheme from above here&gt;</a:t>
            </a:r>
            <a:r>
              <a:rPr lang="en-HK" dirty="0"/>
              <a:t> </a:t>
            </a:r>
          </a:p>
          <a:p>
            <a:r>
              <a:rPr lang="en-HK" dirty="0"/>
              <a:t>USER</a:t>
            </a:r>
          </a:p>
          <a:p>
            <a:pPr marL="0" indent="0">
              <a:buNone/>
            </a:pPr>
            <a:r>
              <a:rPr lang="en-HK" dirty="0"/>
              <a:t>I need to get my internet working again.</a:t>
            </a:r>
          </a:p>
        </p:txBody>
      </p:sp>
      <p:sp>
        <p:nvSpPr>
          <p:cNvPr id="4" name="Slide Number Placeholder 3">
            <a:extLst>
              <a:ext uri="{FF2B5EF4-FFF2-40B4-BE49-F238E27FC236}">
                <a16:creationId xmlns:a16="http://schemas.microsoft.com/office/drawing/2014/main" id="{2F4D2054-53A6-9E1E-D5A9-760363A19BB1}"/>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46</a:t>
            </a:fld>
            <a:endParaRPr lang="en-HK"/>
          </a:p>
        </p:txBody>
      </p:sp>
    </p:spTree>
    <p:extLst>
      <p:ext uri="{BB962C8B-B14F-4D97-AF65-F5344CB8AC3E}">
        <p14:creationId xmlns:p14="http://schemas.microsoft.com/office/powerpoint/2010/main" val="1978578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56CF-92DF-E1D6-0B55-20A5A8BF638C}"/>
              </a:ext>
            </a:extLst>
          </p:cNvPr>
          <p:cNvSpPr>
            <a:spLocks noGrp="1"/>
          </p:cNvSpPr>
          <p:nvPr>
            <p:ph type="title"/>
          </p:nvPr>
        </p:nvSpPr>
        <p:spPr>
          <a:xfrm>
            <a:off x="838200" y="365125"/>
            <a:ext cx="10515600" cy="1325563"/>
          </a:xfrm>
        </p:spPr>
        <p:txBody>
          <a:bodyPr>
            <a:normAutofit fontScale="90000"/>
          </a:bodyPr>
          <a:lstStyle/>
          <a:p>
            <a:r>
              <a:rPr lang="en-US" altLang="zh-CN" dirty="0"/>
              <a:t>3.2</a:t>
            </a:r>
            <a:r>
              <a:rPr lang="zh-CN" altLang="en-US" dirty="0"/>
              <a:t> </a:t>
            </a:r>
            <a:r>
              <a:rPr lang="en-HK" altLang="zh-CN" dirty="0"/>
              <a:t>For dialogue applications that require very long conversations, summarize or filter previous dialogue</a:t>
            </a:r>
            <a:endParaRPr lang="en-US" dirty="0"/>
          </a:p>
        </p:txBody>
      </p:sp>
      <p:sp>
        <p:nvSpPr>
          <p:cNvPr id="3" name="Content Placeholder 2">
            <a:extLst>
              <a:ext uri="{FF2B5EF4-FFF2-40B4-BE49-F238E27FC236}">
                <a16:creationId xmlns:a16="http://schemas.microsoft.com/office/drawing/2014/main" id="{65B39A77-C53D-E7A0-9F12-912B5B80D5BC}"/>
              </a:ext>
            </a:extLst>
          </p:cNvPr>
          <p:cNvSpPr>
            <a:spLocks noGrp="1"/>
          </p:cNvSpPr>
          <p:nvPr>
            <p:ph idx="1"/>
          </p:nvPr>
        </p:nvSpPr>
        <p:spPr>
          <a:xfrm>
            <a:off x="838200" y="1825625"/>
            <a:ext cx="10515600" cy="4351338"/>
          </a:xfrm>
        </p:spPr>
        <p:txBody>
          <a:bodyPr/>
          <a:lstStyle/>
          <a:p>
            <a:r>
              <a:rPr lang="en-HK" dirty="0"/>
              <a:t>Since models have a </a:t>
            </a:r>
            <a:r>
              <a:rPr lang="en-HK" dirty="0">
                <a:solidFill>
                  <a:schemeClr val="accent2"/>
                </a:solidFill>
              </a:rPr>
              <a:t>fixed context length</a:t>
            </a:r>
            <a:r>
              <a:rPr lang="en-HK" dirty="0"/>
              <a:t>, dialogue between a user and an assistant in which the </a:t>
            </a:r>
            <a:r>
              <a:rPr lang="en-HK" dirty="0">
                <a:solidFill>
                  <a:schemeClr val="accent2"/>
                </a:solidFill>
              </a:rPr>
              <a:t>entire conversation </a:t>
            </a:r>
            <a:r>
              <a:rPr lang="en-HK" dirty="0"/>
              <a:t>is included in the context window cannot continue indefinitely.</a:t>
            </a:r>
          </a:p>
          <a:p>
            <a:r>
              <a:rPr lang="en-US" altLang="zh-CN" dirty="0"/>
              <a:t>Workarounds: </a:t>
            </a:r>
          </a:p>
          <a:p>
            <a:pPr lvl="1"/>
            <a:r>
              <a:rPr lang="en-HK" dirty="0"/>
              <a:t>Summarize previous conversation turns when the input size reaches a threshold, triggering a query to </a:t>
            </a:r>
            <a:r>
              <a:rPr lang="en-HK" dirty="0">
                <a:solidFill>
                  <a:schemeClr val="accent2"/>
                </a:solidFill>
              </a:rPr>
              <a:t>include the summary </a:t>
            </a:r>
            <a:r>
              <a:rPr lang="en-HK" dirty="0"/>
              <a:t>in the system message.</a:t>
            </a:r>
          </a:p>
          <a:p>
            <a:pPr lvl="1"/>
            <a:r>
              <a:rPr lang="en-HK" dirty="0"/>
              <a:t>Summarize prior conversation </a:t>
            </a:r>
            <a:r>
              <a:rPr lang="en-HK" dirty="0">
                <a:solidFill>
                  <a:schemeClr val="accent2"/>
                </a:solidFill>
              </a:rPr>
              <a:t>asynchronously</a:t>
            </a:r>
            <a:r>
              <a:rPr lang="en-HK" dirty="0"/>
              <a:t> in the background throughout the entire conversation.</a:t>
            </a:r>
          </a:p>
          <a:p>
            <a:pPr lvl="1"/>
            <a:r>
              <a:rPr lang="en-HK" dirty="0"/>
              <a:t>Summarize </a:t>
            </a:r>
            <a:r>
              <a:rPr lang="en-HK" dirty="0">
                <a:solidFill>
                  <a:schemeClr val="accent2"/>
                </a:solidFill>
              </a:rPr>
              <a:t>relevant</a:t>
            </a:r>
            <a:r>
              <a:rPr lang="en-HK" dirty="0"/>
              <a:t> conversation parts dynamically based on current queries using embeddings-based search. </a:t>
            </a:r>
          </a:p>
        </p:txBody>
      </p:sp>
      <p:sp>
        <p:nvSpPr>
          <p:cNvPr id="4" name="Slide Number Placeholder 3">
            <a:extLst>
              <a:ext uri="{FF2B5EF4-FFF2-40B4-BE49-F238E27FC236}">
                <a16:creationId xmlns:a16="http://schemas.microsoft.com/office/drawing/2014/main" id="{79B2488B-0F2B-B9E8-FF5F-296BC3B8CE4B}"/>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47</a:t>
            </a:fld>
            <a:endParaRPr lang="en-HK"/>
          </a:p>
        </p:txBody>
      </p:sp>
    </p:spTree>
    <p:extLst>
      <p:ext uri="{BB962C8B-B14F-4D97-AF65-F5344CB8AC3E}">
        <p14:creationId xmlns:p14="http://schemas.microsoft.com/office/powerpoint/2010/main" val="2923225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7F8D-169E-2612-4B30-C4F3D450BB93}"/>
              </a:ext>
            </a:extLst>
          </p:cNvPr>
          <p:cNvSpPr>
            <a:spLocks noGrp="1"/>
          </p:cNvSpPr>
          <p:nvPr>
            <p:ph type="title"/>
          </p:nvPr>
        </p:nvSpPr>
        <p:spPr>
          <a:xfrm>
            <a:off x="838200" y="365125"/>
            <a:ext cx="10515600" cy="1325563"/>
          </a:xfrm>
        </p:spPr>
        <p:txBody>
          <a:bodyPr>
            <a:normAutofit/>
          </a:bodyPr>
          <a:lstStyle/>
          <a:p>
            <a:r>
              <a:rPr lang="en-US" dirty="0"/>
              <a:t>3.3 Summarize long documents piecewise and construct a full summary recursively</a:t>
            </a:r>
          </a:p>
        </p:txBody>
      </p:sp>
      <p:sp>
        <p:nvSpPr>
          <p:cNvPr id="3" name="Content Placeholder 2">
            <a:extLst>
              <a:ext uri="{FF2B5EF4-FFF2-40B4-BE49-F238E27FC236}">
                <a16:creationId xmlns:a16="http://schemas.microsoft.com/office/drawing/2014/main" id="{3C9BCEF0-2C9C-CD1C-41BA-773BEF83D5B0}"/>
              </a:ext>
            </a:extLst>
          </p:cNvPr>
          <p:cNvSpPr>
            <a:spLocks noGrp="1"/>
          </p:cNvSpPr>
          <p:nvPr>
            <p:ph idx="1"/>
          </p:nvPr>
        </p:nvSpPr>
        <p:spPr>
          <a:xfrm>
            <a:off x="838200" y="1825625"/>
            <a:ext cx="10515600" cy="4351338"/>
          </a:xfrm>
        </p:spPr>
        <p:txBody>
          <a:bodyPr>
            <a:normAutofit/>
          </a:bodyPr>
          <a:lstStyle/>
          <a:p>
            <a:r>
              <a:rPr lang="en-HK" dirty="0"/>
              <a:t>Models have a fixed context length, limiting their ability to summarize texts longer than the context length minus the summary length.</a:t>
            </a:r>
          </a:p>
          <a:p>
            <a:r>
              <a:rPr lang="en-HK" dirty="0"/>
              <a:t>Summarizing a Book</a:t>
            </a:r>
          </a:p>
          <a:p>
            <a:pPr lvl="1"/>
            <a:r>
              <a:rPr lang="en-HK" dirty="0"/>
              <a:t>Summarize each section of the book individually.</a:t>
            </a:r>
          </a:p>
          <a:p>
            <a:pPr lvl="1"/>
            <a:r>
              <a:rPr lang="en-HK" dirty="0"/>
              <a:t>Concatenate and summarize section summaries to create summaries of summaries.</a:t>
            </a:r>
          </a:p>
          <a:p>
            <a:pPr lvl="1"/>
            <a:r>
              <a:rPr lang="en-HK" dirty="0"/>
              <a:t>Repeat the process recursively until the entire document is summarized.</a:t>
            </a:r>
          </a:p>
          <a:p>
            <a:pPr lvl="1"/>
            <a:r>
              <a:rPr lang="en-HK" dirty="0"/>
              <a:t>Include a running summary of preceding text to provide context for later sections.</a:t>
            </a:r>
          </a:p>
          <a:p>
            <a:endParaRPr lang="en-US" dirty="0"/>
          </a:p>
        </p:txBody>
      </p:sp>
      <p:sp>
        <p:nvSpPr>
          <p:cNvPr id="4" name="Slide Number Placeholder 3">
            <a:extLst>
              <a:ext uri="{FF2B5EF4-FFF2-40B4-BE49-F238E27FC236}">
                <a16:creationId xmlns:a16="http://schemas.microsoft.com/office/drawing/2014/main" id="{B3052D1E-7912-855F-029E-C82A0790F31E}"/>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48</a:t>
            </a:fld>
            <a:endParaRPr lang="en-HK"/>
          </a:p>
        </p:txBody>
      </p:sp>
    </p:spTree>
    <p:extLst>
      <p:ext uri="{BB962C8B-B14F-4D97-AF65-F5344CB8AC3E}">
        <p14:creationId xmlns:p14="http://schemas.microsoft.com/office/powerpoint/2010/main" val="1954468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CF0D4-8EFA-C6D5-0232-3F76A7B34EE9}"/>
              </a:ext>
            </a:extLst>
          </p:cNvPr>
          <p:cNvSpPr>
            <a:spLocks noGrp="1"/>
          </p:cNvSpPr>
          <p:nvPr>
            <p:ph type="title"/>
          </p:nvPr>
        </p:nvSpPr>
        <p:spPr>
          <a:xfrm>
            <a:off x="838200" y="365125"/>
            <a:ext cx="10515600" cy="1325563"/>
          </a:xfrm>
        </p:spPr>
        <p:txBody>
          <a:bodyPr/>
          <a:lstStyle/>
          <a:p>
            <a:r>
              <a:rPr lang="en-US" dirty="0"/>
              <a:t>4. </a:t>
            </a:r>
            <a:r>
              <a:rPr lang="en-HK" dirty="0"/>
              <a:t>Give the Model Time to “Think”</a:t>
            </a:r>
            <a:endParaRPr lang="en-US" dirty="0"/>
          </a:p>
        </p:txBody>
      </p:sp>
      <p:sp>
        <p:nvSpPr>
          <p:cNvPr id="3" name="Content Placeholder 2">
            <a:extLst>
              <a:ext uri="{FF2B5EF4-FFF2-40B4-BE49-F238E27FC236}">
                <a16:creationId xmlns:a16="http://schemas.microsoft.com/office/drawing/2014/main" id="{1B6DD214-7C1B-99CC-635C-2D3F820CB221}"/>
              </a:ext>
            </a:extLst>
          </p:cNvPr>
          <p:cNvSpPr>
            <a:spLocks noGrp="1"/>
          </p:cNvSpPr>
          <p:nvPr>
            <p:ph idx="1"/>
          </p:nvPr>
        </p:nvSpPr>
        <p:spPr>
          <a:xfrm>
            <a:off x="838200" y="1825625"/>
            <a:ext cx="10515600" cy="4351338"/>
          </a:xfrm>
        </p:spPr>
        <p:txBody>
          <a:bodyPr/>
          <a:lstStyle/>
          <a:p>
            <a:r>
              <a:rPr lang="en-HK" dirty="0"/>
              <a:t>Models perform better with reasoning time</a:t>
            </a:r>
          </a:p>
          <a:p>
            <a:r>
              <a:rPr lang="en-HK" dirty="0"/>
              <a:t>Tactics:</a:t>
            </a:r>
          </a:p>
          <a:p>
            <a:pPr marL="914400" lvl="1" indent="-457200">
              <a:buFont typeface="+mj-lt"/>
              <a:buAutoNum type="arabicPeriod"/>
            </a:pPr>
            <a:r>
              <a:rPr lang="en-HK" dirty="0"/>
              <a:t>Instruct the model to work out its own solution before rushing to a conclusion.</a:t>
            </a:r>
          </a:p>
          <a:p>
            <a:pPr marL="914400" lvl="1" indent="-457200">
              <a:buFont typeface="+mj-lt"/>
              <a:buAutoNum type="arabicPeriod"/>
            </a:pPr>
            <a:r>
              <a:rPr lang="en-HK" dirty="0"/>
              <a:t>Use inner monologue or a sequence of queries to hide the model’s reasoning process.</a:t>
            </a:r>
          </a:p>
          <a:p>
            <a:pPr marL="914400" lvl="1" indent="-457200">
              <a:buFont typeface="+mj-lt"/>
              <a:buAutoNum type="arabicPeriod"/>
            </a:pPr>
            <a:r>
              <a:rPr lang="en-HK" dirty="0"/>
              <a:t>Ask the model if it missed anything on previous passes.</a:t>
            </a:r>
          </a:p>
          <a:p>
            <a:endParaRPr lang="en-US" dirty="0"/>
          </a:p>
        </p:txBody>
      </p:sp>
      <p:sp>
        <p:nvSpPr>
          <p:cNvPr id="4" name="Slide Number Placeholder 3">
            <a:extLst>
              <a:ext uri="{FF2B5EF4-FFF2-40B4-BE49-F238E27FC236}">
                <a16:creationId xmlns:a16="http://schemas.microsoft.com/office/drawing/2014/main" id="{892AFA4D-B31D-79BF-9C90-544179787B0A}"/>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49</a:t>
            </a:fld>
            <a:endParaRPr lang="en-HK"/>
          </a:p>
        </p:txBody>
      </p:sp>
    </p:spTree>
    <p:extLst>
      <p:ext uri="{BB962C8B-B14F-4D97-AF65-F5344CB8AC3E}">
        <p14:creationId xmlns:p14="http://schemas.microsoft.com/office/powerpoint/2010/main" val="33399668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76EA-3628-21B3-5D69-E296B056D01E}"/>
              </a:ext>
            </a:extLst>
          </p:cNvPr>
          <p:cNvSpPr>
            <a:spLocks noGrp="1"/>
          </p:cNvSpPr>
          <p:nvPr>
            <p:ph type="title"/>
          </p:nvPr>
        </p:nvSpPr>
        <p:spPr>
          <a:xfrm>
            <a:off x="838200" y="365125"/>
            <a:ext cx="10515600" cy="1325563"/>
          </a:xfrm>
        </p:spPr>
        <p:txBody>
          <a:bodyPr>
            <a:normAutofit/>
          </a:bodyPr>
          <a:lstStyle/>
          <a:p>
            <a:r>
              <a:rPr lang="en-US" dirty="0"/>
              <a:t>4.1 Instruct the model to work out its own solution before rushing to a conclusion</a:t>
            </a:r>
          </a:p>
        </p:txBody>
      </p:sp>
      <p:sp>
        <p:nvSpPr>
          <p:cNvPr id="3" name="Content Placeholder 2">
            <a:extLst>
              <a:ext uri="{FF2B5EF4-FFF2-40B4-BE49-F238E27FC236}">
                <a16:creationId xmlns:a16="http://schemas.microsoft.com/office/drawing/2014/main" id="{DE1A6760-BC8B-9A8B-A7E5-E5CEB749C4B3}"/>
              </a:ext>
            </a:extLst>
          </p:cNvPr>
          <p:cNvSpPr>
            <a:spLocks noGrp="1"/>
          </p:cNvSpPr>
          <p:nvPr>
            <p:ph idx="1"/>
          </p:nvPr>
        </p:nvSpPr>
        <p:spPr>
          <a:xfrm>
            <a:off x="838200" y="1825625"/>
            <a:ext cx="10515600" cy="4351338"/>
          </a:xfrm>
        </p:spPr>
        <p:txBody>
          <a:bodyPr>
            <a:normAutofit fontScale="92500" lnSpcReduction="20000"/>
          </a:bodyPr>
          <a:lstStyle/>
          <a:p>
            <a:r>
              <a:rPr lang="en-HK" dirty="0"/>
              <a:t>SYSTEM</a:t>
            </a:r>
          </a:p>
          <a:p>
            <a:pPr marL="0" indent="0">
              <a:buNone/>
            </a:pPr>
            <a:r>
              <a:rPr lang="en-HK" dirty="0"/>
              <a:t>Determine if the student's solution is correct or not. </a:t>
            </a:r>
          </a:p>
          <a:p>
            <a:r>
              <a:rPr lang="en-HK" dirty="0"/>
              <a:t>USER</a:t>
            </a:r>
          </a:p>
          <a:p>
            <a:pPr marL="0" indent="0">
              <a:buNone/>
            </a:pPr>
            <a:r>
              <a:rPr lang="en-HK" dirty="0"/>
              <a:t>Problem Statement: I'm building a solar power installation and I need help working out the financials. - Land costs $100 / square foot - I can buy solar panels for $250 / square foot - I negotiated a contract for maintenance that will cost me a flat $100k per year, and an additional $10 / square foot What is the total cost for the first year of operations as a function of the number of square feet. </a:t>
            </a:r>
          </a:p>
          <a:p>
            <a:pPr marL="0" indent="0">
              <a:buNone/>
            </a:pPr>
            <a:r>
              <a:rPr lang="en-HK" dirty="0"/>
              <a:t>Student's Solution: Let x be the size of the installation in square feet. 1. Land cost: 100x 2. Solar panel cost: 250x 3. Maintenance cost: 100,000 + 100x Total cost: 100x + 250x + 100,000 + 100x = 450x + 100,000</a:t>
            </a:r>
          </a:p>
        </p:txBody>
      </p:sp>
      <p:sp>
        <p:nvSpPr>
          <p:cNvPr id="4" name="Slide Number Placeholder 3">
            <a:extLst>
              <a:ext uri="{FF2B5EF4-FFF2-40B4-BE49-F238E27FC236}">
                <a16:creationId xmlns:a16="http://schemas.microsoft.com/office/drawing/2014/main" id="{6A3D6C53-20CD-8A0E-70A5-777CE919F1F1}"/>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50</a:t>
            </a:fld>
            <a:endParaRPr lang="en-HK"/>
          </a:p>
        </p:txBody>
      </p:sp>
    </p:spTree>
    <p:extLst>
      <p:ext uri="{BB962C8B-B14F-4D97-AF65-F5344CB8AC3E}">
        <p14:creationId xmlns:p14="http://schemas.microsoft.com/office/powerpoint/2010/main" val="104286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78C8DB7-75AA-3EA8-352E-B0930E814820}"/>
              </a:ext>
            </a:extLst>
          </p:cNvPr>
          <p:cNvSpPr>
            <a:spLocks noGrp="1"/>
          </p:cNvSpPr>
          <p:nvPr>
            <p:ph type="title"/>
          </p:nvPr>
        </p:nvSpPr>
        <p:spPr/>
        <p:txBody>
          <a:bodyPr/>
          <a:lstStyle/>
          <a:p>
            <a:r>
              <a:rPr lang="en-US" dirty="0"/>
              <a:t>4.1 Instruct the model to work out its own solution before rushing to a conclusion</a:t>
            </a:r>
          </a:p>
        </p:txBody>
      </p:sp>
      <p:sp>
        <p:nvSpPr>
          <p:cNvPr id="3" name="Content Placeholder 2">
            <a:extLst>
              <a:ext uri="{FF2B5EF4-FFF2-40B4-BE49-F238E27FC236}">
                <a16:creationId xmlns:a16="http://schemas.microsoft.com/office/drawing/2014/main" id="{8DB5E704-D7EE-5C31-484A-39D99C52CFA9}"/>
              </a:ext>
            </a:extLst>
          </p:cNvPr>
          <p:cNvSpPr>
            <a:spLocks noGrp="1"/>
          </p:cNvSpPr>
          <p:nvPr>
            <p:ph idx="1"/>
          </p:nvPr>
        </p:nvSpPr>
        <p:spPr>
          <a:xfrm>
            <a:off x="838200" y="1825625"/>
            <a:ext cx="10515600" cy="4351338"/>
          </a:xfrm>
        </p:spPr>
        <p:txBody>
          <a:bodyPr>
            <a:normAutofit fontScale="85000" lnSpcReduction="20000"/>
          </a:bodyPr>
          <a:lstStyle/>
          <a:p>
            <a:r>
              <a:rPr lang="en-HK" dirty="0"/>
              <a:t>SYSTEM</a:t>
            </a:r>
          </a:p>
          <a:p>
            <a:pPr marL="0" indent="0">
              <a:buNone/>
            </a:pPr>
            <a:r>
              <a:rPr lang="en-HK" dirty="0"/>
              <a:t>First work out your own solution to the problem. Then compare your solution to the student's solution and evaluate if the student's solution is correct or not. Don't decide if the student's solution is correct until you have done the problem yourself. </a:t>
            </a:r>
          </a:p>
          <a:p>
            <a:r>
              <a:rPr lang="en-HK" dirty="0"/>
              <a:t>USER</a:t>
            </a:r>
          </a:p>
          <a:p>
            <a:pPr marL="0" indent="0">
              <a:buNone/>
            </a:pPr>
            <a:r>
              <a:rPr lang="en-HK" dirty="0"/>
              <a:t>Problem Statement: I'm building a solar power installation and I need help working out the financials. - Land costs $100 / square foot - I can buy solar panels for $250 / square foot - I negotiated a contract for maintenance that will cost me a flat $100k per year, and an additional $10 / square foot What is the total cost for the first year of operations as a function of the number of square feet. </a:t>
            </a:r>
          </a:p>
          <a:p>
            <a:pPr marL="0" indent="0">
              <a:buNone/>
            </a:pPr>
            <a:r>
              <a:rPr lang="en-HK" dirty="0"/>
              <a:t>Student's Solution: Let x be the size of the installation in square feet. 1. Land cost: 100x 2. Solar panel cost: 250x 3. Maintenance cost: 100,000 + 100x Total cost: 100x + 250x + 100,000 + 100x = 450x + 100,000</a:t>
            </a:r>
          </a:p>
          <a:p>
            <a:pPr marL="0" indent="0">
              <a:buNone/>
            </a:pPr>
            <a:endParaRPr lang="en-US" dirty="0"/>
          </a:p>
        </p:txBody>
      </p:sp>
      <p:sp>
        <p:nvSpPr>
          <p:cNvPr id="4" name="Slide Number Placeholder 3">
            <a:extLst>
              <a:ext uri="{FF2B5EF4-FFF2-40B4-BE49-F238E27FC236}">
                <a16:creationId xmlns:a16="http://schemas.microsoft.com/office/drawing/2014/main" id="{3E7AE981-B409-D1C8-4AF5-08381C8D458F}"/>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51</a:t>
            </a:fld>
            <a:endParaRPr lang="en-HK"/>
          </a:p>
        </p:txBody>
      </p:sp>
    </p:spTree>
    <p:extLst>
      <p:ext uri="{BB962C8B-B14F-4D97-AF65-F5344CB8AC3E}">
        <p14:creationId xmlns:p14="http://schemas.microsoft.com/office/powerpoint/2010/main" val="3657572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526AF-7231-CDCD-D17E-FDA738474E23}"/>
              </a:ext>
            </a:extLst>
          </p:cNvPr>
          <p:cNvSpPr>
            <a:spLocks noGrp="1"/>
          </p:cNvSpPr>
          <p:nvPr>
            <p:ph type="title"/>
          </p:nvPr>
        </p:nvSpPr>
        <p:spPr>
          <a:xfrm>
            <a:off x="838200" y="365125"/>
            <a:ext cx="10515600" cy="1325563"/>
          </a:xfrm>
        </p:spPr>
        <p:txBody>
          <a:bodyPr/>
          <a:lstStyle/>
          <a:p>
            <a:r>
              <a:rPr lang="en-US" dirty="0"/>
              <a:t>4.2 Use inner monologue or a sequence of queries to hide the model's reasoning process</a:t>
            </a:r>
          </a:p>
        </p:txBody>
      </p:sp>
      <p:sp>
        <p:nvSpPr>
          <p:cNvPr id="3" name="Content Placeholder 2">
            <a:extLst>
              <a:ext uri="{FF2B5EF4-FFF2-40B4-BE49-F238E27FC236}">
                <a16:creationId xmlns:a16="http://schemas.microsoft.com/office/drawing/2014/main" id="{AF2A3FEE-4F62-03D0-C1E9-CE0FA4D2775E}"/>
              </a:ext>
            </a:extLst>
          </p:cNvPr>
          <p:cNvSpPr>
            <a:spLocks noGrp="1"/>
          </p:cNvSpPr>
          <p:nvPr>
            <p:ph idx="1"/>
          </p:nvPr>
        </p:nvSpPr>
        <p:spPr>
          <a:xfrm>
            <a:off x="838200" y="1825625"/>
            <a:ext cx="10515600" cy="4351338"/>
          </a:xfrm>
        </p:spPr>
        <p:txBody>
          <a:bodyPr>
            <a:normAutofit lnSpcReduction="10000"/>
          </a:bodyPr>
          <a:lstStyle/>
          <a:p>
            <a:pPr lvl="0"/>
            <a:r>
              <a:rPr lang="en-HK" dirty="0"/>
              <a:t>Detailed reasoning by a model can be essential before answering questions.</a:t>
            </a:r>
          </a:p>
          <a:p>
            <a:pPr lvl="0"/>
            <a:r>
              <a:rPr lang="en-HK" dirty="0"/>
              <a:t>In some cases, sharing the reasoning process with the user may be inappropriate, such as in tutoring applications.</a:t>
            </a:r>
          </a:p>
          <a:p>
            <a:pPr lvl="0"/>
            <a:r>
              <a:rPr lang="en-HK" dirty="0"/>
              <a:t>Inner monologue is a tactic to hide parts of the model's reasoning process.</a:t>
            </a:r>
          </a:p>
          <a:p>
            <a:pPr lvl="0"/>
            <a:r>
              <a:rPr lang="en-HK" dirty="0"/>
              <a:t>The model's output includes hidden parts in a structured format for easy parsing.</a:t>
            </a:r>
          </a:p>
          <a:p>
            <a:pPr lvl="0"/>
            <a:r>
              <a:rPr lang="en-HK" dirty="0"/>
              <a:t>Only the visible part of the output is presented to the user after parsing.</a:t>
            </a:r>
          </a:p>
          <a:p>
            <a:endParaRPr lang="en-US" dirty="0"/>
          </a:p>
        </p:txBody>
      </p:sp>
      <p:sp>
        <p:nvSpPr>
          <p:cNvPr id="4" name="Slide Number Placeholder 3">
            <a:extLst>
              <a:ext uri="{FF2B5EF4-FFF2-40B4-BE49-F238E27FC236}">
                <a16:creationId xmlns:a16="http://schemas.microsoft.com/office/drawing/2014/main" id="{42C71068-4664-B4D4-40C2-DE3E4B7B76D0}"/>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52</a:t>
            </a:fld>
            <a:endParaRPr lang="en-HK"/>
          </a:p>
        </p:txBody>
      </p:sp>
    </p:spTree>
    <p:extLst>
      <p:ext uri="{BB962C8B-B14F-4D97-AF65-F5344CB8AC3E}">
        <p14:creationId xmlns:p14="http://schemas.microsoft.com/office/powerpoint/2010/main" val="11963644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744562-DF3D-2F90-5F31-B979E0EBE62A}"/>
              </a:ext>
            </a:extLst>
          </p:cNvPr>
          <p:cNvSpPr>
            <a:spLocks noGrp="1"/>
          </p:cNvSpPr>
          <p:nvPr>
            <p:ph type="title"/>
          </p:nvPr>
        </p:nvSpPr>
        <p:spPr/>
        <p:txBody>
          <a:bodyPr>
            <a:normAutofit/>
          </a:bodyPr>
          <a:lstStyle/>
          <a:p>
            <a:r>
              <a:rPr lang="en-US" dirty="0"/>
              <a:t>4.2 Use inner monologue or a sequence of queries to hide the model's reasoning process</a:t>
            </a:r>
          </a:p>
        </p:txBody>
      </p:sp>
      <p:sp>
        <p:nvSpPr>
          <p:cNvPr id="3" name="Content Placeholder 2">
            <a:extLst>
              <a:ext uri="{FF2B5EF4-FFF2-40B4-BE49-F238E27FC236}">
                <a16:creationId xmlns:a16="http://schemas.microsoft.com/office/drawing/2014/main" id="{6C080C3C-3595-BCC4-3AD7-381A84E5E2F9}"/>
              </a:ext>
            </a:extLst>
          </p:cNvPr>
          <p:cNvSpPr>
            <a:spLocks noGrp="1"/>
          </p:cNvSpPr>
          <p:nvPr>
            <p:ph idx="1"/>
          </p:nvPr>
        </p:nvSpPr>
        <p:spPr>
          <a:xfrm>
            <a:off x="838200" y="1825625"/>
            <a:ext cx="10515600" cy="4351338"/>
          </a:xfrm>
        </p:spPr>
        <p:txBody>
          <a:bodyPr>
            <a:normAutofit fontScale="70000" lnSpcReduction="20000"/>
          </a:bodyPr>
          <a:lstStyle/>
          <a:p>
            <a:r>
              <a:rPr lang="en-HK" dirty="0"/>
              <a:t>SYSTEM</a:t>
            </a:r>
          </a:p>
          <a:p>
            <a:pPr marL="0" indent="0">
              <a:buNone/>
            </a:pPr>
            <a:r>
              <a:rPr lang="en-HK" dirty="0"/>
              <a:t>Follow these steps to answer the user queries. </a:t>
            </a:r>
          </a:p>
          <a:p>
            <a:pPr marL="0" indent="0">
              <a:buNone/>
            </a:pPr>
            <a:r>
              <a:rPr lang="en-HK" dirty="0"/>
              <a:t>Step 1 - First work out your own solution to the problem. Don't rely on the student's solution since it may be incorrect. Enclose all your work for this step within triple quotes ("""). </a:t>
            </a:r>
          </a:p>
          <a:p>
            <a:pPr marL="0" indent="0">
              <a:buNone/>
            </a:pPr>
            <a:r>
              <a:rPr lang="en-HK" dirty="0"/>
              <a:t>Step 2 - Compare your solution to the student's solution and evaluate if the student's solution is correct or not. Enclose all your work for this step within triple quotes ("""). </a:t>
            </a:r>
          </a:p>
          <a:p>
            <a:pPr marL="0" indent="0">
              <a:buNone/>
            </a:pPr>
            <a:r>
              <a:rPr lang="en-HK" dirty="0"/>
              <a:t>Step 3 - If the student made a mistake, determine what hint you could give the student without giving away the answer. Enclose all your work for this step within triple quotes ("""). </a:t>
            </a:r>
          </a:p>
          <a:p>
            <a:pPr marL="0" indent="0">
              <a:buNone/>
            </a:pPr>
            <a:r>
              <a:rPr lang="en-HK" dirty="0"/>
              <a:t>Step 4 - If the student made a mistake, provide the hint from the previous step to the student (outside of triple quotes). Instead of writing "Step 4 - ..." write "Hint:". </a:t>
            </a:r>
          </a:p>
          <a:p>
            <a:r>
              <a:rPr lang="en-HK" dirty="0"/>
              <a:t>USER</a:t>
            </a:r>
          </a:p>
          <a:p>
            <a:pPr marL="0" indent="0">
              <a:buNone/>
            </a:pPr>
            <a:r>
              <a:rPr lang="en-HK" dirty="0"/>
              <a:t>Problem Statement: &lt;insert problem statement&gt; </a:t>
            </a:r>
          </a:p>
          <a:p>
            <a:pPr marL="0" indent="0">
              <a:buNone/>
            </a:pPr>
            <a:r>
              <a:rPr lang="en-HK" dirty="0"/>
              <a:t>Student Solution: &lt;insert student solution&gt;</a:t>
            </a:r>
          </a:p>
        </p:txBody>
      </p:sp>
      <p:sp>
        <p:nvSpPr>
          <p:cNvPr id="4" name="Slide Number Placeholder 3">
            <a:extLst>
              <a:ext uri="{FF2B5EF4-FFF2-40B4-BE49-F238E27FC236}">
                <a16:creationId xmlns:a16="http://schemas.microsoft.com/office/drawing/2014/main" id="{83D71E43-0FDE-46C0-0880-4CF5EF35CCB0}"/>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53</a:t>
            </a:fld>
            <a:endParaRPr lang="en-HK"/>
          </a:p>
        </p:txBody>
      </p:sp>
    </p:spTree>
    <p:extLst>
      <p:ext uri="{BB962C8B-B14F-4D97-AF65-F5344CB8AC3E}">
        <p14:creationId xmlns:p14="http://schemas.microsoft.com/office/powerpoint/2010/main" val="151323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9889-B26C-C752-5D25-22C3D37BD13B}"/>
              </a:ext>
            </a:extLst>
          </p:cNvPr>
          <p:cNvSpPr>
            <a:spLocks noGrp="1"/>
          </p:cNvSpPr>
          <p:nvPr>
            <p:ph type="title"/>
          </p:nvPr>
        </p:nvSpPr>
        <p:spPr>
          <a:xfrm>
            <a:off x="838200" y="365125"/>
            <a:ext cx="10515600" cy="1325563"/>
          </a:xfrm>
        </p:spPr>
        <p:txBody>
          <a:bodyPr>
            <a:normAutofit/>
          </a:bodyPr>
          <a:lstStyle/>
          <a:p>
            <a:r>
              <a:rPr lang="en-US" dirty="0"/>
              <a:t>4.3 Ask the model if it missed anything on previous passes</a:t>
            </a:r>
          </a:p>
        </p:txBody>
      </p:sp>
      <p:sp>
        <p:nvSpPr>
          <p:cNvPr id="3" name="Content Placeholder 2">
            <a:extLst>
              <a:ext uri="{FF2B5EF4-FFF2-40B4-BE49-F238E27FC236}">
                <a16:creationId xmlns:a16="http://schemas.microsoft.com/office/drawing/2014/main" id="{48D71012-89FF-4323-DBBA-921859DACF11}"/>
              </a:ext>
            </a:extLst>
          </p:cNvPr>
          <p:cNvSpPr>
            <a:spLocks noGrp="1"/>
          </p:cNvSpPr>
          <p:nvPr>
            <p:ph idx="1"/>
          </p:nvPr>
        </p:nvSpPr>
        <p:spPr>
          <a:xfrm>
            <a:off x="838200" y="1825625"/>
            <a:ext cx="10515600" cy="4351338"/>
          </a:xfrm>
        </p:spPr>
        <p:txBody>
          <a:bodyPr>
            <a:normAutofit fontScale="70000" lnSpcReduction="20000"/>
          </a:bodyPr>
          <a:lstStyle/>
          <a:p>
            <a:r>
              <a:rPr lang="en-HK" dirty="0"/>
              <a:t>SYSTEM</a:t>
            </a:r>
          </a:p>
          <a:p>
            <a:pPr marL="0" indent="0">
              <a:buNone/>
            </a:pPr>
            <a:r>
              <a:rPr lang="en-HK" dirty="0"/>
              <a:t>You will be provided with a document delimited by triple quotes. Your task is to select excerpts which pertain to the following question: "What significant paradigm shifts have occurred in the history of artificial intelligence." Ensure that excerpts contain all relevant context needed to interpret them - in other words don't extract small snippets that are missing important context. Provide output in JSON format as follows: [{"excerpt": "..."}, ... {"excerpt": "..."}] </a:t>
            </a:r>
          </a:p>
          <a:p>
            <a:r>
              <a:rPr lang="en-HK" dirty="0"/>
              <a:t>USER</a:t>
            </a:r>
          </a:p>
          <a:p>
            <a:pPr marL="0" indent="0">
              <a:buNone/>
            </a:pPr>
            <a:r>
              <a:rPr lang="en-HK" dirty="0"/>
              <a:t>"""&lt;insert document here&gt;""" </a:t>
            </a:r>
          </a:p>
          <a:p>
            <a:r>
              <a:rPr lang="en-HK" dirty="0"/>
              <a:t>ASSISTANT</a:t>
            </a:r>
          </a:p>
          <a:p>
            <a:pPr marL="0" indent="0">
              <a:buNone/>
            </a:pPr>
            <a:r>
              <a:rPr lang="en-HK" dirty="0"/>
              <a:t>[{"excerpt": "the model writes an excerpt here"}, ... {"excerpt": "the model writes another excerpt here"}] </a:t>
            </a:r>
          </a:p>
          <a:p>
            <a:r>
              <a:rPr lang="en-HK" dirty="0"/>
              <a:t>USER</a:t>
            </a:r>
          </a:p>
          <a:p>
            <a:pPr marL="0" indent="0">
              <a:buNone/>
            </a:pPr>
            <a:r>
              <a:rPr lang="en-HK" dirty="0"/>
              <a:t>Are there more relevant excerpts? Take care not to repeat excerpts. Also ensure that excerpts contain all relevant context needed to interpret them - in other words don't extract small snippets that are missing important context.</a:t>
            </a:r>
          </a:p>
          <a:p>
            <a:endParaRPr lang="en-US" dirty="0"/>
          </a:p>
        </p:txBody>
      </p:sp>
      <p:sp>
        <p:nvSpPr>
          <p:cNvPr id="4" name="Slide Number Placeholder 3">
            <a:extLst>
              <a:ext uri="{FF2B5EF4-FFF2-40B4-BE49-F238E27FC236}">
                <a16:creationId xmlns:a16="http://schemas.microsoft.com/office/drawing/2014/main" id="{53482AE4-0494-EA05-8869-04AE40B9613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54</a:t>
            </a:fld>
            <a:endParaRPr lang="en-HK"/>
          </a:p>
        </p:txBody>
      </p:sp>
    </p:spTree>
    <p:extLst>
      <p:ext uri="{BB962C8B-B14F-4D97-AF65-F5344CB8AC3E}">
        <p14:creationId xmlns:p14="http://schemas.microsoft.com/office/powerpoint/2010/main" val="5736972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DE98-9866-C21B-D15A-E43B6E4025AF}"/>
              </a:ext>
            </a:extLst>
          </p:cNvPr>
          <p:cNvSpPr>
            <a:spLocks noGrp="1"/>
          </p:cNvSpPr>
          <p:nvPr>
            <p:ph type="title"/>
          </p:nvPr>
        </p:nvSpPr>
        <p:spPr>
          <a:xfrm>
            <a:off x="838200" y="365125"/>
            <a:ext cx="10515600" cy="1325563"/>
          </a:xfrm>
        </p:spPr>
        <p:txBody>
          <a:bodyPr/>
          <a:lstStyle/>
          <a:p>
            <a:r>
              <a:rPr lang="en-US" dirty="0"/>
              <a:t>5. </a:t>
            </a:r>
            <a:r>
              <a:rPr lang="en-HK" dirty="0"/>
              <a:t>Use External Tools</a:t>
            </a:r>
            <a:endParaRPr lang="en-US" dirty="0"/>
          </a:p>
        </p:txBody>
      </p:sp>
      <p:sp>
        <p:nvSpPr>
          <p:cNvPr id="3" name="Content Placeholder 2">
            <a:extLst>
              <a:ext uri="{FF2B5EF4-FFF2-40B4-BE49-F238E27FC236}">
                <a16:creationId xmlns:a16="http://schemas.microsoft.com/office/drawing/2014/main" id="{7DB22E8D-BF0D-018A-D73D-B723FDF2A346}"/>
              </a:ext>
            </a:extLst>
          </p:cNvPr>
          <p:cNvSpPr>
            <a:spLocks noGrp="1"/>
          </p:cNvSpPr>
          <p:nvPr>
            <p:ph idx="1"/>
          </p:nvPr>
        </p:nvSpPr>
        <p:spPr>
          <a:xfrm>
            <a:off x="838200" y="1825625"/>
            <a:ext cx="10515600" cy="4351338"/>
          </a:xfrm>
        </p:spPr>
        <p:txBody>
          <a:bodyPr/>
          <a:lstStyle/>
          <a:p>
            <a:r>
              <a:rPr lang="en-HK" dirty="0"/>
              <a:t>Compensate for model weaknesses</a:t>
            </a:r>
          </a:p>
          <a:p>
            <a:r>
              <a:rPr lang="en-HK" dirty="0"/>
              <a:t>Tactics:</a:t>
            </a:r>
          </a:p>
          <a:p>
            <a:pPr marL="914400" lvl="1" indent="-457200">
              <a:buFont typeface="+mj-lt"/>
              <a:buAutoNum type="arabicPeriod"/>
            </a:pPr>
            <a:r>
              <a:rPr lang="en-HK" dirty="0"/>
              <a:t>Use embeddings-based search to implement efficient knowledge retrieval.</a:t>
            </a:r>
          </a:p>
          <a:p>
            <a:pPr marL="914400" lvl="1" indent="-457200">
              <a:buFont typeface="+mj-lt"/>
              <a:buAutoNum type="arabicPeriod"/>
            </a:pPr>
            <a:r>
              <a:rPr lang="en-HK" dirty="0"/>
              <a:t>Use code execution to perform more accurate calculations or call external APIs.</a:t>
            </a:r>
          </a:p>
          <a:p>
            <a:pPr marL="914400" lvl="1" indent="-457200">
              <a:buFont typeface="+mj-lt"/>
              <a:buAutoNum type="arabicPeriod"/>
            </a:pPr>
            <a:r>
              <a:rPr lang="en-HK" dirty="0"/>
              <a:t>Give the model access to specific functions.</a:t>
            </a:r>
          </a:p>
          <a:p>
            <a:endParaRPr lang="en-US" dirty="0"/>
          </a:p>
        </p:txBody>
      </p:sp>
      <p:sp>
        <p:nvSpPr>
          <p:cNvPr id="4" name="Slide Number Placeholder 3">
            <a:extLst>
              <a:ext uri="{FF2B5EF4-FFF2-40B4-BE49-F238E27FC236}">
                <a16:creationId xmlns:a16="http://schemas.microsoft.com/office/drawing/2014/main" id="{52651EA4-50A6-BF00-FB1B-580FD0FDAE7E}"/>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55</a:t>
            </a:fld>
            <a:endParaRPr lang="en-HK"/>
          </a:p>
        </p:txBody>
      </p:sp>
    </p:spTree>
    <p:extLst>
      <p:ext uri="{BB962C8B-B14F-4D97-AF65-F5344CB8AC3E}">
        <p14:creationId xmlns:p14="http://schemas.microsoft.com/office/powerpoint/2010/main" val="28172742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8F37A-702D-36A5-D0F6-01D1445513E2}"/>
              </a:ext>
            </a:extLst>
          </p:cNvPr>
          <p:cNvSpPr>
            <a:spLocks noGrp="1"/>
          </p:cNvSpPr>
          <p:nvPr>
            <p:ph type="title"/>
          </p:nvPr>
        </p:nvSpPr>
        <p:spPr>
          <a:xfrm>
            <a:off x="838200" y="365125"/>
            <a:ext cx="10515600" cy="1325563"/>
          </a:xfrm>
        </p:spPr>
        <p:txBody>
          <a:bodyPr>
            <a:normAutofit/>
          </a:bodyPr>
          <a:lstStyle/>
          <a:p>
            <a:r>
              <a:rPr lang="en-US" dirty="0"/>
              <a:t>5.1 Use embeddings-based search to implement efficient knowledge retrieval</a:t>
            </a:r>
          </a:p>
        </p:txBody>
      </p:sp>
      <p:sp>
        <p:nvSpPr>
          <p:cNvPr id="3" name="Content Placeholder 2">
            <a:extLst>
              <a:ext uri="{FF2B5EF4-FFF2-40B4-BE49-F238E27FC236}">
                <a16:creationId xmlns:a16="http://schemas.microsoft.com/office/drawing/2014/main" id="{EA3B5955-436E-FBC7-BE29-5491749F5BC7}"/>
              </a:ext>
            </a:extLst>
          </p:cNvPr>
          <p:cNvSpPr>
            <a:spLocks noGrp="1"/>
          </p:cNvSpPr>
          <p:nvPr>
            <p:ph idx="1"/>
          </p:nvPr>
        </p:nvSpPr>
        <p:spPr>
          <a:xfrm>
            <a:off x="838200" y="1825625"/>
            <a:ext cx="10515600" cy="4351338"/>
          </a:xfrm>
        </p:spPr>
        <p:txBody>
          <a:bodyPr/>
          <a:lstStyle/>
          <a:p>
            <a:pPr lvl="0"/>
            <a:r>
              <a:rPr lang="en-HK" dirty="0"/>
              <a:t>Models can use external information for more informed and up-to-date responses.</a:t>
            </a:r>
          </a:p>
          <a:p>
            <a:pPr lvl="1"/>
            <a:r>
              <a:rPr lang="en-HK" dirty="0"/>
              <a:t>For a question about a specific movie, it may be useful to add high-quality information about the movie, e.g., actors, director, budget, etc.</a:t>
            </a:r>
          </a:p>
          <a:p>
            <a:pPr lvl="0"/>
            <a:r>
              <a:rPr lang="en-HK" dirty="0"/>
              <a:t>Text embeddings measure the relatedness between text strings.</a:t>
            </a:r>
          </a:p>
          <a:p>
            <a:pPr lvl="0"/>
            <a:r>
              <a:rPr lang="en-HK" dirty="0"/>
              <a:t>Embeddings can be used for efficient knowledge retrieval so that relevant information can be added to the model input dynamically at run-time.</a:t>
            </a:r>
          </a:p>
          <a:p>
            <a:pPr lvl="0"/>
            <a:r>
              <a:rPr lang="en-HK" dirty="0"/>
              <a:t>Relevant text chunks can be found through vector search.</a:t>
            </a:r>
          </a:p>
          <a:p>
            <a:endParaRPr lang="en-US" dirty="0"/>
          </a:p>
        </p:txBody>
      </p:sp>
      <p:sp>
        <p:nvSpPr>
          <p:cNvPr id="4" name="Slide Number Placeholder 3">
            <a:extLst>
              <a:ext uri="{FF2B5EF4-FFF2-40B4-BE49-F238E27FC236}">
                <a16:creationId xmlns:a16="http://schemas.microsoft.com/office/drawing/2014/main" id="{1980406C-DF25-4B6C-6CFB-093472D47589}"/>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56</a:t>
            </a:fld>
            <a:endParaRPr lang="en-HK"/>
          </a:p>
        </p:txBody>
      </p:sp>
    </p:spTree>
    <p:extLst>
      <p:ext uri="{BB962C8B-B14F-4D97-AF65-F5344CB8AC3E}">
        <p14:creationId xmlns:p14="http://schemas.microsoft.com/office/powerpoint/2010/main" val="41635446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1EA6-3BA4-B6C6-8D2A-56B8A900B9A4}"/>
              </a:ext>
            </a:extLst>
          </p:cNvPr>
          <p:cNvSpPr>
            <a:spLocks noGrp="1"/>
          </p:cNvSpPr>
          <p:nvPr>
            <p:ph type="title"/>
          </p:nvPr>
        </p:nvSpPr>
        <p:spPr>
          <a:xfrm>
            <a:off x="838200" y="365125"/>
            <a:ext cx="10515600" cy="1325563"/>
          </a:xfrm>
        </p:spPr>
        <p:txBody>
          <a:bodyPr/>
          <a:lstStyle/>
          <a:p>
            <a:r>
              <a:rPr lang="en-US" dirty="0"/>
              <a:t>5.2 </a:t>
            </a:r>
            <a:r>
              <a:rPr lang="en-HK" dirty="0"/>
              <a:t>Use code execution to perform more accurate calculations or call external APIs</a:t>
            </a:r>
            <a:endParaRPr lang="en-US" dirty="0"/>
          </a:p>
        </p:txBody>
      </p:sp>
      <p:sp>
        <p:nvSpPr>
          <p:cNvPr id="3" name="Content Placeholder 2">
            <a:extLst>
              <a:ext uri="{FF2B5EF4-FFF2-40B4-BE49-F238E27FC236}">
                <a16:creationId xmlns:a16="http://schemas.microsoft.com/office/drawing/2014/main" id="{A90A5F2F-D2B0-2DB0-9C34-54EB0E160AD0}"/>
              </a:ext>
            </a:extLst>
          </p:cNvPr>
          <p:cNvSpPr>
            <a:spLocks noGrp="1"/>
          </p:cNvSpPr>
          <p:nvPr>
            <p:ph idx="1"/>
          </p:nvPr>
        </p:nvSpPr>
        <p:spPr>
          <a:xfrm>
            <a:off x="838200" y="1825625"/>
            <a:ext cx="10515600" cy="4351338"/>
          </a:xfrm>
        </p:spPr>
        <p:txBody>
          <a:bodyPr>
            <a:normAutofit lnSpcReduction="10000"/>
          </a:bodyPr>
          <a:lstStyle/>
          <a:p>
            <a:pPr lvl="0"/>
            <a:r>
              <a:rPr lang="en-HK" dirty="0"/>
              <a:t>Language models are not reliable for performing arithmetic or long calculations.</a:t>
            </a:r>
          </a:p>
          <a:p>
            <a:pPr lvl="0"/>
            <a:r>
              <a:rPr lang="en-HK" dirty="0"/>
              <a:t>Models can write and run code for accurate calculations.</a:t>
            </a:r>
          </a:p>
          <a:p>
            <a:pPr lvl="0"/>
            <a:r>
              <a:rPr lang="en-HK" dirty="0"/>
              <a:t>Instructions can be given to put code in a designated format (e.g., triple backticks).</a:t>
            </a:r>
          </a:p>
          <a:p>
            <a:pPr lvl="0"/>
            <a:r>
              <a:rPr lang="en-HK" dirty="0"/>
              <a:t>Code can be executed, and results provided back to the model if needed.</a:t>
            </a:r>
          </a:p>
          <a:p>
            <a:pPr lvl="0"/>
            <a:r>
              <a:rPr lang="en-HK" dirty="0"/>
              <a:t>Models can use APIs by being given documentation and code samples.</a:t>
            </a:r>
          </a:p>
          <a:p>
            <a:pPr lvl="0"/>
            <a:r>
              <a:rPr lang="en-HK" dirty="0"/>
              <a:t>Code execution requires a </a:t>
            </a:r>
            <a:r>
              <a:rPr lang="en-HK" dirty="0">
                <a:solidFill>
                  <a:schemeClr val="accent2"/>
                </a:solidFill>
              </a:rPr>
              <a:t>sandboxed environment</a:t>
            </a:r>
            <a:r>
              <a:rPr lang="en-HK" dirty="0"/>
              <a:t> to ensure safety.</a:t>
            </a:r>
          </a:p>
          <a:p>
            <a:endParaRPr lang="en-US" dirty="0"/>
          </a:p>
        </p:txBody>
      </p:sp>
      <p:sp>
        <p:nvSpPr>
          <p:cNvPr id="4" name="Slide Number Placeholder 3">
            <a:extLst>
              <a:ext uri="{FF2B5EF4-FFF2-40B4-BE49-F238E27FC236}">
                <a16:creationId xmlns:a16="http://schemas.microsoft.com/office/drawing/2014/main" id="{5D73F5B7-97EC-B120-AD12-C60C335148AB}"/>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57</a:t>
            </a:fld>
            <a:endParaRPr lang="en-HK"/>
          </a:p>
        </p:txBody>
      </p:sp>
    </p:spTree>
    <p:extLst>
      <p:ext uri="{BB962C8B-B14F-4D97-AF65-F5344CB8AC3E}">
        <p14:creationId xmlns:p14="http://schemas.microsoft.com/office/powerpoint/2010/main" val="1054585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D89E-BA90-6E9A-CD6D-4FBBE953C9C8}"/>
              </a:ext>
            </a:extLst>
          </p:cNvPr>
          <p:cNvSpPr>
            <a:spLocks noGrp="1"/>
          </p:cNvSpPr>
          <p:nvPr>
            <p:ph type="title"/>
          </p:nvPr>
        </p:nvSpPr>
        <p:spPr/>
        <p:txBody>
          <a:bodyPr/>
          <a:lstStyle/>
          <a:p>
            <a:r>
              <a:rPr lang="en-US" dirty="0"/>
              <a:t>5.2 </a:t>
            </a:r>
            <a:r>
              <a:rPr lang="en-HK" dirty="0"/>
              <a:t>Use code execution to perform more accurate calculations or call external APIs</a:t>
            </a:r>
            <a:endParaRPr lang="en-US" dirty="0"/>
          </a:p>
        </p:txBody>
      </p:sp>
      <p:sp>
        <p:nvSpPr>
          <p:cNvPr id="3" name="Content Placeholder 2">
            <a:extLst>
              <a:ext uri="{FF2B5EF4-FFF2-40B4-BE49-F238E27FC236}">
                <a16:creationId xmlns:a16="http://schemas.microsoft.com/office/drawing/2014/main" id="{2FBE40F7-A204-AE72-52E2-52B727B37E86}"/>
              </a:ext>
            </a:extLst>
          </p:cNvPr>
          <p:cNvSpPr>
            <a:spLocks noGrp="1"/>
          </p:cNvSpPr>
          <p:nvPr>
            <p:ph idx="1"/>
          </p:nvPr>
        </p:nvSpPr>
        <p:spPr/>
        <p:txBody>
          <a:bodyPr/>
          <a:lstStyle/>
          <a:p>
            <a:pPr algn="l"/>
            <a:r>
              <a:rPr lang="en-HK" b="0" i="0" dirty="0">
                <a:effectLst/>
                <a:latin typeface="Roboto" panose="02000000000000000000" pitchFamily="2" charset="0"/>
              </a:rPr>
              <a:t>SYSTEM</a:t>
            </a:r>
          </a:p>
          <a:p>
            <a:pPr marL="0" indent="0" algn="l">
              <a:buNone/>
            </a:pPr>
            <a:r>
              <a:rPr lang="en-HK" b="0" i="0" dirty="0">
                <a:effectLst/>
                <a:latin typeface="Roboto" panose="02000000000000000000" pitchFamily="2" charset="0"/>
              </a:rPr>
              <a:t>You can write and execute Python code by enclosing it in triple backticks, e.g. ```code goes here```. Use this to perform calculations.</a:t>
            </a:r>
          </a:p>
          <a:p>
            <a:pPr algn="l"/>
            <a:r>
              <a:rPr lang="en-HK" b="0" i="0" dirty="0">
                <a:effectLst/>
                <a:latin typeface="Roboto" panose="02000000000000000000" pitchFamily="2" charset="0"/>
              </a:rPr>
              <a:t>USER</a:t>
            </a:r>
          </a:p>
          <a:p>
            <a:pPr marL="0" indent="0" algn="l">
              <a:buNone/>
            </a:pPr>
            <a:r>
              <a:rPr lang="en-HK" b="0" i="0" dirty="0">
                <a:effectLst/>
                <a:latin typeface="Roboto" panose="02000000000000000000" pitchFamily="2" charset="0"/>
              </a:rPr>
              <a:t>Find all real-valued roots of the following polynomial: 3*x**5 - 5*x**4 - 3*x**3 - 7*x - 10.</a:t>
            </a:r>
          </a:p>
          <a:p>
            <a:pPr marL="0" indent="0">
              <a:buNone/>
            </a:pPr>
            <a:endParaRPr lang="en-US" dirty="0"/>
          </a:p>
        </p:txBody>
      </p:sp>
      <p:sp>
        <p:nvSpPr>
          <p:cNvPr id="4" name="Slide Number Placeholder 3">
            <a:extLst>
              <a:ext uri="{FF2B5EF4-FFF2-40B4-BE49-F238E27FC236}">
                <a16:creationId xmlns:a16="http://schemas.microsoft.com/office/drawing/2014/main" id="{562E9B9A-53E5-B576-C286-7E3E950015BD}"/>
              </a:ext>
            </a:extLst>
          </p:cNvPr>
          <p:cNvSpPr>
            <a:spLocks noGrp="1"/>
          </p:cNvSpPr>
          <p:nvPr>
            <p:ph type="sldNum" sz="quarter" idx="12"/>
          </p:nvPr>
        </p:nvSpPr>
        <p:spPr/>
        <p:txBody>
          <a:bodyPr/>
          <a:lstStyle/>
          <a:p>
            <a:fld id="{7F8CBF50-853B-304C-BCA2-DB5146F0D4EA}" type="slidenum">
              <a:rPr lang="en-HK" smtClean="0"/>
              <a:t>58</a:t>
            </a:fld>
            <a:endParaRPr lang="en-HK"/>
          </a:p>
        </p:txBody>
      </p:sp>
    </p:spTree>
    <p:extLst>
      <p:ext uri="{BB962C8B-B14F-4D97-AF65-F5344CB8AC3E}">
        <p14:creationId xmlns:p14="http://schemas.microsoft.com/office/powerpoint/2010/main" val="22903963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150D75-11B9-7FED-1EE9-7F490D168E2B}"/>
              </a:ext>
            </a:extLst>
          </p:cNvPr>
          <p:cNvSpPr>
            <a:spLocks noGrp="1"/>
          </p:cNvSpPr>
          <p:nvPr>
            <p:ph type="title"/>
          </p:nvPr>
        </p:nvSpPr>
        <p:spPr>
          <a:xfrm>
            <a:off x="838200" y="365125"/>
            <a:ext cx="10515600" cy="1325563"/>
          </a:xfrm>
        </p:spPr>
        <p:txBody>
          <a:bodyPr/>
          <a:lstStyle/>
          <a:p>
            <a:r>
              <a:rPr lang="en-US" dirty="0"/>
              <a:t>5.3 </a:t>
            </a:r>
            <a:r>
              <a:rPr lang="en-HK" dirty="0"/>
              <a:t>Give the model access to specific functions</a:t>
            </a:r>
            <a:endParaRPr lang="en-US" dirty="0"/>
          </a:p>
        </p:txBody>
      </p:sp>
      <p:sp>
        <p:nvSpPr>
          <p:cNvPr id="3" name="Content Placeholder 2">
            <a:extLst>
              <a:ext uri="{FF2B5EF4-FFF2-40B4-BE49-F238E27FC236}">
                <a16:creationId xmlns:a16="http://schemas.microsoft.com/office/drawing/2014/main" id="{D35A25E1-93A0-2137-33C7-447F23B602EF}"/>
              </a:ext>
            </a:extLst>
          </p:cNvPr>
          <p:cNvSpPr>
            <a:spLocks noGrp="1"/>
          </p:cNvSpPr>
          <p:nvPr>
            <p:ph idx="1"/>
          </p:nvPr>
        </p:nvSpPr>
        <p:spPr>
          <a:xfrm>
            <a:off x="838200" y="1825625"/>
            <a:ext cx="10515600" cy="4351338"/>
          </a:xfrm>
        </p:spPr>
        <p:txBody>
          <a:bodyPr/>
          <a:lstStyle/>
          <a:p>
            <a:pPr lvl="0"/>
            <a:r>
              <a:rPr lang="en-HK" dirty="0"/>
              <a:t>The Chat Completions API allows for function descriptions to be included in requests.</a:t>
            </a:r>
          </a:p>
          <a:p>
            <a:pPr lvl="0"/>
            <a:r>
              <a:rPr lang="en-HK" dirty="0"/>
              <a:t>Models generate function arguments according to provided schemas.</a:t>
            </a:r>
          </a:p>
          <a:p>
            <a:pPr lvl="0"/>
            <a:r>
              <a:rPr lang="en-HK" dirty="0"/>
              <a:t>Generated function arguments are returned in JSON format for execution.</a:t>
            </a:r>
          </a:p>
          <a:p>
            <a:pPr lvl="0"/>
            <a:r>
              <a:rPr lang="en-HK" dirty="0">
                <a:solidFill>
                  <a:schemeClr val="accent2"/>
                </a:solidFill>
              </a:rPr>
              <a:t>Function call</a:t>
            </a:r>
            <a:r>
              <a:rPr lang="en-HK" dirty="0"/>
              <a:t> outputs can be fed back into the model for subsequent requests.</a:t>
            </a:r>
          </a:p>
          <a:p>
            <a:endParaRPr lang="en-US" dirty="0"/>
          </a:p>
        </p:txBody>
      </p:sp>
      <p:sp>
        <p:nvSpPr>
          <p:cNvPr id="4" name="Slide Number Placeholder 3">
            <a:extLst>
              <a:ext uri="{FF2B5EF4-FFF2-40B4-BE49-F238E27FC236}">
                <a16:creationId xmlns:a16="http://schemas.microsoft.com/office/drawing/2014/main" id="{A4880454-C421-25E9-428A-F1C3D9DA3DDF}"/>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59</a:t>
            </a:fld>
            <a:endParaRPr lang="en-HK"/>
          </a:p>
        </p:txBody>
      </p:sp>
    </p:spTree>
    <p:extLst>
      <p:ext uri="{BB962C8B-B14F-4D97-AF65-F5344CB8AC3E}">
        <p14:creationId xmlns:p14="http://schemas.microsoft.com/office/powerpoint/2010/main" val="35680337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1307-ECF1-4F4A-AD37-26075A4BF013}"/>
              </a:ext>
            </a:extLst>
          </p:cNvPr>
          <p:cNvSpPr>
            <a:spLocks noGrp="1"/>
          </p:cNvSpPr>
          <p:nvPr>
            <p:ph type="title"/>
          </p:nvPr>
        </p:nvSpPr>
        <p:spPr>
          <a:xfrm>
            <a:off x="838200" y="365125"/>
            <a:ext cx="10515600" cy="1325563"/>
          </a:xfrm>
        </p:spPr>
        <p:txBody>
          <a:bodyPr/>
          <a:lstStyle/>
          <a:p>
            <a:r>
              <a:rPr lang="en-US" dirty="0"/>
              <a:t>6. </a:t>
            </a:r>
            <a:r>
              <a:rPr lang="en-HK" dirty="0"/>
              <a:t>Test Changes Systematically</a:t>
            </a:r>
            <a:endParaRPr lang="en-US" dirty="0"/>
          </a:p>
        </p:txBody>
      </p:sp>
      <p:sp>
        <p:nvSpPr>
          <p:cNvPr id="3" name="Content Placeholder 2">
            <a:extLst>
              <a:ext uri="{FF2B5EF4-FFF2-40B4-BE49-F238E27FC236}">
                <a16:creationId xmlns:a16="http://schemas.microsoft.com/office/drawing/2014/main" id="{C059CBB5-EB95-32C4-9627-4FEEA2D4008A}"/>
              </a:ext>
            </a:extLst>
          </p:cNvPr>
          <p:cNvSpPr>
            <a:spLocks noGrp="1"/>
          </p:cNvSpPr>
          <p:nvPr>
            <p:ph idx="1"/>
          </p:nvPr>
        </p:nvSpPr>
        <p:spPr>
          <a:xfrm>
            <a:off x="838200" y="1825625"/>
            <a:ext cx="10515600" cy="4351338"/>
          </a:xfrm>
        </p:spPr>
        <p:txBody>
          <a:bodyPr/>
          <a:lstStyle/>
          <a:p>
            <a:pPr lvl="0"/>
            <a:r>
              <a:rPr lang="en-HK" dirty="0"/>
              <a:t>Test changes systematically to identify improvements or detriments.</a:t>
            </a:r>
          </a:p>
          <a:p>
            <a:pPr lvl="0"/>
            <a:r>
              <a:rPr lang="en-HK" dirty="0"/>
              <a:t>Use evaluation procedures (evals) to optimize system designs.</a:t>
            </a:r>
          </a:p>
          <a:p>
            <a:pPr lvl="0"/>
            <a:r>
              <a:rPr lang="en-HK" dirty="0"/>
              <a:t>Ensure evals are representative of real-world usage and diverse.</a:t>
            </a:r>
          </a:p>
          <a:p>
            <a:pPr lvl="0"/>
            <a:r>
              <a:rPr lang="en-HK" dirty="0"/>
              <a:t>Include many test cases to enhance statistical power.</a:t>
            </a:r>
          </a:p>
          <a:p>
            <a:pPr lvl="0"/>
            <a:r>
              <a:rPr lang="en-HK" dirty="0"/>
              <a:t>Automate or repeat evals for consistency and reliability.</a:t>
            </a:r>
          </a:p>
          <a:p>
            <a:r>
              <a:rPr lang="en-HK" dirty="0"/>
              <a:t>Evaluations can be conducted by computers, humans, or a combination of both.</a:t>
            </a:r>
          </a:p>
          <a:p>
            <a:r>
              <a:rPr lang="en-HK" dirty="0"/>
              <a:t>Tactics:</a:t>
            </a:r>
          </a:p>
          <a:p>
            <a:pPr lvl="1"/>
            <a:r>
              <a:rPr lang="en-HK" dirty="0"/>
              <a:t>Evaluate model outputs with reference to gold-standard answers.</a:t>
            </a:r>
          </a:p>
          <a:p>
            <a:endParaRPr lang="en-US" dirty="0"/>
          </a:p>
        </p:txBody>
      </p:sp>
      <p:sp>
        <p:nvSpPr>
          <p:cNvPr id="4" name="Slide Number Placeholder 3">
            <a:extLst>
              <a:ext uri="{FF2B5EF4-FFF2-40B4-BE49-F238E27FC236}">
                <a16:creationId xmlns:a16="http://schemas.microsoft.com/office/drawing/2014/main" id="{C8C4D021-46F9-832C-C2AB-E1B4CC6884AD}"/>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60</a:t>
            </a:fld>
            <a:endParaRPr lang="en-HK"/>
          </a:p>
        </p:txBody>
      </p:sp>
    </p:spTree>
    <p:extLst>
      <p:ext uri="{BB962C8B-B14F-4D97-AF65-F5344CB8AC3E}">
        <p14:creationId xmlns:p14="http://schemas.microsoft.com/office/powerpoint/2010/main" val="3335705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DCF5-B7E6-4D51-1ED2-89414C120F27}"/>
              </a:ext>
            </a:extLst>
          </p:cNvPr>
          <p:cNvSpPr>
            <a:spLocks noGrp="1"/>
          </p:cNvSpPr>
          <p:nvPr>
            <p:ph type="title"/>
          </p:nvPr>
        </p:nvSpPr>
        <p:spPr>
          <a:xfrm>
            <a:off x="838200" y="365125"/>
            <a:ext cx="10515600" cy="1325563"/>
          </a:xfrm>
        </p:spPr>
        <p:txBody>
          <a:bodyPr/>
          <a:lstStyle/>
          <a:p>
            <a:r>
              <a:rPr lang="en-HK" dirty="0"/>
              <a:t>Sample Size Requirements for Detecting Performance Differences</a:t>
            </a:r>
            <a:endParaRPr lang="en-US" dirty="0"/>
          </a:p>
        </p:txBody>
      </p:sp>
      <p:graphicFrame>
        <p:nvGraphicFramePr>
          <p:cNvPr id="5" name="Content Placeholder 4">
            <a:extLst>
              <a:ext uri="{FF2B5EF4-FFF2-40B4-BE49-F238E27FC236}">
                <a16:creationId xmlns:a16="http://schemas.microsoft.com/office/drawing/2014/main" id="{84C7CE50-36B6-58A5-3F5D-36B9CAEEDE2E}"/>
              </a:ext>
            </a:extLst>
          </p:cNvPr>
          <p:cNvGraphicFramePr>
            <a:graphicFrameLocks noGrp="1"/>
          </p:cNvGraphicFramePr>
          <p:nvPr>
            <p:ph idx="1"/>
            <p:extLst>
              <p:ext uri="{D42A27DB-BD31-4B8C-83A1-F6EECF244321}">
                <p14:modId xmlns:p14="http://schemas.microsoft.com/office/powerpoint/2010/main" val="509825224"/>
              </p:ext>
            </p:extLst>
          </p:nvPr>
        </p:nvGraphicFramePr>
        <p:xfrm>
          <a:off x="838200" y="1825625"/>
          <a:ext cx="10515600" cy="3657600"/>
        </p:xfrm>
        <a:graphic>
          <a:graphicData uri="http://schemas.openxmlformats.org/drawingml/2006/table">
            <a:tbl>
              <a:tblPr firstRow="1" bandRow="1">
                <a:tableStyleId>{72833802-FEF1-4C79-8D5D-14CF1EAF98D9}</a:tableStyleId>
              </a:tblPr>
              <a:tblGrid>
                <a:gridCol w="5257800">
                  <a:extLst>
                    <a:ext uri="{9D8B030D-6E8A-4147-A177-3AD203B41FA5}">
                      <a16:colId xmlns:a16="http://schemas.microsoft.com/office/drawing/2014/main" val="2499574982"/>
                    </a:ext>
                  </a:extLst>
                </a:gridCol>
                <a:gridCol w="5257800">
                  <a:extLst>
                    <a:ext uri="{9D8B030D-6E8A-4147-A177-3AD203B41FA5}">
                      <a16:colId xmlns:a16="http://schemas.microsoft.com/office/drawing/2014/main" val="1882150501"/>
                    </a:ext>
                  </a:extLst>
                </a:gridCol>
              </a:tblGrid>
              <a:tr h="820278">
                <a:tc>
                  <a:txBody>
                    <a:bodyPr/>
                    <a:lstStyle/>
                    <a:p>
                      <a:pPr algn="l" fontAlgn="b">
                        <a:lnSpc>
                          <a:spcPct val="100000"/>
                        </a:lnSpc>
                      </a:pPr>
                      <a:r>
                        <a:rPr lang="en-HK" sz="3200" b="1" cap="all" dirty="0">
                          <a:effectLst/>
                        </a:rPr>
                        <a:t>DIFFERENCE TO DETECT</a:t>
                      </a:r>
                    </a:p>
                  </a:txBody>
                  <a:tcPr marR="76200" marB="76200" anchor="b"/>
                </a:tc>
                <a:tc>
                  <a:txBody>
                    <a:bodyPr/>
                    <a:lstStyle/>
                    <a:p>
                      <a:pPr algn="l" fontAlgn="b">
                        <a:lnSpc>
                          <a:spcPct val="100000"/>
                        </a:lnSpc>
                      </a:pPr>
                      <a:r>
                        <a:rPr lang="en-HK" sz="3200" b="1" cap="all" dirty="0">
                          <a:effectLst/>
                        </a:rPr>
                        <a:t>SAMPLE SIZE NEEDED FOR 95% CONFIDENCE</a:t>
                      </a:r>
                    </a:p>
                  </a:txBody>
                  <a:tcPr marL="76200" marB="76200" anchor="b"/>
                </a:tc>
                <a:extLst>
                  <a:ext uri="{0D108BD9-81ED-4DB2-BD59-A6C34878D82A}">
                    <a16:rowId xmlns:a16="http://schemas.microsoft.com/office/drawing/2014/main" val="2338674577"/>
                  </a:ext>
                </a:extLst>
              </a:tr>
              <a:tr h="370840">
                <a:tc>
                  <a:txBody>
                    <a:bodyPr/>
                    <a:lstStyle/>
                    <a:p>
                      <a:pPr fontAlgn="t">
                        <a:lnSpc>
                          <a:spcPct val="100000"/>
                        </a:lnSpc>
                      </a:pPr>
                      <a:r>
                        <a:rPr lang="en-HK" sz="3200" dirty="0">
                          <a:effectLst/>
                        </a:rPr>
                        <a:t>30%</a:t>
                      </a:r>
                    </a:p>
                  </a:txBody>
                  <a:tcPr marR="76200" marT="76200" marB="76200"/>
                </a:tc>
                <a:tc>
                  <a:txBody>
                    <a:bodyPr/>
                    <a:lstStyle/>
                    <a:p>
                      <a:pPr fontAlgn="t">
                        <a:lnSpc>
                          <a:spcPct val="100000"/>
                        </a:lnSpc>
                      </a:pPr>
                      <a:r>
                        <a:rPr lang="en-HK" sz="3200" dirty="0">
                          <a:effectLst/>
                        </a:rPr>
                        <a:t>~10</a:t>
                      </a:r>
                    </a:p>
                  </a:txBody>
                  <a:tcPr marL="76200" marT="76200" marB="76200"/>
                </a:tc>
                <a:extLst>
                  <a:ext uri="{0D108BD9-81ED-4DB2-BD59-A6C34878D82A}">
                    <a16:rowId xmlns:a16="http://schemas.microsoft.com/office/drawing/2014/main" val="3503184913"/>
                  </a:ext>
                </a:extLst>
              </a:tr>
              <a:tr h="370840">
                <a:tc>
                  <a:txBody>
                    <a:bodyPr/>
                    <a:lstStyle/>
                    <a:p>
                      <a:pPr fontAlgn="t">
                        <a:lnSpc>
                          <a:spcPct val="100000"/>
                        </a:lnSpc>
                      </a:pPr>
                      <a:r>
                        <a:rPr lang="en-HK" sz="3200" dirty="0">
                          <a:effectLst/>
                        </a:rPr>
                        <a:t>10%</a:t>
                      </a:r>
                    </a:p>
                  </a:txBody>
                  <a:tcPr marR="76200" marT="76200" marB="76200"/>
                </a:tc>
                <a:tc>
                  <a:txBody>
                    <a:bodyPr/>
                    <a:lstStyle/>
                    <a:p>
                      <a:pPr fontAlgn="t">
                        <a:lnSpc>
                          <a:spcPct val="100000"/>
                        </a:lnSpc>
                      </a:pPr>
                      <a:r>
                        <a:rPr lang="en-HK" sz="3200" dirty="0">
                          <a:effectLst/>
                        </a:rPr>
                        <a:t>~100</a:t>
                      </a:r>
                    </a:p>
                  </a:txBody>
                  <a:tcPr marL="76200" marT="76200" marB="76200"/>
                </a:tc>
                <a:extLst>
                  <a:ext uri="{0D108BD9-81ED-4DB2-BD59-A6C34878D82A}">
                    <a16:rowId xmlns:a16="http://schemas.microsoft.com/office/drawing/2014/main" val="2391732499"/>
                  </a:ext>
                </a:extLst>
              </a:tr>
              <a:tr h="370840">
                <a:tc>
                  <a:txBody>
                    <a:bodyPr/>
                    <a:lstStyle/>
                    <a:p>
                      <a:pPr fontAlgn="t">
                        <a:lnSpc>
                          <a:spcPct val="100000"/>
                        </a:lnSpc>
                      </a:pPr>
                      <a:r>
                        <a:rPr lang="en-HK" sz="3200">
                          <a:effectLst/>
                        </a:rPr>
                        <a:t>3%</a:t>
                      </a:r>
                    </a:p>
                  </a:txBody>
                  <a:tcPr marR="76200" marT="76200" marB="76200"/>
                </a:tc>
                <a:tc>
                  <a:txBody>
                    <a:bodyPr/>
                    <a:lstStyle/>
                    <a:p>
                      <a:pPr fontAlgn="t">
                        <a:lnSpc>
                          <a:spcPct val="100000"/>
                        </a:lnSpc>
                      </a:pPr>
                      <a:r>
                        <a:rPr lang="en-HK" sz="3200" dirty="0">
                          <a:effectLst/>
                        </a:rPr>
                        <a:t>~1,000</a:t>
                      </a:r>
                    </a:p>
                  </a:txBody>
                  <a:tcPr marL="76200" marT="76200" marB="76200"/>
                </a:tc>
                <a:extLst>
                  <a:ext uri="{0D108BD9-81ED-4DB2-BD59-A6C34878D82A}">
                    <a16:rowId xmlns:a16="http://schemas.microsoft.com/office/drawing/2014/main" val="2957100019"/>
                  </a:ext>
                </a:extLst>
              </a:tr>
              <a:tr h="370840">
                <a:tc>
                  <a:txBody>
                    <a:bodyPr/>
                    <a:lstStyle/>
                    <a:p>
                      <a:pPr fontAlgn="t">
                        <a:lnSpc>
                          <a:spcPct val="100000"/>
                        </a:lnSpc>
                      </a:pPr>
                      <a:r>
                        <a:rPr lang="en-HK" sz="3200" dirty="0">
                          <a:effectLst/>
                        </a:rPr>
                        <a:t>1%</a:t>
                      </a:r>
                    </a:p>
                  </a:txBody>
                  <a:tcPr marR="76200" marT="76200" marB="76200"/>
                </a:tc>
                <a:tc>
                  <a:txBody>
                    <a:bodyPr/>
                    <a:lstStyle/>
                    <a:p>
                      <a:pPr fontAlgn="t">
                        <a:lnSpc>
                          <a:spcPct val="100000"/>
                        </a:lnSpc>
                      </a:pPr>
                      <a:r>
                        <a:rPr lang="en-HK" sz="3200" dirty="0">
                          <a:effectLst/>
                        </a:rPr>
                        <a:t>~10,000</a:t>
                      </a:r>
                    </a:p>
                  </a:txBody>
                  <a:tcPr marL="76200" marT="76200" marB="76200"/>
                </a:tc>
                <a:extLst>
                  <a:ext uri="{0D108BD9-81ED-4DB2-BD59-A6C34878D82A}">
                    <a16:rowId xmlns:a16="http://schemas.microsoft.com/office/drawing/2014/main" val="1887946167"/>
                  </a:ext>
                </a:extLst>
              </a:tr>
            </a:tbl>
          </a:graphicData>
        </a:graphic>
      </p:graphicFrame>
      <p:sp>
        <p:nvSpPr>
          <p:cNvPr id="4" name="Slide Number Placeholder 3">
            <a:extLst>
              <a:ext uri="{FF2B5EF4-FFF2-40B4-BE49-F238E27FC236}">
                <a16:creationId xmlns:a16="http://schemas.microsoft.com/office/drawing/2014/main" id="{DACAE3C9-0EC2-23A2-45A5-F9F76018DB68}"/>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61</a:t>
            </a:fld>
            <a:endParaRPr lang="en-HK"/>
          </a:p>
        </p:txBody>
      </p:sp>
    </p:spTree>
    <p:extLst>
      <p:ext uri="{BB962C8B-B14F-4D97-AF65-F5344CB8AC3E}">
        <p14:creationId xmlns:p14="http://schemas.microsoft.com/office/powerpoint/2010/main" val="41229419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C64B-B566-2CC3-E9A9-814588A6D791}"/>
              </a:ext>
            </a:extLst>
          </p:cNvPr>
          <p:cNvSpPr>
            <a:spLocks noGrp="1"/>
          </p:cNvSpPr>
          <p:nvPr>
            <p:ph type="title"/>
          </p:nvPr>
        </p:nvSpPr>
        <p:spPr>
          <a:xfrm>
            <a:off x="838200" y="365125"/>
            <a:ext cx="10515600" cy="1325563"/>
          </a:xfrm>
        </p:spPr>
        <p:txBody>
          <a:bodyPr/>
          <a:lstStyle/>
          <a:p>
            <a:r>
              <a:rPr lang="en-US" dirty="0"/>
              <a:t>6.1 </a:t>
            </a:r>
            <a:r>
              <a:rPr lang="en-HK" dirty="0"/>
              <a:t>Evaluate model outputs with reference to gold-standard answers</a:t>
            </a:r>
            <a:endParaRPr lang="en-US" dirty="0"/>
          </a:p>
        </p:txBody>
      </p:sp>
      <p:sp>
        <p:nvSpPr>
          <p:cNvPr id="3" name="Content Placeholder 2">
            <a:extLst>
              <a:ext uri="{FF2B5EF4-FFF2-40B4-BE49-F238E27FC236}">
                <a16:creationId xmlns:a16="http://schemas.microsoft.com/office/drawing/2014/main" id="{D20E125C-554C-8164-3C7F-473ACB4592F2}"/>
              </a:ext>
            </a:extLst>
          </p:cNvPr>
          <p:cNvSpPr>
            <a:spLocks noGrp="1"/>
          </p:cNvSpPr>
          <p:nvPr>
            <p:ph idx="1"/>
          </p:nvPr>
        </p:nvSpPr>
        <p:spPr>
          <a:xfrm>
            <a:off x="838200" y="1825625"/>
            <a:ext cx="10515600" cy="4351338"/>
          </a:xfrm>
        </p:spPr>
        <p:txBody>
          <a:bodyPr>
            <a:normAutofit lnSpcReduction="10000"/>
          </a:bodyPr>
          <a:lstStyle/>
          <a:p>
            <a:pPr lvl="0"/>
            <a:r>
              <a:rPr lang="en-HK" dirty="0"/>
              <a:t>A model-based query can be used to </a:t>
            </a:r>
            <a:r>
              <a:rPr lang="en-HK" dirty="0">
                <a:solidFill>
                  <a:schemeClr val="accent2"/>
                </a:solidFill>
              </a:rPr>
              <a:t>count</a:t>
            </a:r>
            <a:r>
              <a:rPr lang="en-HK" dirty="0"/>
              <a:t> how many required facts are included in an answer.</a:t>
            </a:r>
          </a:p>
          <a:p>
            <a:pPr lvl="0"/>
            <a:r>
              <a:rPr lang="en-HK" dirty="0"/>
              <a:t>The process involves restating the point, providing a citation from the answer, and determining if the citation directly infers the point.</a:t>
            </a:r>
          </a:p>
          <a:p>
            <a:pPr lvl="0"/>
            <a:r>
              <a:rPr lang="en-HK" dirty="0"/>
              <a:t>A variation of the model tracks </a:t>
            </a:r>
            <a:r>
              <a:rPr lang="en-HK" dirty="0">
                <a:solidFill>
                  <a:schemeClr val="accent2"/>
                </a:solidFill>
              </a:rPr>
              <a:t>overlap</a:t>
            </a:r>
            <a:r>
              <a:rPr lang="en-HK" dirty="0"/>
              <a:t> between the candidate answer and the gold-standard answer, and checks for </a:t>
            </a:r>
            <a:r>
              <a:rPr lang="en-HK" dirty="0">
                <a:solidFill>
                  <a:schemeClr val="accent2"/>
                </a:solidFill>
              </a:rPr>
              <a:t>contradictions</a:t>
            </a:r>
            <a:r>
              <a:rPr lang="en-HK" dirty="0"/>
              <a:t>.</a:t>
            </a:r>
          </a:p>
          <a:p>
            <a:pPr lvl="0"/>
            <a:r>
              <a:rPr lang="en-HK" dirty="0"/>
              <a:t>Steps include reasoning about the </a:t>
            </a:r>
            <a:r>
              <a:rPr lang="en-HK" dirty="0">
                <a:solidFill>
                  <a:schemeClr val="accent2"/>
                </a:solidFill>
              </a:rPr>
              <a:t>overlap type (disjoint, equal, subset, superset, overlapping</a:t>
            </a:r>
            <a:r>
              <a:rPr lang="en-HK" dirty="0"/>
              <a:t>) and checking for contradictions.</a:t>
            </a:r>
          </a:p>
          <a:p>
            <a:pPr lvl="0"/>
            <a:r>
              <a:rPr lang="en-HK" dirty="0"/>
              <a:t>Outputs a JSON object indicating the type of overlap and whether there is a contradiction.</a:t>
            </a:r>
          </a:p>
          <a:p>
            <a:endParaRPr lang="en-US" dirty="0"/>
          </a:p>
        </p:txBody>
      </p:sp>
      <p:sp>
        <p:nvSpPr>
          <p:cNvPr id="4" name="Slide Number Placeholder 3">
            <a:extLst>
              <a:ext uri="{FF2B5EF4-FFF2-40B4-BE49-F238E27FC236}">
                <a16:creationId xmlns:a16="http://schemas.microsoft.com/office/drawing/2014/main" id="{A85999BA-8ADE-40E1-FB75-A92D1369D295}"/>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62</a:t>
            </a:fld>
            <a:endParaRPr lang="en-HK"/>
          </a:p>
        </p:txBody>
      </p:sp>
    </p:spTree>
    <p:extLst>
      <p:ext uri="{BB962C8B-B14F-4D97-AF65-F5344CB8AC3E}">
        <p14:creationId xmlns:p14="http://schemas.microsoft.com/office/powerpoint/2010/main" val="6760972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722074A-075A-D553-FFA6-3A047CF0D408}"/>
              </a:ext>
            </a:extLst>
          </p:cNvPr>
          <p:cNvSpPr>
            <a:spLocks noGrp="1"/>
          </p:cNvSpPr>
          <p:nvPr>
            <p:ph type="title"/>
          </p:nvPr>
        </p:nvSpPr>
        <p:spPr/>
        <p:txBody>
          <a:bodyPr/>
          <a:lstStyle/>
          <a:p>
            <a:r>
              <a:rPr lang="en-US" dirty="0"/>
              <a:t>Example: Counting Facts</a:t>
            </a:r>
          </a:p>
        </p:txBody>
      </p:sp>
      <p:sp>
        <p:nvSpPr>
          <p:cNvPr id="3" name="Content Placeholder 2">
            <a:extLst>
              <a:ext uri="{FF2B5EF4-FFF2-40B4-BE49-F238E27FC236}">
                <a16:creationId xmlns:a16="http://schemas.microsoft.com/office/drawing/2014/main" id="{BD09FE00-FD7D-0363-74A8-2C8E32C23220}"/>
              </a:ext>
            </a:extLst>
          </p:cNvPr>
          <p:cNvSpPr>
            <a:spLocks noGrp="1"/>
          </p:cNvSpPr>
          <p:nvPr>
            <p:ph idx="1"/>
          </p:nvPr>
        </p:nvSpPr>
        <p:spPr>
          <a:xfrm>
            <a:off x="838200" y="1825625"/>
            <a:ext cx="10515600" cy="4351338"/>
          </a:xfrm>
        </p:spPr>
        <p:txBody>
          <a:bodyPr>
            <a:normAutofit fontScale="85000" lnSpcReduction="10000"/>
          </a:bodyPr>
          <a:lstStyle/>
          <a:p>
            <a:r>
              <a:rPr lang="en-HK" dirty="0"/>
              <a:t>SYSTEM</a:t>
            </a:r>
          </a:p>
          <a:p>
            <a:pPr marL="0" indent="0">
              <a:buNone/>
            </a:pPr>
            <a:r>
              <a:rPr lang="en-HK" dirty="0"/>
              <a:t>You will be provided with text delimited by triple quotes that is supposed to be the answer to a question. Check if the following pieces of information are directly contained in the answer: - Neil Armstrong was the first person to walk on the moon. - The date Neil Armstrong first walked on the moon was July 21, 1969. </a:t>
            </a:r>
          </a:p>
          <a:p>
            <a:pPr marL="0" indent="0">
              <a:buNone/>
            </a:pPr>
            <a:r>
              <a:rPr lang="en-HK" dirty="0"/>
              <a:t>For each of these points perform the following steps: </a:t>
            </a:r>
          </a:p>
          <a:p>
            <a:pPr marL="0" indent="0">
              <a:buNone/>
            </a:pPr>
            <a:r>
              <a:rPr lang="en-HK" dirty="0"/>
              <a:t>1 - Restate the point. 2 - Provide a citation from the answer which is closest to this point. 3 - Consider if someone reading the citation who doesn't know the topic could directly infer the point. Explain why or why not before making up your mind. 4 - Write "yes" if the answer to 3 was yes, otherwise write "no". </a:t>
            </a:r>
          </a:p>
          <a:p>
            <a:pPr marL="0" indent="0">
              <a:buNone/>
            </a:pPr>
            <a:r>
              <a:rPr lang="en-HK" dirty="0"/>
              <a:t>Finally, provide a count of how many "yes" answers there are. Provide this count as {"count": &lt;insert count here&gt;}.</a:t>
            </a:r>
          </a:p>
          <a:p>
            <a:endParaRPr lang="en-US" dirty="0"/>
          </a:p>
        </p:txBody>
      </p:sp>
      <p:sp>
        <p:nvSpPr>
          <p:cNvPr id="4" name="Slide Number Placeholder 3">
            <a:extLst>
              <a:ext uri="{FF2B5EF4-FFF2-40B4-BE49-F238E27FC236}">
                <a16:creationId xmlns:a16="http://schemas.microsoft.com/office/drawing/2014/main" id="{8F6C716B-BEE4-81BB-1ECA-1164A78BE014}"/>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63</a:t>
            </a:fld>
            <a:endParaRPr lang="en-HK"/>
          </a:p>
        </p:txBody>
      </p:sp>
    </p:spTree>
    <p:extLst>
      <p:ext uri="{BB962C8B-B14F-4D97-AF65-F5344CB8AC3E}">
        <p14:creationId xmlns:p14="http://schemas.microsoft.com/office/powerpoint/2010/main" val="20770461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893C-55AF-1804-7279-05062E7A0705}"/>
              </a:ext>
            </a:extLst>
          </p:cNvPr>
          <p:cNvSpPr>
            <a:spLocks noGrp="1"/>
          </p:cNvSpPr>
          <p:nvPr>
            <p:ph type="title"/>
          </p:nvPr>
        </p:nvSpPr>
        <p:spPr>
          <a:xfrm>
            <a:off x="838200" y="365125"/>
            <a:ext cx="10515600" cy="1325563"/>
          </a:xfrm>
        </p:spPr>
        <p:txBody>
          <a:bodyPr/>
          <a:lstStyle/>
          <a:p>
            <a:r>
              <a:rPr lang="en-US" dirty="0"/>
              <a:t>Example: Counting Facts</a:t>
            </a:r>
          </a:p>
        </p:txBody>
      </p:sp>
      <p:sp>
        <p:nvSpPr>
          <p:cNvPr id="3" name="Content Placeholder 2">
            <a:extLst>
              <a:ext uri="{FF2B5EF4-FFF2-40B4-BE49-F238E27FC236}">
                <a16:creationId xmlns:a16="http://schemas.microsoft.com/office/drawing/2014/main" id="{674B27AD-0912-7E38-4630-06EF3038F947}"/>
              </a:ext>
            </a:extLst>
          </p:cNvPr>
          <p:cNvSpPr>
            <a:spLocks noGrp="1"/>
          </p:cNvSpPr>
          <p:nvPr>
            <p:ph idx="1"/>
          </p:nvPr>
        </p:nvSpPr>
        <p:spPr>
          <a:xfrm>
            <a:off x="838200" y="1825625"/>
            <a:ext cx="10515600" cy="4351338"/>
          </a:xfrm>
        </p:spPr>
        <p:txBody>
          <a:bodyPr>
            <a:normAutofit fontScale="92500" lnSpcReduction="10000"/>
          </a:bodyPr>
          <a:lstStyle/>
          <a:p>
            <a:r>
              <a:rPr lang="en-HK" dirty="0"/>
              <a:t>both points are satisfied</a:t>
            </a:r>
          </a:p>
          <a:p>
            <a:pPr marL="0" indent="0">
              <a:buNone/>
            </a:pPr>
            <a:r>
              <a:rPr lang="en-HK" dirty="0"/>
              <a:t>"""Neil Armstrong is famous for being the first human to set foot on the Moon. This historic event took place on July 21, 1969, during the Apollo 11 mission."""</a:t>
            </a:r>
          </a:p>
          <a:p>
            <a:r>
              <a:rPr lang="en-HK" dirty="0"/>
              <a:t> only one point is satisfied</a:t>
            </a:r>
          </a:p>
          <a:p>
            <a:pPr marL="0" indent="0">
              <a:buNone/>
            </a:pPr>
            <a:r>
              <a:rPr lang="en-HK" dirty="0"/>
              <a:t>"""Neil Armstrong made history when he stepped off the lunar module, becoming the first person to walk on the moon."""</a:t>
            </a:r>
          </a:p>
          <a:p>
            <a:r>
              <a:rPr lang="en-HK" dirty="0"/>
              <a:t>none are satisfied</a:t>
            </a:r>
          </a:p>
          <a:p>
            <a:pPr marL="0" indent="0">
              <a:buNone/>
            </a:pPr>
            <a:r>
              <a:rPr lang="en-HK" dirty="0"/>
              <a:t>"""In the summer of '69, a voyage grand, Apollo 11, bold as legend's hand. Armstrong took a step, history unfurled, "One small step," he said, for a new world."""</a:t>
            </a:r>
          </a:p>
          <a:p>
            <a:endParaRPr lang="en-US" dirty="0"/>
          </a:p>
        </p:txBody>
      </p:sp>
      <p:sp>
        <p:nvSpPr>
          <p:cNvPr id="4" name="Slide Number Placeholder 3">
            <a:extLst>
              <a:ext uri="{FF2B5EF4-FFF2-40B4-BE49-F238E27FC236}">
                <a16:creationId xmlns:a16="http://schemas.microsoft.com/office/drawing/2014/main" id="{35BEE01A-2FC3-85EF-9486-822D2B39E826}"/>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64</a:t>
            </a:fld>
            <a:endParaRPr lang="en-HK"/>
          </a:p>
        </p:txBody>
      </p:sp>
    </p:spTree>
    <p:extLst>
      <p:ext uri="{BB962C8B-B14F-4D97-AF65-F5344CB8AC3E}">
        <p14:creationId xmlns:p14="http://schemas.microsoft.com/office/powerpoint/2010/main" val="1226851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B06205-556D-2E14-A0A4-BBD4C2635FB0}"/>
              </a:ext>
            </a:extLst>
          </p:cNvPr>
          <p:cNvSpPr>
            <a:spLocks noGrp="1"/>
          </p:cNvSpPr>
          <p:nvPr>
            <p:ph type="title"/>
          </p:nvPr>
        </p:nvSpPr>
        <p:spPr/>
        <p:txBody>
          <a:bodyPr/>
          <a:lstStyle/>
          <a:p>
            <a:r>
              <a:rPr lang="en-US" dirty="0"/>
              <a:t>Example: Overlapping and Contradiction </a:t>
            </a:r>
          </a:p>
        </p:txBody>
      </p:sp>
      <p:sp>
        <p:nvSpPr>
          <p:cNvPr id="3" name="Content Placeholder 2">
            <a:extLst>
              <a:ext uri="{FF2B5EF4-FFF2-40B4-BE49-F238E27FC236}">
                <a16:creationId xmlns:a16="http://schemas.microsoft.com/office/drawing/2014/main" id="{CAFDAE7D-F451-6563-A5F7-7F94E178A44A}"/>
              </a:ext>
            </a:extLst>
          </p:cNvPr>
          <p:cNvSpPr>
            <a:spLocks noGrp="1"/>
          </p:cNvSpPr>
          <p:nvPr>
            <p:ph idx="1"/>
          </p:nvPr>
        </p:nvSpPr>
        <p:spPr>
          <a:xfrm>
            <a:off x="838200" y="1825625"/>
            <a:ext cx="10515600" cy="4351338"/>
          </a:xfrm>
        </p:spPr>
        <p:txBody>
          <a:bodyPr>
            <a:normAutofit fontScale="92500" lnSpcReduction="10000"/>
          </a:bodyPr>
          <a:lstStyle/>
          <a:p>
            <a:r>
              <a:rPr lang="en-HK" dirty="0"/>
              <a:t>SYSTEM</a:t>
            </a:r>
          </a:p>
          <a:p>
            <a:pPr marL="0" indent="0">
              <a:buNone/>
            </a:pPr>
            <a:r>
              <a:rPr lang="en-HK" dirty="0"/>
              <a:t>Use the following steps to respond to user inputs. Fully restate each step before proceeding. i.e. "Step 1: Reason...". </a:t>
            </a:r>
          </a:p>
          <a:p>
            <a:pPr marL="0" indent="0">
              <a:buNone/>
            </a:pPr>
            <a:r>
              <a:rPr lang="en-HK" dirty="0"/>
              <a:t>Step 1: Reason step-by-step about whether the information in the submitted answer compared to the expert answer is either: disjoint, equal, a subset, a superset, or overlapping (i.e. some intersection but not subset/superset). </a:t>
            </a:r>
          </a:p>
          <a:p>
            <a:pPr marL="0" indent="0">
              <a:buNone/>
            </a:pPr>
            <a:r>
              <a:rPr lang="en-HK" dirty="0"/>
              <a:t>Step 2: Reason step-by-step about whether the submitted answer contradicts any aspect of the expert answer. </a:t>
            </a:r>
          </a:p>
          <a:p>
            <a:pPr marL="0" indent="0">
              <a:buNone/>
            </a:pPr>
            <a:r>
              <a:rPr lang="en-HK" dirty="0"/>
              <a:t>Step 3: Output a JSON object structured like: {"</a:t>
            </a:r>
            <a:r>
              <a:rPr lang="en-HK" dirty="0" err="1"/>
              <a:t>type_of_overlap</a:t>
            </a:r>
            <a:r>
              <a:rPr lang="en-HK" dirty="0"/>
              <a:t>": "disjoint" or "equal" or "subset" or "superset" or "overlapping", "contradiction": true or false}</a:t>
            </a:r>
          </a:p>
          <a:p>
            <a:endParaRPr lang="en-US" dirty="0"/>
          </a:p>
        </p:txBody>
      </p:sp>
      <p:sp>
        <p:nvSpPr>
          <p:cNvPr id="4" name="Slide Number Placeholder 3">
            <a:extLst>
              <a:ext uri="{FF2B5EF4-FFF2-40B4-BE49-F238E27FC236}">
                <a16:creationId xmlns:a16="http://schemas.microsoft.com/office/drawing/2014/main" id="{744BDBB9-84DF-3989-AB70-613DD7FAD7DB}"/>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65</a:t>
            </a:fld>
            <a:endParaRPr lang="en-HK"/>
          </a:p>
        </p:txBody>
      </p:sp>
    </p:spTree>
    <p:extLst>
      <p:ext uri="{BB962C8B-B14F-4D97-AF65-F5344CB8AC3E}">
        <p14:creationId xmlns:p14="http://schemas.microsoft.com/office/powerpoint/2010/main" val="39741165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DCA-936E-05E6-06AD-1B0CCB5F02B3}"/>
              </a:ext>
            </a:extLst>
          </p:cNvPr>
          <p:cNvSpPr>
            <a:spLocks noGrp="1"/>
          </p:cNvSpPr>
          <p:nvPr>
            <p:ph type="title"/>
          </p:nvPr>
        </p:nvSpPr>
        <p:spPr>
          <a:xfrm>
            <a:off x="838200" y="365125"/>
            <a:ext cx="10515600" cy="1325563"/>
          </a:xfrm>
        </p:spPr>
        <p:txBody>
          <a:bodyPr/>
          <a:lstStyle/>
          <a:p>
            <a:r>
              <a:rPr lang="en-US" dirty="0"/>
              <a:t>Example: Overlapping and Contradiction </a:t>
            </a:r>
          </a:p>
        </p:txBody>
      </p:sp>
      <p:sp>
        <p:nvSpPr>
          <p:cNvPr id="3" name="Content Placeholder 2">
            <a:extLst>
              <a:ext uri="{FF2B5EF4-FFF2-40B4-BE49-F238E27FC236}">
                <a16:creationId xmlns:a16="http://schemas.microsoft.com/office/drawing/2014/main" id="{A14DB6D9-773B-B925-6AF1-E0F55C478DFF}"/>
              </a:ext>
            </a:extLst>
          </p:cNvPr>
          <p:cNvSpPr>
            <a:spLocks noGrp="1"/>
          </p:cNvSpPr>
          <p:nvPr>
            <p:ph idx="1"/>
          </p:nvPr>
        </p:nvSpPr>
        <p:spPr>
          <a:xfrm>
            <a:off x="838200" y="1825625"/>
            <a:ext cx="10515600" cy="4351338"/>
          </a:xfrm>
        </p:spPr>
        <p:txBody>
          <a:bodyPr>
            <a:normAutofit/>
          </a:bodyPr>
          <a:lstStyle/>
          <a:p>
            <a:r>
              <a:rPr lang="en-HK" dirty="0"/>
              <a:t>USER</a:t>
            </a:r>
          </a:p>
          <a:p>
            <a:pPr marL="0" indent="0">
              <a:buNone/>
            </a:pPr>
            <a:r>
              <a:rPr lang="en-HK" dirty="0"/>
              <a:t>Question: """What event is Neil Armstrong most famous for and on what date did it occur? Assume UTC time.""" </a:t>
            </a:r>
          </a:p>
          <a:p>
            <a:pPr marL="0" indent="0">
              <a:buNone/>
            </a:pPr>
            <a:r>
              <a:rPr lang="en-HK" dirty="0"/>
              <a:t>Submitted Answer: """Didn't he walk on the moon or something?""" </a:t>
            </a:r>
          </a:p>
          <a:p>
            <a:pPr marL="0" indent="0">
              <a:buNone/>
            </a:pPr>
            <a:r>
              <a:rPr lang="en-HK" dirty="0"/>
              <a:t>Expert Answer: """Neil Armstrong is most famous for being the first person to walk on the moon. This historic event occurred on July 21, 1969."""</a:t>
            </a:r>
          </a:p>
          <a:p>
            <a:endParaRPr lang="en-US" dirty="0"/>
          </a:p>
        </p:txBody>
      </p:sp>
      <p:sp>
        <p:nvSpPr>
          <p:cNvPr id="4" name="Slide Number Placeholder 3">
            <a:extLst>
              <a:ext uri="{FF2B5EF4-FFF2-40B4-BE49-F238E27FC236}">
                <a16:creationId xmlns:a16="http://schemas.microsoft.com/office/drawing/2014/main" id="{A873EC4B-D35F-4703-A8C7-04322ACFF25F}"/>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66</a:t>
            </a:fld>
            <a:endParaRPr lang="en-HK"/>
          </a:p>
        </p:txBody>
      </p:sp>
    </p:spTree>
    <p:extLst>
      <p:ext uri="{BB962C8B-B14F-4D97-AF65-F5344CB8AC3E}">
        <p14:creationId xmlns:p14="http://schemas.microsoft.com/office/powerpoint/2010/main" val="20515365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B0CD-D1D0-3D88-607A-8E261BD8A3F4}"/>
              </a:ext>
            </a:extLst>
          </p:cNvPr>
          <p:cNvSpPr>
            <a:spLocks noGrp="1"/>
          </p:cNvSpPr>
          <p:nvPr>
            <p:ph type="title"/>
          </p:nvPr>
        </p:nvSpPr>
        <p:spPr/>
        <p:txBody>
          <a:bodyPr/>
          <a:lstStyle/>
          <a:p>
            <a:r>
              <a:rPr lang="en-US" dirty="0"/>
              <a:t>Example: Overlapping and Contradiction </a:t>
            </a:r>
          </a:p>
        </p:txBody>
      </p:sp>
      <p:sp>
        <p:nvSpPr>
          <p:cNvPr id="3" name="Content Placeholder 2">
            <a:extLst>
              <a:ext uri="{FF2B5EF4-FFF2-40B4-BE49-F238E27FC236}">
                <a16:creationId xmlns:a16="http://schemas.microsoft.com/office/drawing/2014/main" id="{333EC9AB-C8C5-ED26-3296-08F960A3A81F}"/>
              </a:ext>
            </a:extLst>
          </p:cNvPr>
          <p:cNvSpPr>
            <a:spLocks noGrp="1"/>
          </p:cNvSpPr>
          <p:nvPr>
            <p:ph idx="1"/>
          </p:nvPr>
        </p:nvSpPr>
        <p:spPr/>
        <p:txBody>
          <a:bodyPr/>
          <a:lstStyle/>
          <a:p>
            <a:r>
              <a:rPr lang="en-HK" dirty="0"/>
              <a:t>USER</a:t>
            </a:r>
          </a:p>
          <a:p>
            <a:pPr marL="0" indent="0">
              <a:buNone/>
            </a:pPr>
            <a:r>
              <a:rPr lang="en-HK" dirty="0"/>
              <a:t>Question: """What event is Neil Armstrong most famous for and on what date did it occur? Assume UTC time.""" </a:t>
            </a:r>
          </a:p>
          <a:p>
            <a:pPr marL="0" indent="0">
              <a:buNone/>
            </a:pPr>
            <a:r>
              <a:rPr lang="en-HK" dirty="0"/>
              <a:t>Submitted Answer: """On the 21st of July 1969, Neil Armstrong became the second person to walk on the moon, following after Buzz Aldrin.""" </a:t>
            </a:r>
          </a:p>
          <a:p>
            <a:pPr marL="0" indent="0">
              <a:buNone/>
            </a:pPr>
            <a:r>
              <a:rPr lang="en-HK" dirty="0"/>
              <a:t>Expert Answer: """Neil Armstrong is most famous for being the first person to walk on the moon. This historic event occurred on July 21, 1969."""</a:t>
            </a:r>
          </a:p>
          <a:p>
            <a:endParaRPr lang="en-US" dirty="0"/>
          </a:p>
        </p:txBody>
      </p:sp>
      <p:sp>
        <p:nvSpPr>
          <p:cNvPr id="4" name="Slide Number Placeholder 3">
            <a:extLst>
              <a:ext uri="{FF2B5EF4-FFF2-40B4-BE49-F238E27FC236}">
                <a16:creationId xmlns:a16="http://schemas.microsoft.com/office/drawing/2014/main" id="{0E9AA291-FB13-0A9E-4541-356DADBF26CF}"/>
              </a:ext>
            </a:extLst>
          </p:cNvPr>
          <p:cNvSpPr>
            <a:spLocks noGrp="1"/>
          </p:cNvSpPr>
          <p:nvPr>
            <p:ph type="sldNum" sz="quarter" idx="12"/>
          </p:nvPr>
        </p:nvSpPr>
        <p:spPr/>
        <p:txBody>
          <a:bodyPr/>
          <a:lstStyle/>
          <a:p>
            <a:fld id="{7F8CBF50-853B-304C-BCA2-DB5146F0D4EA}" type="slidenum">
              <a:rPr lang="en-HK" smtClean="0"/>
              <a:t>67</a:t>
            </a:fld>
            <a:endParaRPr lang="en-HK"/>
          </a:p>
        </p:txBody>
      </p:sp>
    </p:spTree>
    <p:extLst>
      <p:ext uri="{BB962C8B-B14F-4D97-AF65-F5344CB8AC3E}">
        <p14:creationId xmlns:p14="http://schemas.microsoft.com/office/powerpoint/2010/main" val="20298586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2A6C0-3A47-0F72-FA51-CE134671570E}"/>
              </a:ext>
            </a:extLst>
          </p:cNvPr>
          <p:cNvSpPr>
            <a:spLocks noGrp="1"/>
          </p:cNvSpPr>
          <p:nvPr>
            <p:ph type="title"/>
          </p:nvPr>
        </p:nvSpPr>
        <p:spPr>
          <a:xfrm>
            <a:off x="838200" y="365125"/>
            <a:ext cx="10515600" cy="1325563"/>
          </a:xfrm>
        </p:spPr>
        <p:txBody>
          <a:bodyPr/>
          <a:lstStyle/>
          <a:p>
            <a:r>
              <a:rPr lang="en-US" dirty="0"/>
              <a:t>Example: Overlapping and Contradiction </a:t>
            </a:r>
          </a:p>
        </p:txBody>
      </p:sp>
      <p:sp>
        <p:nvSpPr>
          <p:cNvPr id="3" name="Content Placeholder 2">
            <a:extLst>
              <a:ext uri="{FF2B5EF4-FFF2-40B4-BE49-F238E27FC236}">
                <a16:creationId xmlns:a16="http://schemas.microsoft.com/office/drawing/2014/main" id="{B6A8F380-5B2E-3A84-4216-3AAAC561E354}"/>
              </a:ext>
            </a:extLst>
          </p:cNvPr>
          <p:cNvSpPr>
            <a:spLocks noGrp="1"/>
          </p:cNvSpPr>
          <p:nvPr>
            <p:ph idx="1"/>
          </p:nvPr>
        </p:nvSpPr>
        <p:spPr>
          <a:xfrm>
            <a:off x="838200" y="1825625"/>
            <a:ext cx="10515600" cy="4351338"/>
          </a:xfrm>
        </p:spPr>
        <p:txBody>
          <a:bodyPr/>
          <a:lstStyle/>
          <a:p>
            <a:r>
              <a:rPr lang="en-HK" dirty="0"/>
              <a:t>USER</a:t>
            </a:r>
          </a:p>
          <a:p>
            <a:pPr marL="0" indent="0">
              <a:buNone/>
            </a:pPr>
            <a:r>
              <a:rPr lang="en-HK" dirty="0"/>
              <a:t>Question: """What event is Neil Armstrong most famous for and on what date did it occur? Assume UTC time.""" </a:t>
            </a:r>
          </a:p>
          <a:p>
            <a:pPr marL="0" indent="0">
              <a:buNone/>
            </a:pPr>
            <a:r>
              <a:rPr lang="en-HK" dirty="0"/>
              <a:t>Submitted Answer: """At approximately 02:56 UTC on July 21st 1969, Neil Armstrong became the first human to set foot on the lunar surface, marking a monumental achievement in human history.""" </a:t>
            </a:r>
          </a:p>
          <a:p>
            <a:pPr marL="0" indent="0">
              <a:buNone/>
            </a:pPr>
            <a:r>
              <a:rPr lang="en-HK" dirty="0"/>
              <a:t>Expert Answer: """Neil Armstrong is most famous for being the first person to walk on the moon. This historic event occurred on July 21, 1969."""</a:t>
            </a:r>
          </a:p>
          <a:p>
            <a:endParaRPr lang="en-US" dirty="0"/>
          </a:p>
        </p:txBody>
      </p:sp>
      <p:sp>
        <p:nvSpPr>
          <p:cNvPr id="4" name="Slide Number Placeholder 3">
            <a:extLst>
              <a:ext uri="{FF2B5EF4-FFF2-40B4-BE49-F238E27FC236}">
                <a16:creationId xmlns:a16="http://schemas.microsoft.com/office/drawing/2014/main" id="{1624EEFA-BCEC-9835-C271-8A25E9E47128}"/>
              </a:ext>
            </a:extLst>
          </p:cNvPr>
          <p:cNvSpPr>
            <a:spLocks noGrp="1"/>
          </p:cNvSpPr>
          <p:nvPr>
            <p:ph type="sldNum" sz="quarter" idx="12"/>
          </p:nvPr>
        </p:nvSpPr>
        <p:spPr>
          <a:xfrm>
            <a:off x="8610600" y="6356350"/>
            <a:ext cx="2743200" cy="365125"/>
          </a:xfrm>
        </p:spPr>
        <p:txBody>
          <a:bodyPr/>
          <a:lstStyle/>
          <a:p>
            <a:fld id="{7F8CBF50-853B-304C-BCA2-DB5146F0D4EA}" type="slidenum">
              <a:rPr lang="en-HK" smtClean="0"/>
              <a:pPr/>
              <a:t>68</a:t>
            </a:fld>
            <a:endParaRPr lang="en-HK"/>
          </a:p>
        </p:txBody>
      </p:sp>
    </p:spTree>
    <p:extLst>
      <p:ext uri="{BB962C8B-B14F-4D97-AF65-F5344CB8AC3E}">
        <p14:creationId xmlns:p14="http://schemas.microsoft.com/office/powerpoint/2010/main" val="19127351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35063</TotalTime>
  <Words>7142</Words>
  <Application>Microsoft Macintosh PowerPoint</Application>
  <PresentationFormat>Widescreen</PresentationFormat>
  <Paragraphs>609</Paragraphs>
  <Slides>68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-apple-system</vt:lpstr>
      <vt:lpstr>Arial</vt:lpstr>
      <vt:lpstr>Calibri</vt:lpstr>
      <vt:lpstr>Calibri Light</vt:lpstr>
      <vt:lpstr>Roboto</vt:lpstr>
      <vt:lpstr>Office Theme</vt:lpstr>
      <vt:lpstr>Prompt Engineering</vt:lpstr>
      <vt:lpstr>PowerPoint Presentation</vt:lpstr>
      <vt:lpstr>Prompt and Completion</vt:lpstr>
      <vt:lpstr>Prompt Examples</vt:lpstr>
      <vt:lpstr>Prompt Engineering</vt:lpstr>
      <vt:lpstr>Why Prompt Engineering Matters</vt:lpstr>
      <vt:lpstr>Prompt is often augmented with:</vt:lpstr>
      <vt:lpstr>Complex Prompt</vt:lpstr>
      <vt:lpstr>General Guidelines</vt:lpstr>
      <vt:lpstr>Instruction Prompt</vt:lpstr>
      <vt:lpstr>Prompt Construction</vt:lpstr>
      <vt:lpstr>Primary Content</vt:lpstr>
      <vt:lpstr>Using Examples</vt:lpstr>
      <vt:lpstr>Using Examples</vt:lpstr>
      <vt:lpstr>Prompt Cues</vt:lpstr>
      <vt:lpstr>Prompt Templates</vt:lpstr>
      <vt:lpstr>Sentiment Analysis: sentiment.py</vt:lpstr>
      <vt:lpstr>Prompt Engineering Techniques</vt:lpstr>
      <vt:lpstr>Zero-shot vs. Few-shot</vt:lpstr>
      <vt:lpstr>Chain-of-thought (CoT)</vt:lpstr>
      <vt:lpstr>CoT Example</vt:lpstr>
      <vt:lpstr>Zero-shot CoT Prompting</vt:lpstr>
      <vt:lpstr>Self-refine</vt:lpstr>
      <vt:lpstr>Self-refine Example</vt:lpstr>
      <vt:lpstr>PAL: Program-aided Language Models</vt:lpstr>
      <vt:lpstr>PAL:  Program-aided Language Models</vt:lpstr>
      <vt:lpstr>ReAct: Reasoning and Acting</vt:lpstr>
      <vt:lpstr>PowerPoint Presentation</vt:lpstr>
      <vt:lpstr>Prompting Guides from OpenAI</vt:lpstr>
      <vt:lpstr>1. Write Clear Instructions</vt:lpstr>
      <vt:lpstr>1.1 Include details in your query to get more relevant answers</vt:lpstr>
      <vt:lpstr>1.2 Ask the model to adopt a persona</vt:lpstr>
      <vt:lpstr>Persona</vt:lpstr>
      <vt:lpstr>Types of Persona</vt:lpstr>
      <vt:lpstr>1.3 Use delimiters to clearly indicate distinct parts of the input</vt:lpstr>
      <vt:lpstr>1.3 Use delimiters to clearly indicate distinct parts of the input</vt:lpstr>
      <vt:lpstr>1.3 Use delimiters to clearly indicate distinct parts of the input</vt:lpstr>
      <vt:lpstr>1.4 Specify the steps required to complete a task</vt:lpstr>
      <vt:lpstr>1.5 Provide examples</vt:lpstr>
      <vt:lpstr>1.6 Specify the desired length of the output</vt:lpstr>
      <vt:lpstr>2. Provide Reference Text</vt:lpstr>
      <vt:lpstr>2.1 Instruct the model to answer using a reference text</vt:lpstr>
      <vt:lpstr>2.2 Instruct the model to answer with citations from a reference text</vt:lpstr>
      <vt:lpstr>3. Split Complex Tasks into Simpler Subtasks</vt:lpstr>
      <vt:lpstr>3.1 Split complex tasks into simpler subtasks</vt:lpstr>
      <vt:lpstr>3.1 Split complex tasks into simpler subtasks</vt:lpstr>
      <vt:lpstr>3.2 For dialogue applications that require very long conversations, summarize or filter previous dialogue</vt:lpstr>
      <vt:lpstr>3.3 Summarize long documents piecewise and construct a full summary recursively</vt:lpstr>
      <vt:lpstr>4. Give the Model Time to “Think”</vt:lpstr>
      <vt:lpstr>4.1 Instruct the model to work out its own solution before rushing to a conclusion</vt:lpstr>
      <vt:lpstr>4.1 Instruct the model to work out its own solution before rushing to a conclusion</vt:lpstr>
      <vt:lpstr>4.2 Use inner monologue or a sequence of queries to hide the model's reasoning process</vt:lpstr>
      <vt:lpstr>4.2 Use inner monologue or a sequence of queries to hide the model's reasoning process</vt:lpstr>
      <vt:lpstr>4.3 Ask the model if it missed anything on previous passes</vt:lpstr>
      <vt:lpstr>5. Use External Tools</vt:lpstr>
      <vt:lpstr>5.1 Use embeddings-based search to implement efficient knowledge retrieval</vt:lpstr>
      <vt:lpstr>5.2 Use code execution to perform more accurate calculations or call external APIs</vt:lpstr>
      <vt:lpstr>5.2 Use code execution to perform more accurate calculations or call external APIs</vt:lpstr>
      <vt:lpstr>5.3 Give the model access to specific functions</vt:lpstr>
      <vt:lpstr>6. Test Changes Systematically</vt:lpstr>
      <vt:lpstr>Sample Size Requirements for Detecting Performance Differences</vt:lpstr>
      <vt:lpstr>6.1 Evaluate model outputs with reference to gold-standard answers</vt:lpstr>
      <vt:lpstr>Example: Counting Facts</vt:lpstr>
      <vt:lpstr>Example: Counting Facts</vt:lpstr>
      <vt:lpstr>Example: Overlapping and Contradiction </vt:lpstr>
      <vt:lpstr>Example: Overlapping and Contradiction </vt:lpstr>
      <vt:lpstr>Example: Overlapping and Contradiction </vt:lpstr>
      <vt:lpstr>Example: Overlapping and Contradiction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Mining</dc:title>
  <dc:creator>Hailiang Chen</dc:creator>
  <cp:lastModifiedBy>Hailiang Chen</cp:lastModifiedBy>
  <cp:revision>722</cp:revision>
  <dcterms:created xsi:type="dcterms:W3CDTF">2021-01-12T07:59:56Z</dcterms:created>
  <dcterms:modified xsi:type="dcterms:W3CDTF">2026-03-24T00:41:40Z</dcterms:modified>
</cp:coreProperties>
</file>