
<file path=[Content_Types].xml><?xml version="1.0" encoding="utf-8"?>
<Types xmlns="http://schemas.openxmlformats.org/package/2006/content-types">
  <Default Extension="jpeg" ContentType="image/jpeg"/>
  <Default Extension="JPG" ContentType="image/.jpg"/>
  <Default Extension="tiff" ContentType="image/tiff"/>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4"/>
  </p:notesMasterIdLst>
  <p:handoutMasterIdLst>
    <p:handoutMasterId r:id="rId84"/>
  </p:handoutMasterIdLst>
  <p:sldIdLst>
    <p:sldId id="15077987" r:id="rId3"/>
    <p:sldId id="15077988" r:id="rId5"/>
    <p:sldId id="15077989" r:id="rId6"/>
    <p:sldId id="256" r:id="rId7"/>
    <p:sldId id="273" r:id="rId8"/>
    <p:sldId id="807" r:id="rId9"/>
    <p:sldId id="275" r:id="rId10"/>
    <p:sldId id="15077892" r:id="rId11"/>
    <p:sldId id="893" r:id="rId12"/>
    <p:sldId id="15077873" r:id="rId13"/>
    <p:sldId id="15077877" r:id="rId14"/>
    <p:sldId id="320" r:id="rId15"/>
    <p:sldId id="894" r:id="rId16"/>
    <p:sldId id="859" r:id="rId17"/>
    <p:sldId id="716" r:id="rId18"/>
    <p:sldId id="15077886" r:id="rId19"/>
    <p:sldId id="15077893" r:id="rId20"/>
    <p:sldId id="15077894" r:id="rId21"/>
    <p:sldId id="717" r:id="rId22"/>
    <p:sldId id="719" r:id="rId23"/>
    <p:sldId id="938" r:id="rId24"/>
    <p:sldId id="715" r:id="rId25"/>
    <p:sldId id="944" r:id="rId26"/>
    <p:sldId id="15077986" r:id="rId27"/>
    <p:sldId id="15077876" r:id="rId28"/>
    <p:sldId id="15077874" r:id="rId29"/>
    <p:sldId id="15077895" r:id="rId30"/>
    <p:sldId id="15077900" r:id="rId31"/>
    <p:sldId id="15077896" r:id="rId32"/>
    <p:sldId id="15077897" r:id="rId33"/>
    <p:sldId id="15077901" r:id="rId34"/>
    <p:sldId id="15077794" r:id="rId35"/>
    <p:sldId id="15077879" r:id="rId36"/>
    <p:sldId id="15077875" r:id="rId37"/>
    <p:sldId id="15077898" r:id="rId38"/>
    <p:sldId id="15077880" r:id="rId39"/>
    <p:sldId id="15077899" r:id="rId40"/>
    <p:sldId id="15077914" r:id="rId41"/>
    <p:sldId id="726" r:id="rId42"/>
    <p:sldId id="15077865" r:id="rId43"/>
    <p:sldId id="15077866" r:id="rId44"/>
    <p:sldId id="15077891" r:id="rId45"/>
    <p:sldId id="258" r:id="rId46"/>
    <p:sldId id="15077848" r:id="rId47"/>
    <p:sldId id="15077867" r:id="rId48"/>
    <p:sldId id="15077868" r:id="rId49"/>
    <p:sldId id="15077850" r:id="rId50"/>
    <p:sldId id="15077851" r:id="rId51"/>
    <p:sldId id="15077870" r:id="rId52"/>
    <p:sldId id="15077853" r:id="rId53"/>
    <p:sldId id="15077780" r:id="rId54"/>
    <p:sldId id="15077856" r:id="rId55"/>
    <p:sldId id="15077882" r:id="rId56"/>
    <p:sldId id="15077855" r:id="rId57"/>
    <p:sldId id="15077854" r:id="rId58"/>
    <p:sldId id="15077881" r:id="rId59"/>
    <p:sldId id="15077869" r:id="rId60"/>
    <p:sldId id="15077863" r:id="rId61"/>
    <p:sldId id="15077884" r:id="rId62"/>
    <p:sldId id="1029" r:id="rId63"/>
    <p:sldId id="1028" r:id="rId64"/>
    <p:sldId id="15077915" r:id="rId65"/>
    <p:sldId id="15077858" r:id="rId66"/>
    <p:sldId id="15077916" r:id="rId67"/>
    <p:sldId id="15077917" r:id="rId68"/>
    <p:sldId id="15077849" r:id="rId69"/>
    <p:sldId id="1064" r:id="rId70"/>
    <p:sldId id="15077926" r:id="rId71"/>
    <p:sldId id="15077923" r:id="rId72"/>
    <p:sldId id="1031" r:id="rId73"/>
    <p:sldId id="15077760" r:id="rId74"/>
    <p:sldId id="15077774" r:id="rId75"/>
    <p:sldId id="15077762" r:id="rId76"/>
    <p:sldId id="15077890" r:id="rId77"/>
    <p:sldId id="15077787" r:id="rId78"/>
    <p:sldId id="15077983" r:id="rId79"/>
    <p:sldId id="15077982" r:id="rId80"/>
    <p:sldId id="15077929" r:id="rId81"/>
    <p:sldId id="15077984" r:id="rId82"/>
    <p:sldId id="15077985" r:id="rId8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CDD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5BE263C-DBD7-4A20-BB59-AAB30ACAA65A}" styleName="中度样式 3 - 强调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709"/>
    <p:restoredTop sz="81968"/>
  </p:normalViewPr>
  <p:slideViewPr>
    <p:cSldViewPr snapToGrid="0" snapToObjects="1">
      <p:cViewPr varScale="1">
        <p:scale>
          <a:sx n="112" d="100"/>
          <a:sy n="112" d="100"/>
        </p:scale>
        <p:origin x="3272" y="480"/>
      </p:cViewPr>
      <p:guideLst/>
    </p:cSldViewPr>
  </p:slideViewPr>
  <p:notesTextViewPr>
    <p:cViewPr>
      <p:scale>
        <a:sx n="110" d="100"/>
        <a:sy n="110" d="100"/>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7" Type="http://schemas.openxmlformats.org/officeDocument/2006/relationships/tableStyles" Target="tableStyles.xml"/><Relationship Id="rId86" Type="http://schemas.openxmlformats.org/officeDocument/2006/relationships/viewProps" Target="viewProps.xml"/><Relationship Id="rId85" Type="http://schemas.openxmlformats.org/officeDocument/2006/relationships/presProps" Target="presProps.xml"/><Relationship Id="rId84" Type="http://schemas.openxmlformats.org/officeDocument/2006/relationships/handoutMaster" Target="handoutMasters/handoutMaster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F915E8-0D14-5A47-A140-2DDA56A25C59}" type="datetimeFigureOut">
              <a:rPr/>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B4E518-724E-624D-9EAD-82F09AF346EF}" type="slidenum">
              <a:rPr/>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B4E518-724E-624D-9EAD-82F09AF346EF}"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B4E518-724E-624D-9EAD-82F09AF346EF}"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B4E518-724E-624D-9EAD-82F09AF346EF}"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6C3171-EF4F-DA43-86C6-95432C22DBC1}"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9D0CD4-326A-45E7-B6BF-5A5D0CC45182}"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6C3171-EF4F-DA43-86C6-95432C22DBC1}"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6C3171-EF4F-DA43-86C6-95432C22DBC1}"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6C3171-EF4F-DA43-86C6-95432C22DBC1}"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6C3171-EF4F-DA43-86C6-95432C22DBC1}"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B4E518-724E-624D-9EAD-82F09AF346EF}" type="slidenum">
              <a:rPr lang="en-US" smtClean="0"/>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B4E518-724E-624D-9EAD-82F09AF346EF}" type="slidenum">
              <a:rPr lang="en-US" smtClean="0"/>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B4E518-724E-624D-9EAD-82F09AF346EF}" type="slidenum">
              <a:rPr lang="en-US" smtClean="0"/>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B4E518-724E-624D-9EAD-82F09AF346EF}" type="slidenum">
              <a:rPr lang="en-US" smtClean="0"/>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B4E518-724E-624D-9EAD-82F09AF346EF}" type="slidenum">
              <a:rPr lang="en-US" smtClean="0"/>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informationisbeautiful.net</a:t>
            </a:r>
            <a:r>
              <a:rPr lang="en-US" dirty="0"/>
              <a:t>/visualizations/the-rise-of-generative-ai-large-language-models-llms-like-chatgpt/</a:t>
            </a:r>
            <a:endParaRPr lang="en-US" dirty="0"/>
          </a:p>
        </p:txBody>
      </p:sp>
      <p:sp>
        <p:nvSpPr>
          <p:cNvPr id="4" name="Slide Number Placeholder 3"/>
          <p:cNvSpPr>
            <a:spLocks noGrp="1"/>
          </p:cNvSpPr>
          <p:nvPr>
            <p:ph type="sldNum" sz="quarter" idx="5"/>
          </p:nvPr>
        </p:nvSpPr>
        <p:spPr/>
        <p:txBody>
          <a:bodyPr/>
          <a:lstStyle/>
          <a:p>
            <a:fld id="{01B4E518-724E-624D-9EAD-82F09AF346EF}" type="slidenum">
              <a:rPr lang="en-US" smtClean="0"/>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B4E518-724E-624D-9EAD-82F09AF346EF}" type="slidenum">
              <a:rPr lang="en-US" smtClean="0"/>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B4E518-724E-624D-9EAD-82F09AF346EF}" type="slidenum">
              <a:rPr lang="en-US" smtClean="0"/>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B4E518-724E-624D-9EAD-82F09AF346EF}" type="slidenum">
              <a:rPr lang="en-US" smtClean="0"/>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B4E518-724E-624D-9EAD-82F09AF346EF}" type="slidenum">
              <a:rPr lang="en-US" smtClean="0"/>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9D0CD4-326A-45E7-B6BF-5A5D0CC45182}" type="slidenum">
              <a:rPr lang="en-US" smtClean="0"/>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B4E518-724E-624D-9EAD-82F09AF346EF}" type="slidenum">
              <a:rPr lang="en-US" smtClean="0"/>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www.datawrapper.de</a:t>
            </a:r>
            <a:r>
              <a:rPr lang="en-US" dirty="0"/>
              <a:t>/_/UyC7R/</a:t>
            </a:r>
            <a:endParaRPr lang="en-US" dirty="0"/>
          </a:p>
          <a:p>
            <a:r>
              <a:rPr lang="en-US" dirty="0"/>
              <a:t>https://</a:t>
            </a:r>
            <a:r>
              <a:rPr lang="en-US" dirty="0" err="1"/>
              <a:t>towardsdatascience.com</a:t>
            </a:r>
            <a:r>
              <a:rPr lang="en-US" dirty="0"/>
              <a:t>/towards-infinite-llm-context-windows-e099225abaaf</a:t>
            </a:r>
            <a:endParaRPr lang="en-US" dirty="0"/>
          </a:p>
        </p:txBody>
      </p:sp>
      <p:sp>
        <p:nvSpPr>
          <p:cNvPr id="4" name="Slide Number Placeholder 3"/>
          <p:cNvSpPr>
            <a:spLocks noGrp="1"/>
          </p:cNvSpPr>
          <p:nvPr>
            <p:ph type="sldNum" sz="quarter" idx="5"/>
          </p:nvPr>
        </p:nvSpPr>
        <p:spPr/>
        <p:txBody>
          <a:bodyPr/>
          <a:lstStyle/>
          <a:p>
            <a:fld id="{01B4E518-724E-624D-9EAD-82F09AF346EF}"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1382E2B7-76B3-EA45-A4EA-573495322416}"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4" name="Date Placeholder 3"/>
          <p:cNvSpPr>
            <a:spLocks noGrp="1"/>
          </p:cNvSpPr>
          <p:nvPr>
            <p:ph type="dt" sz="half" idx="10"/>
          </p:nvPr>
        </p:nvSpPr>
        <p:spPr/>
        <p:txBody>
          <a:bodyPr/>
          <a:lstStyle/>
          <a:p>
            <a:fld id="{78C69168-37E3-7240-82BF-D5A585D35632}"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8CBF50-853B-304C-BCA2-DB5146F0D4EA}" type="slidenum">
              <a:rPr lang="en-US" smtClean="0"/>
            </a:fld>
            <a:endParaRPr lang="en-US"/>
          </a:p>
        </p:txBody>
      </p:sp>
      <p:pic>
        <p:nvPicPr>
          <p:cNvPr id="8" name="Picture 7"/>
          <p:cNvPicPr>
            <a:picLocks noChangeAspect="1"/>
          </p:cNvPicPr>
          <p:nvPr userDrawn="1"/>
        </p:nvPicPr>
        <p:blipFill>
          <a:blip r:embed="rId2" cstate="print"/>
          <a:stretch>
            <a:fillRect/>
          </a:stretch>
        </p:blipFill>
        <p:spPr>
          <a:xfrm>
            <a:off x="838200" y="6307963"/>
            <a:ext cx="1730728" cy="46189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endParaRPr lang="en-GB"/>
          </a:p>
        </p:txBody>
      </p:sp>
      <p:sp>
        <p:nvSpPr>
          <p:cNvPr id="4" name="Date Placeholder 3"/>
          <p:cNvSpPr>
            <a:spLocks noGrp="1"/>
          </p:cNvSpPr>
          <p:nvPr>
            <p:ph type="dt" sz="half" idx="10"/>
          </p:nvPr>
        </p:nvSpPr>
        <p:spPr/>
        <p:txBody>
          <a:bodyPr/>
          <a:lstStyle/>
          <a:p>
            <a:fld id="{DF1DEC62-2D17-1D4D-A89C-0D7A7F9EBA7B}"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8CBF50-853B-304C-BCA2-DB5146F0D4EA}" type="slidenum">
              <a:rPr lang="en-US" smtClean="0"/>
            </a:fld>
            <a:endParaRPr lang="en-US"/>
          </a:p>
        </p:txBody>
      </p:sp>
      <p:pic>
        <p:nvPicPr>
          <p:cNvPr id="9" name="Picture 8"/>
          <p:cNvPicPr>
            <a:picLocks noChangeAspect="1"/>
          </p:cNvPicPr>
          <p:nvPr userDrawn="1"/>
        </p:nvPicPr>
        <p:blipFill>
          <a:blip r:embed="rId2" cstate="print"/>
          <a:stretch>
            <a:fillRect/>
          </a:stretch>
        </p:blipFill>
        <p:spPr>
          <a:xfrm>
            <a:off x="831850" y="6307963"/>
            <a:ext cx="1730728" cy="461898"/>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5" name="Date Placeholder 4"/>
          <p:cNvSpPr>
            <a:spLocks noGrp="1"/>
          </p:cNvSpPr>
          <p:nvPr>
            <p:ph type="dt" sz="half" idx="10"/>
          </p:nvPr>
        </p:nvSpPr>
        <p:spPr/>
        <p:txBody>
          <a:bodyPr/>
          <a:lstStyle/>
          <a:p>
            <a:fld id="{5834515A-9EBD-5549-8637-27CEFC15DEBF}"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8CBF50-853B-304C-BCA2-DB5146F0D4EA}" type="slidenum">
              <a:rPr lang="en-US" smtClean="0"/>
            </a:fld>
            <a:endParaRPr lang="en-US"/>
          </a:p>
        </p:txBody>
      </p:sp>
      <p:pic>
        <p:nvPicPr>
          <p:cNvPr id="9" name="Picture 8"/>
          <p:cNvPicPr>
            <a:picLocks noChangeAspect="1"/>
          </p:cNvPicPr>
          <p:nvPr userDrawn="1"/>
        </p:nvPicPr>
        <p:blipFill>
          <a:blip r:embed="rId2" cstate="print"/>
          <a:stretch>
            <a:fillRect/>
          </a:stretch>
        </p:blipFill>
        <p:spPr>
          <a:xfrm>
            <a:off x="831850" y="6307963"/>
            <a:ext cx="1730728" cy="461898"/>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7" name="Date Placeholder 6"/>
          <p:cNvSpPr>
            <a:spLocks noGrp="1"/>
          </p:cNvSpPr>
          <p:nvPr>
            <p:ph type="dt" sz="half" idx="10"/>
          </p:nvPr>
        </p:nvSpPr>
        <p:spPr/>
        <p:txBody>
          <a:bodyPr/>
          <a:lstStyle/>
          <a:p>
            <a:fld id="{483E613D-48C0-BE4E-9CD0-8F8B093DC4E1}" type="datetime1">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F8CBF50-853B-304C-BCA2-DB5146F0D4EA}" type="slidenum">
              <a:rPr lang="en-US" smtClean="0"/>
            </a:fld>
            <a:endParaRPr lang="en-US"/>
          </a:p>
        </p:txBody>
      </p:sp>
      <p:pic>
        <p:nvPicPr>
          <p:cNvPr id="11" name="Picture 10"/>
          <p:cNvPicPr>
            <a:picLocks noChangeAspect="1"/>
          </p:cNvPicPr>
          <p:nvPr userDrawn="1"/>
        </p:nvPicPr>
        <p:blipFill>
          <a:blip r:embed="rId2" cstate="print"/>
          <a:stretch>
            <a:fillRect/>
          </a:stretch>
        </p:blipFill>
        <p:spPr>
          <a:xfrm>
            <a:off x="831850" y="6307963"/>
            <a:ext cx="1730728" cy="461898"/>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7A147D22-52DA-F74C-8A8B-C8600C726CA8}" type="datetime1">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F8CBF50-853B-304C-BCA2-DB5146F0D4EA}" type="slidenum">
              <a:rPr lang="en-US" smtClean="0"/>
            </a:fld>
            <a:endParaRPr lang="en-US"/>
          </a:p>
        </p:txBody>
      </p:sp>
      <p:pic>
        <p:nvPicPr>
          <p:cNvPr id="7" name="Picture 6"/>
          <p:cNvPicPr>
            <a:picLocks noChangeAspect="1"/>
          </p:cNvPicPr>
          <p:nvPr userDrawn="1"/>
        </p:nvPicPr>
        <p:blipFill>
          <a:blip r:embed="rId2" cstate="print"/>
          <a:stretch>
            <a:fillRect/>
          </a:stretch>
        </p:blipFill>
        <p:spPr>
          <a:xfrm>
            <a:off x="831850" y="6307963"/>
            <a:ext cx="1730728" cy="461898"/>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AD3F15-EF84-5349-B813-96C2A828CDB3}" type="datetime1">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F8CBF50-853B-304C-BCA2-DB5146F0D4EA}" type="slidenum">
              <a:rPr lang="en-US" smtClean="0"/>
            </a:fld>
            <a:endParaRPr lang="en-US"/>
          </a:p>
        </p:txBody>
      </p:sp>
      <p:pic>
        <p:nvPicPr>
          <p:cNvPr id="6" name="Picture 2" descr="HKU Business School"/>
          <p:cNvPicPr>
            <a:picLocks noChangeAspect="1" noChangeArrowheads="1"/>
          </p:cNvPicPr>
          <p:nvPr userDrawn="1"/>
        </p:nvPicPr>
        <p:blipFill>
          <a:blip r:embed="rId2"/>
          <a:srcRect/>
          <a:stretch>
            <a:fillRect/>
          </a:stretch>
        </p:blipFill>
        <p:spPr bwMode="auto">
          <a:xfrm>
            <a:off x="838200" y="6311079"/>
            <a:ext cx="2057400" cy="45566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a:p>
        </p:txBody>
      </p:sp>
      <p:sp>
        <p:nvSpPr>
          <p:cNvPr id="5" name="Date Placeholder 4"/>
          <p:cNvSpPr>
            <a:spLocks noGrp="1"/>
          </p:cNvSpPr>
          <p:nvPr>
            <p:ph type="dt" sz="half" idx="10"/>
          </p:nvPr>
        </p:nvSpPr>
        <p:spPr/>
        <p:txBody>
          <a:bodyPr/>
          <a:lstStyle/>
          <a:p>
            <a:fld id="{04EE1BFC-400A-8545-94C2-E068C235BE83}" type="datetime1">
              <a:rPr lang="en-US" smtClean="0"/>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a:p>
        </p:txBody>
      </p:sp>
      <p:sp>
        <p:nvSpPr>
          <p:cNvPr id="5" name="Date Placeholder 4"/>
          <p:cNvSpPr>
            <a:spLocks noGrp="1"/>
          </p:cNvSpPr>
          <p:nvPr>
            <p:ph type="dt" sz="half" idx="10"/>
          </p:nvPr>
        </p:nvSpPr>
        <p:spPr/>
        <p:txBody>
          <a:bodyPr/>
          <a:lstStyle/>
          <a:p>
            <a:fld id="{BA2EA992-298E-EB4F-BDE9-6AF6FBA26687}"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4" name="Date Placeholder 3"/>
          <p:cNvSpPr>
            <a:spLocks noGrp="1"/>
          </p:cNvSpPr>
          <p:nvPr>
            <p:ph type="dt" sz="half" idx="10"/>
          </p:nvPr>
        </p:nvSpPr>
        <p:spPr/>
        <p:txBody>
          <a:bodyPr/>
          <a:lstStyle/>
          <a:p>
            <a:fld id="{68A1C992-41CA-A043-BFE2-643549C983DE}"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4" name="Date Placeholder 3"/>
          <p:cNvSpPr>
            <a:spLocks noGrp="1"/>
          </p:cNvSpPr>
          <p:nvPr>
            <p:ph type="dt" sz="half" idx="10"/>
          </p:nvPr>
        </p:nvSpPr>
        <p:spPr/>
        <p:txBody>
          <a:bodyPr/>
          <a:lstStyle/>
          <a:p>
            <a:fld id="{D54FB62A-75B4-034F-88BF-B8B06F845A54}"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FD64EE-9DBB-4A49-8321-66E1229C309F}" type="datetime1">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8CBF50-853B-304C-BCA2-DB5146F0D4EA}"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2.xml"/><Relationship Id="rId3" Type="http://schemas.openxmlformats.org/officeDocument/2006/relationships/hyperlink" Target="mailto:ls499858@hku.hk" TargetMode="External"/><Relationship Id="rId2" Type="http://schemas.openxmlformats.org/officeDocument/2006/relationships/hyperlink" Target="mailto:ruoxinli0112@connect.hku.hk" TargetMode="External"/><Relationship Id="rId1" Type="http://schemas.openxmlformats.org/officeDocument/2006/relationships/hyperlink" Target="mailto:chen19@hku.hk" TargetMode="External"/></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2.xml"/><Relationship Id="rId4" Type="http://schemas.openxmlformats.org/officeDocument/2006/relationships/image" Target="../media/image4.jpeg"/><Relationship Id="rId3" Type="http://schemas.openxmlformats.org/officeDocument/2006/relationships/image" Target="../media/image3.jpeg"/><Relationship Id="rId2" Type="http://schemas.openxmlformats.org/officeDocument/2006/relationships/hyperlink" Target="https://www.linkedin.com/in/hailiang-chen/" TargetMode="External"/><Relationship Id="rId1" Type="http://schemas.openxmlformats.org/officeDocument/2006/relationships/hyperlink" Target="mailto:chen19@hku.hk"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hyperlink" Target="https://forms.gle/nwhNfZ8PosZZYwBB9"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its.hku.hk/kb/microsoft-azure-for-students/" TargetMode="Externa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emf"/></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learn.microsoft.com/en-gb/azure/foundry/foundry-models/concepts/models-sold-directly-by-azure?tabs=global-standard-aoai%2Cglobal-standard&amp;pivots=azure-openai#model-router" TargetMode="External"/><Relationship Id="rId1" Type="http://schemas.openxmlformats.org/officeDocument/2006/relationships/image" Target="../media/image6.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1.png"/><Relationship Id="rId1" Type="http://schemas.openxmlformats.org/officeDocument/2006/relationships/image" Target="../media/image10.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its.hku.hk/?wpdmdl=51459" TargetMode="External"/><Relationship Id="rId1" Type="http://schemas.openxmlformats.org/officeDocument/2006/relationships/hyperlink" Target="https://its.hku.hk/software/github-copilot/" TargetMode="Externa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image" Target="../media/image1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9.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image" Target="../media/image2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emf"/></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27.em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hk.filingsai.org/filings/33492" TargetMode="External"/><Relationship Id="rId1" Type="http://schemas.openxmlformats.org/officeDocument/2006/relationships/image" Target="../media/image28.png"/></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0.png"/><Relationship Id="rId1" Type="http://schemas.openxmlformats.org/officeDocument/2006/relationships/image" Target="../media/image29.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7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2.jpeg"/><Relationship Id="rId2" Type="http://schemas.microsoft.com/office/2007/relationships/media" Target="https://www.youtube.com/embed/Z1_M2XtsUwY?feature=oembed" TargetMode="External"/><Relationship Id="rId1" Type="http://schemas.openxmlformats.org/officeDocument/2006/relationships/video" Target="https://www.youtube.com/embed/Z1_M2XtsUwY?feature=oembed" TargetMode="External"/></Relationships>
</file>

<file path=ppt/slides/_rels/slide7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3.jpeg"/><Relationship Id="rId2" Type="http://schemas.microsoft.com/office/2007/relationships/media" Target="https://www.youtube.com/embed/meUr8fjy8lQ?feature=oembed" TargetMode="External"/><Relationship Id="rId1" Type="http://schemas.openxmlformats.org/officeDocument/2006/relationships/video" Target="https://www.youtube.com/embed/meUr8fjy8lQ?feature=oembed" TargetMode="External"/></Relationships>
</file>

<file path=ppt/slides/_rels/slide78.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44.png"/><Relationship Id="rId2" Type="http://schemas.openxmlformats.org/officeDocument/2006/relationships/hyperlink" Target="https://code.hkubs.ai/share/KA-Pg_k3jDiUZwfLvJm1c" TargetMode="External"/><Relationship Id="rId1" Type="http://schemas.openxmlformats.org/officeDocument/2006/relationships/hyperlink" Target="https://code.hkubs.ai/" TargetMode="External"/></Relationships>
</file>

<file path=ppt/slides/_rels/slide7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5.jpeg"/><Relationship Id="rId2" Type="http://schemas.microsoft.com/office/2007/relationships/media" Target="https://www.youtube.com/embed/HhoBVKs66Ds?feature=oembed" TargetMode="External"/><Relationship Id="rId1" Type="http://schemas.openxmlformats.org/officeDocument/2006/relationships/video" Target="https://www.youtube.com/embed/HhoBVKs66Ds?feature=oembed" TargetMode="External"/></Relationships>
</file>

<file path=ppt/slides/_rels/slide8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6.jpeg"/><Relationship Id="rId2" Type="http://schemas.microsoft.com/office/2007/relationships/media" Target="https://www.youtube.com/embed/xbwr7H6CnaY?feature=oembed" TargetMode="External"/><Relationship Id="rId1" Type="http://schemas.openxmlformats.org/officeDocument/2006/relationships/video" Target="https://www.youtube.com/embed/xbwr7H6CnaY?feature=oembe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ormAutofit/>
          </a:bodyPr>
          <a:lstStyle/>
          <a:p>
            <a:pPr lvl="0"/>
            <a:r>
              <a:rPr lang="en-US" dirty="0"/>
              <a:t>1. AI-generated Financial Analyst Reports</a:t>
            </a:r>
            <a:endParaRPr lang="en-US" dirty="0"/>
          </a:p>
        </p:txBody>
      </p:sp>
      <p:sp>
        <p:nvSpPr>
          <p:cNvPr id="3" name="Content Placeholder 2"/>
          <p:cNvSpPr>
            <a:spLocks noGrp="1"/>
          </p:cNvSpPr>
          <p:nvPr>
            <p:ph idx="1"/>
          </p:nvPr>
        </p:nvSpPr>
        <p:spPr>
          <a:xfrm>
            <a:off x="838200" y="1825625"/>
            <a:ext cx="10515600" cy="4351338"/>
          </a:xfrm>
        </p:spPr>
        <p:txBody>
          <a:bodyPr/>
          <a:lstStyle/>
          <a:p>
            <a:r>
              <a:rPr lang="en-US" dirty="0"/>
              <a:t>Develop a system to generate high-quality analyst reports for stocks to support investment decision-making</a:t>
            </a:r>
            <a:endParaRPr lang="en-US" dirty="0"/>
          </a:p>
          <a:p>
            <a:r>
              <a:rPr lang="en-US" dirty="0"/>
              <a:t>Focus on HK or US stocks</a:t>
            </a:r>
            <a:endParaRPr lang="en-US" dirty="0"/>
          </a:p>
          <a:p>
            <a:r>
              <a:rPr lang="en-US" dirty="0"/>
              <a:t>Potential data sources</a:t>
            </a:r>
            <a:endParaRPr lang="en-US" dirty="0"/>
          </a:p>
          <a:p>
            <a:pPr lvl="1"/>
            <a:r>
              <a:rPr lang="en-US" altLang="zh-CN" dirty="0"/>
              <a:t>Financial</a:t>
            </a:r>
            <a:r>
              <a:rPr lang="zh-CN" altLang="en-US" dirty="0"/>
              <a:t> </a:t>
            </a:r>
            <a:r>
              <a:rPr lang="en-US" altLang="zh-CN" dirty="0"/>
              <a:t>statement and market data from WRDS through the university library</a:t>
            </a:r>
            <a:endParaRPr lang="en-US" altLang="zh-CN" dirty="0"/>
          </a:p>
          <a:p>
            <a:pPr lvl="1"/>
            <a:r>
              <a:rPr lang="en-US" dirty="0"/>
              <a:t>Yahoo Finance</a:t>
            </a:r>
            <a:endParaRPr lang="en-US" dirty="0"/>
          </a:p>
          <a:p>
            <a:pPr lvl="1"/>
            <a:r>
              <a:rPr lang="en-US" dirty="0"/>
              <a:t>Seeking Alpha</a:t>
            </a:r>
            <a:endParaRPr lang="en-US" dirty="0"/>
          </a:p>
          <a:p>
            <a:pPr lvl="1"/>
            <a:r>
              <a:rPr lang="en-US" dirty="0"/>
              <a:t>Firm filings</a:t>
            </a:r>
            <a:endParaRPr lang="en-US" dirty="0"/>
          </a:p>
          <a:p>
            <a:endParaRPr lang="en-US" dirty="0"/>
          </a:p>
        </p:txBody>
      </p:sp>
      <p:sp>
        <p:nvSpPr>
          <p:cNvPr id="4" name="Slide Number Placeholder 3"/>
          <p:cNvSpPr>
            <a:spLocks noGrp="1"/>
          </p:cNvSpPr>
          <p:nvPr>
            <p:ph type="sldNum" sz="quarter" idx="12"/>
          </p:nvPr>
        </p:nvSpPr>
        <p:spPr>
          <a:xfrm>
            <a:off x="8610600" y="6356350"/>
            <a:ext cx="2743200" cy="365125"/>
          </a:xfrm>
        </p:spPr>
        <p:txBody>
          <a:bodyPr/>
          <a:lstStyle/>
          <a:p>
            <a:fld id="{7F8CBF50-853B-304C-BCA2-DB5146F0D4EA}" type="slidenum">
              <a:rPr lang="en-US" smtClean="0"/>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ormAutofit/>
          </a:bodyPr>
          <a:lstStyle/>
          <a:p>
            <a:r>
              <a:rPr lang="en-US" dirty="0"/>
              <a:t>2. Competitive Intelligence for Master Programs</a:t>
            </a:r>
            <a:endParaRPr lang="en-US" dirty="0"/>
          </a:p>
        </p:txBody>
      </p:sp>
      <p:sp>
        <p:nvSpPr>
          <p:cNvPr id="3" name="Content Placeholder 2"/>
          <p:cNvSpPr>
            <a:spLocks noGrp="1"/>
          </p:cNvSpPr>
          <p:nvPr>
            <p:ph idx="1"/>
          </p:nvPr>
        </p:nvSpPr>
        <p:spPr>
          <a:xfrm>
            <a:off x="838200" y="1825625"/>
            <a:ext cx="10515600" cy="4351338"/>
          </a:xfrm>
        </p:spPr>
        <p:txBody>
          <a:bodyPr/>
          <a:lstStyle/>
          <a:p>
            <a:pPr lvl="0"/>
            <a:r>
              <a:rPr lang="en-US" dirty="0"/>
              <a:t>Develop a system to collect, structure, and </a:t>
            </a:r>
            <a:r>
              <a:rPr lang="en-US" dirty="0" err="1"/>
              <a:t>analyze</a:t>
            </a:r>
            <a:r>
              <a:rPr lang="en-US" dirty="0"/>
              <a:t> public data on business school master programs to support strategic decisions by deans and program directors</a:t>
            </a:r>
            <a:endParaRPr lang="en-US" dirty="0"/>
          </a:p>
          <a:p>
            <a:pPr lvl="0"/>
            <a:r>
              <a:rPr lang="en-US" dirty="0"/>
              <a:t>Focus on non-MBA master programs (i.e., TPG programs)</a:t>
            </a:r>
            <a:endParaRPr lang="en-US" dirty="0"/>
          </a:p>
          <a:p>
            <a:pPr lvl="0"/>
            <a:r>
              <a:rPr lang="en-US" dirty="0"/>
              <a:t>Use publicly available information only (program websites, brochures, rankings, news, etc.).</a:t>
            </a:r>
            <a:endParaRPr lang="en-US" dirty="0"/>
          </a:p>
          <a:p>
            <a:endParaRPr lang="en-US" dirty="0"/>
          </a:p>
          <a:p>
            <a:pPr lvl="0"/>
            <a:endParaRPr lang="en-US" dirty="0"/>
          </a:p>
          <a:p>
            <a:endParaRPr lang="en-US" dirty="0"/>
          </a:p>
          <a:p>
            <a:endParaRPr lang="en-US" dirty="0"/>
          </a:p>
        </p:txBody>
      </p:sp>
      <p:sp>
        <p:nvSpPr>
          <p:cNvPr id="4" name="Slide Number Placeholder 3"/>
          <p:cNvSpPr>
            <a:spLocks noGrp="1"/>
          </p:cNvSpPr>
          <p:nvPr>
            <p:ph type="sldNum" sz="quarter" idx="12"/>
          </p:nvPr>
        </p:nvSpPr>
        <p:spPr>
          <a:xfrm>
            <a:off x="8610600" y="6356350"/>
            <a:ext cx="2743200" cy="365125"/>
          </a:xfrm>
        </p:spPr>
        <p:txBody>
          <a:bodyPr/>
          <a:lstStyle/>
          <a:p>
            <a:fld id="{7F8CBF50-853B-304C-BCA2-DB5146F0D4EA}" type="slidenum">
              <a:rPr lang="en-US" smtClean="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ormAutofit/>
          </a:bodyPr>
          <a:lstStyle/>
          <a:p>
            <a:pPr lvl="0"/>
            <a:r>
              <a:rPr lang="en-US" dirty="0"/>
              <a:t>3. Agent‑Based Intelligent Travel Planner</a:t>
            </a:r>
            <a:endParaRPr lang="en-US" dirty="0"/>
          </a:p>
        </p:txBody>
      </p:sp>
      <p:sp>
        <p:nvSpPr>
          <p:cNvPr id="3" name="Content Placeholder 2"/>
          <p:cNvSpPr>
            <a:spLocks noGrp="1"/>
          </p:cNvSpPr>
          <p:nvPr>
            <p:ph idx="1"/>
          </p:nvPr>
        </p:nvSpPr>
        <p:spPr>
          <a:xfrm>
            <a:off x="838200" y="1825625"/>
            <a:ext cx="10515600" cy="4351338"/>
          </a:xfrm>
        </p:spPr>
        <p:txBody>
          <a:bodyPr/>
          <a:lstStyle/>
          <a:p>
            <a:pPr lvl="0"/>
            <a:r>
              <a:rPr lang="en-US" dirty="0"/>
              <a:t>Develop an AI agent that creates personalized travel plans for individuals or groups by integrating maps, POI data, and social media content to support travel decision‑making</a:t>
            </a:r>
            <a:endParaRPr lang="en-US" dirty="0"/>
          </a:p>
          <a:p>
            <a:pPr lvl="0"/>
            <a:r>
              <a:rPr lang="en-US" dirty="0"/>
              <a:t>Focus on trip planning for a city or region (e.g., 2–5 day itinerary)</a:t>
            </a:r>
            <a:endParaRPr lang="en-US" dirty="0"/>
          </a:p>
          <a:p>
            <a:pPr lvl="0"/>
            <a:r>
              <a:rPr lang="en-US" dirty="0"/>
              <a:t>Use free or public data sources (e.g., </a:t>
            </a:r>
            <a:r>
              <a:rPr lang="en-US" dirty="0" err="1"/>
              <a:t>Gaode</a:t>
            </a:r>
            <a:r>
              <a:rPr lang="en-US" dirty="0"/>
              <a:t> Maps API, </a:t>
            </a:r>
            <a:r>
              <a:rPr lang="en-US" dirty="0" err="1"/>
              <a:t>RedNote</a:t>
            </a:r>
            <a:r>
              <a:rPr lang="en-US" dirty="0"/>
              <a:t>).</a:t>
            </a:r>
            <a:endParaRPr lang="en-US" dirty="0"/>
          </a:p>
          <a:p>
            <a:pPr lvl="0"/>
            <a:r>
              <a:rPr lang="en-US" dirty="0"/>
              <a:t>Travel scenarios may include leisure, family, or theme‑based trips.</a:t>
            </a:r>
            <a:endParaRPr lang="en-US" dirty="0"/>
          </a:p>
          <a:p>
            <a:pPr lvl="0"/>
            <a:endParaRPr lang="en-US" dirty="0"/>
          </a:p>
          <a:p>
            <a:endParaRPr lang="en-US" dirty="0"/>
          </a:p>
          <a:p>
            <a:pPr lvl="0"/>
            <a:endParaRPr lang="en-US" dirty="0"/>
          </a:p>
          <a:p>
            <a:endParaRPr lang="en-US" dirty="0"/>
          </a:p>
          <a:p>
            <a:pPr lvl="0"/>
            <a:endParaRPr lang="en-US" dirty="0"/>
          </a:p>
          <a:p>
            <a:endParaRPr lang="en-US" dirty="0"/>
          </a:p>
          <a:p>
            <a:endParaRPr lang="en-US" dirty="0"/>
          </a:p>
        </p:txBody>
      </p:sp>
      <p:sp>
        <p:nvSpPr>
          <p:cNvPr id="4" name="Slide Number Placeholder 3"/>
          <p:cNvSpPr>
            <a:spLocks noGrp="1"/>
          </p:cNvSpPr>
          <p:nvPr>
            <p:ph type="sldNum" sz="quarter" idx="12"/>
          </p:nvPr>
        </p:nvSpPr>
        <p:spPr>
          <a:xfrm>
            <a:off x="8610600" y="6356350"/>
            <a:ext cx="2743200" cy="365125"/>
          </a:xfrm>
        </p:spPr>
        <p:txBody>
          <a:bodyPr/>
          <a:lstStyle/>
          <a:p>
            <a:fld id="{7F8CBF50-853B-304C-BCA2-DB5146F0D4EA}" type="slidenum">
              <a:rPr lang="en-US" smtClean="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solidFill>
                  <a:schemeClr val="accent2"/>
                </a:solidFill>
              </a:rPr>
              <a:t>Introduction to LLM</a:t>
            </a:r>
            <a:endParaRPr lang="en-US" dirty="0"/>
          </a:p>
        </p:txBody>
      </p:sp>
      <p:sp>
        <p:nvSpPr>
          <p:cNvPr id="3" name="Subtitle 2"/>
          <p:cNvSpPr>
            <a:spLocks noGrp="1"/>
          </p:cNvSpPr>
          <p:nvPr>
            <p:ph type="subTitle" idx="1"/>
          </p:nvPr>
        </p:nvSpPr>
        <p:spPr/>
        <p:txBody>
          <a:bodyPr>
            <a:normAutofit/>
          </a:bodyPr>
          <a:lstStyle/>
          <a:p>
            <a:endParaRPr lang="en-US" dirty="0"/>
          </a:p>
          <a:p>
            <a:r>
              <a:rPr lang="en-US" dirty="0" err="1"/>
              <a:t>Hailiang</a:t>
            </a:r>
            <a:r>
              <a:rPr lang="en-US" dirty="0"/>
              <a:t> Chen</a:t>
            </a:r>
            <a:endParaRPr lang="en-US" dirty="0"/>
          </a:p>
          <a:p>
            <a:r>
              <a:rPr lang="en-US" altLang="zh-CN" dirty="0"/>
              <a:t>HKU</a:t>
            </a:r>
            <a:r>
              <a:rPr lang="zh-CN" altLang="en-US" dirty="0"/>
              <a:t> </a:t>
            </a:r>
            <a:r>
              <a:rPr lang="en-US" altLang="zh-CN" dirty="0"/>
              <a:t>Business</a:t>
            </a:r>
            <a:r>
              <a:rPr lang="zh-CN" altLang="en-US" dirty="0"/>
              <a:t> </a:t>
            </a:r>
            <a:r>
              <a:rPr lang="en-US" altLang="zh-CN" dirty="0"/>
              <a:t>School</a:t>
            </a:r>
            <a:endParaRPr lang="en-US" altLang="zh-C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Information</a:t>
            </a:r>
            <a:endParaRPr lang="en-US" dirty="0"/>
          </a:p>
        </p:txBody>
      </p:sp>
      <p:sp>
        <p:nvSpPr>
          <p:cNvPr id="3" name="Content Placeholder 2"/>
          <p:cNvSpPr>
            <a:spLocks noGrp="1"/>
          </p:cNvSpPr>
          <p:nvPr>
            <p:ph idx="1"/>
          </p:nvPr>
        </p:nvSpPr>
        <p:spPr/>
        <p:txBody>
          <a:bodyPr>
            <a:normAutofit/>
          </a:bodyPr>
          <a:lstStyle/>
          <a:p>
            <a:r>
              <a:rPr lang="en-US" dirty="0"/>
              <a:t>Instructor:</a:t>
            </a:r>
            <a:endParaRPr lang="en-US" dirty="0"/>
          </a:p>
          <a:p>
            <a:pPr lvl="1"/>
            <a:r>
              <a:rPr lang="en-US" dirty="0"/>
              <a:t>Prof. </a:t>
            </a:r>
            <a:r>
              <a:rPr lang="en-US" dirty="0" err="1"/>
              <a:t>Hailiang</a:t>
            </a:r>
            <a:r>
              <a:rPr lang="en-US" dirty="0"/>
              <a:t> CHEN, </a:t>
            </a:r>
            <a:r>
              <a:rPr lang="en-US" dirty="0">
                <a:hlinkClick r:id="rId1"/>
              </a:rPr>
              <a:t>chen19@hku.hk</a:t>
            </a:r>
            <a:endParaRPr lang="en-US" dirty="0"/>
          </a:p>
          <a:p>
            <a:r>
              <a:rPr lang="en-US" dirty="0"/>
              <a:t>Consultation Hours:</a:t>
            </a:r>
            <a:endParaRPr lang="en-US" dirty="0"/>
          </a:p>
          <a:p>
            <a:pPr lvl="1"/>
            <a:r>
              <a:rPr lang="en-US" dirty="0"/>
              <a:t>Time: TBD</a:t>
            </a:r>
            <a:endParaRPr lang="en-US" dirty="0"/>
          </a:p>
          <a:p>
            <a:pPr lvl="1"/>
            <a:r>
              <a:rPr lang="en-US" dirty="0"/>
              <a:t>Office: Room 840, KK Leung Building, Main Campus</a:t>
            </a:r>
            <a:endParaRPr lang="en-US" dirty="0"/>
          </a:p>
          <a:p>
            <a:r>
              <a:rPr lang="en-US" dirty="0"/>
              <a:t>Teaching Assistant:</a:t>
            </a:r>
            <a:endParaRPr lang="en-US" dirty="0"/>
          </a:p>
          <a:p>
            <a:pPr lvl="1"/>
            <a:r>
              <a:rPr lang="en-US" altLang="zh-CN" dirty="0"/>
              <a:t>Miss </a:t>
            </a:r>
            <a:r>
              <a:rPr lang="en-US" altLang="zh-CN" dirty="0" err="1"/>
              <a:t>Ruoxin</a:t>
            </a:r>
            <a:r>
              <a:rPr lang="en-US" altLang="zh-CN" dirty="0"/>
              <a:t> Li, </a:t>
            </a:r>
            <a:r>
              <a:rPr lang="en-US" dirty="0">
                <a:hlinkClick r:id="rId2"/>
              </a:rPr>
              <a:t>ruoxinli0112@connect.hku.hk</a:t>
            </a:r>
            <a:r>
              <a:rPr lang="en-US" dirty="0"/>
              <a:t>: </a:t>
            </a:r>
            <a:r>
              <a:rPr lang="en-US" altLang="zh-CN" dirty="0"/>
              <a:t>assignment grading</a:t>
            </a:r>
            <a:endParaRPr lang="en-US" altLang="zh-CN" dirty="0"/>
          </a:p>
          <a:p>
            <a:pPr lvl="1"/>
            <a:r>
              <a:rPr lang="en-US" altLang="zh-CN" dirty="0"/>
              <a:t>Mr.</a:t>
            </a:r>
            <a:r>
              <a:rPr lang="zh-CN" altLang="en-US" dirty="0"/>
              <a:t> </a:t>
            </a:r>
            <a:r>
              <a:rPr lang="en-US" altLang="zh-CN" dirty="0"/>
              <a:t>Shuang Li, </a:t>
            </a:r>
            <a:r>
              <a:rPr lang="en-US" u="sng" dirty="0">
                <a:hlinkClick r:id="rId3" tooltip="mailto:ls499858@hku.hk"/>
              </a:rPr>
              <a:t>ls499858@hku.hk</a:t>
            </a:r>
            <a:r>
              <a:rPr lang="en-US" altLang="zh-CN" dirty="0"/>
              <a:t>: attendance</a:t>
            </a:r>
            <a:endParaRPr lang="en-US" altLang="zh-CN" dirty="0"/>
          </a:p>
        </p:txBody>
      </p:sp>
      <p:sp>
        <p:nvSpPr>
          <p:cNvPr id="4" name="Slide Number Placeholder 3"/>
          <p:cNvSpPr>
            <a:spLocks noGrp="1"/>
          </p:cNvSpPr>
          <p:nvPr>
            <p:ph type="sldNum" sz="quarter" idx="12"/>
          </p:nvPr>
        </p:nvSpPr>
        <p:spPr/>
        <p:txBody>
          <a:bodyPr/>
          <a:lstStyle/>
          <a:p>
            <a:fld id="{3CF86D51-AB38-4211-A765-668B7266B8DF}" type="slidenum">
              <a:rPr lang="en-US" smtClean="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a:xfrm>
            <a:off x="838200" y="1071706"/>
            <a:ext cx="10515600" cy="1325563"/>
          </a:xfrm>
        </p:spPr>
        <p:txBody>
          <a:bodyPr/>
          <a:lstStyle/>
          <a:p>
            <a:r>
              <a:rPr lang="en-US" altLang="zh-CN" dirty="0"/>
              <a:t>Contact</a:t>
            </a:r>
            <a:r>
              <a:rPr lang="zh-CN" altLang="en-US" dirty="0"/>
              <a:t> </a:t>
            </a:r>
            <a:r>
              <a:rPr lang="en-US" altLang="zh-CN" dirty="0"/>
              <a:t>Me</a:t>
            </a:r>
            <a:endParaRPr lang="en-US" dirty="0"/>
          </a:p>
        </p:txBody>
      </p:sp>
      <p:sp>
        <p:nvSpPr>
          <p:cNvPr id="12" name="Text Placeholder 11"/>
          <p:cNvSpPr>
            <a:spLocks noGrp="1"/>
          </p:cNvSpPr>
          <p:nvPr>
            <p:ph idx="1"/>
          </p:nvPr>
        </p:nvSpPr>
        <p:spPr>
          <a:xfrm>
            <a:off x="838200" y="2501900"/>
            <a:ext cx="6112933" cy="3675063"/>
          </a:xfrm>
        </p:spPr>
        <p:txBody>
          <a:bodyPr/>
          <a:lstStyle/>
          <a:p>
            <a:r>
              <a:rPr lang="en-US" altLang="zh-CN" dirty="0"/>
              <a:t>Email:</a:t>
            </a:r>
            <a:r>
              <a:rPr lang="zh-CN" altLang="en-US" dirty="0"/>
              <a:t> </a:t>
            </a:r>
            <a:r>
              <a:rPr lang="en-US" altLang="zh-CN" dirty="0">
                <a:hlinkClick r:id="rId1"/>
              </a:rPr>
              <a:t>chen19@hku.hk</a:t>
            </a:r>
            <a:endParaRPr lang="en-US" altLang="zh-CN" dirty="0"/>
          </a:p>
          <a:p>
            <a:r>
              <a:rPr lang="en-US" altLang="zh-CN" dirty="0"/>
              <a:t>Mobile/WhatsApp:</a:t>
            </a:r>
            <a:r>
              <a:rPr lang="zh-CN" altLang="en-US" dirty="0"/>
              <a:t> </a:t>
            </a:r>
            <a:r>
              <a:rPr lang="en-US" altLang="zh-CN" dirty="0"/>
              <a:t>56338553</a:t>
            </a:r>
            <a:endParaRPr lang="en-US" altLang="zh-CN" dirty="0"/>
          </a:p>
          <a:p>
            <a:r>
              <a:rPr lang="en-US" altLang="zh-CN" dirty="0"/>
              <a:t>WeChat: better4us</a:t>
            </a:r>
            <a:endParaRPr lang="en-US" altLang="zh-CN" dirty="0"/>
          </a:p>
          <a:p>
            <a:r>
              <a:rPr lang="en-US" altLang="zh-CN" dirty="0"/>
              <a:t>LinkedIn:</a:t>
            </a:r>
            <a:r>
              <a:rPr lang="zh-CN" altLang="en-US" dirty="0"/>
              <a:t> </a:t>
            </a:r>
            <a:r>
              <a:rPr lang="en-US" dirty="0">
                <a:hlinkClick r:id="rId2"/>
              </a:rPr>
              <a:t>https://www.linkedin.com/in/hailiang-chen/</a:t>
            </a:r>
            <a:endParaRPr lang="en-US" altLang="zh-CN" dirty="0"/>
          </a:p>
          <a:p>
            <a:endParaRPr lang="en-US" dirty="0"/>
          </a:p>
        </p:txBody>
      </p:sp>
      <p:pic>
        <p:nvPicPr>
          <p:cNvPr id="2" name="Picture 1"/>
          <p:cNvPicPr>
            <a:picLocks noChangeAspect="1"/>
          </p:cNvPicPr>
          <p:nvPr/>
        </p:nvPicPr>
        <p:blipFill rotWithShape="1">
          <a:blip r:embed="rId3"/>
          <a:srcRect/>
          <a:stretch>
            <a:fillRect/>
          </a:stretch>
        </p:blipFill>
        <p:spPr>
          <a:xfrm>
            <a:off x="9600086" y="2397125"/>
            <a:ext cx="2346833" cy="2983832"/>
          </a:xfrm>
          <a:prstGeom prst="rect">
            <a:avLst/>
          </a:prstGeom>
        </p:spPr>
      </p:pic>
      <p:pic>
        <p:nvPicPr>
          <p:cNvPr id="3" name="Picture 2"/>
          <p:cNvPicPr>
            <a:picLocks noChangeAspect="1"/>
          </p:cNvPicPr>
          <p:nvPr/>
        </p:nvPicPr>
        <p:blipFill rotWithShape="1">
          <a:blip r:embed="rId4"/>
          <a:srcRect/>
          <a:stretch>
            <a:fillRect/>
          </a:stretch>
        </p:blipFill>
        <p:spPr>
          <a:xfrm>
            <a:off x="6841067" y="2397125"/>
            <a:ext cx="2695073" cy="2983832"/>
          </a:xfrm>
          <a:prstGeom prst="rect">
            <a:avLst/>
          </a:prstGeom>
        </p:spPr>
      </p:pic>
      <p:sp>
        <p:nvSpPr>
          <p:cNvPr id="6" name="Slide Number Placeholder 5"/>
          <p:cNvSpPr>
            <a:spLocks noGrp="1"/>
          </p:cNvSpPr>
          <p:nvPr>
            <p:ph type="sldNum" sz="quarter" idx="12"/>
          </p:nvPr>
        </p:nvSpPr>
        <p:spPr/>
        <p:txBody>
          <a:bodyPr/>
          <a:lstStyle/>
          <a:p>
            <a:fld id="{6D49EFF0-5BC8-4886-A1D5-59C0C1A1A17F}" type="slidenum">
              <a:rPr lang="en-US" smtClean="0"/>
            </a:fld>
            <a:endParaRPr lang="en-US"/>
          </a:p>
        </p:txBody>
      </p:sp>
      <p:sp>
        <p:nvSpPr>
          <p:cNvPr id="4" name="TextBox 3"/>
          <p:cNvSpPr txBox="1"/>
          <p:nvPr/>
        </p:nvSpPr>
        <p:spPr>
          <a:xfrm>
            <a:off x="7606809" y="1734487"/>
            <a:ext cx="1163588" cy="369332"/>
          </a:xfrm>
          <a:prstGeom prst="rect">
            <a:avLst/>
          </a:prstGeom>
          <a:noFill/>
        </p:spPr>
        <p:txBody>
          <a:bodyPr wrap="none" rtlCol="0">
            <a:spAutoFit/>
          </a:bodyPr>
          <a:lstStyle/>
          <a:p>
            <a:r>
              <a:rPr lang="en-US" dirty="0">
                <a:solidFill>
                  <a:schemeClr val="accent2"/>
                </a:solidFill>
              </a:rPr>
              <a:t>WhatsApp</a:t>
            </a:r>
            <a:endParaRPr lang="en-US" dirty="0">
              <a:solidFill>
                <a:schemeClr val="accent2"/>
              </a:solidFill>
            </a:endParaRPr>
          </a:p>
        </p:txBody>
      </p:sp>
      <p:sp>
        <p:nvSpPr>
          <p:cNvPr id="5" name="TextBox 4"/>
          <p:cNvSpPr txBox="1"/>
          <p:nvPr/>
        </p:nvSpPr>
        <p:spPr>
          <a:xfrm>
            <a:off x="10309753" y="1734487"/>
            <a:ext cx="927498" cy="369332"/>
          </a:xfrm>
          <a:prstGeom prst="rect">
            <a:avLst/>
          </a:prstGeom>
          <a:noFill/>
        </p:spPr>
        <p:txBody>
          <a:bodyPr wrap="none" rtlCol="0">
            <a:spAutoFit/>
          </a:bodyPr>
          <a:lstStyle/>
          <a:p>
            <a:r>
              <a:rPr lang="en-US" dirty="0">
                <a:solidFill>
                  <a:schemeClr val="accent2"/>
                </a:solidFill>
              </a:rPr>
              <a:t>WeChat</a:t>
            </a:r>
            <a:endParaRPr lang="en-US" dirty="0">
              <a:solidFill>
                <a:schemeClr val="accent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Course Information</a:t>
            </a:r>
            <a:endParaRPr lang="en-US" dirty="0"/>
          </a:p>
        </p:txBody>
      </p:sp>
      <p:sp>
        <p:nvSpPr>
          <p:cNvPr id="3" name="Content Placeholder 2"/>
          <p:cNvSpPr>
            <a:spLocks noGrp="1"/>
          </p:cNvSpPr>
          <p:nvPr>
            <p:ph idx="1"/>
          </p:nvPr>
        </p:nvSpPr>
        <p:spPr/>
        <p:txBody>
          <a:bodyPr>
            <a:normAutofit/>
          </a:bodyPr>
          <a:lstStyle/>
          <a:p>
            <a:r>
              <a:rPr lang="en-US" dirty="0"/>
              <a:t>Assessment</a:t>
            </a:r>
            <a:endParaRPr lang="en-US" dirty="0"/>
          </a:p>
          <a:p>
            <a:pPr lvl="1"/>
            <a:r>
              <a:rPr lang="en-US" dirty="0"/>
              <a:t>In-class and Online Participation: </a:t>
            </a:r>
            <a:r>
              <a:rPr lang="en-US" altLang="zh-CN" dirty="0"/>
              <a:t>2</a:t>
            </a:r>
            <a:r>
              <a:rPr lang="en-US" dirty="0"/>
              <a:t>0%</a:t>
            </a:r>
            <a:endParaRPr lang="en-US" dirty="0"/>
          </a:p>
          <a:p>
            <a:pPr lvl="1"/>
            <a:r>
              <a:rPr lang="en-US" dirty="0"/>
              <a:t>Individual Assignment: 30%</a:t>
            </a:r>
            <a:endParaRPr lang="en-US" dirty="0"/>
          </a:p>
          <a:p>
            <a:pPr lvl="1"/>
            <a:r>
              <a:rPr lang="en-US" dirty="0"/>
              <a:t>Group Project: </a:t>
            </a:r>
            <a:r>
              <a:rPr lang="en-US" altLang="zh-CN" dirty="0"/>
              <a:t>5</a:t>
            </a:r>
            <a:r>
              <a:rPr lang="en-US" dirty="0"/>
              <a:t>0%</a:t>
            </a:r>
            <a:endParaRPr lang="en-US" dirty="0"/>
          </a:p>
          <a:p>
            <a:pPr marL="0" indent="0">
              <a:buNone/>
            </a:pPr>
            <a:endParaRPr lang="en-US" dirty="0"/>
          </a:p>
          <a:p>
            <a:r>
              <a:rPr lang="en-US" dirty="0"/>
              <a:t>Attendance follows faculty policy; </a:t>
            </a:r>
            <a:r>
              <a:rPr lang="en-US" b="1" dirty="0"/>
              <a:t>students must attend at least 70% of lectures to pass</a:t>
            </a:r>
            <a:r>
              <a:rPr lang="en-US" dirty="0"/>
              <a:t>. </a:t>
            </a:r>
            <a:endParaRPr lang="en-US" dirty="0"/>
          </a:p>
          <a:p>
            <a:r>
              <a:rPr lang="en-US" dirty="0"/>
              <a:t>Group Project assessment is also individual-based, i.e., different members in the same group can get very different scores.</a:t>
            </a:r>
            <a:endParaRPr lang="en-US" dirty="0"/>
          </a:p>
        </p:txBody>
      </p:sp>
      <p:sp>
        <p:nvSpPr>
          <p:cNvPr id="4" name="Slide Number Placeholder 3"/>
          <p:cNvSpPr>
            <a:spLocks noGrp="1"/>
          </p:cNvSpPr>
          <p:nvPr>
            <p:ph type="sldNum" sz="quarter" idx="12"/>
          </p:nvPr>
        </p:nvSpPr>
        <p:spPr/>
        <p:txBody>
          <a:bodyPr/>
          <a:lstStyle/>
          <a:p>
            <a:fld id="{3CF86D51-AB38-4211-A765-668B7266B8DF}" type="slidenum">
              <a:rPr lang="en-US" smtClean="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solidFill>
                  <a:srgbClr val="000000"/>
                </a:solidFill>
                <a:effectLst/>
                <a:latin typeface="Calibri Light" panose="020F0302020204030204" pitchFamily="34" charset="0"/>
              </a:rPr>
              <a:t>Utilisation of AI Tools</a:t>
            </a:r>
            <a:endParaRPr lang="en-US" dirty="0"/>
          </a:p>
        </p:txBody>
      </p:sp>
      <p:sp>
        <p:nvSpPr>
          <p:cNvPr id="3" name="Content Placeholder 2"/>
          <p:cNvSpPr>
            <a:spLocks noGrp="1"/>
          </p:cNvSpPr>
          <p:nvPr>
            <p:ph idx="1"/>
          </p:nvPr>
        </p:nvSpPr>
        <p:spPr/>
        <p:txBody>
          <a:bodyPr/>
          <a:lstStyle/>
          <a:p>
            <a:pPr marL="228600" indent="-228600" algn="l" rtl="0" eaLnBrk="1" latinLnBrk="0" hangingPunct="1">
              <a:lnSpc>
                <a:spcPct val="90000"/>
              </a:lnSpc>
              <a:spcBef>
                <a:spcPts val="1000"/>
              </a:spcBef>
              <a:buFont typeface="Arial" panose="020B0604020202020204" pitchFamily="34" charset="0"/>
              <a:buChar char="•"/>
            </a:pPr>
            <a:r>
              <a:rPr lang="en-US" sz="2800" dirty="0">
                <a:solidFill>
                  <a:srgbClr val="000000"/>
                </a:solidFill>
                <a:effectLst/>
                <a:latin typeface="Calibri" panose="020F0502020204030204" pitchFamily="34" charset="0"/>
              </a:rPr>
              <a:t>The use of AI tools is </a:t>
            </a:r>
            <a:r>
              <a:rPr lang="en-US" sz="2800" dirty="0">
                <a:solidFill>
                  <a:schemeClr val="accent2"/>
                </a:solidFill>
                <a:effectLst/>
                <a:latin typeface="Calibri" panose="020F0502020204030204" pitchFamily="34" charset="0"/>
              </a:rPr>
              <a:t>permitted and highly recommended</a:t>
            </a:r>
            <a:r>
              <a:rPr lang="en-US" sz="2800" dirty="0">
                <a:solidFill>
                  <a:srgbClr val="000000"/>
                </a:solidFill>
                <a:effectLst/>
                <a:latin typeface="Calibri" panose="020F0502020204030204" pitchFamily="34" charset="0"/>
              </a:rPr>
              <a:t>.</a:t>
            </a:r>
            <a:endParaRPr lang="en-US" sz="2800" dirty="0">
              <a:solidFill>
                <a:srgbClr val="000000"/>
              </a:solidFill>
              <a:effectLst/>
              <a:latin typeface="Calibri" panose="020F0502020204030204" pitchFamily="34" charset="0"/>
            </a:endParaRPr>
          </a:p>
          <a:p>
            <a:pPr marL="228600" indent="-228600" algn="l" rtl="0" eaLnBrk="1" latinLnBrk="0" hangingPunct="1">
              <a:lnSpc>
                <a:spcPct val="90000"/>
              </a:lnSpc>
              <a:spcBef>
                <a:spcPts val="1000"/>
              </a:spcBef>
              <a:buFont typeface="Arial" panose="020B0604020202020204" pitchFamily="34" charset="0"/>
              <a:buChar char="•"/>
            </a:pPr>
            <a:r>
              <a:rPr lang="en-US" sz="2800" dirty="0">
                <a:solidFill>
                  <a:srgbClr val="000000"/>
                </a:solidFill>
                <a:effectLst/>
                <a:latin typeface="Calibri" panose="020F0502020204030204" pitchFamily="34" charset="0"/>
              </a:rPr>
              <a:t>Nevertheless, any use of AI must be documented for both individual assignments and group project submissions.</a:t>
            </a:r>
            <a:endParaRPr lang="en-US" sz="2800" dirty="0">
              <a:solidFill>
                <a:srgbClr val="000000"/>
              </a:solidFill>
              <a:effectLst/>
              <a:latin typeface="Calibri" panose="020F0502020204030204" pitchFamily="34" charset="0"/>
            </a:endParaRPr>
          </a:p>
          <a:p>
            <a:pPr marL="228600" indent="-228600" algn="l" rtl="0" eaLnBrk="1" latinLnBrk="0" hangingPunct="1">
              <a:lnSpc>
                <a:spcPct val="90000"/>
              </a:lnSpc>
              <a:spcBef>
                <a:spcPts val="1000"/>
              </a:spcBef>
              <a:buFont typeface="Arial" panose="020B0604020202020204" pitchFamily="34" charset="0"/>
              <a:buChar char="•"/>
            </a:pPr>
            <a:r>
              <a:rPr lang="en-US" sz="2800" dirty="0">
                <a:solidFill>
                  <a:srgbClr val="000000"/>
                </a:solidFill>
                <a:effectLst/>
                <a:latin typeface="Calibri" panose="020F0502020204030204" pitchFamily="34" charset="0"/>
              </a:rPr>
              <a:t>Adhere to the provided guidelines to </a:t>
            </a:r>
            <a:r>
              <a:rPr lang="en-US" sz="2800" dirty="0">
                <a:solidFill>
                  <a:schemeClr val="accent2"/>
                </a:solidFill>
                <a:effectLst/>
                <a:latin typeface="Calibri" panose="020F0502020204030204" pitchFamily="34" charset="0"/>
              </a:rPr>
              <a:t>properly disclose AI involvement</a:t>
            </a:r>
            <a:r>
              <a:rPr lang="en-US" sz="2800" dirty="0">
                <a:solidFill>
                  <a:srgbClr val="000000"/>
                </a:solidFill>
                <a:effectLst/>
                <a:latin typeface="Calibri" panose="020F0502020204030204" pitchFamily="34" charset="0"/>
              </a:rPr>
              <a:t>.</a:t>
            </a:r>
            <a:endParaRPr lang="en-US" dirty="0"/>
          </a:p>
        </p:txBody>
      </p:sp>
      <p:sp>
        <p:nvSpPr>
          <p:cNvPr id="4" name="Slide Number Placeholder 3"/>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a:t>Course Information</a:t>
            </a:r>
            <a:endParaRPr lang="en-US" dirty="0"/>
          </a:p>
        </p:txBody>
      </p:sp>
      <p:sp>
        <p:nvSpPr>
          <p:cNvPr id="3" name="Content Placeholder 2"/>
          <p:cNvSpPr>
            <a:spLocks noGrp="1"/>
          </p:cNvSpPr>
          <p:nvPr>
            <p:ph idx="1"/>
          </p:nvPr>
        </p:nvSpPr>
        <p:spPr>
          <a:xfrm>
            <a:off x="838200" y="1825625"/>
            <a:ext cx="10515600" cy="4351338"/>
          </a:xfrm>
        </p:spPr>
        <p:txBody>
          <a:bodyPr>
            <a:normAutofit/>
          </a:bodyPr>
          <a:lstStyle/>
          <a:p>
            <a:r>
              <a:rPr lang="en-US" dirty="0"/>
              <a:t>Participation: </a:t>
            </a:r>
            <a:r>
              <a:rPr lang="en-US" altLang="zh-CN" dirty="0"/>
              <a:t>2</a:t>
            </a:r>
            <a:r>
              <a:rPr lang="en-US" dirty="0"/>
              <a:t>0%</a:t>
            </a:r>
            <a:endParaRPr lang="en-US" dirty="0"/>
          </a:p>
          <a:p>
            <a:pPr lvl="1"/>
            <a:r>
              <a:rPr lang="en-US" altLang="zh-CN" dirty="0"/>
              <a:t>In-class Participation: 10%</a:t>
            </a:r>
            <a:endParaRPr lang="en-US" altLang="zh-CN" dirty="0"/>
          </a:p>
          <a:p>
            <a:pPr lvl="2"/>
            <a:r>
              <a:rPr lang="en-US" altLang="zh-CN" dirty="0"/>
              <a:t>Attending more lectures would be appreciated</a:t>
            </a:r>
            <a:endParaRPr lang="en-US" altLang="zh-CN" dirty="0"/>
          </a:p>
          <a:p>
            <a:pPr lvl="2"/>
            <a:r>
              <a:rPr lang="en-US" dirty="0"/>
              <a:t>In-class Participation </a:t>
            </a:r>
            <a:r>
              <a:rPr lang="en-US" altLang="zh-CN" dirty="0"/>
              <a:t>Self-</a:t>
            </a:r>
            <a:r>
              <a:rPr lang="en-US" dirty="0"/>
              <a:t>Report </a:t>
            </a:r>
            <a:r>
              <a:rPr lang="en-US" altLang="zh-CN" dirty="0"/>
              <a:t>Google</a:t>
            </a:r>
            <a:r>
              <a:rPr lang="zh-CN" altLang="en-US" dirty="0"/>
              <a:t> </a:t>
            </a:r>
            <a:r>
              <a:rPr lang="en-US" dirty="0"/>
              <a:t>Form</a:t>
            </a:r>
            <a:r>
              <a:rPr lang="en-US" altLang="zh-CN" dirty="0"/>
              <a:t>: </a:t>
            </a:r>
            <a:r>
              <a:rPr lang="en-US" altLang="zh-CN" dirty="0">
                <a:hlinkClick r:id="rId1"/>
              </a:rPr>
              <a:t>https://forms.gle/nwhNfZ8PosZZYwBB9</a:t>
            </a:r>
            <a:r>
              <a:rPr lang="en-US" altLang="zh-CN" dirty="0"/>
              <a:t> </a:t>
            </a:r>
            <a:endParaRPr lang="en-US" altLang="zh-CN" dirty="0"/>
          </a:p>
          <a:p>
            <a:pPr lvl="2"/>
            <a:r>
              <a:rPr lang="en-US" altLang="zh-CN" dirty="0"/>
              <a:t>Ask/answer questions; make comments; make presentations </a:t>
            </a:r>
            <a:endParaRPr lang="en-US" altLang="zh-CN" dirty="0"/>
          </a:p>
          <a:p>
            <a:pPr lvl="1"/>
            <a:r>
              <a:rPr lang="en-US" altLang="zh-CN" dirty="0"/>
              <a:t>Online</a:t>
            </a:r>
            <a:r>
              <a:rPr lang="zh-CN" altLang="en-US" dirty="0"/>
              <a:t> </a:t>
            </a:r>
            <a:r>
              <a:rPr lang="en-US" altLang="zh-CN" dirty="0"/>
              <a:t>participation</a:t>
            </a:r>
            <a:r>
              <a:rPr lang="zh-CN" altLang="en-US" dirty="0"/>
              <a:t> </a:t>
            </a:r>
            <a:r>
              <a:rPr lang="en-US" altLang="zh-CN" dirty="0"/>
              <a:t>through</a:t>
            </a:r>
            <a:r>
              <a:rPr lang="zh-CN" altLang="en-US" dirty="0"/>
              <a:t> </a:t>
            </a:r>
            <a:r>
              <a:rPr lang="en-US" altLang="zh-CN" dirty="0"/>
              <a:t>Moodle and other designated platforms:</a:t>
            </a:r>
            <a:r>
              <a:rPr lang="zh-CN" altLang="en-US" dirty="0"/>
              <a:t> </a:t>
            </a:r>
            <a:r>
              <a:rPr lang="en-US" altLang="zh-CN" dirty="0"/>
              <a:t>10%</a:t>
            </a:r>
            <a:endParaRPr lang="en-US" altLang="zh-CN" dirty="0"/>
          </a:p>
          <a:p>
            <a:pPr lvl="2"/>
            <a:r>
              <a:rPr lang="en-US" dirty="0"/>
              <a:t>Take-home assignments on Moodle</a:t>
            </a:r>
            <a:endParaRPr lang="en-US" dirty="0"/>
          </a:p>
          <a:p>
            <a:pPr lvl="2"/>
            <a:r>
              <a:rPr lang="en-US" dirty="0"/>
              <a:t>In-class presentation submissions on Moodle</a:t>
            </a:r>
            <a:endParaRPr lang="en-US" dirty="0"/>
          </a:p>
          <a:p>
            <a:pPr lvl="2"/>
            <a:r>
              <a:rPr lang="en-US" dirty="0"/>
              <a:t>Course forum</a:t>
            </a:r>
            <a:endParaRPr lang="en-US" dirty="0"/>
          </a:p>
          <a:p>
            <a:pPr lvl="3"/>
            <a:r>
              <a:rPr lang="en-US" dirty="0"/>
              <a:t>“Novel” contribution to discussions: no duplicate</a:t>
            </a:r>
            <a:r>
              <a:rPr lang="zh-CN" altLang="en-US" dirty="0"/>
              <a:t> </a:t>
            </a:r>
            <a:r>
              <a:rPr lang="en-US" altLang="zh-CN" dirty="0"/>
              <a:t>content</a:t>
            </a:r>
            <a:endParaRPr lang="en-US" dirty="0"/>
          </a:p>
          <a:p>
            <a:pPr lvl="3"/>
            <a:r>
              <a:rPr lang="en-US" altLang="zh-CN" dirty="0"/>
              <a:t>Asking</a:t>
            </a:r>
            <a:r>
              <a:rPr lang="zh-CN" altLang="en-US" dirty="0"/>
              <a:t> </a:t>
            </a:r>
            <a:r>
              <a:rPr lang="en-US" altLang="zh-CN" dirty="0"/>
              <a:t>for</a:t>
            </a:r>
            <a:r>
              <a:rPr lang="zh-CN" altLang="en-US" dirty="0"/>
              <a:t> </a:t>
            </a:r>
            <a:r>
              <a:rPr lang="en-US" altLang="zh-CN" dirty="0"/>
              <a:t>help</a:t>
            </a:r>
            <a:r>
              <a:rPr lang="zh-CN" altLang="en-US" dirty="0"/>
              <a:t> </a:t>
            </a:r>
            <a:r>
              <a:rPr lang="en-US" altLang="zh-CN" dirty="0"/>
              <a:t>or</a:t>
            </a:r>
            <a:r>
              <a:rPr lang="zh-CN" altLang="en-US" dirty="0"/>
              <a:t> </a:t>
            </a:r>
            <a:r>
              <a:rPr lang="en-US" altLang="zh-CN" dirty="0"/>
              <a:t>offering</a:t>
            </a:r>
            <a:r>
              <a:rPr lang="zh-CN" altLang="en-US" dirty="0"/>
              <a:t> </a:t>
            </a:r>
            <a:r>
              <a:rPr lang="en-US" altLang="zh-CN" dirty="0"/>
              <a:t>help</a:t>
            </a:r>
            <a:r>
              <a:rPr lang="zh-CN" altLang="en-US" dirty="0"/>
              <a:t> </a:t>
            </a:r>
            <a:r>
              <a:rPr lang="en-US" altLang="zh-CN" dirty="0"/>
              <a:t>on</a:t>
            </a:r>
            <a:r>
              <a:rPr lang="zh-CN" altLang="en-US" dirty="0"/>
              <a:t> </a:t>
            </a:r>
            <a:r>
              <a:rPr lang="en-US" altLang="zh-CN" dirty="0"/>
              <a:t>technical</a:t>
            </a:r>
            <a:r>
              <a:rPr lang="zh-CN" altLang="en-US" dirty="0"/>
              <a:t> </a:t>
            </a:r>
            <a:r>
              <a:rPr lang="en-US" altLang="zh-CN" dirty="0"/>
              <a:t>issues</a:t>
            </a:r>
            <a:endParaRPr lang="en-US" altLang="zh-CN" dirty="0"/>
          </a:p>
        </p:txBody>
      </p:sp>
      <p:sp>
        <p:nvSpPr>
          <p:cNvPr id="4" name="Slide Number Placeholder 3"/>
          <p:cNvSpPr>
            <a:spLocks noGrp="1"/>
          </p:cNvSpPr>
          <p:nvPr>
            <p:ph type="sldNum" sz="quarter" idx="12"/>
          </p:nvPr>
        </p:nvSpPr>
        <p:spPr>
          <a:xfrm>
            <a:off x="8610600" y="6356350"/>
            <a:ext cx="2743200" cy="365125"/>
          </a:xfrm>
        </p:spPr>
        <p:txBody>
          <a:bodyPr/>
          <a:lstStyle/>
          <a:p>
            <a:fld id="{3CF86D51-AB38-4211-A765-668B7266B8DF}" type="slidenum">
              <a:rPr lang="en-US" smtClean="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dirty="0"/>
              <a:t>In-class Individual Presentation</a:t>
            </a:r>
            <a:endParaRPr lang="en-US" dirty="0"/>
          </a:p>
        </p:txBody>
      </p:sp>
      <p:sp>
        <p:nvSpPr>
          <p:cNvPr id="3" name="Content Placeholder 2"/>
          <p:cNvSpPr>
            <a:spLocks noGrp="1"/>
          </p:cNvSpPr>
          <p:nvPr>
            <p:ph idx="1"/>
          </p:nvPr>
        </p:nvSpPr>
        <p:spPr>
          <a:xfrm>
            <a:off x="838200" y="1825625"/>
            <a:ext cx="10515600" cy="4351338"/>
          </a:xfrm>
        </p:spPr>
        <p:txBody>
          <a:bodyPr>
            <a:normAutofit/>
          </a:bodyPr>
          <a:lstStyle/>
          <a:p>
            <a:pPr marL="228600" indent="-228600" algn="l" rtl="0" eaLnBrk="1" latinLnBrk="0" hangingPunct="1">
              <a:lnSpc>
                <a:spcPct val="90000"/>
              </a:lnSpc>
              <a:spcBef>
                <a:spcPts val="1000"/>
              </a:spcBef>
              <a:buFont typeface="Arial" panose="020B0604020202020204" pitchFamily="34" charset="0"/>
              <a:buChar char="•"/>
            </a:pPr>
            <a:r>
              <a:rPr lang="en-US" sz="2800" dirty="0">
                <a:solidFill>
                  <a:srgbClr val="000000"/>
                </a:solidFill>
                <a:effectLst/>
                <a:latin typeface="Calibri" panose="020F0502020204030204" pitchFamily="34" charset="0"/>
              </a:rPr>
              <a:t>Share anything interesting or useful about LLM</a:t>
            </a:r>
            <a:endParaRPr lang="en-US" sz="2800" dirty="0">
              <a:solidFill>
                <a:srgbClr val="000000"/>
              </a:solidFill>
              <a:effectLst/>
              <a:latin typeface="Calibri" panose="020F0502020204030204" pitchFamily="34" charset="0"/>
            </a:endParaRPr>
          </a:p>
          <a:p>
            <a:pPr marL="228600" indent="-228600" algn="l" rtl="0" eaLnBrk="1" latinLnBrk="0" hangingPunct="1">
              <a:lnSpc>
                <a:spcPct val="90000"/>
              </a:lnSpc>
              <a:spcBef>
                <a:spcPts val="1000"/>
              </a:spcBef>
              <a:buFont typeface="Arial" panose="020B0604020202020204" pitchFamily="34" charset="0"/>
              <a:buChar char="•"/>
            </a:pPr>
            <a:r>
              <a:rPr lang="en-US" sz="2800" dirty="0">
                <a:solidFill>
                  <a:srgbClr val="000000"/>
                </a:solidFill>
                <a:effectLst/>
                <a:latin typeface="Calibri" panose="020F0502020204030204" pitchFamily="34" charset="0"/>
              </a:rPr>
              <a:t>Upload presentation slides (.ppt or .pptx) on Moodle (submissions accepted continuously; earlier submissions are encouraged)</a:t>
            </a:r>
            <a:endParaRPr lang="en-US" sz="2800" dirty="0">
              <a:solidFill>
                <a:srgbClr val="000000"/>
              </a:solidFill>
              <a:effectLst/>
              <a:latin typeface="Calibri" panose="020F0502020204030204" pitchFamily="34" charset="0"/>
            </a:endParaRPr>
          </a:p>
          <a:p>
            <a:pPr marL="685800" indent="-228600" algn="l" rtl="0" eaLnBrk="1" latinLnBrk="0" hangingPunct="1">
              <a:lnSpc>
                <a:spcPct val="90000"/>
              </a:lnSpc>
              <a:spcBef>
                <a:spcPts val="500"/>
              </a:spcBef>
              <a:buFont typeface="Arial" panose="020B0604020202020204" pitchFamily="34" charset="0"/>
              <a:buChar char="•"/>
            </a:pPr>
            <a:r>
              <a:rPr lang="en-US" sz="2400" dirty="0">
                <a:solidFill>
                  <a:srgbClr val="000000"/>
                </a:solidFill>
                <a:effectLst/>
                <a:latin typeface="Calibri" panose="020F0502020204030204" pitchFamily="34" charset="0"/>
              </a:rPr>
              <a:t>Earn credits for online participation</a:t>
            </a:r>
            <a:endParaRPr lang="en-US" sz="2400" dirty="0">
              <a:solidFill>
                <a:srgbClr val="000000"/>
              </a:solidFill>
              <a:effectLst/>
              <a:latin typeface="Calibri" panose="020F0502020204030204" pitchFamily="34" charset="0"/>
            </a:endParaRPr>
          </a:p>
          <a:p>
            <a:pPr marL="685800" indent="-228600" algn="l" rtl="0" eaLnBrk="1" latinLnBrk="0" hangingPunct="1">
              <a:lnSpc>
                <a:spcPct val="90000"/>
              </a:lnSpc>
              <a:spcBef>
                <a:spcPts val="500"/>
              </a:spcBef>
              <a:buFont typeface="Arial" panose="020B0604020202020204" pitchFamily="34" charset="0"/>
              <a:buChar char="•"/>
            </a:pPr>
            <a:r>
              <a:rPr lang="en-US" sz="2400" dirty="0">
                <a:solidFill>
                  <a:schemeClr val="accent2"/>
                </a:solidFill>
                <a:effectLst/>
                <a:latin typeface="Calibri" panose="020F0502020204030204" pitchFamily="34" charset="0"/>
              </a:rPr>
              <a:t>Qualify for the limited opportunity to present</a:t>
            </a:r>
            <a:endParaRPr lang="en-US" sz="2400" dirty="0">
              <a:solidFill>
                <a:schemeClr val="accent2"/>
              </a:solidFill>
              <a:effectLst/>
              <a:latin typeface="Calibri" panose="020F0502020204030204" pitchFamily="34" charset="0"/>
            </a:endParaRPr>
          </a:p>
          <a:p>
            <a:pPr marL="228600" indent="-228600" algn="l" rtl="0" eaLnBrk="1" latinLnBrk="0" hangingPunct="1">
              <a:lnSpc>
                <a:spcPct val="90000"/>
              </a:lnSpc>
              <a:spcBef>
                <a:spcPts val="1000"/>
              </a:spcBef>
              <a:buFont typeface="Arial" panose="020B0604020202020204" pitchFamily="34" charset="0"/>
              <a:buChar char="•"/>
            </a:pPr>
            <a:r>
              <a:rPr lang="en-US" sz="2800" dirty="0">
                <a:solidFill>
                  <a:srgbClr val="000000"/>
                </a:solidFill>
                <a:effectLst/>
                <a:latin typeface="Calibri" panose="020F0502020204030204" pitchFamily="34" charset="0"/>
              </a:rPr>
              <a:t>Presenters for upcoming lectures will be informed several days in advance</a:t>
            </a:r>
            <a:endParaRPr lang="en-US" sz="2800" dirty="0">
              <a:solidFill>
                <a:srgbClr val="000000"/>
              </a:solidFill>
              <a:effectLst/>
              <a:latin typeface="Calibri" panose="020F0502020204030204" pitchFamily="34" charset="0"/>
            </a:endParaRPr>
          </a:p>
          <a:p>
            <a:pPr marL="228600" indent="-228600" algn="l" rtl="0" eaLnBrk="1" latinLnBrk="0" hangingPunct="1">
              <a:lnSpc>
                <a:spcPct val="90000"/>
              </a:lnSpc>
              <a:spcBef>
                <a:spcPts val="1000"/>
              </a:spcBef>
              <a:buFont typeface="Arial" panose="020B0604020202020204" pitchFamily="34" charset="0"/>
              <a:buChar char="•"/>
            </a:pPr>
            <a:r>
              <a:rPr lang="en-US" sz="2800" dirty="0">
                <a:solidFill>
                  <a:srgbClr val="000000"/>
                </a:solidFill>
                <a:effectLst/>
                <a:latin typeface="Calibri" panose="020F0502020204030204" pitchFamily="34" charset="0"/>
              </a:rPr>
              <a:t>Presentations are limited to a maximum of 5 minutes each</a:t>
            </a:r>
            <a:endParaRPr lang="en-US" sz="2800" dirty="0">
              <a:solidFill>
                <a:srgbClr val="000000"/>
              </a:solidFill>
              <a:effectLst/>
              <a:latin typeface="Calibri" panose="020F0502020204030204" pitchFamily="34" charset="0"/>
            </a:endParaRPr>
          </a:p>
          <a:p>
            <a:pPr marL="228600" indent="-228600" algn="l" rtl="0" eaLnBrk="1" latinLnBrk="0" hangingPunct="1">
              <a:lnSpc>
                <a:spcPct val="90000"/>
              </a:lnSpc>
              <a:spcBef>
                <a:spcPts val="1000"/>
              </a:spcBef>
              <a:buFont typeface="Arial" panose="020B0604020202020204" pitchFamily="34" charset="0"/>
              <a:buChar char="•"/>
            </a:pPr>
            <a:r>
              <a:rPr lang="en-US" sz="2800" dirty="0">
                <a:solidFill>
                  <a:srgbClr val="000000"/>
                </a:solidFill>
                <a:effectLst/>
                <a:latin typeface="Calibri" panose="020F0502020204030204" pitchFamily="34" charset="0"/>
              </a:rPr>
              <a:t>Presentations typically begin after the first break</a:t>
            </a:r>
            <a:endParaRPr lang="en-US" dirty="0"/>
          </a:p>
        </p:txBody>
      </p:sp>
      <p:sp>
        <p:nvSpPr>
          <p:cNvPr id="4" name="Slide Number Placeholder 3"/>
          <p:cNvSpPr>
            <a:spLocks noGrp="1"/>
          </p:cNvSpPr>
          <p:nvPr>
            <p:ph type="sldNum" sz="quarter" idx="12"/>
          </p:nvPr>
        </p:nvSpPr>
        <p:spPr>
          <a:xfrm>
            <a:off x="8610600" y="6356350"/>
            <a:ext cx="2743200" cy="365125"/>
          </a:xfrm>
        </p:spPr>
        <p:txBody>
          <a:bodyPr/>
          <a:lstStyle/>
          <a:p>
            <a:fld id="{7F8CBF50-853B-304C-BCA2-DB5146F0D4EA}" type="slidenum">
              <a:rPr lang="en-US" smtClean="0"/>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Sample Ideas for Individual Presentations</a:t>
            </a:r>
            <a:endParaRPr lang="en-US" dirty="0"/>
          </a:p>
        </p:txBody>
      </p:sp>
      <p:sp>
        <p:nvSpPr>
          <p:cNvPr id="3" name="Content Placeholder 2"/>
          <p:cNvSpPr>
            <a:spLocks noGrp="1"/>
          </p:cNvSpPr>
          <p:nvPr>
            <p:ph idx="1"/>
          </p:nvPr>
        </p:nvSpPr>
        <p:spPr/>
        <p:txBody>
          <a:bodyPr/>
          <a:lstStyle/>
          <a:p>
            <a:r>
              <a:rPr lang="en-US" dirty="0"/>
              <a:t>Present solutions for a take-home ungraded assignment</a:t>
            </a:r>
            <a:endParaRPr lang="en-US" sz="2800" dirty="0">
              <a:solidFill>
                <a:srgbClr val="000000"/>
              </a:solidFill>
              <a:effectLst/>
              <a:latin typeface="Calibri" panose="020F0502020204030204" pitchFamily="34" charset="0"/>
            </a:endParaRPr>
          </a:p>
          <a:p>
            <a:pPr marL="228600" indent="-228600" algn="l" rtl="0" eaLnBrk="1" latinLnBrk="0" hangingPunct="1">
              <a:lnSpc>
                <a:spcPct val="90000"/>
              </a:lnSpc>
              <a:spcBef>
                <a:spcPts val="1000"/>
              </a:spcBef>
              <a:buFont typeface="Arial" panose="020B0604020202020204" pitchFamily="34" charset="0"/>
              <a:buChar char="•"/>
            </a:pPr>
            <a:r>
              <a:rPr lang="en-US" sz="2800" dirty="0">
                <a:solidFill>
                  <a:srgbClr val="000000"/>
                </a:solidFill>
                <a:effectLst/>
                <a:latin typeface="Calibri" panose="020F0502020204030204" pitchFamily="34" charset="0"/>
              </a:rPr>
              <a:t>Recent advancements in large language models and AI agents</a:t>
            </a:r>
            <a:endParaRPr lang="en-US" sz="2800" dirty="0">
              <a:solidFill>
                <a:srgbClr val="000000"/>
              </a:solidFill>
              <a:effectLst/>
              <a:latin typeface="Calibri" panose="020F0502020204030204" pitchFamily="34" charset="0"/>
            </a:endParaRPr>
          </a:p>
          <a:p>
            <a:pPr marL="228600" indent="-228600" algn="l" rtl="0" eaLnBrk="1" latinLnBrk="0" hangingPunct="1">
              <a:lnSpc>
                <a:spcPct val="90000"/>
              </a:lnSpc>
              <a:spcBef>
                <a:spcPts val="1000"/>
              </a:spcBef>
              <a:buFont typeface="Arial" panose="020B0604020202020204" pitchFamily="34" charset="0"/>
              <a:buChar char="•"/>
            </a:pPr>
            <a:r>
              <a:rPr lang="en-US" sz="2800" dirty="0">
                <a:solidFill>
                  <a:srgbClr val="000000"/>
                </a:solidFill>
                <a:effectLst/>
                <a:latin typeface="Calibri" panose="020F0502020204030204" pitchFamily="34" charset="0"/>
              </a:rPr>
              <a:t>Personal approach to applying LLMs for a particular challenge</a:t>
            </a:r>
            <a:endParaRPr lang="en-US" sz="2800" dirty="0">
              <a:solidFill>
                <a:srgbClr val="000000"/>
              </a:solidFill>
              <a:effectLst/>
              <a:latin typeface="Calibri" panose="020F0502020204030204" pitchFamily="34" charset="0"/>
            </a:endParaRPr>
          </a:p>
          <a:p>
            <a:pPr marL="228600" indent="-228600" algn="l" rtl="0" eaLnBrk="1" latinLnBrk="0" hangingPunct="1">
              <a:lnSpc>
                <a:spcPct val="90000"/>
              </a:lnSpc>
              <a:spcBef>
                <a:spcPts val="1000"/>
              </a:spcBef>
              <a:buFont typeface="Arial" panose="020B0604020202020204" pitchFamily="34" charset="0"/>
              <a:buChar char="•"/>
            </a:pPr>
            <a:r>
              <a:rPr lang="en-US" sz="2800" dirty="0">
                <a:solidFill>
                  <a:srgbClr val="000000"/>
                </a:solidFill>
                <a:effectLst/>
                <a:latin typeface="Calibri" panose="020F0502020204030204" pitchFamily="34" charset="0"/>
              </a:rPr>
              <a:t>Innovative ways to utilise LLMs</a:t>
            </a:r>
            <a:endParaRPr lang="en-US" sz="2800" dirty="0">
              <a:solidFill>
                <a:srgbClr val="000000"/>
              </a:solidFill>
              <a:effectLst/>
              <a:latin typeface="Calibri" panose="020F0502020204030204" pitchFamily="34" charset="0"/>
            </a:endParaRPr>
          </a:p>
          <a:p>
            <a:pPr marL="228600" indent="-228600" algn="l" rtl="0" eaLnBrk="1" latinLnBrk="0" hangingPunct="1">
              <a:lnSpc>
                <a:spcPct val="90000"/>
              </a:lnSpc>
              <a:spcBef>
                <a:spcPts val="1000"/>
              </a:spcBef>
              <a:buFont typeface="Arial" panose="020B0604020202020204" pitchFamily="34" charset="0"/>
              <a:buChar char="•"/>
            </a:pPr>
            <a:r>
              <a:rPr lang="en-US" sz="2800" dirty="0">
                <a:solidFill>
                  <a:srgbClr val="000000"/>
                </a:solidFill>
                <a:effectLst/>
                <a:latin typeface="Calibri" panose="020F0502020204030204" pitchFamily="34" charset="0"/>
              </a:rPr>
              <a:t>Constraints and challenges of LLMs</a:t>
            </a:r>
            <a:endParaRPr lang="en-US" sz="2800" dirty="0">
              <a:solidFill>
                <a:srgbClr val="000000"/>
              </a:solidFill>
              <a:effectLst/>
              <a:latin typeface="Calibri" panose="020F0502020204030204" pitchFamily="34" charset="0"/>
            </a:endParaRPr>
          </a:p>
          <a:p>
            <a:pPr marL="228600" indent="-228600" algn="l" rtl="0" eaLnBrk="1" latinLnBrk="0" hangingPunct="1">
              <a:lnSpc>
                <a:spcPct val="90000"/>
              </a:lnSpc>
              <a:spcBef>
                <a:spcPts val="1000"/>
              </a:spcBef>
              <a:buFont typeface="Arial" panose="020B0604020202020204" pitchFamily="34" charset="0"/>
              <a:buChar char="•"/>
            </a:pPr>
            <a:r>
              <a:rPr lang="en-US" sz="2800" dirty="0">
                <a:solidFill>
                  <a:srgbClr val="000000"/>
                </a:solidFill>
                <a:effectLst/>
                <a:latin typeface="Calibri" panose="020F0502020204030204" pitchFamily="34" charset="0"/>
              </a:rPr>
              <a:t>Practical implementations of LLMs in real life</a:t>
            </a:r>
            <a:endParaRPr lang="en-US" sz="2800" dirty="0">
              <a:solidFill>
                <a:srgbClr val="000000"/>
              </a:solidFill>
              <a:effectLst/>
              <a:latin typeface="Calibri" panose="020F0502020204030204" pitchFamily="34" charset="0"/>
            </a:endParaRPr>
          </a:p>
          <a:p>
            <a:pPr marL="228600" indent="-228600" algn="l" rtl="0" eaLnBrk="1" latinLnBrk="0" hangingPunct="1">
              <a:lnSpc>
                <a:spcPct val="90000"/>
              </a:lnSpc>
              <a:spcBef>
                <a:spcPts val="1000"/>
              </a:spcBef>
              <a:buFont typeface="Arial" panose="020B0604020202020204" pitchFamily="34" charset="0"/>
              <a:buChar char="•"/>
            </a:pPr>
            <a:r>
              <a:rPr lang="en-US" sz="2800" dirty="0">
                <a:solidFill>
                  <a:srgbClr val="000000"/>
                </a:solidFill>
                <a:effectLst/>
                <a:latin typeface="Calibri" panose="020F0502020204030204" pitchFamily="34" charset="0"/>
              </a:rPr>
              <a:t>…</a:t>
            </a:r>
            <a:endParaRPr lang="en-US" dirty="0"/>
          </a:p>
        </p:txBody>
      </p:sp>
      <p:sp>
        <p:nvSpPr>
          <p:cNvPr id="4" name="Slide Number Placeholder 3"/>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Course Information</a:t>
            </a:r>
            <a:endParaRPr lang="en-US" dirty="0"/>
          </a:p>
        </p:txBody>
      </p:sp>
      <p:sp>
        <p:nvSpPr>
          <p:cNvPr id="3" name="Content Placeholder 2"/>
          <p:cNvSpPr>
            <a:spLocks noGrp="1"/>
          </p:cNvSpPr>
          <p:nvPr>
            <p:ph idx="1"/>
          </p:nvPr>
        </p:nvSpPr>
        <p:spPr/>
        <p:txBody>
          <a:bodyPr/>
          <a:lstStyle/>
          <a:p>
            <a:r>
              <a:rPr lang="en-US" dirty="0"/>
              <a:t>Individual Assignment</a:t>
            </a:r>
            <a:r>
              <a:rPr lang="en-US" altLang="zh-CN" dirty="0"/>
              <a:t>s</a:t>
            </a:r>
            <a:r>
              <a:rPr lang="en-US" dirty="0"/>
              <a:t>: 30%</a:t>
            </a:r>
            <a:endParaRPr lang="en-US" altLang="zh-CN" dirty="0"/>
          </a:p>
          <a:p>
            <a:pPr lvl="1"/>
            <a:r>
              <a:rPr lang="en-US" altLang="zh-CN" dirty="0"/>
              <a:t>AI Resume Editor</a:t>
            </a:r>
            <a:endParaRPr lang="en-US" altLang="zh-CN" dirty="0"/>
          </a:p>
          <a:p>
            <a:pPr lvl="1"/>
            <a:r>
              <a:rPr lang="en-US" altLang="zh-CN" dirty="0"/>
              <a:t>Function Calling for GitHub Repository Queries</a:t>
            </a:r>
            <a:endParaRPr lang="en-US" altLang="zh-CN" dirty="0"/>
          </a:p>
          <a:p>
            <a:endParaRPr lang="en-US" dirty="0"/>
          </a:p>
          <a:p>
            <a:r>
              <a:rPr lang="en-US" dirty="0"/>
              <a:t>You should complete the assignment</a:t>
            </a:r>
            <a:r>
              <a:rPr lang="en-US" altLang="zh-CN" dirty="0"/>
              <a:t>s</a:t>
            </a:r>
            <a:r>
              <a:rPr lang="en-US" dirty="0"/>
              <a:t> by yourself without consulting other students or the TA, i.e., treat it like a take-home </a:t>
            </a:r>
            <a:r>
              <a:rPr lang="en-US" altLang="zh-CN" dirty="0"/>
              <a:t>and</a:t>
            </a:r>
            <a:r>
              <a:rPr lang="en-US" dirty="0"/>
              <a:t> open-book exam</a:t>
            </a:r>
            <a:endParaRPr lang="en-US" dirty="0"/>
          </a:p>
        </p:txBody>
      </p:sp>
      <p:sp>
        <p:nvSpPr>
          <p:cNvPr id="4" name="Slide Number Placeholder 3"/>
          <p:cNvSpPr>
            <a:spLocks noGrp="1"/>
          </p:cNvSpPr>
          <p:nvPr>
            <p:ph type="sldNum" sz="quarter" idx="12"/>
          </p:nvPr>
        </p:nvSpPr>
        <p:spPr/>
        <p:txBody>
          <a:bodyPr/>
          <a:lstStyle/>
          <a:p>
            <a:fld id="{3CF86D51-AB38-4211-A765-668B7266B8DF}" type="slidenum">
              <a:rPr lang="en-US" smtClean="0"/>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Information</a:t>
            </a:r>
            <a:endParaRPr lang="en-US" dirty="0"/>
          </a:p>
        </p:txBody>
      </p:sp>
      <p:sp>
        <p:nvSpPr>
          <p:cNvPr id="3" name="Content Placeholder 2"/>
          <p:cNvSpPr>
            <a:spLocks noGrp="1"/>
          </p:cNvSpPr>
          <p:nvPr>
            <p:ph idx="1"/>
          </p:nvPr>
        </p:nvSpPr>
        <p:spPr/>
        <p:txBody>
          <a:bodyPr>
            <a:normAutofit/>
          </a:bodyPr>
          <a:lstStyle/>
          <a:p>
            <a:r>
              <a:rPr lang="en-US" dirty="0"/>
              <a:t>Group Project: </a:t>
            </a:r>
            <a:r>
              <a:rPr lang="en-US" altLang="zh-CN" dirty="0"/>
              <a:t>5</a:t>
            </a:r>
            <a:r>
              <a:rPr lang="en-US" dirty="0"/>
              <a:t>0%</a:t>
            </a:r>
            <a:endParaRPr lang="en-US" dirty="0"/>
          </a:p>
          <a:p>
            <a:pPr lvl="1"/>
            <a:r>
              <a:rPr lang="en-US" altLang="zh-CN" dirty="0"/>
              <a:t>Project</a:t>
            </a:r>
            <a:r>
              <a:rPr lang="zh-CN" altLang="en-US" dirty="0"/>
              <a:t> </a:t>
            </a:r>
            <a:r>
              <a:rPr lang="en-US" altLang="zh-CN" dirty="0"/>
              <a:t>Proposal</a:t>
            </a:r>
            <a:r>
              <a:rPr lang="zh-CN" altLang="en-US" dirty="0"/>
              <a:t> </a:t>
            </a:r>
            <a:r>
              <a:rPr lang="en-US" altLang="zh-CN" dirty="0"/>
              <a:t>(one</a:t>
            </a:r>
            <a:r>
              <a:rPr lang="zh-CN" altLang="en-US" dirty="0"/>
              <a:t> </a:t>
            </a:r>
            <a:r>
              <a:rPr lang="en-US" altLang="zh-CN" dirty="0"/>
              <a:t>page):</a:t>
            </a:r>
            <a:r>
              <a:rPr lang="zh-CN" altLang="en-US" dirty="0"/>
              <a:t> </a:t>
            </a:r>
            <a:r>
              <a:rPr lang="en-US" altLang="zh-CN" dirty="0"/>
              <a:t>5%</a:t>
            </a:r>
            <a:r>
              <a:rPr lang="zh-CN" altLang="en-US" dirty="0"/>
              <a:t> </a:t>
            </a:r>
            <a:endParaRPr lang="en-US" dirty="0"/>
          </a:p>
          <a:p>
            <a:pPr lvl="1"/>
            <a:r>
              <a:rPr lang="en-US" dirty="0"/>
              <a:t>Data and Program Code: 1</a:t>
            </a:r>
            <a:r>
              <a:rPr lang="en-US" altLang="zh-CN" dirty="0"/>
              <a:t>5</a:t>
            </a:r>
            <a:r>
              <a:rPr lang="en-US" dirty="0"/>
              <a:t>%</a:t>
            </a:r>
            <a:endParaRPr lang="en-US" dirty="0"/>
          </a:p>
          <a:p>
            <a:pPr lvl="1"/>
            <a:r>
              <a:rPr lang="en-US" dirty="0"/>
              <a:t>Project Report (10 pages max): 1</a:t>
            </a:r>
            <a:r>
              <a:rPr lang="en-US" altLang="zh-CN" dirty="0"/>
              <a:t>0</a:t>
            </a:r>
            <a:r>
              <a:rPr lang="en-US" dirty="0"/>
              <a:t>%</a:t>
            </a:r>
            <a:endParaRPr lang="en-US" dirty="0"/>
          </a:p>
          <a:p>
            <a:pPr lvl="1"/>
            <a:r>
              <a:rPr lang="en-US" dirty="0"/>
              <a:t>Group Presentation</a:t>
            </a:r>
            <a:r>
              <a:rPr lang="en-US" altLang="zh-CN" dirty="0"/>
              <a:t>:</a:t>
            </a:r>
            <a:r>
              <a:rPr lang="zh-CN" altLang="en-US" dirty="0"/>
              <a:t> </a:t>
            </a:r>
            <a:r>
              <a:rPr lang="en-US" altLang="zh-CN" dirty="0"/>
              <a:t>20</a:t>
            </a:r>
            <a:r>
              <a:rPr lang="en-US" dirty="0"/>
              <a:t>%</a:t>
            </a:r>
            <a:endParaRPr lang="en-US" dirty="0"/>
          </a:p>
          <a:p>
            <a:pPr lvl="2"/>
            <a:r>
              <a:rPr lang="en-US" dirty="0"/>
              <a:t>Each group member is encouraged to present</a:t>
            </a:r>
            <a:endParaRPr lang="en-US" dirty="0"/>
          </a:p>
          <a:p>
            <a:pPr lvl="2"/>
            <a:r>
              <a:rPr lang="en-US" dirty="0"/>
              <a:t>8 members/group</a:t>
            </a:r>
            <a:endParaRPr lang="en-US" dirty="0"/>
          </a:p>
          <a:p>
            <a:pPr lvl="2"/>
            <a:r>
              <a:rPr lang="en-US" altLang="zh-CN" dirty="0"/>
              <a:t>Randomly</a:t>
            </a:r>
            <a:r>
              <a:rPr lang="zh-CN" altLang="en-US" dirty="0"/>
              <a:t> </a:t>
            </a:r>
            <a:r>
              <a:rPr lang="en-US" altLang="zh-CN" dirty="0"/>
              <a:t>assigned</a:t>
            </a:r>
            <a:r>
              <a:rPr lang="zh-CN" altLang="en-US" dirty="0"/>
              <a:t> </a:t>
            </a:r>
            <a:r>
              <a:rPr lang="en-US" altLang="zh-CN" dirty="0"/>
              <a:t>presentation</a:t>
            </a:r>
            <a:r>
              <a:rPr lang="zh-CN" altLang="en-US" dirty="0"/>
              <a:t> </a:t>
            </a:r>
            <a:r>
              <a:rPr lang="en-US" altLang="zh-CN" dirty="0"/>
              <a:t>sequence</a:t>
            </a:r>
            <a:endParaRPr lang="en-US" sz="2400" dirty="0"/>
          </a:p>
        </p:txBody>
      </p:sp>
      <p:sp>
        <p:nvSpPr>
          <p:cNvPr id="4" name="Slide Number Placeholder 3"/>
          <p:cNvSpPr>
            <a:spLocks noGrp="1"/>
          </p:cNvSpPr>
          <p:nvPr>
            <p:ph type="sldNum" sz="quarter" idx="12"/>
          </p:nvPr>
        </p:nvSpPr>
        <p:spPr/>
        <p:txBody>
          <a:bodyPr/>
          <a:lstStyle/>
          <a:p>
            <a:fld id="{3CF86D51-AB38-4211-A765-668B7266B8DF}" type="slidenum">
              <a:rPr lang="en-US" smtClean="0"/>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Group</a:t>
            </a:r>
            <a:r>
              <a:rPr lang="zh-CN" altLang="en-US" dirty="0"/>
              <a:t> </a:t>
            </a:r>
            <a:r>
              <a:rPr lang="en-US" altLang="zh-CN" dirty="0"/>
              <a:t>Project</a:t>
            </a:r>
            <a:endParaRPr lang="en-US" dirty="0"/>
          </a:p>
        </p:txBody>
      </p:sp>
      <p:sp>
        <p:nvSpPr>
          <p:cNvPr id="3" name="Content Placeholder 2"/>
          <p:cNvSpPr>
            <a:spLocks noGrp="1"/>
          </p:cNvSpPr>
          <p:nvPr>
            <p:ph idx="1"/>
          </p:nvPr>
        </p:nvSpPr>
        <p:spPr/>
        <p:txBody>
          <a:bodyPr/>
          <a:lstStyle/>
          <a:p>
            <a:r>
              <a:rPr lang="en-US" altLang="zh-CN" dirty="0"/>
              <a:t>Group formation on Moodle</a:t>
            </a:r>
            <a:r>
              <a:rPr lang="zh-CN" altLang="en-US" dirty="0"/>
              <a:t> </a:t>
            </a:r>
            <a:r>
              <a:rPr lang="en-US" altLang="zh-CN" dirty="0"/>
              <a:t>(Mar 27 Friday)</a:t>
            </a:r>
            <a:endParaRPr lang="en-US" altLang="zh-CN" dirty="0"/>
          </a:p>
          <a:p>
            <a:pPr lvl="1"/>
            <a:r>
              <a:rPr lang="en-US" altLang="zh-CN" dirty="0"/>
              <a:t>Find team members by yourselves first</a:t>
            </a:r>
            <a:r>
              <a:rPr lang="zh-CN" altLang="en-US" dirty="0"/>
              <a:t> </a:t>
            </a:r>
            <a:r>
              <a:rPr lang="en-US" altLang="zh-CN" dirty="0"/>
              <a:t>if</a:t>
            </a:r>
            <a:r>
              <a:rPr lang="zh-CN" altLang="en-US" dirty="0"/>
              <a:t> </a:t>
            </a:r>
            <a:r>
              <a:rPr lang="en-US" altLang="zh-CN" dirty="0"/>
              <a:t>you</a:t>
            </a:r>
            <a:r>
              <a:rPr lang="zh-CN" altLang="en-US" dirty="0"/>
              <a:t> </a:t>
            </a:r>
            <a:r>
              <a:rPr lang="en-US" altLang="zh-CN" dirty="0"/>
              <a:t>want</a:t>
            </a:r>
            <a:endParaRPr lang="en-US" altLang="zh-CN" dirty="0"/>
          </a:p>
          <a:p>
            <a:pPr lvl="1"/>
            <a:r>
              <a:rPr lang="en-US" altLang="zh-CN" dirty="0"/>
              <a:t>On</a:t>
            </a:r>
            <a:r>
              <a:rPr lang="zh-CN" altLang="en-US" dirty="0"/>
              <a:t> </a:t>
            </a:r>
            <a:r>
              <a:rPr lang="en-US" altLang="zh-CN" dirty="0"/>
              <a:t>Mar 28,</a:t>
            </a:r>
            <a:r>
              <a:rPr lang="zh-CN" altLang="en-US" dirty="0"/>
              <a:t> </a:t>
            </a:r>
            <a:r>
              <a:rPr lang="en-US" altLang="zh-CN" dirty="0"/>
              <a:t>those who do not find a group by the deadline</a:t>
            </a:r>
            <a:r>
              <a:rPr lang="zh-CN" altLang="en-US" dirty="0"/>
              <a:t> </a:t>
            </a:r>
            <a:r>
              <a:rPr lang="en-US" altLang="zh-CN" dirty="0"/>
              <a:t>will be randomly</a:t>
            </a:r>
            <a:r>
              <a:rPr lang="zh-CN" altLang="en-US" dirty="0"/>
              <a:t> </a:t>
            </a:r>
            <a:r>
              <a:rPr lang="en-US" altLang="zh-CN" dirty="0"/>
              <a:t>assigned</a:t>
            </a:r>
            <a:r>
              <a:rPr lang="zh-CN" altLang="en-US" dirty="0"/>
              <a:t> </a:t>
            </a:r>
            <a:r>
              <a:rPr lang="en-US" altLang="zh-CN" dirty="0"/>
              <a:t>to groups that are not full</a:t>
            </a:r>
            <a:r>
              <a:rPr lang="zh-CN" altLang="en-US" dirty="0"/>
              <a:t> </a:t>
            </a:r>
            <a:endParaRPr lang="en-US" altLang="zh-CN" dirty="0"/>
          </a:p>
          <a:p>
            <a:r>
              <a:rPr lang="en-US" dirty="0"/>
              <a:t>Fa</a:t>
            </a:r>
            <a:r>
              <a:rPr lang="en-US" altLang="zh-CN" dirty="0"/>
              <a:t>ctors</a:t>
            </a:r>
            <a:r>
              <a:rPr lang="zh-CN" altLang="en-US" dirty="0"/>
              <a:t> </a:t>
            </a:r>
            <a:r>
              <a:rPr lang="en-US" altLang="zh-CN" dirty="0"/>
              <a:t>to</a:t>
            </a:r>
            <a:r>
              <a:rPr lang="zh-CN" altLang="en-US" dirty="0"/>
              <a:t> </a:t>
            </a:r>
            <a:r>
              <a:rPr lang="en-US" altLang="zh-CN" dirty="0"/>
              <a:t>consider</a:t>
            </a:r>
            <a:endParaRPr lang="en-US" altLang="zh-CN" dirty="0"/>
          </a:p>
          <a:p>
            <a:pPr lvl="1"/>
            <a:r>
              <a:rPr lang="en-US" altLang="zh-CN" dirty="0"/>
              <a:t>Each</a:t>
            </a:r>
            <a:r>
              <a:rPr lang="zh-CN" altLang="en-US" dirty="0"/>
              <a:t> </a:t>
            </a:r>
            <a:r>
              <a:rPr lang="en-US" altLang="zh-CN" dirty="0"/>
              <a:t>team</a:t>
            </a:r>
            <a:r>
              <a:rPr lang="zh-CN" altLang="en-US" dirty="0"/>
              <a:t> </a:t>
            </a:r>
            <a:r>
              <a:rPr lang="en-US" altLang="zh-CN" dirty="0"/>
              <a:t>should</a:t>
            </a:r>
            <a:r>
              <a:rPr lang="zh-CN" altLang="en-US" dirty="0"/>
              <a:t> </a:t>
            </a:r>
            <a:r>
              <a:rPr lang="en-US" altLang="zh-CN" dirty="0"/>
              <a:t>have</a:t>
            </a:r>
            <a:r>
              <a:rPr lang="zh-CN" altLang="en-US" dirty="0"/>
              <a:t> </a:t>
            </a:r>
            <a:r>
              <a:rPr lang="en-US" altLang="zh-CN" dirty="0"/>
              <a:t>an</a:t>
            </a:r>
            <a:r>
              <a:rPr lang="zh-CN" altLang="en-US" dirty="0"/>
              <a:t> </a:t>
            </a:r>
            <a:r>
              <a:rPr lang="en-US" altLang="zh-CN" dirty="0"/>
              <a:t>agreement</a:t>
            </a:r>
            <a:r>
              <a:rPr lang="zh-CN" altLang="en-US" dirty="0"/>
              <a:t> </a:t>
            </a:r>
            <a:r>
              <a:rPr lang="en-US" altLang="zh-CN" dirty="0"/>
              <a:t>on</a:t>
            </a:r>
            <a:r>
              <a:rPr lang="zh-CN" altLang="en-US" dirty="0"/>
              <a:t> </a:t>
            </a:r>
            <a:r>
              <a:rPr lang="en-US" altLang="zh-CN" dirty="0"/>
              <a:t>how</a:t>
            </a:r>
            <a:r>
              <a:rPr lang="zh-CN" altLang="en-US" dirty="0"/>
              <a:t> </a:t>
            </a:r>
            <a:r>
              <a:rPr lang="en-US" altLang="zh-CN" dirty="0"/>
              <a:t>to</a:t>
            </a:r>
            <a:r>
              <a:rPr lang="zh-CN" altLang="en-US" dirty="0"/>
              <a:t> </a:t>
            </a:r>
            <a:r>
              <a:rPr lang="en-US" altLang="zh-CN" dirty="0"/>
              <a:t>work</a:t>
            </a:r>
            <a:r>
              <a:rPr lang="zh-CN" altLang="en-US" dirty="0"/>
              <a:t> </a:t>
            </a:r>
            <a:r>
              <a:rPr lang="en-US" altLang="zh-CN" dirty="0"/>
              <a:t>together</a:t>
            </a:r>
            <a:endParaRPr lang="en-US" altLang="zh-CN" dirty="0"/>
          </a:p>
          <a:p>
            <a:pPr lvl="1"/>
            <a:r>
              <a:rPr lang="en-US" altLang="zh-CN" dirty="0"/>
              <a:t>Instead</a:t>
            </a:r>
            <a:r>
              <a:rPr lang="zh-CN" altLang="en-US" dirty="0"/>
              <a:t> </a:t>
            </a:r>
            <a:r>
              <a:rPr lang="en-US" altLang="zh-CN" dirty="0"/>
              <a:t>of</a:t>
            </a:r>
            <a:r>
              <a:rPr lang="zh-CN" altLang="en-US" dirty="0"/>
              <a:t> </a:t>
            </a:r>
            <a:r>
              <a:rPr lang="en-US" altLang="zh-CN" dirty="0"/>
              <a:t>having</a:t>
            </a:r>
            <a:r>
              <a:rPr lang="zh-CN" altLang="en-US" dirty="0"/>
              <a:t> </a:t>
            </a:r>
            <a:r>
              <a:rPr lang="en-US" altLang="zh-CN" dirty="0"/>
              <a:t>one</a:t>
            </a:r>
            <a:r>
              <a:rPr lang="zh-CN" altLang="en-US" dirty="0"/>
              <a:t> </a:t>
            </a:r>
            <a:r>
              <a:rPr lang="en-US" altLang="zh-CN" dirty="0"/>
              <a:t>fixed</a:t>
            </a:r>
            <a:r>
              <a:rPr lang="zh-CN" altLang="en-US" dirty="0"/>
              <a:t> </a:t>
            </a:r>
            <a:r>
              <a:rPr lang="en-US" altLang="zh-CN" dirty="0"/>
              <a:t>team</a:t>
            </a:r>
            <a:r>
              <a:rPr lang="zh-CN" altLang="en-US" dirty="0"/>
              <a:t> </a:t>
            </a:r>
            <a:r>
              <a:rPr lang="en-US" altLang="zh-CN" dirty="0"/>
              <a:t>leader,</a:t>
            </a:r>
            <a:r>
              <a:rPr lang="zh-CN" altLang="en-US" dirty="0"/>
              <a:t> </a:t>
            </a:r>
            <a:r>
              <a:rPr lang="en-US" altLang="zh-CN" dirty="0"/>
              <a:t>members</a:t>
            </a:r>
            <a:r>
              <a:rPr lang="zh-CN" altLang="en-US" dirty="0"/>
              <a:t> </a:t>
            </a:r>
            <a:r>
              <a:rPr lang="en-US" altLang="zh-CN" dirty="0"/>
              <a:t>can</a:t>
            </a:r>
            <a:r>
              <a:rPr lang="zh-CN" altLang="en-US" dirty="0"/>
              <a:t> </a:t>
            </a:r>
            <a:r>
              <a:rPr lang="en-US" altLang="zh-CN" dirty="0"/>
              <a:t>take</a:t>
            </a:r>
            <a:r>
              <a:rPr lang="zh-CN" altLang="en-US" dirty="0"/>
              <a:t> </a:t>
            </a:r>
            <a:r>
              <a:rPr lang="en-US" altLang="zh-CN" dirty="0"/>
              <a:t>turns</a:t>
            </a:r>
            <a:r>
              <a:rPr lang="zh-CN" altLang="en-US" dirty="0"/>
              <a:t> </a:t>
            </a:r>
            <a:r>
              <a:rPr lang="en-US" altLang="zh-CN" dirty="0"/>
              <a:t>to</a:t>
            </a:r>
            <a:r>
              <a:rPr lang="zh-CN" altLang="en-US" dirty="0"/>
              <a:t> </a:t>
            </a:r>
            <a:r>
              <a:rPr lang="en-US" altLang="zh-CN" dirty="0"/>
              <a:t>be</a:t>
            </a:r>
            <a:r>
              <a:rPr lang="zh-CN" altLang="en-US" dirty="0"/>
              <a:t> </a:t>
            </a:r>
            <a:r>
              <a:rPr lang="en-US" altLang="zh-CN" dirty="0"/>
              <a:t>the</a:t>
            </a:r>
            <a:r>
              <a:rPr lang="zh-CN" altLang="en-US" dirty="0"/>
              <a:t> </a:t>
            </a:r>
            <a:r>
              <a:rPr lang="en-US" altLang="zh-CN" dirty="0"/>
              <a:t>leader</a:t>
            </a:r>
            <a:endParaRPr lang="en-US" dirty="0"/>
          </a:p>
        </p:txBody>
      </p:sp>
      <p:sp>
        <p:nvSpPr>
          <p:cNvPr id="4" name="Slide Number Placeholder 3"/>
          <p:cNvSpPr>
            <a:spLocks noGrp="1"/>
          </p:cNvSpPr>
          <p:nvPr>
            <p:ph type="sldNum" sz="quarter" idx="12"/>
          </p:nvPr>
        </p:nvSpPr>
        <p:spPr/>
        <p:txBody>
          <a:bodyPr/>
          <a:lstStyle/>
          <a:p>
            <a:fld id="{3CF86D51-AB38-4211-A765-668B7266B8DF}" type="slidenum">
              <a:rPr lang="en-US" smtClean="0"/>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altLang="zh-CN" dirty="0"/>
              <a:t>Group</a:t>
            </a:r>
            <a:r>
              <a:rPr lang="zh-CN" altLang="en-US" dirty="0"/>
              <a:t> </a:t>
            </a:r>
            <a:r>
              <a:rPr lang="en-US" altLang="zh-CN" dirty="0"/>
              <a:t>Project Ideas</a:t>
            </a:r>
            <a:endParaRPr lang="en-US" dirty="0"/>
          </a:p>
        </p:txBody>
      </p:sp>
      <p:sp>
        <p:nvSpPr>
          <p:cNvPr id="3" name="Content Placeholder 2"/>
          <p:cNvSpPr>
            <a:spLocks noGrp="1"/>
          </p:cNvSpPr>
          <p:nvPr>
            <p:ph idx="1"/>
          </p:nvPr>
        </p:nvSpPr>
        <p:spPr>
          <a:xfrm>
            <a:off x="838200" y="1825625"/>
            <a:ext cx="10515600" cy="4351338"/>
          </a:xfrm>
        </p:spPr>
        <p:txBody>
          <a:bodyPr/>
          <a:lstStyle/>
          <a:p>
            <a:pPr marL="514350" indent="-514350">
              <a:buFont typeface="+mj-lt"/>
              <a:buAutoNum type="arabicPeriod"/>
            </a:pPr>
            <a:r>
              <a:rPr lang="en-US" dirty="0"/>
              <a:t>AI-generated Financial Analyst Reports</a:t>
            </a:r>
            <a:endParaRPr lang="en-US" dirty="0"/>
          </a:p>
          <a:p>
            <a:pPr marL="514350" indent="-514350">
              <a:buFont typeface="+mj-lt"/>
              <a:buAutoNum type="arabicPeriod"/>
            </a:pPr>
            <a:r>
              <a:rPr lang="en-US" dirty="0"/>
              <a:t>Competitive Intelligence for Master Programs</a:t>
            </a:r>
            <a:endParaRPr lang="en-US" dirty="0"/>
          </a:p>
          <a:p>
            <a:pPr marL="514350" indent="-514350">
              <a:buFont typeface="+mj-lt"/>
              <a:buAutoNum type="arabicPeriod"/>
            </a:pPr>
            <a:r>
              <a:rPr lang="en-US" dirty="0"/>
              <a:t>Agent‑Based Intelligent Travel Planner</a:t>
            </a:r>
            <a:endParaRPr lang="en-US" dirty="0"/>
          </a:p>
          <a:p>
            <a:endParaRPr lang="en-US" dirty="0"/>
          </a:p>
          <a:p>
            <a:endParaRPr lang="en-US" dirty="0"/>
          </a:p>
          <a:p>
            <a:endParaRPr lang="en-US" dirty="0"/>
          </a:p>
        </p:txBody>
      </p:sp>
      <p:sp>
        <p:nvSpPr>
          <p:cNvPr id="4" name="Slide Number Placeholder 3"/>
          <p:cNvSpPr>
            <a:spLocks noGrp="1"/>
          </p:cNvSpPr>
          <p:nvPr>
            <p:ph type="sldNum" sz="quarter" idx="12"/>
          </p:nvPr>
        </p:nvSpPr>
        <p:spPr>
          <a:xfrm>
            <a:off x="8610600" y="6356350"/>
            <a:ext cx="2743200" cy="365125"/>
          </a:xfrm>
        </p:spPr>
        <p:txBody>
          <a:bodyPr/>
          <a:lstStyle/>
          <a:p>
            <a:fld id="{3CF86D51-AB38-4211-A765-668B7266B8DF}" type="slidenum">
              <a:rPr lang="en-US" smtClean="0"/>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ormAutofit/>
          </a:bodyPr>
          <a:lstStyle/>
          <a:p>
            <a:pPr lvl="0"/>
            <a:r>
              <a:rPr lang="en-US" dirty="0"/>
              <a:t>1. AI-generated Financial Analyst Reports</a:t>
            </a:r>
            <a:endParaRPr lang="en-US" dirty="0"/>
          </a:p>
        </p:txBody>
      </p:sp>
      <p:sp>
        <p:nvSpPr>
          <p:cNvPr id="3" name="Content Placeholder 2"/>
          <p:cNvSpPr>
            <a:spLocks noGrp="1"/>
          </p:cNvSpPr>
          <p:nvPr>
            <p:ph idx="1"/>
          </p:nvPr>
        </p:nvSpPr>
        <p:spPr>
          <a:xfrm>
            <a:off x="838200" y="1825625"/>
            <a:ext cx="10515600" cy="4351338"/>
          </a:xfrm>
        </p:spPr>
        <p:txBody>
          <a:bodyPr/>
          <a:lstStyle/>
          <a:p>
            <a:r>
              <a:rPr lang="en-US" dirty="0"/>
              <a:t>Develop a system to generate high-quality analyst reports for stocks to support investment decision-making</a:t>
            </a:r>
            <a:endParaRPr lang="en-US" dirty="0"/>
          </a:p>
          <a:p>
            <a:r>
              <a:rPr lang="en-US" dirty="0"/>
              <a:t>Focus on HK or US stocks</a:t>
            </a:r>
            <a:endParaRPr lang="en-US" dirty="0"/>
          </a:p>
          <a:p>
            <a:r>
              <a:rPr lang="en-US" dirty="0"/>
              <a:t>Potential data sources</a:t>
            </a:r>
            <a:endParaRPr lang="en-US" dirty="0"/>
          </a:p>
          <a:p>
            <a:pPr lvl="1"/>
            <a:r>
              <a:rPr lang="en-US" altLang="zh-CN" dirty="0"/>
              <a:t>Financial</a:t>
            </a:r>
            <a:r>
              <a:rPr lang="zh-CN" altLang="en-US" dirty="0"/>
              <a:t> </a:t>
            </a:r>
            <a:r>
              <a:rPr lang="en-US" altLang="zh-CN" dirty="0"/>
              <a:t>statement and market data from WRDS through the university library</a:t>
            </a:r>
            <a:endParaRPr lang="en-US" altLang="zh-CN" dirty="0"/>
          </a:p>
          <a:p>
            <a:pPr lvl="1"/>
            <a:r>
              <a:rPr lang="en-US" dirty="0"/>
              <a:t>Yahoo Finance</a:t>
            </a:r>
            <a:endParaRPr lang="en-US" dirty="0"/>
          </a:p>
          <a:p>
            <a:pPr lvl="1"/>
            <a:r>
              <a:rPr lang="en-US" dirty="0"/>
              <a:t>Seeking Alpha</a:t>
            </a:r>
            <a:endParaRPr lang="en-US" dirty="0"/>
          </a:p>
          <a:p>
            <a:pPr lvl="1"/>
            <a:r>
              <a:rPr lang="en-US" dirty="0"/>
              <a:t>Firm filings</a:t>
            </a:r>
            <a:endParaRPr lang="en-US" dirty="0"/>
          </a:p>
          <a:p>
            <a:endParaRPr lang="en-US" dirty="0"/>
          </a:p>
        </p:txBody>
      </p:sp>
      <p:sp>
        <p:nvSpPr>
          <p:cNvPr id="4" name="Slide Number Placeholder 3"/>
          <p:cNvSpPr>
            <a:spLocks noGrp="1"/>
          </p:cNvSpPr>
          <p:nvPr>
            <p:ph type="sldNum" sz="quarter" idx="12"/>
          </p:nvPr>
        </p:nvSpPr>
        <p:spPr>
          <a:xfrm>
            <a:off x="8610600" y="6356350"/>
            <a:ext cx="2743200" cy="365125"/>
          </a:xfrm>
        </p:spPr>
        <p:txBody>
          <a:bodyPr/>
          <a:lstStyle/>
          <a:p>
            <a:fld id="{7F8CBF50-853B-304C-BCA2-DB5146F0D4EA}" type="slidenum">
              <a:rPr lang="en-US" smtClean="0"/>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ormAutofit/>
          </a:bodyPr>
          <a:lstStyle/>
          <a:p>
            <a:r>
              <a:rPr lang="en-US" dirty="0"/>
              <a:t>2. Competitive Intelligence for Master Programs</a:t>
            </a:r>
            <a:endParaRPr lang="en-US" dirty="0"/>
          </a:p>
        </p:txBody>
      </p:sp>
      <p:sp>
        <p:nvSpPr>
          <p:cNvPr id="3" name="Content Placeholder 2"/>
          <p:cNvSpPr>
            <a:spLocks noGrp="1"/>
          </p:cNvSpPr>
          <p:nvPr>
            <p:ph idx="1"/>
          </p:nvPr>
        </p:nvSpPr>
        <p:spPr>
          <a:xfrm>
            <a:off x="838200" y="1825625"/>
            <a:ext cx="10515600" cy="4351338"/>
          </a:xfrm>
        </p:spPr>
        <p:txBody>
          <a:bodyPr/>
          <a:lstStyle/>
          <a:p>
            <a:pPr lvl="0"/>
            <a:r>
              <a:rPr lang="en-US" dirty="0"/>
              <a:t>Develop a system to collect, structure, and </a:t>
            </a:r>
            <a:r>
              <a:rPr lang="en-US" dirty="0" err="1"/>
              <a:t>analyze</a:t>
            </a:r>
            <a:r>
              <a:rPr lang="en-US" dirty="0"/>
              <a:t> public data on business school master programs to support strategic decisions by deans and program directors</a:t>
            </a:r>
            <a:endParaRPr lang="en-US" dirty="0"/>
          </a:p>
          <a:p>
            <a:pPr lvl="0"/>
            <a:r>
              <a:rPr lang="en-US" dirty="0"/>
              <a:t>Focus on non-MBA master programs (i.e., TPG programs)</a:t>
            </a:r>
            <a:endParaRPr lang="en-US" dirty="0"/>
          </a:p>
          <a:p>
            <a:pPr lvl="0"/>
            <a:r>
              <a:rPr lang="en-US" dirty="0"/>
              <a:t>Use publicly available information only (program websites, brochures, rankings, news, etc.).</a:t>
            </a:r>
            <a:endParaRPr lang="en-US" dirty="0"/>
          </a:p>
          <a:p>
            <a:endParaRPr lang="en-US" dirty="0"/>
          </a:p>
          <a:p>
            <a:pPr lvl="0"/>
            <a:endParaRPr lang="en-US" dirty="0"/>
          </a:p>
          <a:p>
            <a:endParaRPr lang="en-US" dirty="0"/>
          </a:p>
          <a:p>
            <a:endParaRPr lang="en-US" dirty="0"/>
          </a:p>
        </p:txBody>
      </p:sp>
      <p:sp>
        <p:nvSpPr>
          <p:cNvPr id="4" name="Slide Number Placeholder 3"/>
          <p:cNvSpPr>
            <a:spLocks noGrp="1"/>
          </p:cNvSpPr>
          <p:nvPr>
            <p:ph type="sldNum" sz="quarter" idx="12"/>
          </p:nvPr>
        </p:nvSpPr>
        <p:spPr>
          <a:xfrm>
            <a:off x="8610600" y="6356350"/>
            <a:ext cx="2743200" cy="365125"/>
          </a:xfrm>
        </p:spPr>
        <p:txBody>
          <a:bodyPr/>
          <a:lstStyle/>
          <a:p>
            <a:fld id="{7F8CBF50-853B-304C-BCA2-DB5146F0D4EA}" type="slidenum">
              <a:rPr lang="en-US" smtClean="0"/>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ormAutofit/>
          </a:bodyPr>
          <a:lstStyle/>
          <a:p>
            <a:pPr lvl="0"/>
            <a:r>
              <a:rPr lang="en-US" dirty="0"/>
              <a:t>3. Agent‑Based Intelligent Travel Planner</a:t>
            </a:r>
            <a:endParaRPr lang="en-US" dirty="0"/>
          </a:p>
        </p:txBody>
      </p:sp>
      <p:sp>
        <p:nvSpPr>
          <p:cNvPr id="3" name="Content Placeholder 2"/>
          <p:cNvSpPr>
            <a:spLocks noGrp="1"/>
          </p:cNvSpPr>
          <p:nvPr>
            <p:ph idx="1"/>
          </p:nvPr>
        </p:nvSpPr>
        <p:spPr>
          <a:xfrm>
            <a:off x="838200" y="1825625"/>
            <a:ext cx="10515600" cy="4351338"/>
          </a:xfrm>
        </p:spPr>
        <p:txBody>
          <a:bodyPr/>
          <a:lstStyle/>
          <a:p>
            <a:pPr lvl="0"/>
            <a:r>
              <a:rPr lang="en-US" dirty="0"/>
              <a:t>Develop an AI agent that creates personalized travel plans for individuals or groups by integrating maps, POI data, and social media content to support travel decision‑making</a:t>
            </a:r>
            <a:endParaRPr lang="en-US" dirty="0"/>
          </a:p>
          <a:p>
            <a:pPr lvl="0"/>
            <a:r>
              <a:rPr lang="en-US" dirty="0"/>
              <a:t>Focus on trip planning for a city or region (e.g., 2–5 day itinerary)</a:t>
            </a:r>
            <a:endParaRPr lang="en-US" dirty="0"/>
          </a:p>
          <a:p>
            <a:pPr lvl="0"/>
            <a:r>
              <a:rPr lang="en-US" dirty="0"/>
              <a:t>Use free or public data sources (e.g., </a:t>
            </a:r>
            <a:r>
              <a:rPr lang="en-US" dirty="0" err="1"/>
              <a:t>Gaode</a:t>
            </a:r>
            <a:r>
              <a:rPr lang="en-US" dirty="0"/>
              <a:t> Maps API, </a:t>
            </a:r>
            <a:r>
              <a:rPr lang="en-US" dirty="0" err="1"/>
              <a:t>RedNote</a:t>
            </a:r>
            <a:r>
              <a:rPr lang="en-US" dirty="0"/>
              <a:t>).</a:t>
            </a:r>
            <a:endParaRPr lang="en-US" dirty="0"/>
          </a:p>
          <a:p>
            <a:pPr lvl="0"/>
            <a:r>
              <a:rPr lang="en-US" dirty="0"/>
              <a:t>Travel scenarios may include leisure, family, or theme‑based trips.</a:t>
            </a:r>
            <a:endParaRPr lang="en-US" dirty="0"/>
          </a:p>
          <a:p>
            <a:pPr lvl="0"/>
            <a:endParaRPr lang="en-US" dirty="0"/>
          </a:p>
          <a:p>
            <a:endParaRPr lang="en-US" dirty="0"/>
          </a:p>
          <a:p>
            <a:pPr lvl="0"/>
            <a:endParaRPr lang="en-US" dirty="0"/>
          </a:p>
          <a:p>
            <a:endParaRPr lang="en-US" dirty="0"/>
          </a:p>
          <a:p>
            <a:pPr lvl="0"/>
            <a:endParaRPr lang="en-US" dirty="0"/>
          </a:p>
          <a:p>
            <a:endParaRPr lang="en-US" dirty="0"/>
          </a:p>
          <a:p>
            <a:endParaRPr lang="en-US" dirty="0"/>
          </a:p>
        </p:txBody>
      </p:sp>
      <p:sp>
        <p:nvSpPr>
          <p:cNvPr id="4" name="Slide Number Placeholder 3"/>
          <p:cNvSpPr>
            <a:spLocks noGrp="1"/>
          </p:cNvSpPr>
          <p:nvPr>
            <p:ph type="sldNum" sz="quarter" idx="12"/>
          </p:nvPr>
        </p:nvSpPr>
        <p:spPr>
          <a:xfrm>
            <a:off x="8610600" y="6356350"/>
            <a:ext cx="2743200" cy="365125"/>
          </a:xfrm>
        </p:spPr>
        <p:txBody>
          <a:bodyPr/>
          <a:lstStyle/>
          <a:p>
            <a:fld id="{7F8CBF50-853B-304C-BCA2-DB5146F0D4EA}" type="slidenum">
              <a:rPr lang="en-US" smtClean="0"/>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Group</a:t>
            </a:r>
            <a:r>
              <a:rPr lang="zh-CN" altLang="en-US"/>
              <a:t> </a:t>
            </a:r>
            <a:r>
              <a:rPr lang="en-US" altLang="zh-CN"/>
              <a:t>Project</a:t>
            </a:r>
            <a:r>
              <a:rPr lang="zh-CN" altLang="en-US"/>
              <a:t> </a:t>
            </a:r>
            <a:r>
              <a:rPr lang="en-US" altLang="zh-CN"/>
              <a:t>Proposal</a:t>
            </a:r>
            <a:endParaRPr lang="en-US"/>
          </a:p>
        </p:txBody>
      </p:sp>
      <p:sp>
        <p:nvSpPr>
          <p:cNvPr id="3" name="Content Placeholder 2"/>
          <p:cNvSpPr>
            <a:spLocks noGrp="1"/>
          </p:cNvSpPr>
          <p:nvPr>
            <p:ph idx="1"/>
          </p:nvPr>
        </p:nvSpPr>
        <p:spPr/>
        <p:txBody>
          <a:bodyPr>
            <a:normAutofit/>
          </a:bodyPr>
          <a:lstStyle/>
          <a:p>
            <a:r>
              <a:rPr lang="en-US" altLang="zh-CN" dirty="0"/>
              <a:t>Due</a:t>
            </a:r>
            <a:r>
              <a:rPr lang="zh-CN" altLang="en-US" dirty="0"/>
              <a:t> </a:t>
            </a:r>
            <a:r>
              <a:rPr lang="en-US" altLang="zh-CN" dirty="0"/>
              <a:t>on</a:t>
            </a:r>
            <a:r>
              <a:rPr lang="zh-CN" altLang="en-US" dirty="0"/>
              <a:t> </a:t>
            </a:r>
            <a:r>
              <a:rPr lang="en-US" altLang="zh-CN" dirty="0"/>
              <a:t>April 9 (Thursday)</a:t>
            </a:r>
            <a:endParaRPr lang="en-US" altLang="zh-CN" dirty="0"/>
          </a:p>
          <a:p>
            <a:r>
              <a:rPr lang="en-US" altLang="zh-CN" dirty="0"/>
              <a:t>One</a:t>
            </a:r>
            <a:r>
              <a:rPr lang="zh-CN" altLang="en-US" dirty="0"/>
              <a:t> </a:t>
            </a:r>
            <a:r>
              <a:rPr lang="en-US" altLang="zh-CN" dirty="0"/>
              <a:t>page</a:t>
            </a:r>
            <a:r>
              <a:rPr lang="zh-CN" altLang="en-US" dirty="0"/>
              <a:t> </a:t>
            </a:r>
            <a:r>
              <a:rPr lang="en-US" altLang="zh-CN" dirty="0"/>
              <a:t>only</a:t>
            </a:r>
            <a:endParaRPr lang="en-US" altLang="zh-CN" dirty="0"/>
          </a:p>
          <a:p>
            <a:r>
              <a:rPr lang="en-US" altLang="zh-CN" dirty="0"/>
              <a:t>Outline</a:t>
            </a:r>
            <a:r>
              <a:rPr lang="zh-CN" altLang="en-US" dirty="0"/>
              <a:t> </a:t>
            </a:r>
            <a:endParaRPr lang="en-US" altLang="zh-CN" dirty="0"/>
          </a:p>
          <a:p>
            <a:pPr lvl="1"/>
            <a:r>
              <a:rPr lang="en-US" altLang="zh-CN" dirty="0"/>
              <a:t>Summarize</a:t>
            </a:r>
            <a:r>
              <a:rPr lang="zh-CN" altLang="en-US" dirty="0"/>
              <a:t> </a:t>
            </a:r>
            <a:r>
              <a:rPr lang="en-US" altLang="zh-CN" dirty="0"/>
              <a:t>your</a:t>
            </a:r>
            <a:r>
              <a:rPr lang="zh-CN" altLang="en-US" dirty="0"/>
              <a:t> </a:t>
            </a:r>
            <a:r>
              <a:rPr lang="en-US" altLang="zh-CN" dirty="0"/>
              <a:t>project</a:t>
            </a:r>
            <a:r>
              <a:rPr lang="zh-CN" altLang="en-US" dirty="0"/>
              <a:t> </a:t>
            </a:r>
            <a:r>
              <a:rPr lang="en-US" altLang="zh-CN" dirty="0"/>
              <a:t>idea</a:t>
            </a:r>
            <a:r>
              <a:rPr lang="zh-CN" altLang="en-US" dirty="0"/>
              <a:t> </a:t>
            </a:r>
            <a:r>
              <a:rPr lang="en-US" altLang="zh-CN" dirty="0"/>
              <a:t>in</a:t>
            </a:r>
            <a:r>
              <a:rPr lang="zh-CN" altLang="en-US" dirty="0"/>
              <a:t> </a:t>
            </a:r>
            <a:r>
              <a:rPr lang="en-US" altLang="zh-CN" dirty="0"/>
              <a:t>one</a:t>
            </a:r>
            <a:r>
              <a:rPr lang="zh-CN" altLang="en-US" dirty="0"/>
              <a:t> </a:t>
            </a:r>
            <a:r>
              <a:rPr lang="en-US" altLang="zh-CN" dirty="0"/>
              <a:t>paragraph</a:t>
            </a:r>
            <a:r>
              <a:rPr lang="zh-CN" altLang="en-US" dirty="0"/>
              <a:t> </a:t>
            </a:r>
            <a:r>
              <a:rPr lang="en-US" altLang="zh-CN" dirty="0"/>
              <a:t>first</a:t>
            </a:r>
            <a:endParaRPr lang="en-US" altLang="zh-CN" dirty="0"/>
          </a:p>
          <a:p>
            <a:pPr lvl="1"/>
            <a:r>
              <a:rPr lang="en-US" altLang="zh-CN" dirty="0"/>
              <a:t>Clearly</a:t>
            </a:r>
            <a:r>
              <a:rPr lang="zh-CN" altLang="en-US" dirty="0"/>
              <a:t> </a:t>
            </a:r>
            <a:r>
              <a:rPr lang="en-US" altLang="zh-CN" dirty="0"/>
              <a:t>define</a:t>
            </a:r>
            <a:r>
              <a:rPr lang="zh-CN" altLang="en-US" dirty="0"/>
              <a:t> </a:t>
            </a:r>
            <a:r>
              <a:rPr lang="en-US" altLang="zh-CN" dirty="0"/>
              <a:t>the</a:t>
            </a:r>
            <a:r>
              <a:rPr lang="zh-CN" altLang="en-US" dirty="0"/>
              <a:t> </a:t>
            </a:r>
            <a:r>
              <a:rPr lang="en-US" altLang="zh-CN" dirty="0"/>
              <a:t>problem</a:t>
            </a:r>
            <a:endParaRPr lang="en-US" altLang="zh-CN" dirty="0"/>
          </a:p>
          <a:p>
            <a:pPr lvl="1"/>
            <a:r>
              <a:rPr lang="en-US" altLang="zh-CN" dirty="0"/>
              <a:t>Provide</a:t>
            </a:r>
            <a:r>
              <a:rPr lang="zh-CN" altLang="en-US" dirty="0"/>
              <a:t> </a:t>
            </a:r>
            <a:r>
              <a:rPr lang="en-US" altLang="zh-CN" dirty="0"/>
              <a:t>an</a:t>
            </a:r>
            <a:r>
              <a:rPr lang="zh-CN" altLang="en-US" dirty="0"/>
              <a:t> </a:t>
            </a:r>
            <a:r>
              <a:rPr lang="en-US" altLang="zh-CN" dirty="0"/>
              <a:t>outline</a:t>
            </a:r>
            <a:r>
              <a:rPr lang="zh-CN" altLang="en-US" dirty="0"/>
              <a:t> </a:t>
            </a:r>
            <a:r>
              <a:rPr lang="en-US" altLang="zh-CN" dirty="0"/>
              <a:t>of</a:t>
            </a:r>
            <a:r>
              <a:rPr lang="zh-CN" altLang="en-US" dirty="0"/>
              <a:t> </a:t>
            </a:r>
            <a:r>
              <a:rPr lang="en-US" altLang="zh-CN" dirty="0"/>
              <a:t>your</a:t>
            </a:r>
            <a:r>
              <a:rPr lang="zh-CN" altLang="en-US" dirty="0"/>
              <a:t> </a:t>
            </a:r>
            <a:r>
              <a:rPr lang="en-US" altLang="zh-CN" dirty="0"/>
              <a:t>AI</a:t>
            </a:r>
            <a:r>
              <a:rPr lang="zh-CN" altLang="en-US" dirty="0"/>
              <a:t> </a:t>
            </a:r>
            <a:r>
              <a:rPr lang="en-US" altLang="zh-CN" dirty="0"/>
              <a:t>solution</a:t>
            </a:r>
            <a:r>
              <a:rPr lang="zh-CN" altLang="en-US" dirty="0"/>
              <a:t> </a:t>
            </a:r>
            <a:r>
              <a:rPr lang="en-US" altLang="zh-CN" dirty="0"/>
              <a:t>to</a:t>
            </a:r>
            <a:r>
              <a:rPr lang="zh-CN" altLang="en-US" dirty="0"/>
              <a:t> </a:t>
            </a:r>
            <a:r>
              <a:rPr lang="en-US" altLang="zh-CN" dirty="0"/>
              <a:t>the</a:t>
            </a:r>
            <a:r>
              <a:rPr lang="zh-CN" altLang="en-US" dirty="0"/>
              <a:t> </a:t>
            </a:r>
            <a:r>
              <a:rPr lang="en-US" altLang="zh-CN" dirty="0"/>
              <a:t>target</a:t>
            </a:r>
            <a:r>
              <a:rPr lang="zh-CN" altLang="en-US" dirty="0"/>
              <a:t> </a:t>
            </a:r>
            <a:r>
              <a:rPr lang="en-US" altLang="zh-CN" dirty="0"/>
              <a:t>problem</a:t>
            </a:r>
            <a:r>
              <a:rPr lang="zh-CN" altLang="en-US" dirty="0"/>
              <a:t> </a:t>
            </a:r>
            <a:endParaRPr lang="en-US" altLang="zh-CN" dirty="0"/>
          </a:p>
          <a:p>
            <a:pPr lvl="1"/>
            <a:r>
              <a:rPr lang="en-US" altLang="zh-CN" dirty="0"/>
              <a:t>Describe</a:t>
            </a:r>
            <a:r>
              <a:rPr lang="zh-CN" altLang="en-US" dirty="0"/>
              <a:t> </a:t>
            </a:r>
            <a:r>
              <a:rPr lang="en-US" altLang="zh-CN" dirty="0"/>
              <a:t>any</a:t>
            </a:r>
            <a:r>
              <a:rPr lang="zh-CN" altLang="en-US" dirty="0"/>
              <a:t> </a:t>
            </a:r>
            <a:r>
              <a:rPr lang="en-US" altLang="zh-CN" dirty="0"/>
              <a:t>data</a:t>
            </a:r>
            <a:r>
              <a:rPr lang="zh-CN" altLang="en-US" dirty="0"/>
              <a:t> </a:t>
            </a:r>
            <a:r>
              <a:rPr lang="en-US" altLang="zh-CN" dirty="0"/>
              <a:t>required in your solution</a:t>
            </a:r>
            <a:r>
              <a:rPr lang="zh-CN" altLang="en-US" dirty="0"/>
              <a:t> </a:t>
            </a:r>
            <a:endParaRPr lang="en-US" altLang="zh-CN" dirty="0"/>
          </a:p>
          <a:p>
            <a:pPr lvl="1"/>
            <a:r>
              <a:rPr lang="en-US" altLang="zh-CN" dirty="0"/>
              <a:t>Identify</a:t>
            </a:r>
            <a:r>
              <a:rPr lang="zh-CN" altLang="en-US" dirty="0"/>
              <a:t> </a:t>
            </a:r>
            <a:r>
              <a:rPr lang="en-US" altLang="zh-CN" dirty="0"/>
              <a:t>the</a:t>
            </a:r>
            <a:r>
              <a:rPr lang="zh-CN" altLang="en-US" dirty="0"/>
              <a:t> </a:t>
            </a:r>
            <a:r>
              <a:rPr lang="en-US" altLang="zh-CN" dirty="0"/>
              <a:t>key</a:t>
            </a:r>
            <a:r>
              <a:rPr lang="zh-CN" altLang="en-US" dirty="0"/>
              <a:t> </a:t>
            </a:r>
            <a:r>
              <a:rPr lang="en-US" altLang="zh-CN" dirty="0"/>
              <a:t>challenges</a:t>
            </a:r>
            <a:r>
              <a:rPr lang="zh-CN" altLang="en-US" dirty="0"/>
              <a:t> </a:t>
            </a:r>
            <a:r>
              <a:rPr lang="en-US" altLang="zh-CN" dirty="0"/>
              <a:t>of</a:t>
            </a:r>
            <a:r>
              <a:rPr lang="zh-CN" altLang="en-US" dirty="0"/>
              <a:t> </a:t>
            </a:r>
            <a:r>
              <a:rPr lang="en-US" altLang="zh-CN" dirty="0"/>
              <a:t>your</a:t>
            </a:r>
            <a:r>
              <a:rPr lang="zh-CN" altLang="en-US" dirty="0"/>
              <a:t> </a:t>
            </a:r>
            <a:r>
              <a:rPr lang="en-US" altLang="zh-CN" dirty="0"/>
              <a:t>project</a:t>
            </a:r>
            <a:endParaRPr lang="en-US" altLang="zh-CN" dirty="0"/>
          </a:p>
          <a:p>
            <a:pPr lvl="1"/>
            <a:r>
              <a:rPr lang="en-US" altLang="zh-CN" dirty="0"/>
              <a:t>Describe</a:t>
            </a:r>
            <a:r>
              <a:rPr lang="zh-CN" altLang="en-US" dirty="0"/>
              <a:t> </a:t>
            </a:r>
            <a:r>
              <a:rPr lang="en-US" altLang="zh-CN" dirty="0"/>
              <a:t>how</a:t>
            </a:r>
            <a:r>
              <a:rPr lang="zh-CN" altLang="en-US" dirty="0"/>
              <a:t> </a:t>
            </a:r>
            <a:r>
              <a:rPr lang="en-US" altLang="zh-CN" dirty="0"/>
              <a:t>to</a:t>
            </a:r>
            <a:r>
              <a:rPr lang="zh-CN" altLang="en-US" dirty="0"/>
              <a:t> </a:t>
            </a:r>
            <a:r>
              <a:rPr lang="en-US" altLang="zh-CN" dirty="0"/>
              <a:t>allocate</a:t>
            </a:r>
            <a:r>
              <a:rPr lang="zh-CN" altLang="en-US" dirty="0"/>
              <a:t> </a:t>
            </a:r>
            <a:r>
              <a:rPr lang="en-US" altLang="zh-CN" dirty="0"/>
              <a:t>work</a:t>
            </a:r>
            <a:r>
              <a:rPr lang="zh-CN" altLang="en-US" dirty="0"/>
              <a:t> </a:t>
            </a:r>
            <a:r>
              <a:rPr lang="en-US" altLang="zh-CN" dirty="0"/>
              <a:t>across</a:t>
            </a:r>
            <a:r>
              <a:rPr lang="zh-CN" altLang="en-US" dirty="0"/>
              <a:t> </a:t>
            </a:r>
            <a:r>
              <a:rPr lang="en-US" altLang="zh-CN" dirty="0"/>
              <a:t>your</a:t>
            </a:r>
            <a:r>
              <a:rPr lang="zh-CN" altLang="en-US" dirty="0"/>
              <a:t> </a:t>
            </a:r>
            <a:r>
              <a:rPr lang="en-US" altLang="zh-CN" dirty="0"/>
              <a:t>group</a:t>
            </a:r>
            <a:r>
              <a:rPr lang="zh-CN" altLang="en-US" dirty="0"/>
              <a:t> </a:t>
            </a:r>
            <a:r>
              <a:rPr lang="en-US" altLang="zh-CN" dirty="0"/>
              <a:t>members</a:t>
            </a:r>
            <a:endParaRPr lang="en-US" altLang="zh-CN" dirty="0"/>
          </a:p>
          <a:p>
            <a:pPr lvl="2"/>
            <a:r>
              <a:rPr lang="en-US" altLang="zh-CN" dirty="0"/>
              <a:t>Do</a:t>
            </a:r>
            <a:r>
              <a:rPr lang="zh-CN" altLang="en-US" dirty="0"/>
              <a:t> </a:t>
            </a:r>
            <a:r>
              <a:rPr lang="en-US" altLang="zh-CN" dirty="0"/>
              <a:t>not</a:t>
            </a:r>
            <a:r>
              <a:rPr lang="zh-CN" altLang="en-US" dirty="0"/>
              <a:t> </a:t>
            </a:r>
            <a:r>
              <a:rPr lang="en-US" altLang="zh-CN" dirty="0"/>
              <a:t>simply</a:t>
            </a:r>
            <a:r>
              <a:rPr lang="zh-CN" altLang="en-US" dirty="0"/>
              <a:t> </a:t>
            </a:r>
            <a:r>
              <a:rPr lang="en-US" altLang="zh-CN" dirty="0"/>
              <a:t>say</a:t>
            </a:r>
            <a:r>
              <a:rPr lang="zh-CN" altLang="en-US" dirty="0"/>
              <a:t> </a:t>
            </a:r>
            <a:r>
              <a:rPr lang="en-US" altLang="zh-CN" dirty="0"/>
              <a:t>everyone</a:t>
            </a:r>
            <a:r>
              <a:rPr lang="zh-CN" altLang="en-US" dirty="0"/>
              <a:t> </a:t>
            </a:r>
            <a:r>
              <a:rPr lang="en-US" altLang="zh-CN" dirty="0"/>
              <a:t>will</a:t>
            </a:r>
            <a:r>
              <a:rPr lang="zh-CN" altLang="en-US" dirty="0"/>
              <a:t> </a:t>
            </a:r>
            <a:r>
              <a:rPr lang="en-US" altLang="zh-CN" dirty="0"/>
              <a:t>do</a:t>
            </a:r>
            <a:r>
              <a:rPr lang="zh-CN" altLang="en-US" dirty="0"/>
              <a:t> </a:t>
            </a:r>
            <a:r>
              <a:rPr lang="en-US" altLang="zh-CN" dirty="0"/>
              <a:t>every</a:t>
            </a:r>
            <a:r>
              <a:rPr lang="zh-CN" altLang="en-US" dirty="0"/>
              <a:t> </a:t>
            </a:r>
            <a:r>
              <a:rPr lang="en-US" altLang="zh-CN" dirty="0"/>
              <a:t>task</a:t>
            </a:r>
            <a:r>
              <a:rPr lang="zh-CN" altLang="en-US" dirty="0"/>
              <a:t> </a:t>
            </a:r>
            <a:r>
              <a:rPr lang="en-US" altLang="zh-CN" dirty="0"/>
              <a:t>equally</a:t>
            </a:r>
            <a:endParaRPr lang="en-US" altLang="zh-CN" dirty="0"/>
          </a:p>
        </p:txBody>
      </p:sp>
      <p:sp>
        <p:nvSpPr>
          <p:cNvPr id="4" name="Slide Number Placeholder 3"/>
          <p:cNvSpPr>
            <a:spLocks noGrp="1"/>
          </p:cNvSpPr>
          <p:nvPr>
            <p:ph type="sldNum" sz="quarter" idx="12"/>
          </p:nvPr>
        </p:nvSpPr>
        <p:spPr/>
        <p:txBody>
          <a:bodyPr/>
          <a:lstStyle/>
          <a:p>
            <a:fld id="{3CF86D51-AB38-4211-A765-668B7266B8DF}" type="slidenum">
              <a:rPr lang="en-US" smtClean="0"/>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Group</a:t>
            </a:r>
            <a:r>
              <a:rPr lang="zh-CN" altLang="en-US"/>
              <a:t> </a:t>
            </a:r>
            <a:r>
              <a:rPr lang="en-US" altLang="zh-CN"/>
              <a:t>Project</a:t>
            </a:r>
            <a:r>
              <a:rPr lang="zh-CN" altLang="en-US"/>
              <a:t> </a:t>
            </a:r>
            <a:r>
              <a:rPr lang="en-US" altLang="zh-CN"/>
              <a:t>Report</a:t>
            </a:r>
            <a:endParaRPr lang="en-US"/>
          </a:p>
        </p:txBody>
      </p:sp>
      <p:sp>
        <p:nvSpPr>
          <p:cNvPr id="3" name="Content Placeholder 2"/>
          <p:cNvSpPr>
            <a:spLocks noGrp="1"/>
          </p:cNvSpPr>
          <p:nvPr>
            <p:ph idx="1"/>
          </p:nvPr>
        </p:nvSpPr>
        <p:spPr/>
        <p:txBody>
          <a:bodyPr>
            <a:normAutofit fontScale="85000" lnSpcReduction="20000"/>
          </a:bodyPr>
          <a:lstStyle/>
          <a:p>
            <a:r>
              <a:rPr lang="en-US" altLang="zh-CN" dirty="0"/>
              <a:t>Due</a:t>
            </a:r>
            <a:r>
              <a:rPr lang="zh-CN" altLang="en-US" dirty="0"/>
              <a:t> </a:t>
            </a:r>
            <a:r>
              <a:rPr lang="en-US" altLang="zh-CN" dirty="0"/>
              <a:t>on</a:t>
            </a:r>
            <a:r>
              <a:rPr lang="zh-CN" altLang="en-US" dirty="0"/>
              <a:t> </a:t>
            </a:r>
            <a:r>
              <a:rPr lang="en-US" altLang="zh-CN" dirty="0"/>
              <a:t>May 3 (Sunday)</a:t>
            </a:r>
            <a:endParaRPr lang="en-US" altLang="zh-CN" dirty="0"/>
          </a:p>
          <a:p>
            <a:r>
              <a:rPr lang="en-US" altLang="zh-CN" dirty="0"/>
              <a:t>10</a:t>
            </a:r>
            <a:r>
              <a:rPr lang="zh-CN" altLang="en-US" dirty="0"/>
              <a:t> </a:t>
            </a:r>
            <a:r>
              <a:rPr lang="en-US" altLang="zh-CN" dirty="0"/>
              <a:t>pages</a:t>
            </a:r>
            <a:r>
              <a:rPr lang="zh-CN" altLang="en-US" dirty="0"/>
              <a:t> </a:t>
            </a:r>
            <a:r>
              <a:rPr lang="en-US" altLang="zh-CN" dirty="0"/>
              <a:t>max</a:t>
            </a:r>
            <a:endParaRPr lang="en-US" altLang="zh-CN" dirty="0"/>
          </a:p>
          <a:p>
            <a:r>
              <a:rPr lang="en-US" altLang="zh-CN" dirty="0"/>
              <a:t>Outline</a:t>
            </a:r>
            <a:r>
              <a:rPr lang="zh-CN" altLang="en-US" dirty="0"/>
              <a:t> </a:t>
            </a:r>
            <a:r>
              <a:rPr lang="en-US" altLang="zh-CN" dirty="0"/>
              <a:t>(for your reference only)</a:t>
            </a:r>
            <a:endParaRPr lang="en-US" altLang="zh-CN" dirty="0"/>
          </a:p>
          <a:p>
            <a:pPr lvl="1"/>
            <a:r>
              <a:rPr lang="en-US" altLang="zh-CN" dirty="0"/>
              <a:t>Introduction (2 pages max; an executive summary of your project)</a:t>
            </a:r>
            <a:endParaRPr lang="en-US" altLang="zh-CN" dirty="0"/>
          </a:p>
          <a:p>
            <a:pPr lvl="2"/>
            <a:r>
              <a:rPr lang="en-US" altLang="zh-CN" dirty="0"/>
              <a:t>Project</a:t>
            </a:r>
            <a:r>
              <a:rPr lang="zh-CN" altLang="en-US" dirty="0"/>
              <a:t> </a:t>
            </a:r>
            <a:r>
              <a:rPr lang="en-US" altLang="zh-CN" dirty="0"/>
              <a:t>idea</a:t>
            </a:r>
            <a:endParaRPr lang="en-US" altLang="zh-CN" dirty="0"/>
          </a:p>
          <a:p>
            <a:pPr lvl="2"/>
            <a:r>
              <a:rPr lang="en-US" altLang="zh-CN" dirty="0"/>
              <a:t>Key components of your solution</a:t>
            </a:r>
            <a:endParaRPr lang="en-US" altLang="zh-CN" dirty="0"/>
          </a:p>
          <a:p>
            <a:pPr lvl="2"/>
            <a:r>
              <a:rPr lang="en-US" altLang="zh-CN" dirty="0"/>
              <a:t>Main findings or deliverables</a:t>
            </a:r>
            <a:endParaRPr lang="en-US" altLang="zh-CN" dirty="0"/>
          </a:p>
          <a:p>
            <a:pPr lvl="1"/>
            <a:r>
              <a:rPr lang="en-US" altLang="zh-CN" dirty="0"/>
              <a:t>Methodology (3 to 4 pages)</a:t>
            </a:r>
            <a:endParaRPr lang="en-US" altLang="zh-CN" dirty="0"/>
          </a:p>
          <a:p>
            <a:pPr lvl="2"/>
            <a:r>
              <a:rPr lang="en-US" altLang="zh-CN" dirty="0"/>
              <a:t>A detailed</a:t>
            </a:r>
            <a:r>
              <a:rPr lang="zh-CN" altLang="en-US" dirty="0"/>
              <a:t> </a:t>
            </a:r>
            <a:r>
              <a:rPr lang="en-US" altLang="zh-CN" dirty="0"/>
              <a:t>summary</a:t>
            </a:r>
            <a:r>
              <a:rPr lang="zh-CN" altLang="en-US" dirty="0"/>
              <a:t> </a:t>
            </a:r>
            <a:r>
              <a:rPr lang="en-US" altLang="zh-CN" dirty="0"/>
              <a:t>of</a:t>
            </a:r>
            <a:r>
              <a:rPr lang="zh-CN" altLang="en-US" dirty="0"/>
              <a:t> </a:t>
            </a:r>
            <a:r>
              <a:rPr lang="en-US" altLang="zh-CN" dirty="0"/>
              <a:t>your</a:t>
            </a:r>
            <a:r>
              <a:rPr lang="zh-CN" altLang="en-US" dirty="0"/>
              <a:t> </a:t>
            </a:r>
            <a:r>
              <a:rPr lang="en-US" altLang="zh-CN" dirty="0"/>
              <a:t>solution</a:t>
            </a:r>
            <a:r>
              <a:rPr lang="zh-CN" altLang="en-US" dirty="0"/>
              <a:t> </a:t>
            </a:r>
            <a:r>
              <a:rPr lang="en-US" altLang="zh-CN" dirty="0"/>
              <a:t>to</a:t>
            </a:r>
            <a:r>
              <a:rPr lang="zh-CN" altLang="en-US" dirty="0"/>
              <a:t> </a:t>
            </a:r>
            <a:r>
              <a:rPr lang="en-US" altLang="zh-CN" dirty="0"/>
              <a:t>the</a:t>
            </a:r>
            <a:r>
              <a:rPr lang="zh-CN" altLang="en-US" dirty="0"/>
              <a:t> </a:t>
            </a:r>
            <a:r>
              <a:rPr lang="en-US" altLang="zh-CN" dirty="0"/>
              <a:t>target</a:t>
            </a:r>
            <a:r>
              <a:rPr lang="zh-CN" altLang="en-US" dirty="0"/>
              <a:t> </a:t>
            </a:r>
            <a:r>
              <a:rPr lang="en-US" altLang="zh-CN" dirty="0"/>
              <a:t>business</a:t>
            </a:r>
            <a:r>
              <a:rPr lang="zh-CN" altLang="en-US" dirty="0"/>
              <a:t> </a:t>
            </a:r>
            <a:r>
              <a:rPr lang="en-US" altLang="zh-CN" dirty="0"/>
              <a:t>problem</a:t>
            </a:r>
            <a:endParaRPr lang="en-US" altLang="zh-CN" dirty="0"/>
          </a:p>
          <a:p>
            <a:pPr lvl="2"/>
            <a:r>
              <a:rPr lang="en-US" altLang="zh-CN" dirty="0"/>
              <a:t>Identify</a:t>
            </a:r>
            <a:r>
              <a:rPr lang="zh-CN" altLang="en-US" dirty="0"/>
              <a:t> </a:t>
            </a:r>
            <a:r>
              <a:rPr lang="en-US" altLang="zh-CN" dirty="0"/>
              <a:t>the</a:t>
            </a:r>
            <a:r>
              <a:rPr lang="zh-CN" altLang="en-US" dirty="0"/>
              <a:t> </a:t>
            </a:r>
            <a:r>
              <a:rPr lang="en-US" altLang="zh-CN" dirty="0"/>
              <a:t>key</a:t>
            </a:r>
            <a:r>
              <a:rPr lang="zh-CN" altLang="en-US" dirty="0"/>
              <a:t> </a:t>
            </a:r>
            <a:r>
              <a:rPr lang="en-US" altLang="zh-CN" dirty="0"/>
              <a:t>challenges</a:t>
            </a:r>
            <a:r>
              <a:rPr lang="zh-CN" altLang="en-US" dirty="0"/>
              <a:t> </a:t>
            </a:r>
            <a:r>
              <a:rPr lang="en-US" altLang="zh-CN" dirty="0"/>
              <a:t>and how you address them</a:t>
            </a:r>
            <a:endParaRPr lang="en-US" altLang="zh-CN" dirty="0"/>
          </a:p>
          <a:p>
            <a:pPr lvl="1"/>
            <a:r>
              <a:rPr lang="en-US" altLang="zh-CN" dirty="0"/>
              <a:t>Results (2 to 3 pages)</a:t>
            </a:r>
            <a:endParaRPr lang="en-US" altLang="zh-CN" dirty="0"/>
          </a:p>
          <a:p>
            <a:pPr lvl="1"/>
            <a:r>
              <a:rPr lang="en-US" altLang="zh-CN" dirty="0"/>
              <a:t>Limitations and Future Work (1 page)</a:t>
            </a:r>
            <a:endParaRPr lang="en-US" altLang="zh-CN" dirty="0"/>
          </a:p>
          <a:p>
            <a:pPr lvl="1"/>
            <a:r>
              <a:rPr lang="en-US" altLang="zh-CN" dirty="0">
                <a:solidFill>
                  <a:srgbClr val="FF0000"/>
                </a:solidFill>
              </a:rPr>
              <a:t>Work Allocation (1 page)</a:t>
            </a:r>
            <a:endParaRPr lang="en-US" altLang="zh-CN" dirty="0">
              <a:solidFill>
                <a:srgbClr val="FF0000"/>
              </a:solidFill>
            </a:endParaRPr>
          </a:p>
          <a:p>
            <a:pPr lvl="2"/>
            <a:r>
              <a:rPr lang="en-US" altLang="zh-CN" dirty="0">
                <a:solidFill>
                  <a:srgbClr val="FF0000"/>
                </a:solidFill>
              </a:rPr>
              <a:t>Describe</a:t>
            </a:r>
            <a:r>
              <a:rPr lang="zh-CN" altLang="en-US" dirty="0">
                <a:solidFill>
                  <a:srgbClr val="FF0000"/>
                </a:solidFill>
              </a:rPr>
              <a:t> </a:t>
            </a:r>
            <a:r>
              <a:rPr lang="en-US" altLang="zh-CN" dirty="0">
                <a:solidFill>
                  <a:srgbClr val="FF0000"/>
                </a:solidFill>
              </a:rPr>
              <a:t>how</a:t>
            </a:r>
            <a:r>
              <a:rPr lang="zh-CN" altLang="en-US" dirty="0">
                <a:solidFill>
                  <a:srgbClr val="FF0000"/>
                </a:solidFill>
              </a:rPr>
              <a:t> </a:t>
            </a:r>
            <a:r>
              <a:rPr lang="en-US" altLang="zh-CN" dirty="0">
                <a:solidFill>
                  <a:srgbClr val="FF0000"/>
                </a:solidFill>
              </a:rPr>
              <a:t>work tasks are distributed</a:t>
            </a:r>
            <a:r>
              <a:rPr lang="zh-CN" altLang="en-US" dirty="0">
                <a:solidFill>
                  <a:srgbClr val="FF0000"/>
                </a:solidFill>
              </a:rPr>
              <a:t> </a:t>
            </a:r>
            <a:r>
              <a:rPr lang="en-US" altLang="zh-CN" dirty="0">
                <a:solidFill>
                  <a:srgbClr val="FF0000"/>
                </a:solidFill>
              </a:rPr>
              <a:t>across</a:t>
            </a:r>
            <a:r>
              <a:rPr lang="zh-CN" altLang="en-US" dirty="0">
                <a:solidFill>
                  <a:srgbClr val="FF0000"/>
                </a:solidFill>
              </a:rPr>
              <a:t> </a:t>
            </a:r>
            <a:r>
              <a:rPr lang="en-US" altLang="zh-CN" dirty="0">
                <a:solidFill>
                  <a:srgbClr val="FF0000"/>
                </a:solidFill>
              </a:rPr>
              <a:t>your</a:t>
            </a:r>
            <a:r>
              <a:rPr lang="zh-CN" altLang="en-US" dirty="0">
                <a:solidFill>
                  <a:srgbClr val="FF0000"/>
                </a:solidFill>
              </a:rPr>
              <a:t> </a:t>
            </a:r>
            <a:r>
              <a:rPr lang="en-US" altLang="zh-CN" dirty="0">
                <a:solidFill>
                  <a:srgbClr val="FF0000"/>
                </a:solidFill>
              </a:rPr>
              <a:t>group</a:t>
            </a:r>
            <a:r>
              <a:rPr lang="zh-CN" altLang="en-US" dirty="0">
                <a:solidFill>
                  <a:srgbClr val="FF0000"/>
                </a:solidFill>
              </a:rPr>
              <a:t> </a:t>
            </a:r>
            <a:r>
              <a:rPr lang="en-US" altLang="zh-CN" dirty="0">
                <a:solidFill>
                  <a:srgbClr val="FF0000"/>
                </a:solidFill>
              </a:rPr>
              <a:t>members</a:t>
            </a:r>
            <a:endParaRPr lang="en-US" altLang="zh-CN" dirty="0">
              <a:solidFill>
                <a:srgbClr val="FF0000"/>
              </a:solidFill>
            </a:endParaRPr>
          </a:p>
        </p:txBody>
      </p:sp>
      <p:sp>
        <p:nvSpPr>
          <p:cNvPr id="4" name="Slide Number Placeholder 3"/>
          <p:cNvSpPr>
            <a:spLocks noGrp="1"/>
          </p:cNvSpPr>
          <p:nvPr>
            <p:ph type="sldNum" sz="quarter" idx="12"/>
          </p:nvPr>
        </p:nvSpPr>
        <p:spPr/>
        <p:txBody>
          <a:bodyPr/>
          <a:lstStyle/>
          <a:p>
            <a:fld id="{3CF86D51-AB38-4211-A765-668B7266B8DF}" type="slidenum">
              <a:rPr lang="en-US" smtClean="0"/>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Purposes</a:t>
            </a:r>
            <a:r>
              <a:rPr lang="zh-CN" altLang="en-US" dirty="0"/>
              <a:t> </a:t>
            </a:r>
            <a:r>
              <a:rPr lang="en-US" altLang="zh-CN" dirty="0"/>
              <a:t>of</a:t>
            </a:r>
            <a:r>
              <a:rPr lang="zh-CN" altLang="en-US" dirty="0"/>
              <a:t> </a:t>
            </a:r>
            <a:r>
              <a:rPr lang="en-US" altLang="zh-CN" dirty="0"/>
              <a:t>Each</a:t>
            </a:r>
            <a:r>
              <a:rPr lang="zh-CN" altLang="en-US" dirty="0"/>
              <a:t> </a:t>
            </a:r>
            <a:r>
              <a:rPr lang="en-US" altLang="zh-CN" dirty="0"/>
              <a:t>Assessment</a:t>
            </a:r>
            <a:endParaRPr lang="en-US" dirty="0"/>
          </a:p>
        </p:txBody>
      </p:sp>
      <p:sp>
        <p:nvSpPr>
          <p:cNvPr id="3" name="Content Placeholder 2"/>
          <p:cNvSpPr>
            <a:spLocks noGrp="1"/>
          </p:cNvSpPr>
          <p:nvPr>
            <p:ph idx="1"/>
          </p:nvPr>
        </p:nvSpPr>
        <p:spPr/>
        <p:txBody>
          <a:bodyPr>
            <a:normAutofit fontScale="92500"/>
          </a:bodyPr>
          <a:lstStyle/>
          <a:p>
            <a:r>
              <a:rPr lang="en-US" altLang="zh-CN" dirty="0"/>
              <a:t>Participation</a:t>
            </a:r>
            <a:endParaRPr lang="en-US" altLang="zh-CN" dirty="0"/>
          </a:p>
          <a:p>
            <a:pPr lvl="1"/>
            <a:r>
              <a:rPr lang="en-US" altLang="zh-CN" dirty="0"/>
              <a:t>You</a:t>
            </a:r>
            <a:r>
              <a:rPr lang="zh-CN" altLang="en-US" dirty="0"/>
              <a:t> </a:t>
            </a:r>
            <a:r>
              <a:rPr lang="en-US" altLang="zh-CN" dirty="0"/>
              <a:t>can</a:t>
            </a:r>
            <a:r>
              <a:rPr lang="zh-CN" altLang="en-US" dirty="0"/>
              <a:t> </a:t>
            </a:r>
            <a:r>
              <a:rPr lang="en-US" altLang="zh-CN" dirty="0"/>
              <a:t>share</a:t>
            </a:r>
            <a:r>
              <a:rPr lang="zh-CN" altLang="en-US" dirty="0"/>
              <a:t> </a:t>
            </a:r>
            <a:r>
              <a:rPr lang="en-US" altLang="zh-CN" dirty="0"/>
              <a:t>your</a:t>
            </a:r>
            <a:r>
              <a:rPr lang="zh-CN" altLang="en-US" dirty="0"/>
              <a:t> </a:t>
            </a:r>
            <a:r>
              <a:rPr lang="en-US" altLang="zh-CN" dirty="0"/>
              <a:t>views</a:t>
            </a:r>
            <a:r>
              <a:rPr lang="zh-CN" altLang="en-US" dirty="0"/>
              <a:t> </a:t>
            </a:r>
            <a:r>
              <a:rPr lang="en-US" altLang="zh-CN" dirty="0"/>
              <a:t>and</a:t>
            </a:r>
            <a:r>
              <a:rPr lang="zh-CN" altLang="en-US" dirty="0"/>
              <a:t> </a:t>
            </a:r>
            <a:r>
              <a:rPr lang="en-US" altLang="zh-CN" dirty="0"/>
              <a:t>opinions</a:t>
            </a:r>
            <a:r>
              <a:rPr lang="zh-CN" altLang="en-US" dirty="0"/>
              <a:t> </a:t>
            </a:r>
            <a:r>
              <a:rPr lang="en-US" altLang="zh-CN" dirty="0"/>
              <a:t>with</a:t>
            </a:r>
            <a:r>
              <a:rPr lang="zh-CN" altLang="en-US" dirty="0"/>
              <a:t> </a:t>
            </a:r>
            <a:r>
              <a:rPr lang="en-US" altLang="zh-CN" dirty="0"/>
              <a:t>others</a:t>
            </a:r>
            <a:r>
              <a:rPr lang="zh-CN" altLang="en-US" dirty="0"/>
              <a:t> </a:t>
            </a:r>
            <a:r>
              <a:rPr lang="en-US" altLang="zh-CN" dirty="0"/>
              <a:t>in</a:t>
            </a:r>
            <a:r>
              <a:rPr lang="zh-CN" altLang="en-US" dirty="0"/>
              <a:t> </a:t>
            </a:r>
            <a:r>
              <a:rPr lang="en-US" altLang="zh-CN" dirty="0"/>
              <a:t>a</a:t>
            </a:r>
            <a:r>
              <a:rPr lang="zh-CN" altLang="en-US" dirty="0"/>
              <a:t> </a:t>
            </a:r>
            <a:r>
              <a:rPr lang="en-US" altLang="zh-CN" dirty="0"/>
              <a:t>business</a:t>
            </a:r>
            <a:r>
              <a:rPr lang="zh-CN" altLang="en-US" dirty="0"/>
              <a:t> </a:t>
            </a:r>
            <a:r>
              <a:rPr lang="en-US" altLang="zh-CN" dirty="0"/>
              <a:t>setting.</a:t>
            </a:r>
            <a:endParaRPr lang="en-US" altLang="zh-CN" dirty="0"/>
          </a:p>
          <a:p>
            <a:pPr lvl="1"/>
            <a:r>
              <a:rPr lang="en-US" altLang="zh-CN" dirty="0"/>
              <a:t>You</a:t>
            </a:r>
            <a:r>
              <a:rPr lang="zh-CN" altLang="en-US" dirty="0"/>
              <a:t> </a:t>
            </a:r>
            <a:r>
              <a:rPr lang="en-US" altLang="zh-CN" dirty="0"/>
              <a:t>can</a:t>
            </a:r>
            <a:r>
              <a:rPr lang="zh-CN" altLang="en-US" dirty="0"/>
              <a:t> </a:t>
            </a:r>
            <a:r>
              <a:rPr lang="en-US" altLang="zh-CN" dirty="0"/>
              <a:t>conduct</a:t>
            </a:r>
            <a:r>
              <a:rPr lang="zh-CN" altLang="en-US" dirty="0"/>
              <a:t> </a:t>
            </a:r>
            <a:r>
              <a:rPr lang="en-US" altLang="zh-CN" dirty="0"/>
              <a:t>research</a:t>
            </a:r>
            <a:r>
              <a:rPr lang="zh-CN" altLang="en-US" dirty="0"/>
              <a:t> </a:t>
            </a:r>
            <a:r>
              <a:rPr lang="en-US" altLang="zh-CN" dirty="0"/>
              <a:t>on</a:t>
            </a:r>
            <a:r>
              <a:rPr lang="zh-CN" altLang="en-US" dirty="0"/>
              <a:t> </a:t>
            </a:r>
            <a:r>
              <a:rPr lang="en-US" altLang="zh-CN" dirty="0"/>
              <a:t>your</a:t>
            </a:r>
            <a:r>
              <a:rPr lang="zh-CN" altLang="en-US" dirty="0"/>
              <a:t> </a:t>
            </a:r>
            <a:r>
              <a:rPr lang="en-US" altLang="zh-CN" dirty="0"/>
              <a:t>own</a:t>
            </a:r>
            <a:r>
              <a:rPr lang="zh-CN" altLang="en-US" dirty="0"/>
              <a:t> </a:t>
            </a:r>
            <a:r>
              <a:rPr lang="en-US" altLang="zh-CN" dirty="0"/>
              <a:t>and</a:t>
            </a:r>
            <a:r>
              <a:rPr lang="zh-CN" altLang="en-US" dirty="0"/>
              <a:t> </a:t>
            </a:r>
            <a:r>
              <a:rPr lang="en-US" altLang="zh-CN" dirty="0"/>
              <a:t>summarize</a:t>
            </a:r>
            <a:r>
              <a:rPr lang="zh-CN" altLang="en-US" dirty="0"/>
              <a:t> </a:t>
            </a:r>
            <a:r>
              <a:rPr lang="en-US" altLang="zh-CN" dirty="0"/>
              <a:t>what</a:t>
            </a:r>
            <a:r>
              <a:rPr lang="zh-CN" altLang="en-US" dirty="0"/>
              <a:t> </a:t>
            </a:r>
            <a:r>
              <a:rPr lang="en-US" altLang="zh-CN" dirty="0"/>
              <a:t>you</a:t>
            </a:r>
            <a:r>
              <a:rPr lang="zh-CN" altLang="en-US" dirty="0"/>
              <a:t> </a:t>
            </a:r>
            <a:r>
              <a:rPr lang="en-US" altLang="zh-CN" dirty="0"/>
              <a:t>have</a:t>
            </a:r>
            <a:r>
              <a:rPr lang="zh-CN" altLang="en-US" dirty="0"/>
              <a:t> </a:t>
            </a:r>
            <a:r>
              <a:rPr lang="en-US" altLang="zh-CN" dirty="0"/>
              <a:t>learnt.</a:t>
            </a:r>
            <a:endParaRPr lang="en-US" altLang="zh-CN" dirty="0"/>
          </a:p>
          <a:p>
            <a:pPr lvl="1"/>
            <a:r>
              <a:rPr lang="en-US" altLang="zh-CN" dirty="0"/>
              <a:t>You</a:t>
            </a:r>
            <a:r>
              <a:rPr lang="zh-CN" altLang="en-US" dirty="0"/>
              <a:t> </a:t>
            </a:r>
            <a:r>
              <a:rPr lang="en-US" altLang="zh-CN" dirty="0"/>
              <a:t>can</a:t>
            </a:r>
            <a:r>
              <a:rPr lang="zh-CN" altLang="en-US" dirty="0"/>
              <a:t> </a:t>
            </a:r>
            <a:r>
              <a:rPr lang="en-US" altLang="zh-CN" dirty="0"/>
              <a:t>provide</a:t>
            </a:r>
            <a:r>
              <a:rPr lang="zh-CN" altLang="en-US" dirty="0"/>
              <a:t> </a:t>
            </a:r>
            <a:r>
              <a:rPr lang="en-US" altLang="zh-CN" dirty="0"/>
              <a:t>technical</a:t>
            </a:r>
            <a:r>
              <a:rPr lang="zh-CN" altLang="en-US" dirty="0"/>
              <a:t> </a:t>
            </a:r>
            <a:r>
              <a:rPr lang="en-US" altLang="zh-CN" dirty="0"/>
              <a:t>support</a:t>
            </a:r>
            <a:r>
              <a:rPr lang="zh-CN" altLang="en-US" dirty="0"/>
              <a:t> </a:t>
            </a:r>
            <a:r>
              <a:rPr lang="en-US" altLang="zh-CN" dirty="0"/>
              <a:t>and</a:t>
            </a:r>
            <a:r>
              <a:rPr lang="zh-CN" altLang="en-US" dirty="0"/>
              <a:t> </a:t>
            </a:r>
            <a:r>
              <a:rPr lang="en-US" altLang="zh-CN" dirty="0"/>
              <a:t>help</a:t>
            </a:r>
            <a:r>
              <a:rPr lang="zh-CN" altLang="en-US" dirty="0"/>
              <a:t> </a:t>
            </a:r>
            <a:r>
              <a:rPr lang="en-US" altLang="zh-CN" dirty="0"/>
              <a:t>to</a:t>
            </a:r>
            <a:r>
              <a:rPr lang="zh-CN" altLang="en-US" dirty="0"/>
              <a:t> </a:t>
            </a:r>
            <a:r>
              <a:rPr lang="en-US" altLang="zh-CN" dirty="0"/>
              <a:t>others,</a:t>
            </a:r>
            <a:r>
              <a:rPr lang="zh-CN" altLang="en-US" dirty="0"/>
              <a:t> </a:t>
            </a:r>
            <a:r>
              <a:rPr lang="en-US" altLang="zh-CN" dirty="0"/>
              <a:t>e.g.,</a:t>
            </a:r>
            <a:r>
              <a:rPr lang="zh-CN" altLang="en-US" dirty="0"/>
              <a:t> </a:t>
            </a:r>
            <a:r>
              <a:rPr lang="en-US" altLang="zh-CN" dirty="0"/>
              <a:t>colleagues,</a:t>
            </a:r>
            <a:r>
              <a:rPr lang="zh-CN" altLang="en-US" dirty="0"/>
              <a:t> </a:t>
            </a:r>
            <a:r>
              <a:rPr lang="en-US" altLang="zh-CN" dirty="0"/>
              <a:t>clients,</a:t>
            </a:r>
            <a:r>
              <a:rPr lang="zh-CN" altLang="en-US" dirty="0"/>
              <a:t> </a:t>
            </a:r>
            <a:r>
              <a:rPr lang="en-US" altLang="zh-CN" dirty="0"/>
              <a:t>etc.</a:t>
            </a:r>
            <a:endParaRPr lang="en-US" altLang="zh-CN" dirty="0"/>
          </a:p>
          <a:p>
            <a:r>
              <a:rPr lang="en-US" altLang="zh-CN" dirty="0"/>
              <a:t>Individual</a:t>
            </a:r>
            <a:r>
              <a:rPr lang="zh-CN" altLang="en-US" dirty="0"/>
              <a:t> </a:t>
            </a:r>
            <a:r>
              <a:rPr lang="en-US" altLang="zh-CN" dirty="0"/>
              <a:t>Assignment</a:t>
            </a:r>
            <a:endParaRPr lang="en-US" altLang="zh-CN" dirty="0"/>
          </a:p>
          <a:p>
            <a:pPr lvl="1"/>
            <a:r>
              <a:rPr lang="en-US" altLang="zh-CN" dirty="0"/>
              <a:t>Apply LLMs to solve problems independently with AI assistance.</a:t>
            </a:r>
            <a:endParaRPr lang="en-US" altLang="zh-CN" dirty="0"/>
          </a:p>
          <a:p>
            <a:r>
              <a:rPr lang="en-US" altLang="zh-CN" dirty="0"/>
              <a:t>Group</a:t>
            </a:r>
            <a:r>
              <a:rPr lang="zh-CN" altLang="en-US" dirty="0"/>
              <a:t> </a:t>
            </a:r>
            <a:r>
              <a:rPr lang="en-US" altLang="zh-CN" dirty="0"/>
              <a:t>Project</a:t>
            </a:r>
            <a:endParaRPr lang="en-US" altLang="zh-CN" dirty="0"/>
          </a:p>
          <a:p>
            <a:pPr lvl="1"/>
            <a:r>
              <a:rPr lang="en-US" altLang="zh-CN" dirty="0"/>
              <a:t>Acquire practical experience in applying LLM knowledge in a team environment.</a:t>
            </a:r>
            <a:endParaRPr lang="en-US" altLang="zh-CN" dirty="0"/>
          </a:p>
          <a:p>
            <a:pPr lvl="1"/>
            <a:r>
              <a:rPr lang="en-US" altLang="zh-CN" dirty="0"/>
              <a:t>Develop</a:t>
            </a:r>
            <a:r>
              <a:rPr lang="zh-CN" altLang="en-US" dirty="0"/>
              <a:t> </a:t>
            </a:r>
            <a:r>
              <a:rPr lang="en-US" altLang="zh-CN" dirty="0"/>
              <a:t>soft</a:t>
            </a:r>
            <a:r>
              <a:rPr lang="zh-CN" altLang="en-US" dirty="0"/>
              <a:t> </a:t>
            </a:r>
            <a:r>
              <a:rPr lang="en-US" altLang="zh-CN" dirty="0"/>
              <a:t>skills</a:t>
            </a:r>
            <a:r>
              <a:rPr lang="zh-CN" altLang="en-US" dirty="0"/>
              <a:t> </a:t>
            </a:r>
            <a:r>
              <a:rPr lang="en-US" altLang="zh-CN" dirty="0"/>
              <a:t>such</a:t>
            </a:r>
            <a:r>
              <a:rPr lang="zh-CN" altLang="en-US" dirty="0"/>
              <a:t> </a:t>
            </a:r>
            <a:r>
              <a:rPr lang="en-US" altLang="zh-CN" dirty="0"/>
              <a:t>as</a:t>
            </a:r>
            <a:r>
              <a:rPr lang="zh-CN" altLang="en-US" dirty="0"/>
              <a:t> </a:t>
            </a:r>
            <a:r>
              <a:rPr lang="en-US" altLang="zh-CN" dirty="0"/>
              <a:t>project</a:t>
            </a:r>
            <a:r>
              <a:rPr lang="zh-CN" altLang="en-US" dirty="0"/>
              <a:t> </a:t>
            </a:r>
            <a:r>
              <a:rPr lang="en-US" altLang="zh-CN" dirty="0"/>
              <a:t>management,</a:t>
            </a:r>
            <a:r>
              <a:rPr lang="zh-CN" altLang="en-US" dirty="0"/>
              <a:t> </a:t>
            </a:r>
            <a:r>
              <a:rPr lang="en-US" altLang="zh-CN" dirty="0"/>
              <a:t>communication/presentation,</a:t>
            </a:r>
            <a:r>
              <a:rPr lang="zh-CN" altLang="en-US" dirty="0"/>
              <a:t> </a:t>
            </a:r>
            <a:r>
              <a:rPr lang="en-US" altLang="zh-CN" dirty="0"/>
              <a:t>teamwork,</a:t>
            </a:r>
            <a:r>
              <a:rPr lang="zh-CN" altLang="en-US" dirty="0"/>
              <a:t> </a:t>
            </a:r>
            <a:r>
              <a:rPr lang="en-US" altLang="zh-CN" dirty="0"/>
              <a:t>leadership,</a:t>
            </a:r>
            <a:r>
              <a:rPr lang="zh-CN" altLang="en-US" dirty="0"/>
              <a:t> </a:t>
            </a:r>
            <a:r>
              <a:rPr lang="en-US" altLang="zh-CN" dirty="0"/>
              <a:t>and</a:t>
            </a:r>
            <a:r>
              <a:rPr lang="zh-CN" altLang="en-US" dirty="0"/>
              <a:t> </a:t>
            </a:r>
            <a:r>
              <a:rPr lang="en-US" altLang="zh-CN" dirty="0"/>
              <a:t>so</a:t>
            </a:r>
            <a:r>
              <a:rPr lang="zh-CN" altLang="en-US" dirty="0"/>
              <a:t> </a:t>
            </a:r>
            <a:r>
              <a:rPr lang="en-US" altLang="zh-CN" dirty="0"/>
              <a:t>on.</a:t>
            </a:r>
            <a:endParaRPr lang="en-US" altLang="zh-CN" dirty="0"/>
          </a:p>
          <a:p>
            <a:pPr lvl="1"/>
            <a:endParaRPr lang="en-US" dirty="0"/>
          </a:p>
        </p:txBody>
      </p:sp>
      <p:sp>
        <p:nvSpPr>
          <p:cNvPr id="4" name="Slide Number Placeholder 3"/>
          <p:cNvSpPr>
            <a:spLocks noGrp="1"/>
          </p:cNvSpPr>
          <p:nvPr>
            <p:ph type="sldNum" sz="quarter" idx="12"/>
          </p:nvPr>
        </p:nvSpPr>
        <p:spPr/>
        <p:txBody>
          <a:bodyPr/>
          <a:lstStyle/>
          <a:p>
            <a:fld id="{3CF86D51-AB38-4211-A765-668B7266B8DF}" type="slidenum">
              <a:rPr lang="en-US" smtClean="0"/>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Topics</a:t>
            </a:r>
            <a:endParaRPr lang="en-US" dirty="0"/>
          </a:p>
        </p:txBody>
      </p:sp>
      <p:sp>
        <p:nvSpPr>
          <p:cNvPr id="3" name="Content Placeholder 2"/>
          <p:cNvSpPr>
            <a:spLocks noGrp="1"/>
          </p:cNvSpPr>
          <p:nvPr>
            <p:ph idx="1"/>
          </p:nvPr>
        </p:nvSpPr>
        <p:spPr/>
        <p:txBody>
          <a:bodyPr>
            <a:normAutofit/>
          </a:bodyPr>
          <a:lstStyle/>
          <a:p>
            <a:pPr lvl="0"/>
            <a:r>
              <a:rPr lang="en-US" dirty="0"/>
              <a:t>Introduction to Large Language Models (LLMs)</a:t>
            </a:r>
            <a:endParaRPr lang="en-US" dirty="0"/>
          </a:p>
          <a:p>
            <a:pPr lvl="0"/>
            <a:r>
              <a:rPr lang="en-US" dirty="0"/>
              <a:t>Prompt Engineering</a:t>
            </a:r>
            <a:endParaRPr lang="en-US" dirty="0"/>
          </a:p>
          <a:p>
            <a:pPr lvl="0"/>
            <a:r>
              <a:rPr lang="en-US" dirty="0"/>
              <a:t>Building a Chatbot</a:t>
            </a:r>
            <a:endParaRPr lang="en-US" dirty="0"/>
          </a:p>
          <a:p>
            <a:pPr lvl="1"/>
            <a:r>
              <a:rPr lang="en-US" dirty="0"/>
              <a:t>Context Management</a:t>
            </a:r>
            <a:endParaRPr lang="en-US" dirty="0"/>
          </a:p>
          <a:p>
            <a:pPr lvl="1"/>
            <a:r>
              <a:rPr lang="en-US" dirty="0"/>
              <a:t>From Command-line to Web Chatbot</a:t>
            </a:r>
            <a:endParaRPr lang="en-US" dirty="0"/>
          </a:p>
          <a:p>
            <a:pPr lvl="0"/>
            <a:r>
              <a:rPr lang="en-US" dirty="0"/>
              <a:t>Function Calling</a:t>
            </a:r>
            <a:endParaRPr lang="en-US" dirty="0"/>
          </a:p>
          <a:p>
            <a:pPr marL="0" lvl="0" indent="0">
              <a:buNone/>
            </a:pPr>
            <a:endParaRPr lang="en-US" dirty="0"/>
          </a:p>
          <a:p>
            <a:endParaRPr lang="en-US" dirty="0"/>
          </a:p>
          <a:p>
            <a:endParaRPr lang="en-US" altLang="zh-CN" dirty="0"/>
          </a:p>
        </p:txBody>
      </p:sp>
      <p:sp>
        <p:nvSpPr>
          <p:cNvPr id="4" name="Slide Number Placeholder 3"/>
          <p:cNvSpPr>
            <a:spLocks noGrp="1"/>
          </p:cNvSpPr>
          <p:nvPr>
            <p:ph type="sldNum" sz="quarter" idx="12"/>
          </p:nvPr>
        </p:nvSpPr>
        <p:spPr/>
        <p:txBody>
          <a:bodyPr/>
          <a:lstStyle/>
          <a:p>
            <a:fld id="{3CF86D51-AB38-4211-A765-668B7266B8DF}" type="slidenum">
              <a:rPr lang="en-US" smtClean="0"/>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Topics</a:t>
            </a:r>
            <a:endParaRPr lang="en-US" dirty="0"/>
          </a:p>
        </p:txBody>
      </p:sp>
      <p:sp>
        <p:nvSpPr>
          <p:cNvPr id="3" name="Content Placeholder 2"/>
          <p:cNvSpPr>
            <a:spLocks noGrp="1"/>
          </p:cNvSpPr>
          <p:nvPr>
            <p:ph idx="1"/>
          </p:nvPr>
        </p:nvSpPr>
        <p:spPr/>
        <p:txBody>
          <a:bodyPr>
            <a:normAutofit/>
          </a:bodyPr>
          <a:lstStyle/>
          <a:p>
            <a:pPr lvl="0"/>
            <a:r>
              <a:rPr lang="en-US" dirty="0"/>
              <a:t>Retrieval-Augmented Generation (RAG)</a:t>
            </a:r>
            <a:endParaRPr lang="en-US" dirty="0"/>
          </a:p>
          <a:p>
            <a:pPr lvl="1"/>
            <a:r>
              <a:rPr lang="en-US" dirty="0"/>
              <a:t>Embedding</a:t>
            </a:r>
            <a:endParaRPr lang="en-US" dirty="0"/>
          </a:p>
          <a:p>
            <a:pPr lvl="1"/>
            <a:r>
              <a:rPr lang="en-US" dirty="0"/>
              <a:t>Vector Search</a:t>
            </a:r>
            <a:endParaRPr lang="en-US" dirty="0"/>
          </a:p>
          <a:p>
            <a:pPr lvl="1"/>
            <a:r>
              <a:rPr lang="en-US" dirty="0"/>
              <a:t>Vector Database</a:t>
            </a:r>
            <a:endParaRPr lang="en-US" dirty="0"/>
          </a:p>
          <a:p>
            <a:pPr lvl="1"/>
            <a:r>
              <a:rPr lang="en-US" dirty="0"/>
              <a:t>Reranking</a:t>
            </a:r>
            <a:endParaRPr lang="en-US" dirty="0"/>
          </a:p>
          <a:p>
            <a:pPr lvl="0"/>
            <a:r>
              <a:rPr lang="en-US" dirty="0"/>
              <a:t>Agents</a:t>
            </a:r>
            <a:endParaRPr lang="en-US" dirty="0"/>
          </a:p>
          <a:p>
            <a:pPr lvl="1"/>
            <a:r>
              <a:rPr lang="en-US" dirty="0"/>
              <a:t>Microsoft Foundry</a:t>
            </a:r>
            <a:endParaRPr lang="en-US" dirty="0"/>
          </a:p>
          <a:p>
            <a:pPr lvl="0"/>
            <a:r>
              <a:rPr lang="en-US" dirty="0"/>
              <a:t>Fine-Tuning LLMs</a:t>
            </a:r>
            <a:endParaRPr lang="en-US" dirty="0"/>
          </a:p>
          <a:p>
            <a:pPr lvl="0"/>
            <a:r>
              <a:rPr lang="en-US" dirty="0"/>
              <a:t>Vibe Coding</a:t>
            </a:r>
            <a:endParaRPr lang="en-US" dirty="0"/>
          </a:p>
          <a:p>
            <a:endParaRPr lang="en-US" dirty="0"/>
          </a:p>
        </p:txBody>
      </p:sp>
      <p:sp>
        <p:nvSpPr>
          <p:cNvPr id="4" name="Slide Number Placeholder 3"/>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Tutorials</a:t>
            </a:r>
            <a:endParaRPr lang="en-US" dirty="0"/>
          </a:p>
        </p:txBody>
      </p:sp>
      <p:sp>
        <p:nvSpPr>
          <p:cNvPr id="3" name="Content Placeholder 2"/>
          <p:cNvSpPr>
            <a:spLocks noGrp="1"/>
          </p:cNvSpPr>
          <p:nvPr>
            <p:ph idx="1"/>
          </p:nvPr>
        </p:nvSpPr>
        <p:spPr/>
        <p:txBody>
          <a:bodyPr>
            <a:normAutofit lnSpcReduction="10000"/>
          </a:bodyPr>
          <a:lstStyle/>
          <a:p>
            <a:r>
              <a:rPr lang="en-US" dirty="0"/>
              <a:t>Tutorial 1</a:t>
            </a:r>
            <a:endParaRPr lang="en-US" dirty="0"/>
          </a:p>
          <a:p>
            <a:pPr lvl="1"/>
            <a:r>
              <a:rPr lang="en-US" dirty="0"/>
              <a:t>Date/Time: March 27, 9:30 AM - 12:30 PM</a:t>
            </a:r>
            <a:endParaRPr lang="en-US" dirty="0"/>
          </a:p>
          <a:p>
            <a:pPr lvl="1"/>
            <a:r>
              <a:rPr lang="en-US" dirty="0"/>
              <a:t>Venue: LTB</a:t>
            </a:r>
            <a:endParaRPr lang="en-US" dirty="0"/>
          </a:p>
          <a:p>
            <a:pPr lvl="1"/>
            <a:r>
              <a:rPr lang="en-US" dirty="0"/>
              <a:t>Topics</a:t>
            </a:r>
            <a:endParaRPr lang="en-US" dirty="0"/>
          </a:p>
          <a:p>
            <a:pPr lvl="2"/>
            <a:r>
              <a:rPr lang="en-US" dirty="0"/>
              <a:t>Development Environment Setup</a:t>
            </a:r>
            <a:endParaRPr lang="en-US" dirty="0"/>
          </a:p>
          <a:p>
            <a:pPr lvl="2"/>
            <a:r>
              <a:rPr lang="en-US" dirty="0"/>
              <a:t>Azure OpenAI API</a:t>
            </a:r>
            <a:endParaRPr lang="en-US" dirty="0"/>
          </a:p>
          <a:p>
            <a:pPr lvl="2"/>
            <a:r>
              <a:rPr lang="en-US" dirty="0"/>
              <a:t>Last year’s Individual Assignment 1 (Prompt Engineering)</a:t>
            </a:r>
            <a:endParaRPr lang="en-US" dirty="0"/>
          </a:p>
          <a:p>
            <a:r>
              <a:rPr lang="en-US" dirty="0"/>
              <a:t>Tutorial 2</a:t>
            </a:r>
            <a:endParaRPr lang="en-US" dirty="0"/>
          </a:p>
          <a:p>
            <a:pPr lvl="1"/>
            <a:r>
              <a:rPr lang="en-US" dirty="0"/>
              <a:t>Date/Time: April 10, 9:30 AM - 12:30 PM</a:t>
            </a:r>
            <a:endParaRPr lang="en-US" dirty="0"/>
          </a:p>
          <a:p>
            <a:pPr lvl="1"/>
            <a:r>
              <a:rPr lang="en-US" dirty="0"/>
              <a:t>Venue: Classroom EFG</a:t>
            </a:r>
            <a:endParaRPr lang="en-US" dirty="0"/>
          </a:p>
          <a:p>
            <a:pPr lvl="1"/>
            <a:r>
              <a:rPr lang="en-US" dirty="0"/>
              <a:t>Topics: Function Calling and so on</a:t>
            </a:r>
            <a:endParaRPr lang="en-US" dirty="0"/>
          </a:p>
        </p:txBody>
      </p:sp>
      <p:sp>
        <p:nvSpPr>
          <p:cNvPr id="4" name="Slide Number Placeholder 3"/>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Essential Tools and Resources</a:t>
            </a:r>
            <a:endParaRPr lang="en-US" dirty="0"/>
          </a:p>
        </p:txBody>
      </p:sp>
      <p:sp>
        <p:nvSpPr>
          <p:cNvPr id="3" name="Content Placeholder 2"/>
          <p:cNvSpPr>
            <a:spLocks noGrp="1"/>
          </p:cNvSpPr>
          <p:nvPr>
            <p:ph idx="1"/>
          </p:nvPr>
        </p:nvSpPr>
        <p:spPr/>
        <p:txBody>
          <a:bodyPr/>
          <a:lstStyle/>
          <a:p>
            <a:r>
              <a:rPr lang="en-US" dirty="0"/>
              <a:t>Microsoft Azure for </a:t>
            </a:r>
            <a:r>
              <a:rPr lang="en-US" dirty="0" err="1"/>
              <a:t>Students.pdf</a:t>
            </a:r>
            <a:endParaRPr lang="en-US" dirty="0"/>
          </a:p>
          <a:p>
            <a:r>
              <a:rPr lang="en-US" dirty="0"/>
              <a:t>Integrated Development Environment </a:t>
            </a:r>
            <a:r>
              <a:rPr lang="en-US" dirty="0" err="1"/>
              <a:t>Setup.pdf</a:t>
            </a:r>
            <a:endParaRPr lang="en-US" dirty="0"/>
          </a:p>
          <a:p>
            <a:pPr lvl="1"/>
            <a:r>
              <a:rPr lang="en-US" dirty="0"/>
              <a:t>PyCharm Community</a:t>
            </a:r>
            <a:endParaRPr lang="en-US" dirty="0"/>
          </a:p>
          <a:p>
            <a:pPr lvl="1"/>
            <a:r>
              <a:rPr lang="en-US" dirty="0"/>
              <a:t>Visual Studio Code</a:t>
            </a:r>
            <a:endParaRPr lang="en-US" dirty="0"/>
          </a:p>
          <a:p>
            <a:r>
              <a:rPr lang="en-US" dirty="0"/>
              <a:t>GitHub </a:t>
            </a:r>
            <a:r>
              <a:rPr lang="en-US" dirty="0" err="1"/>
              <a:t>Copilot.pdf</a:t>
            </a:r>
            <a:endParaRPr lang="en-US" dirty="0"/>
          </a:p>
          <a:p>
            <a:pPr lvl="1"/>
            <a:r>
              <a:rPr lang="en-US" dirty="0"/>
              <a:t>GitHub </a:t>
            </a:r>
            <a:r>
              <a:rPr lang="en-US" dirty="0" err="1"/>
              <a:t>Codespaces</a:t>
            </a:r>
            <a:endParaRPr lang="en-US" dirty="0"/>
          </a:p>
          <a:p>
            <a:endParaRPr lang="en-US" dirty="0"/>
          </a:p>
        </p:txBody>
      </p:sp>
      <p:sp>
        <p:nvSpPr>
          <p:cNvPr id="4" name="Slide Number Placeholder 3"/>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838200" y="365125"/>
            <a:ext cx="10515600" cy="1325563"/>
          </a:xfrm>
        </p:spPr>
        <p:txBody>
          <a:bodyPr/>
          <a:lstStyle/>
          <a:p>
            <a:r>
              <a:rPr lang="en-US" dirty="0"/>
              <a:t>Microsoft Azure for Students</a:t>
            </a:r>
            <a:endParaRPr lang="en-US" dirty="0"/>
          </a:p>
        </p:txBody>
      </p:sp>
      <p:sp>
        <p:nvSpPr>
          <p:cNvPr id="9" name="Content Placeholder 8"/>
          <p:cNvSpPr>
            <a:spLocks noGrp="1"/>
          </p:cNvSpPr>
          <p:nvPr>
            <p:ph idx="1"/>
          </p:nvPr>
        </p:nvSpPr>
        <p:spPr>
          <a:xfrm>
            <a:off x="838200" y="1825625"/>
            <a:ext cx="10515600" cy="4351338"/>
          </a:xfrm>
        </p:spPr>
        <p:txBody>
          <a:bodyPr/>
          <a:lstStyle/>
          <a:p>
            <a:r>
              <a:rPr lang="en-US" dirty="0">
                <a:hlinkClick r:id="rId1"/>
              </a:rPr>
              <a:t>https://its.hku.hk/kb/microsoft-azure-for-students/</a:t>
            </a:r>
            <a:endParaRPr lang="en-US" dirty="0"/>
          </a:p>
          <a:p>
            <a:endParaRPr lang="en-US" dirty="0"/>
          </a:p>
          <a:p>
            <a:r>
              <a:rPr lang="en-US" dirty="0"/>
              <a:t>Free $100 Azure credits for 12 months</a:t>
            </a:r>
            <a:endParaRPr lang="en-US" dirty="0"/>
          </a:p>
          <a:p>
            <a:r>
              <a:rPr lang="en-US" dirty="0"/>
              <a:t>Access to Microsoft Azure products, e.g., Azure OpenAI Service</a:t>
            </a:r>
            <a:endParaRPr lang="en-US" dirty="0"/>
          </a:p>
          <a:p>
            <a:r>
              <a:rPr lang="en-US" dirty="0"/>
              <a:t>Use @</a:t>
            </a:r>
            <a:r>
              <a:rPr lang="en-US" dirty="0" err="1"/>
              <a:t>connect.hku.hk</a:t>
            </a:r>
            <a:r>
              <a:rPr lang="en-US" dirty="0"/>
              <a:t> email for registration</a:t>
            </a:r>
            <a:endParaRPr lang="en-US" dirty="0"/>
          </a:p>
          <a:p>
            <a:r>
              <a:rPr lang="en-US" dirty="0"/>
              <a:t>Non-transferable and limited to one per student</a:t>
            </a:r>
            <a:endParaRPr lang="en-US" dirty="0"/>
          </a:p>
          <a:p>
            <a:endParaRPr lang="en-US" dirty="0"/>
          </a:p>
        </p:txBody>
      </p:sp>
      <p:sp>
        <p:nvSpPr>
          <p:cNvPr id="7" name="Slide Number Placeholder 6"/>
          <p:cNvSpPr>
            <a:spLocks noGrp="1"/>
          </p:cNvSpPr>
          <p:nvPr>
            <p:ph type="sldNum" sz="quarter" idx="12"/>
          </p:nvPr>
        </p:nvSpPr>
        <p:spPr>
          <a:xfrm>
            <a:off x="8610600" y="6356350"/>
            <a:ext cx="2743200" cy="365125"/>
          </a:xfrm>
        </p:spPr>
        <p:txBody>
          <a:bodyPr/>
          <a:lstStyle/>
          <a:p>
            <a:fld id="{7F8CBF50-853B-304C-BCA2-DB5146F0D4EA}" type="slidenum">
              <a:rPr lang="en-US" smtClean="0"/>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1"/>
          <a:stretch>
            <a:fillRect/>
          </a:stretch>
        </p:blipFill>
        <p:spPr>
          <a:xfrm>
            <a:off x="0" y="0"/>
            <a:ext cx="12192000" cy="6850864"/>
          </a:xfrm>
          <a:prstGeom prst="rect">
            <a:avLst/>
          </a:prstGeom>
          <a:noFill/>
        </p:spPr>
      </p:pic>
      <p:sp>
        <p:nvSpPr>
          <p:cNvPr id="4" name="Slide Number Placeholder 3" hidden="1"/>
          <p:cNvSpPr>
            <a:spLocks noGrp="1"/>
          </p:cNvSpPr>
          <p:nvPr>
            <p:ph type="sldNum" sz="quarter" idx="12"/>
          </p:nvPr>
        </p:nvSpPr>
        <p:spPr/>
        <p:txBody>
          <a:bodyPr/>
          <a:lstStyle/>
          <a:p>
            <a:pPr>
              <a:spcAft>
                <a:spcPts val="600"/>
              </a:spcAft>
            </a:pPr>
            <a:fld id="{7F8CBF50-853B-304C-BCA2-DB5146F0D4EA}" type="slidenum">
              <a:rPr lang="en-US" smtClean="0"/>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dirty="0"/>
              <a:t>Model summary table and region availability</a:t>
            </a:r>
            <a:endParaRPr lang="en-US" dirty="0"/>
          </a:p>
        </p:txBody>
      </p:sp>
      <p:pic>
        <p:nvPicPr>
          <p:cNvPr id="5" name="Content Placeholder 4"/>
          <p:cNvPicPr>
            <a:picLocks noGrp="1" noChangeAspect="1"/>
          </p:cNvPicPr>
          <p:nvPr>
            <p:ph idx="1"/>
          </p:nvPr>
        </p:nvPicPr>
        <p:blipFill>
          <a:blip r:embed="rId1"/>
          <a:stretch>
            <a:fillRect/>
          </a:stretch>
        </p:blipFill>
        <p:spPr>
          <a:xfrm>
            <a:off x="838200" y="1574165"/>
            <a:ext cx="5908919" cy="4351338"/>
          </a:xfrm>
        </p:spPr>
      </p:pic>
      <p:sp>
        <p:nvSpPr>
          <p:cNvPr id="4" name="Slide Number Placeholder 3"/>
          <p:cNvSpPr>
            <a:spLocks noGrp="1"/>
          </p:cNvSpPr>
          <p:nvPr>
            <p:ph type="sldNum" sz="quarter" idx="12"/>
          </p:nvPr>
        </p:nvSpPr>
        <p:spPr>
          <a:xfrm>
            <a:off x="8610600" y="6356350"/>
            <a:ext cx="2743200" cy="365125"/>
          </a:xfrm>
        </p:spPr>
        <p:txBody>
          <a:bodyPr/>
          <a:lstStyle/>
          <a:p>
            <a:fld id="{7F8CBF50-853B-304C-BCA2-DB5146F0D4EA}" type="slidenum">
              <a:rPr lang="en-US" smtClean="0"/>
            </a:fld>
            <a:endParaRPr lang="en-US"/>
          </a:p>
        </p:txBody>
      </p:sp>
      <p:sp>
        <p:nvSpPr>
          <p:cNvPr id="10" name="TextBox 9"/>
          <p:cNvSpPr txBox="1"/>
          <p:nvPr/>
        </p:nvSpPr>
        <p:spPr>
          <a:xfrm>
            <a:off x="7292339" y="3011170"/>
            <a:ext cx="4450081" cy="1477328"/>
          </a:xfrm>
          <a:prstGeom prst="rect">
            <a:avLst/>
          </a:prstGeom>
          <a:noFill/>
        </p:spPr>
        <p:txBody>
          <a:bodyPr wrap="square">
            <a:spAutoFit/>
          </a:bodyPr>
          <a:lstStyle/>
          <a:p>
            <a:r>
              <a:rPr lang="en-US" dirty="0">
                <a:hlinkClick r:id="rId2"/>
              </a:rPr>
              <a:t>https://learn.microsoft.com/en-gb/azure/foundry/foundry-models/concepts/models-sold-directly-by-azure?tabs=global-standard-aoai%2Cglobal-standard&amp;pivots=azure-openai#model-router</a:t>
            </a:r>
            <a:r>
              <a:rPr lang="en-US" dirty="0"/>
              <a:t> </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creenshot of the Foundry portal."/>
          <p:cNvPicPr>
            <a:picLocks noChangeAspect="1" noChangeArrowheads="1"/>
          </p:cNvPicPr>
          <p:nvPr/>
        </p:nvPicPr>
        <p:blipFill>
          <a:blip r:embed="rId1"/>
          <a:stretch>
            <a:fillRect/>
          </a:stretch>
        </p:blipFill>
        <p:spPr bwMode="auto">
          <a:xfrm>
            <a:off x="1055370" y="0"/>
            <a:ext cx="10081260" cy="6880459"/>
          </a:xfrm>
          <a:prstGeom prst="rect">
            <a:avLst/>
          </a:prstGeom>
          <a:solidFill>
            <a:srgbClr val="FFFFFF"/>
          </a:solidFill>
        </p:spPr>
      </p:pic>
      <p:sp>
        <p:nvSpPr>
          <p:cNvPr id="4" name="Slide Number Placeholder 3" hidden="1"/>
          <p:cNvSpPr>
            <a:spLocks noGrp="1"/>
          </p:cNvSpPr>
          <p:nvPr>
            <p:ph type="sldNum" sz="quarter" idx="12"/>
          </p:nvPr>
        </p:nvSpPr>
        <p:spPr/>
        <p:txBody>
          <a:bodyPr/>
          <a:lstStyle/>
          <a:p>
            <a:pPr>
              <a:spcAft>
                <a:spcPts val="600"/>
              </a:spcAft>
            </a:pPr>
            <a:fld id="{7F8CBF50-853B-304C-BCA2-DB5146F0D4EA}" type="slidenum">
              <a:rPr lang="en-US" smtClean="0"/>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creenshot of the Microsoft Foundry Visual Studio Code extension showing the Resources, Tools, and Help and Feedback sections."/>
          <p:cNvPicPr>
            <a:picLocks noGrp="1" noChangeAspect="1" noChangeArrowheads="1"/>
          </p:cNvPicPr>
          <p:nvPr>
            <p:ph idx="1"/>
          </p:nvPr>
        </p:nvPicPr>
        <p:blipFill>
          <a:blip r:embed="rId1"/>
          <a:stretch>
            <a:fillRect/>
          </a:stretch>
        </p:blipFill>
        <p:spPr bwMode="auto">
          <a:xfrm>
            <a:off x="1101090" y="0"/>
            <a:ext cx="9989820" cy="6892974"/>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hidden="1"/>
          <p:cNvSpPr>
            <a:spLocks noGrp="1"/>
          </p:cNvSpPr>
          <p:nvPr>
            <p:ph type="sldNum" sz="quarter" idx="12"/>
          </p:nvPr>
        </p:nvSpPr>
        <p:spPr/>
        <p:txBody>
          <a:bodyPr/>
          <a:lstStyle/>
          <a:p>
            <a:pPr>
              <a:spcAft>
                <a:spcPts val="600"/>
              </a:spcAft>
            </a:pPr>
            <a:fld id="{7F8CBF50-853B-304C-BCA2-DB5146F0D4EA}" type="slidenum">
              <a:rPr lang="en-US" smtClean="0"/>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1"/>
          <a:stretch>
            <a:fillRect/>
          </a:stretch>
        </p:blipFill>
        <p:spPr>
          <a:xfrm>
            <a:off x="0" y="167640"/>
            <a:ext cx="12192000" cy="6522720"/>
          </a:xfrm>
          <a:prstGeom prst="rect">
            <a:avLst/>
          </a:prstGeom>
          <a:noFill/>
        </p:spPr>
      </p:pic>
      <p:sp>
        <p:nvSpPr>
          <p:cNvPr id="4" name="Slide Number Placeholder 3" hidden="1"/>
          <p:cNvSpPr>
            <a:spLocks noGrp="1"/>
          </p:cNvSpPr>
          <p:nvPr>
            <p:ph type="sldNum" sz="quarter" idx="12"/>
          </p:nvPr>
        </p:nvSpPr>
        <p:spPr/>
        <p:txBody>
          <a:bodyPr/>
          <a:lstStyle/>
          <a:p>
            <a:pPr>
              <a:spcAft>
                <a:spcPts val="600"/>
              </a:spcAft>
            </a:pPr>
            <a:fld id="{7F8CBF50-853B-304C-BCA2-DB5146F0D4EA}" type="slidenum">
              <a:rPr lang="en-US" smtClean="0"/>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dirty="0"/>
              <a:t>Assistants Playground</a:t>
            </a:r>
            <a:endParaRPr lang="en-US" dirty="0"/>
          </a:p>
        </p:txBody>
      </p:sp>
      <p:sp>
        <p:nvSpPr>
          <p:cNvPr id="3" name="Content Placeholder 2"/>
          <p:cNvSpPr>
            <a:spLocks noGrp="1"/>
          </p:cNvSpPr>
          <p:nvPr>
            <p:ph idx="1"/>
          </p:nvPr>
        </p:nvSpPr>
        <p:spPr>
          <a:xfrm>
            <a:off x="838200" y="1825625"/>
            <a:ext cx="10515600" cy="4351338"/>
          </a:xfrm>
        </p:spPr>
        <p:txBody>
          <a:bodyPr/>
          <a:lstStyle/>
          <a:p>
            <a:r>
              <a:rPr lang="en-US" dirty="0"/>
              <a:t>Azure OpenAI Assistants (Preview) allows you to create AI assistants tailored to your needs through custom instructions and augmented by advanced tools like code interpreter, and custom functions.</a:t>
            </a:r>
            <a:endParaRPr lang="en-US" dirty="0"/>
          </a:p>
          <a:p>
            <a:endParaRPr lang="en-US" dirty="0"/>
          </a:p>
          <a:p>
            <a:r>
              <a:rPr lang="en-US" dirty="0"/>
              <a:t>File search (RAG)</a:t>
            </a:r>
            <a:endParaRPr lang="en-US" dirty="0"/>
          </a:p>
          <a:p>
            <a:r>
              <a:rPr lang="en-US" dirty="0"/>
              <a:t>Code Interpreter</a:t>
            </a:r>
            <a:endParaRPr lang="en-US" dirty="0"/>
          </a:p>
          <a:p>
            <a:r>
              <a:rPr lang="en-US" dirty="0"/>
              <a:t>Functions</a:t>
            </a:r>
            <a:endParaRPr lang="en-US" dirty="0"/>
          </a:p>
          <a:p>
            <a:pPr marL="0" indent="0">
              <a:buNone/>
            </a:pPr>
            <a:endParaRPr lang="en-US" dirty="0"/>
          </a:p>
        </p:txBody>
      </p:sp>
      <p:sp>
        <p:nvSpPr>
          <p:cNvPr id="4" name="Slide Number Placeholder 3"/>
          <p:cNvSpPr>
            <a:spLocks noGrp="1"/>
          </p:cNvSpPr>
          <p:nvPr>
            <p:ph type="sldNum" sz="quarter" idx="12"/>
          </p:nvPr>
        </p:nvSpPr>
        <p:spPr>
          <a:xfrm>
            <a:off x="8610600" y="6356350"/>
            <a:ext cx="2743200" cy="365125"/>
          </a:xfrm>
        </p:spPr>
        <p:txBody>
          <a:bodyPr/>
          <a:lstStyle/>
          <a:p>
            <a:fld id="{7F8CBF50-853B-304C-BCA2-DB5146F0D4EA}" type="slidenum">
              <a:rPr lang="en-US" smtClean="0"/>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Integrated Development Environment Tools</a:t>
            </a:r>
            <a:endParaRPr lang="en-US" dirty="0"/>
          </a:p>
        </p:txBody>
      </p:sp>
      <p:sp>
        <p:nvSpPr>
          <p:cNvPr id="8" name="Text Placeholder 7"/>
          <p:cNvSpPr>
            <a:spLocks noGrp="1"/>
          </p:cNvSpPr>
          <p:nvPr>
            <p:ph type="body" idx="1"/>
          </p:nvPr>
        </p:nvSpPr>
        <p:spPr/>
        <p:txBody>
          <a:bodyPr/>
          <a:lstStyle/>
          <a:p>
            <a:pPr algn="ctr"/>
            <a:r>
              <a:rPr lang="en-US" altLang="zh-CN" sz="3200" dirty="0">
                <a:solidFill>
                  <a:schemeClr val="accent2"/>
                </a:solidFill>
              </a:rPr>
              <a:t>PyCharm Community</a:t>
            </a:r>
            <a:endParaRPr lang="en-US" sz="3200" dirty="0">
              <a:solidFill>
                <a:schemeClr val="accent2"/>
              </a:solidFill>
            </a:endParaRPr>
          </a:p>
        </p:txBody>
      </p:sp>
      <p:sp>
        <p:nvSpPr>
          <p:cNvPr id="10" name="Text Placeholder 9"/>
          <p:cNvSpPr>
            <a:spLocks noGrp="1"/>
          </p:cNvSpPr>
          <p:nvPr>
            <p:ph type="body" sz="quarter" idx="3"/>
          </p:nvPr>
        </p:nvSpPr>
        <p:spPr/>
        <p:txBody>
          <a:bodyPr>
            <a:normAutofit/>
          </a:bodyPr>
          <a:lstStyle/>
          <a:p>
            <a:pPr algn="ctr"/>
            <a:r>
              <a:rPr lang="en-US" altLang="zh-CN" sz="3200" dirty="0">
                <a:solidFill>
                  <a:schemeClr val="accent2"/>
                </a:solidFill>
              </a:rPr>
              <a:t>Visual Studio Code</a:t>
            </a:r>
            <a:endParaRPr lang="en-US" altLang="zh-CN" sz="3200" dirty="0">
              <a:solidFill>
                <a:schemeClr val="accent2"/>
              </a:solidFill>
            </a:endParaRPr>
          </a:p>
        </p:txBody>
      </p:sp>
      <p:sp>
        <p:nvSpPr>
          <p:cNvPr id="2" name="Slide Number Placeholder 1"/>
          <p:cNvSpPr>
            <a:spLocks noGrp="1"/>
          </p:cNvSpPr>
          <p:nvPr>
            <p:ph type="sldNum" sz="quarter" idx="12"/>
          </p:nvPr>
        </p:nvSpPr>
        <p:spPr/>
        <p:txBody>
          <a:bodyPr/>
          <a:lstStyle/>
          <a:p>
            <a:fld id="{7F8CBF50-853B-304C-BCA2-DB5146F0D4EA}" type="slidenum">
              <a:rPr lang="en-US" smtClean="0"/>
            </a:fld>
            <a:endParaRPr lang="en-US"/>
          </a:p>
        </p:txBody>
      </p:sp>
      <p:cxnSp>
        <p:nvCxnSpPr>
          <p:cNvPr id="23" name="Straight Connector 22"/>
          <p:cNvCxnSpPr/>
          <p:nvPr/>
        </p:nvCxnSpPr>
        <p:spPr>
          <a:xfrm flipH="1">
            <a:off x="5996682" y="2093119"/>
            <a:ext cx="893" cy="3289823"/>
          </a:xfrm>
          <a:prstGeom prst="line">
            <a:avLst/>
          </a:prstGeom>
          <a:ln w="28575"/>
        </p:spPr>
        <p:style>
          <a:lnRef idx="1">
            <a:schemeClr val="accent2"/>
          </a:lnRef>
          <a:fillRef idx="0">
            <a:schemeClr val="accent2"/>
          </a:fillRef>
          <a:effectRef idx="0">
            <a:schemeClr val="accent2"/>
          </a:effectRef>
          <a:fontRef idx="minor">
            <a:schemeClr val="tx1"/>
          </a:fontRef>
        </p:style>
      </p:cxnSp>
      <p:pic>
        <p:nvPicPr>
          <p:cNvPr id="4" name="Content Placeholder 20"/>
          <p:cNvPicPr>
            <a:picLocks noChangeAspect="1"/>
          </p:cNvPicPr>
          <p:nvPr/>
        </p:nvPicPr>
        <p:blipFill>
          <a:blip r:embed="rId1"/>
          <a:stretch>
            <a:fillRect/>
          </a:stretch>
        </p:blipFill>
        <p:spPr>
          <a:xfrm>
            <a:off x="1559186" y="2953119"/>
            <a:ext cx="3718989" cy="1735985"/>
          </a:xfrm>
          <a:prstGeom prst="rect">
            <a:avLst/>
          </a:prstGeom>
        </p:spPr>
      </p:pic>
      <p:pic>
        <p:nvPicPr>
          <p:cNvPr id="13" name="Picture 12"/>
          <p:cNvPicPr>
            <a:picLocks noChangeAspect="1" noChangeArrowheads="1"/>
          </p:cNvPicPr>
          <p:nvPr/>
        </p:nvPicPr>
        <p:blipFill>
          <a:blip r:embed="rId2"/>
          <a:srcRect/>
          <a:stretch>
            <a:fillRect/>
          </a:stretch>
        </p:blipFill>
        <p:spPr bwMode="auto">
          <a:xfrm>
            <a:off x="6858794" y="2747962"/>
            <a:ext cx="3810000" cy="21463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dirty="0"/>
              <a:t>GitHub Copilot</a:t>
            </a:r>
            <a:endParaRPr lang="en-US" dirty="0"/>
          </a:p>
        </p:txBody>
      </p:sp>
      <p:sp>
        <p:nvSpPr>
          <p:cNvPr id="3" name="Content Placeholder 2"/>
          <p:cNvSpPr>
            <a:spLocks noGrp="1"/>
          </p:cNvSpPr>
          <p:nvPr>
            <p:ph idx="1"/>
          </p:nvPr>
        </p:nvSpPr>
        <p:spPr>
          <a:xfrm>
            <a:off x="838200" y="1825625"/>
            <a:ext cx="10515600" cy="4351338"/>
          </a:xfrm>
        </p:spPr>
        <p:txBody>
          <a:bodyPr/>
          <a:lstStyle/>
          <a:p>
            <a:r>
              <a:rPr lang="en-US" dirty="0"/>
              <a:t>Free for HKU Staff and Students</a:t>
            </a:r>
            <a:endParaRPr lang="en-US" dirty="0"/>
          </a:p>
          <a:p>
            <a:r>
              <a:rPr lang="en-US" dirty="0">
                <a:hlinkClick r:id="rId1"/>
              </a:rPr>
              <a:t>https://its.hku.hk/software/github-copilot/</a:t>
            </a:r>
            <a:r>
              <a:rPr lang="en-US" dirty="0"/>
              <a:t> </a:t>
            </a:r>
            <a:endParaRPr lang="en-US" dirty="0"/>
          </a:p>
          <a:p>
            <a:r>
              <a:rPr lang="en-US" dirty="0"/>
              <a:t>User Guide: </a:t>
            </a:r>
            <a:r>
              <a:rPr lang="en-US" dirty="0">
                <a:hlinkClick r:id="rId2"/>
              </a:rPr>
              <a:t>https://its.hku.hk/?wpdmdl=51459</a:t>
            </a:r>
            <a:r>
              <a:rPr lang="en-US" dirty="0"/>
              <a:t> </a:t>
            </a:r>
            <a:endParaRPr lang="en-US" dirty="0"/>
          </a:p>
          <a:p>
            <a:endParaRPr lang="en-US" dirty="0"/>
          </a:p>
          <a:p>
            <a:r>
              <a:rPr lang="en-US" dirty="0"/>
              <a:t>AI-powered coding assistant</a:t>
            </a:r>
            <a:endParaRPr lang="en-US" dirty="0"/>
          </a:p>
          <a:p>
            <a:r>
              <a:rPr lang="en-US" dirty="0"/>
              <a:t>Code autocompletion in real-time</a:t>
            </a:r>
            <a:endParaRPr lang="en-US" dirty="0"/>
          </a:p>
          <a:p>
            <a:r>
              <a:rPr lang="en-US" dirty="0"/>
              <a:t>Supports multiple editors (VS Code, Visual Studio, JetBrains IDEs)</a:t>
            </a:r>
            <a:endParaRPr lang="en-US" dirty="0"/>
          </a:p>
        </p:txBody>
      </p:sp>
      <p:sp>
        <p:nvSpPr>
          <p:cNvPr id="4" name="Slide Number Placeholder 3"/>
          <p:cNvSpPr>
            <a:spLocks noGrp="1"/>
          </p:cNvSpPr>
          <p:nvPr>
            <p:ph type="sldNum" sz="quarter" idx="12"/>
          </p:nvPr>
        </p:nvSpPr>
        <p:spPr>
          <a:xfrm>
            <a:off x="8610600" y="6356350"/>
            <a:ext cx="2743200" cy="365125"/>
          </a:xfrm>
        </p:spPr>
        <p:txBody>
          <a:bodyPr/>
          <a:lstStyle/>
          <a:p>
            <a:fld id="{7F8CBF50-853B-304C-BCA2-DB5146F0D4EA}" type="slidenum">
              <a:rPr lang="en-US" smtClean="0"/>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7F8CBF50-853B-304C-BCA2-DB5146F0D4EA}" type="slidenum">
              <a:rPr lang="en-US" smtClean="0"/>
            </a:fld>
            <a:endParaRPr lang="en-US"/>
          </a:p>
        </p:txBody>
      </p:sp>
      <p:pic>
        <p:nvPicPr>
          <p:cNvPr id="3074" name="Picture 2" descr="Screenshot of GitHub Copilot in Visual Studio Code."/>
          <p:cNvPicPr>
            <a:picLocks noChangeAspect="1" noChangeArrowheads="1"/>
          </p:cNvPicPr>
          <p:nvPr/>
        </p:nvPicPr>
        <p:blipFill>
          <a:blip r:embed="rId1"/>
          <a:srcRect/>
          <a:stretch>
            <a:fillRect/>
          </a:stretch>
        </p:blipFill>
        <p:spPr bwMode="auto">
          <a:xfrm>
            <a:off x="838200" y="0"/>
            <a:ext cx="10274300" cy="6858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dirty="0"/>
              <a:t>GitHub </a:t>
            </a:r>
            <a:r>
              <a:rPr lang="en-US" dirty="0" err="1"/>
              <a:t>Codespaces</a:t>
            </a:r>
            <a:endParaRPr lang="en-US" dirty="0"/>
          </a:p>
        </p:txBody>
      </p:sp>
      <p:sp>
        <p:nvSpPr>
          <p:cNvPr id="3" name="Content Placeholder 2"/>
          <p:cNvSpPr>
            <a:spLocks noGrp="1"/>
          </p:cNvSpPr>
          <p:nvPr>
            <p:ph idx="1"/>
          </p:nvPr>
        </p:nvSpPr>
        <p:spPr>
          <a:xfrm>
            <a:off x="838200" y="1825625"/>
            <a:ext cx="10515600" cy="4351338"/>
          </a:xfrm>
        </p:spPr>
        <p:txBody>
          <a:bodyPr>
            <a:normAutofit fontScale="92500"/>
          </a:bodyPr>
          <a:lstStyle/>
          <a:p>
            <a:r>
              <a:rPr lang="en-US" dirty="0"/>
              <a:t>A cloud-based development environment accessible from your browser</a:t>
            </a:r>
            <a:endParaRPr lang="en-US" dirty="0"/>
          </a:p>
          <a:p>
            <a:r>
              <a:rPr lang="en-US" dirty="0"/>
              <a:t>Key Features:</a:t>
            </a:r>
            <a:endParaRPr lang="en-US" dirty="0"/>
          </a:p>
          <a:p>
            <a:pPr lvl="1"/>
            <a:r>
              <a:rPr lang="en-US" dirty="0"/>
              <a:t>Instant developer environments</a:t>
            </a:r>
            <a:endParaRPr lang="en-US" dirty="0"/>
          </a:p>
          <a:p>
            <a:pPr lvl="1"/>
            <a:r>
              <a:rPr lang="en-US" dirty="0"/>
              <a:t>Pre-configured setups</a:t>
            </a:r>
            <a:endParaRPr lang="en-US" dirty="0"/>
          </a:p>
          <a:p>
            <a:pPr lvl="1"/>
            <a:r>
              <a:rPr lang="en-US" dirty="0"/>
              <a:t>Accessible from any device</a:t>
            </a:r>
            <a:endParaRPr lang="en-US" dirty="0"/>
          </a:p>
          <a:p>
            <a:pPr lvl="1"/>
            <a:r>
              <a:rPr lang="en-US" dirty="0"/>
              <a:t>Integrated with GitHub</a:t>
            </a:r>
            <a:endParaRPr lang="en-US" dirty="0"/>
          </a:p>
          <a:p>
            <a:r>
              <a:rPr lang="en-US" dirty="0"/>
              <a:t>Benefits:</a:t>
            </a:r>
            <a:endParaRPr lang="en-US" dirty="0"/>
          </a:p>
          <a:p>
            <a:pPr lvl="1"/>
            <a:r>
              <a:rPr lang="en-US" dirty="0"/>
              <a:t>Saves time on setup</a:t>
            </a:r>
            <a:endParaRPr lang="en-US" dirty="0"/>
          </a:p>
          <a:p>
            <a:pPr lvl="1"/>
            <a:r>
              <a:rPr lang="en-US" dirty="0"/>
              <a:t>Increases productivity</a:t>
            </a:r>
            <a:endParaRPr lang="en-US" dirty="0"/>
          </a:p>
          <a:p>
            <a:pPr lvl="1"/>
            <a:r>
              <a:rPr lang="en-US" dirty="0"/>
              <a:t>Enables remote collaboration</a:t>
            </a:r>
            <a:endParaRPr lang="en-US" dirty="0"/>
          </a:p>
          <a:p>
            <a:pPr lvl="1"/>
            <a:r>
              <a:rPr lang="en-US" dirty="0"/>
              <a:t>Reduces hardware requirements</a:t>
            </a:r>
            <a:endParaRPr lang="en-US" dirty="0"/>
          </a:p>
          <a:p>
            <a:pPr lvl="1"/>
            <a:endParaRPr lang="en-US" dirty="0"/>
          </a:p>
        </p:txBody>
      </p:sp>
      <p:sp>
        <p:nvSpPr>
          <p:cNvPr id="4" name="Slide Number Placeholder 3"/>
          <p:cNvSpPr>
            <a:spLocks noGrp="1"/>
          </p:cNvSpPr>
          <p:nvPr>
            <p:ph type="sldNum" sz="quarter" idx="12"/>
          </p:nvPr>
        </p:nvSpPr>
        <p:spPr>
          <a:xfrm>
            <a:off x="8610600" y="6356350"/>
            <a:ext cx="2743200" cy="365125"/>
          </a:xfrm>
        </p:spPr>
        <p:txBody>
          <a:bodyPr/>
          <a:lstStyle/>
          <a:p>
            <a:fld id="{7F8CBF50-853B-304C-BCA2-DB5146F0D4EA}" type="slidenum">
              <a:rPr lang="en-US" smtClean="0"/>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1"/>
          <a:stretch>
            <a:fillRect/>
          </a:stretch>
        </p:blipFill>
        <p:spPr>
          <a:xfrm>
            <a:off x="120650" y="226442"/>
            <a:ext cx="11950700" cy="5855842"/>
          </a:xfrm>
          <a:prstGeom prst="rect">
            <a:avLst/>
          </a:prstGeom>
          <a:noFill/>
        </p:spPr>
      </p:pic>
      <p:sp>
        <p:nvSpPr>
          <p:cNvPr id="4" name="Slide Number Placeholder 3" hidden="1"/>
          <p:cNvSpPr>
            <a:spLocks noGrp="1"/>
          </p:cNvSpPr>
          <p:nvPr>
            <p:ph type="sldNum" sz="quarter" idx="12"/>
          </p:nvPr>
        </p:nvSpPr>
        <p:spPr/>
        <p:txBody>
          <a:bodyPr/>
          <a:lstStyle/>
          <a:p>
            <a:pPr>
              <a:spcAft>
                <a:spcPts val="600"/>
              </a:spcAft>
            </a:pPr>
            <a:fld id="{7F8CBF50-853B-304C-BCA2-DB5146F0D4EA}" type="slidenum">
              <a:rPr lang="en-US" smtClean="0"/>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p:cNvSpPr>
            <a:spLocks noGrp="1"/>
          </p:cNvSpPr>
          <p:nvPr>
            <p:ph type="title"/>
          </p:nvPr>
        </p:nvSpPr>
        <p:spPr>
          <a:xfrm>
            <a:off x="838199" y="365125"/>
            <a:ext cx="10620375" cy="1325563"/>
          </a:xfrm>
        </p:spPr>
        <p:txBody>
          <a:bodyPr>
            <a:normAutofit/>
          </a:bodyPr>
          <a:lstStyle/>
          <a:p>
            <a:r>
              <a:rPr lang="en-US" dirty="0"/>
              <a:t>Three Generations of AI Development</a:t>
            </a:r>
            <a:endParaRPr lang="en-US" dirty="0"/>
          </a:p>
        </p:txBody>
      </p:sp>
      <p:pic>
        <p:nvPicPr>
          <p:cNvPr id="9" name="Picture 8" descr="A logo of a brain&#10;&#10;AI-generated content may be incorrect."/>
          <p:cNvPicPr>
            <a:picLocks noChangeAspect="1"/>
          </p:cNvPicPr>
          <p:nvPr/>
        </p:nvPicPr>
        <p:blipFill>
          <a:blip r:embed="rId1"/>
          <a:stretch>
            <a:fillRect/>
          </a:stretch>
        </p:blipFill>
        <p:spPr>
          <a:xfrm>
            <a:off x="838200" y="1690688"/>
            <a:ext cx="10515600" cy="2050539"/>
          </a:xfrm>
          <a:prstGeom prst="rect">
            <a:avLst/>
          </a:prstGeom>
          <a:noFill/>
        </p:spPr>
      </p:pic>
      <p:sp>
        <p:nvSpPr>
          <p:cNvPr id="17" name="TextBox 16"/>
          <p:cNvSpPr txBox="1"/>
          <p:nvPr/>
        </p:nvSpPr>
        <p:spPr>
          <a:xfrm>
            <a:off x="838200" y="4017737"/>
            <a:ext cx="3061504" cy="2062103"/>
          </a:xfrm>
          <a:prstGeom prst="rect">
            <a:avLst/>
          </a:prstGeom>
          <a:noFill/>
        </p:spPr>
        <p:txBody>
          <a:bodyPr wrap="square">
            <a:spAutoFit/>
          </a:bodyPr>
          <a:lstStyle/>
          <a:p>
            <a:r>
              <a:rPr lang="en-US" altLang="zh-CN" sz="1600" dirty="0">
                <a:ea typeface="楷体" panose="02010609060101010101" pitchFamily="49" charset="-122"/>
              </a:rPr>
              <a:t>Typically used to solve analytical tasks faster and more efficiently than humans (e.g., classify, evaluate, predict, or optimize)</a:t>
            </a:r>
            <a:endParaRPr lang="en-US" altLang="zh-CN" sz="1600" dirty="0">
              <a:ea typeface="楷体" panose="02010609060101010101" pitchFamily="49" charset="-122"/>
            </a:endParaRPr>
          </a:p>
          <a:p>
            <a:endParaRPr lang="en-US" altLang="zh-CN" sz="1600" dirty="0">
              <a:ea typeface="楷体" panose="02010609060101010101" pitchFamily="49" charset="-122"/>
            </a:endParaRPr>
          </a:p>
          <a:p>
            <a:pPr marL="285750" indent="-285750">
              <a:buFont typeface="Arial" panose="020B0604020202020204" pitchFamily="34" charset="0"/>
              <a:buChar char="•"/>
            </a:pPr>
            <a:r>
              <a:rPr lang="en-US" sz="1600" dirty="0">
                <a:ea typeface="楷体" panose="02010609060101010101" pitchFamily="49" charset="-122"/>
              </a:rPr>
              <a:t>Predict income</a:t>
            </a:r>
            <a:endParaRPr lang="en-US" sz="1600" dirty="0">
              <a:ea typeface="楷体" panose="02010609060101010101" pitchFamily="49" charset="-122"/>
            </a:endParaRPr>
          </a:p>
          <a:p>
            <a:pPr marL="285750" indent="-285750">
              <a:buFont typeface="Arial" panose="020B0604020202020204" pitchFamily="34" charset="0"/>
              <a:buChar char="•"/>
            </a:pPr>
            <a:r>
              <a:rPr lang="en-US" sz="1600" dirty="0">
                <a:ea typeface="楷体" panose="02010609060101010101" pitchFamily="49" charset="-122"/>
              </a:rPr>
              <a:t>Sentiment analysis</a:t>
            </a:r>
            <a:endParaRPr lang="en-US" sz="1600" dirty="0">
              <a:ea typeface="楷体" panose="02010609060101010101" pitchFamily="49" charset="-122"/>
            </a:endParaRPr>
          </a:p>
          <a:p>
            <a:pPr marL="285750" indent="-285750">
              <a:buFont typeface="Arial" panose="020B0604020202020204" pitchFamily="34" charset="0"/>
              <a:buChar char="•"/>
            </a:pPr>
            <a:r>
              <a:rPr lang="en-US" sz="1600" dirty="0">
                <a:ea typeface="楷体" panose="02010609060101010101" pitchFamily="49" charset="-122"/>
              </a:rPr>
              <a:t>Customer segmentation</a:t>
            </a:r>
            <a:endParaRPr lang="en-US" sz="1600" dirty="0">
              <a:ea typeface="楷体" panose="02010609060101010101" pitchFamily="49" charset="-122"/>
            </a:endParaRPr>
          </a:p>
        </p:txBody>
      </p:sp>
      <p:sp>
        <p:nvSpPr>
          <p:cNvPr id="20" name="TextBox 19"/>
          <p:cNvSpPr txBox="1"/>
          <p:nvPr/>
        </p:nvSpPr>
        <p:spPr>
          <a:xfrm>
            <a:off x="4374748" y="4017737"/>
            <a:ext cx="3061504" cy="2062103"/>
          </a:xfrm>
          <a:prstGeom prst="rect">
            <a:avLst/>
          </a:prstGeom>
          <a:noFill/>
        </p:spPr>
        <p:txBody>
          <a:bodyPr wrap="square">
            <a:spAutoFit/>
          </a:bodyPr>
          <a:lstStyle/>
          <a:p>
            <a:r>
              <a:rPr lang="en-US" altLang="zh-CN" sz="1600" dirty="0">
                <a:ea typeface="楷体" panose="02010609060101010101" pitchFamily="49" charset="-122"/>
              </a:rPr>
              <a:t>Used to create new content (e.g., generating audio, code, images, text, and videos) and can use unstructured data more readily</a:t>
            </a:r>
            <a:endParaRPr lang="en-US" altLang="zh-CN" sz="1600" dirty="0">
              <a:ea typeface="楷体" panose="02010609060101010101" pitchFamily="49" charset="-122"/>
            </a:endParaRPr>
          </a:p>
          <a:p>
            <a:endParaRPr lang="en-US" altLang="zh-CN" sz="1600" dirty="0">
              <a:ea typeface="楷体" panose="02010609060101010101" pitchFamily="49" charset="-122"/>
            </a:endParaRPr>
          </a:p>
          <a:p>
            <a:pPr marL="285750" indent="-285750">
              <a:buFont typeface="Arial" panose="020B0604020202020204" pitchFamily="34" charset="0"/>
              <a:buChar char="•"/>
            </a:pPr>
            <a:r>
              <a:rPr lang="en-US" sz="1600" dirty="0">
                <a:solidFill>
                  <a:schemeClr val="accent1"/>
                </a:solidFill>
                <a:ea typeface="楷体" panose="02010609060101010101" pitchFamily="49" charset="-122"/>
              </a:rPr>
              <a:t>Design concept</a:t>
            </a:r>
            <a:endParaRPr lang="en-US" sz="1600" dirty="0">
              <a:solidFill>
                <a:schemeClr val="accent1"/>
              </a:solidFill>
              <a:ea typeface="楷体" panose="02010609060101010101" pitchFamily="49" charset="-122"/>
            </a:endParaRPr>
          </a:p>
          <a:p>
            <a:pPr marL="285750" indent="-285750">
              <a:buFont typeface="Arial" panose="020B0604020202020204" pitchFamily="34" charset="0"/>
              <a:buChar char="•"/>
            </a:pPr>
            <a:r>
              <a:rPr lang="en-US" sz="1600" dirty="0">
                <a:solidFill>
                  <a:schemeClr val="accent1"/>
                </a:solidFill>
                <a:ea typeface="楷体" panose="02010609060101010101" pitchFamily="49" charset="-122"/>
              </a:rPr>
              <a:t>Create marketing copy</a:t>
            </a:r>
            <a:endParaRPr lang="en-US" sz="1600" dirty="0">
              <a:solidFill>
                <a:schemeClr val="accent1"/>
              </a:solidFill>
              <a:ea typeface="楷体" panose="02010609060101010101" pitchFamily="49" charset="-122"/>
            </a:endParaRPr>
          </a:p>
          <a:p>
            <a:pPr marL="285750" indent="-285750">
              <a:buFont typeface="Arial" panose="020B0604020202020204" pitchFamily="34" charset="0"/>
              <a:buChar char="•"/>
            </a:pPr>
            <a:r>
              <a:rPr lang="en-US" sz="1600" dirty="0">
                <a:solidFill>
                  <a:schemeClr val="accent1"/>
                </a:solidFill>
                <a:ea typeface="楷体" panose="02010609060101010101" pitchFamily="49" charset="-122"/>
              </a:rPr>
              <a:t>Generate code</a:t>
            </a:r>
            <a:endParaRPr lang="en-US" sz="1600" dirty="0">
              <a:solidFill>
                <a:schemeClr val="accent1"/>
              </a:solidFill>
              <a:ea typeface="楷体" panose="02010609060101010101" pitchFamily="49" charset="-122"/>
            </a:endParaRPr>
          </a:p>
        </p:txBody>
      </p:sp>
      <p:sp>
        <p:nvSpPr>
          <p:cNvPr id="21" name="TextBox 20"/>
          <p:cNvSpPr txBox="1"/>
          <p:nvPr/>
        </p:nvSpPr>
        <p:spPr>
          <a:xfrm>
            <a:off x="7911295" y="4017735"/>
            <a:ext cx="3686537" cy="2308324"/>
          </a:xfrm>
          <a:prstGeom prst="rect">
            <a:avLst/>
          </a:prstGeom>
          <a:noFill/>
        </p:spPr>
        <p:txBody>
          <a:bodyPr wrap="square">
            <a:spAutoFit/>
          </a:bodyPr>
          <a:lstStyle/>
          <a:p>
            <a:r>
              <a:rPr lang="en-US" altLang="zh-CN" sz="1600" dirty="0">
                <a:ea typeface="楷体" panose="02010609060101010101" pitchFamily="49" charset="-122"/>
              </a:rPr>
              <a:t>Has the ability to plan and execute actions against defined objectives</a:t>
            </a:r>
            <a:endParaRPr lang="en-US" altLang="zh-CN" sz="1600" dirty="0">
              <a:ea typeface="楷体" panose="02010609060101010101" pitchFamily="49" charset="-122"/>
            </a:endParaRPr>
          </a:p>
          <a:p>
            <a:r>
              <a:rPr lang="en-US" altLang="zh-CN" sz="1600" dirty="0">
                <a:ea typeface="楷体" panose="02010609060101010101" pitchFamily="49" charset="-122"/>
              </a:rPr>
              <a:t>Can use tools (e.g., web search, API calling, and other models or agents)</a:t>
            </a:r>
            <a:endParaRPr lang="en-US" altLang="zh-CN" sz="1600" dirty="0">
              <a:ea typeface="楷体" panose="02010609060101010101" pitchFamily="49" charset="-122"/>
            </a:endParaRPr>
          </a:p>
          <a:p>
            <a:endParaRPr lang="en-US" altLang="zh-CN" sz="1600" dirty="0">
              <a:solidFill>
                <a:schemeClr val="accent2"/>
              </a:solidFill>
              <a:ea typeface="楷体" panose="02010609060101010101" pitchFamily="49" charset="-122"/>
            </a:endParaRPr>
          </a:p>
          <a:p>
            <a:pPr marL="285750" indent="-285750">
              <a:buFont typeface="Arial" panose="020B0604020202020204" pitchFamily="34" charset="0"/>
              <a:buChar char="•"/>
            </a:pPr>
            <a:r>
              <a:rPr lang="en-US" altLang="zh-CN" sz="1600" dirty="0">
                <a:solidFill>
                  <a:schemeClr val="accent2"/>
                </a:solidFill>
                <a:ea typeface="楷体" panose="02010609060101010101" pitchFamily="49" charset="-122"/>
              </a:rPr>
              <a:t>Deep research agent</a:t>
            </a:r>
            <a:endParaRPr lang="en-US" altLang="zh-CN" sz="1600" dirty="0">
              <a:solidFill>
                <a:schemeClr val="accent2"/>
              </a:solidFill>
              <a:ea typeface="楷体" panose="02010609060101010101" pitchFamily="49" charset="-122"/>
            </a:endParaRPr>
          </a:p>
          <a:p>
            <a:pPr marL="285750" indent="-285750">
              <a:buFont typeface="Arial" panose="020B0604020202020204" pitchFamily="34" charset="0"/>
              <a:buChar char="•"/>
            </a:pPr>
            <a:r>
              <a:rPr lang="en-US" altLang="zh-CN" sz="1600" dirty="0">
                <a:solidFill>
                  <a:schemeClr val="accent2"/>
                </a:solidFill>
                <a:ea typeface="楷体" panose="02010609060101010101" pitchFamily="49" charset="-122"/>
              </a:rPr>
              <a:t>Automate fraud investigations </a:t>
            </a:r>
            <a:endParaRPr lang="en-US" altLang="zh-CN" sz="1600" dirty="0">
              <a:solidFill>
                <a:schemeClr val="accent2"/>
              </a:solidFill>
              <a:ea typeface="楷体" panose="02010609060101010101" pitchFamily="49" charset="-122"/>
            </a:endParaRPr>
          </a:p>
          <a:p>
            <a:pPr marL="285750" indent="-285750">
              <a:buFont typeface="Arial" panose="020B0604020202020204" pitchFamily="34" charset="0"/>
              <a:buChar char="•"/>
            </a:pPr>
            <a:r>
              <a:rPr lang="en-US" altLang="zh-CN" sz="1600" dirty="0">
                <a:solidFill>
                  <a:schemeClr val="accent2"/>
                </a:solidFill>
                <a:ea typeface="楷体" panose="02010609060101010101" pitchFamily="49" charset="-122"/>
              </a:rPr>
              <a:t>Assist clients in complex processes (insurance claims)</a:t>
            </a:r>
            <a:endParaRPr lang="en-US" altLang="zh-CN" sz="1600" dirty="0">
              <a:solidFill>
                <a:schemeClr val="accent2"/>
              </a:solidFill>
              <a:ea typeface="楷体" panose="02010609060101010101" pitchFamily="49" charset="-122"/>
            </a:endParaRPr>
          </a:p>
        </p:txBody>
      </p:sp>
      <p:sp>
        <p:nvSpPr>
          <p:cNvPr id="22" name="TextBox 21"/>
          <p:cNvSpPr txBox="1"/>
          <p:nvPr/>
        </p:nvSpPr>
        <p:spPr>
          <a:xfrm>
            <a:off x="4256108" y="6581001"/>
            <a:ext cx="3298783" cy="276999"/>
          </a:xfrm>
          <a:prstGeom prst="rect">
            <a:avLst/>
          </a:prstGeom>
          <a:noFill/>
        </p:spPr>
        <p:txBody>
          <a:bodyPr wrap="square" rtlCol="0">
            <a:spAutoFit/>
          </a:bodyPr>
          <a:lstStyle/>
          <a:p>
            <a:pPr algn="ctr"/>
            <a:r>
              <a:rPr lang="en-US" altLang="ja-JP" sz="1200" dirty="0">
                <a:solidFill>
                  <a:schemeClr val="bg1">
                    <a:lumMod val="65000"/>
                  </a:schemeClr>
                </a:solidFill>
                <a:ea typeface="楷体" panose="02010609060101010101" pitchFamily="49" charset="-122"/>
              </a:rPr>
              <a:t>Source: McKinsey &amp; Company </a:t>
            </a:r>
            <a:endParaRPr lang="en-US" sz="1200" dirty="0">
              <a:solidFill>
                <a:schemeClr val="bg1">
                  <a:lumMod val="65000"/>
                </a:schemeClr>
              </a:solidFill>
              <a:ea typeface="楷体" panose="02010609060101010101" pitchFamily="49" charset="-122"/>
            </a:endParaRPr>
          </a:p>
        </p:txBody>
      </p:sp>
      <p:cxnSp>
        <p:nvCxnSpPr>
          <p:cNvPr id="26" name="Straight Connector 25"/>
          <p:cNvCxnSpPr/>
          <p:nvPr/>
        </p:nvCxnSpPr>
        <p:spPr>
          <a:xfrm>
            <a:off x="4074289" y="1860352"/>
            <a:ext cx="0" cy="4100610"/>
          </a:xfrm>
          <a:prstGeom prst="line">
            <a:avLst/>
          </a:prstGeom>
        </p:spPr>
        <p:style>
          <a:lnRef idx="1">
            <a:schemeClr val="dk1"/>
          </a:lnRef>
          <a:fillRef idx="0">
            <a:schemeClr val="dk1"/>
          </a:fillRef>
          <a:effectRef idx="0">
            <a:schemeClr val="dk1"/>
          </a:effectRef>
          <a:fontRef idx="minor">
            <a:schemeClr val="tx1"/>
          </a:fontRef>
        </p:style>
      </p:cxnSp>
      <p:cxnSp>
        <p:nvCxnSpPr>
          <p:cNvPr id="28" name="Straight Connector 27"/>
          <p:cNvCxnSpPr/>
          <p:nvPr/>
        </p:nvCxnSpPr>
        <p:spPr>
          <a:xfrm>
            <a:off x="7594921" y="1860352"/>
            <a:ext cx="0" cy="4100610"/>
          </a:xfrm>
          <a:prstGeom prst="line">
            <a:avLst/>
          </a:prstGeom>
        </p:spPr>
        <p:style>
          <a:lnRef idx="1">
            <a:schemeClr val="dk1"/>
          </a:lnRef>
          <a:fillRef idx="0">
            <a:schemeClr val="dk1"/>
          </a:fillRef>
          <a:effectRef idx="0">
            <a:schemeClr val="dk1"/>
          </a:effectRef>
          <a:fontRef idx="minor">
            <a:schemeClr val="tx1"/>
          </a:fontRef>
        </p:style>
      </p:cxnSp>
      <p:sp>
        <p:nvSpPr>
          <p:cNvPr id="2" name="Slide Number Placeholder 1"/>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0" grpId="0"/>
      <p:bldP spid="21"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p:nvPr/>
        </p:nvSpPr>
        <p:spPr>
          <a:xfrm>
            <a:off x="441134" y="3062709"/>
            <a:ext cx="9342437" cy="1325563"/>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t>Traditional AI </a:t>
            </a:r>
            <a:endParaRPr lang="en-US" altLang="zh-CN" dirty="0"/>
          </a:p>
          <a:p>
            <a:r>
              <a:rPr lang="en-US" sz="3600" dirty="0"/>
              <a:t>(Non-generative AI /</a:t>
            </a:r>
            <a:endParaRPr lang="en-US" sz="3600" dirty="0"/>
          </a:p>
          <a:p>
            <a:r>
              <a:rPr lang="en-US" sz="3600" dirty="0"/>
              <a:t>Discriminative AI)</a:t>
            </a:r>
            <a:endParaRPr lang="en-US" sz="3600" dirty="0"/>
          </a:p>
        </p:txBody>
      </p:sp>
      <p:pic>
        <p:nvPicPr>
          <p:cNvPr id="6" name="Content Placeholder 3"/>
          <p:cNvPicPr>
            <a:picLocks noGrp="1" noChangeAspect="1"/>
          </p:cNvPicPr>
          <p:nvPr>
            <p:ph idx="1"/>
          </p:nvPr>
        </p:nvPicPr>
        <p:blipFill>
          <a:blip r:embed="rId1"/>
          <a:stretch>
            <a:fillRect/>
          </a:stretch>
        </p:blipFill>
        <p:spPr>
          <a:xfrm>
            <a:off x="4515021" y="155711"/>
            <a:ext cx="7547908" cy="4232561"/>
          </a:xfrm>
          <a:prstGeom prst="rect">
            <a:avLst/>
          </a:prstGeom>
        </p:spPr>
      </p:pic>
      <p:pic>
        <p:nvPicPr>
          <p:cNvPr id="7" name="Content Placeholder 4"/>
          <p:cNvPicPr>
            <a:picLocks noChangeAspect="1"/>
          </p:cNvPicPr>
          <p:nvPr/>
        </p:nvPicPr>
        <p:blipFill>
          <a:blip r:embed="rId2"/>
          <a:stretch>
            <a:fillRect/>
          </a:stretch>
        </p:blipFill>
        <p:spPr>
          <a:xfrm>
            <a:off x="4583873" y="4587172"/>
            <a:ext cx="7410203" cy="1952595"/>
          </a:xfrm>
          <a:prstGeom prst="rect">
            <a:avLst/>
          </a:prstGeom>
        </p:spPr>
      </p:pic>
      <p:sp>
        <p:nvSpPr>
          <p:cNvPr id="8" name="Title 1"/>
          <p:cNvSpPr txBox="1"/>
          <p:nvPr/>
        </p:nvSpPr>
        <p:spPr>
          <a:xfrm>
            <a:off x="441135" y="4388272"/>
            <a:ext cx="9342437"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t>Generative AI</a:t>
            </a:r>
            <a:endParaRPr lang="en-US" dirty="0"/>
          </a:p>
        </p:txBody>
      </p:sp>
      <p:cxnSp>
        <p:nvCxnSpPr>
          <p:cNvPr id="10" name="Straight Connector 9"/>
          <p:cNvCxnSpPr/>
          <p:nvPr/>
        </p:nvCxnSpPr>
        <p:spPr>
          <a:xfrm>
            <a:off x="441135" y="4459522"/>
            <a:ext cx="11552941"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4547558" y="6536551"/>
            <a:ext cx="3096883" cy="276999"/>
          </a:xfrm>
          <a:prstGeom prst="rect">
            <a:avLst/>
          </a:prstGeom>
          <a:noFill/>
        </p:spPr>
        <p:txBody>
          <a:bodyPr wrap="square" rtlCol="0">
            <a:spAutoFit/>
          </a:bodyPr>
          <a:lstStyle/>
          <a:p>
            <a:pPr algn="ctr"/>
            <a:r>
              <a:rPr lang="en-US" altLang="zh-CN" sz="1200" dirty="0">
                <a:solidFill>
                  <a:schemeClr val="tx1">
                    <a:lumMod val="50000"/>
                    <a:lumOff val="50000"/>
                  </a:schemeClr>
                </a:solidFill>
              </a:rPr>
              <a:t>Source: Deloitte AI Institute</a:t>
            </a:r>
            <a:endParaRPr lang="en-US" altLang="zh-CN" sz="1200" dirty="0">
              <a:solidFill>
                <a:schemeClr val="tx1">
                  <a:lumMod val="50000"/>
                  <a:lumOff val="50000"/>
                </a:schemeClr>
              </a:solidFill>
            </a:endParaRPr>
          </a:p>
        </p:txBody>
      </p:sp>
      <p:sp>
        <p:nvSpPr>
          <p:cNvPr id="2" name="Slide Number Placeholder 1"/>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LLMs Work</a:t>
            </a:r>
            <a:endParaRPr lang="en-US" dirty="0"/>
          </a:p>
        </p:txBody>
      </p:sp>
      <p:graphicFrame>
        <p:nvGraphicFramePr>
          <p:cNvPr id="5" name="Content Placeholder 4"/>
          <p:cNvGraphicFramePr>
            <a:graphicFrameLocks noGrp="1"/>
          </p:cNvGraphicFramePr>
          <p:nvPr>
            <p:ph idx="1"/>
          </p:nvPr>
        </p:nvGraphicFramePr>
        <p:xfrm>
          <a:off x="838200" y="1848644"/>
          <a:ext cx="10629452" cy="3848100"/>
        </p:xfrm>
        <a:graphic>
          <a:graphicData uri="http://schemas.openxmlformats.org/drawingml/2006/table">
            <a:tbl>
              <a:tblPr>
                <a:tableStyleId>{85BE263C-DBD7-4A20-BB59-AAB30ACAA65A}</a:tableStyleId>
              </a:tblPr>
              <a:tblGrid>
                <a:gridCol w="675102"/>
                <a:gridCol w="8057722"/>
                <a:gridCol w="1896628"/>
              </a:tblGrid>
              <a:tr h="0">
                <a:tc>
                  <a:txBody>
                    <a:bodyPr/>
                    <a:lstStyle/>
                    <a:p>
                      <a:pPr latinLnBrk="1"/>
                      <a:r>
                        <a:rPr lang="en-US" sz="2400" b="1">
                          <a:effectLst/>
                        </a:rPr>
                        <a:t>Step</a:t>
                      </a:r>
                      <a:endParaRPr lang="en-US" sz="2400">
                        <a:effectLst/>
                      </a:endParaRPr>
                    </a:p>
                  </a:txBody>
                  <a:tcPr marL="47625" marR="47625" marT="9525" marB="9525" anchor="ctr"/>
                </a:tc>
                <a:tc>
                  <a:txBody>
                    <a:bodyPr/>
                    <a:lstStyle/>
                    <a:p>
                      <a:pPr latinLnBrk="1"/>
                      <a:r>
                        <a:rPr lang="en-US" sz="2400" b="1" dirty="0">
                          <a:effectLst/>
                        </a:rPr>
                        <a:t>Current Sentence</a:t>
                      </a:r>
                      <a:endParaRPr lang="en-US" sz="2400" dirty="0">
                        <a:effectLst/>
                      </a:endParaRPr>
                    </a:p>
                  </a:txBody>
                  <a:tcPr marL="47625" marR="47625" marT="9525" marB="9525" anchor="ctr"/>
                </a:tc>
                <a:tc>
                  <a:txBody>
                    <a:bodyPr/>
                    <a:lstStyle/>
                    <a:p>
                      <a:pPr latinLnBrk="1"/>
                      <a:r>
                        <a:rPr lang="en-US" sz="2400" b="1" dirty="0">
                          <a:effectLst/>
                        </a:rPr>
                        <a:t>Model Output</a:t>
                      </a:r>
                      <a:endParaRPr lang="en-US" sz="2400" dirty="0">
                        <a:effectLst/>
                      </a:endParaRPr>
                    </a:p>
                  </a:txBody>
                  <a:tcPr marL="47625" marR="47625" marT="9525" marB="9525" anchor="ctr"/>
                </a:tc>
              </a:tr>
              <a:tr h="0">
                <a:tc>
                  <a:txBody>
                    <a:bodyPr/>
                    <a:lstStyle/>
                    <a:p>
                      <a:pPr latinLnBrk="1"/>
                      <a:r>
                        <a:rPr lang="en-US" sz="2400">
                          <a:effectLst/>
                        </a:rPr>
                        <a:t>1</a:t>
                      </a:r>
                      <a:endParaRPr lang="en-US" sz="2400">
                        <a:effectLst/>
                      </a:endParaRPr>
                    </a:p>
                  </a:txBody>
                  <a:tcPr marL="47625" marR="47625" marT="9525" marB="9525" anchor="ctr"/>
                </a:tc>
                <a:tc>
                  <a:txBody>
                    <a:bodyPr/>
                    <a:lstStyle/>
                    <a:p>
                      <a:pPr latinLnBrk="1"/>
                      <a:r>
                        <a:rPr lang="en-US" sz="2400">
                          <a:effectLst/>
                        </a:rPr>
                        <a:t>The cat sat on the</a:t>
                      </a:r>
                      <a:endParaRPr lang="en-US" sz="2400">
                        <a:effectLst/>
                      </a:endParaRPr>
                    </a:p>
                  </a:txBody>
                  <a:tcPr marL="47625" marR="47625" marT="9525" marB="9525" anchor="ctr"/>
                </a:tc>
                <a:tc>
                  <a:txBody>
                    <a:bodyPr/>
                    <a:lstStyle/>
                    <a:p>
                      <a:pPr latinLnBrk="1"/>
                      <a:r>
                        <a:rPr lang="en-US" sz="2400" dirty="0">
                          <a:effectLst/>
                        </a:rPr>
                        <a:t>mat</a:t>
                      </a:r>
                      <a:endParaRPr lang="en-US" sz="2400" dirty="0">
                        <a:effectLst/>
                      </a:endParaRPr>
                    </a:p>
                  </a:txBody>
                  <a:tcPr marL="47625" marR="47625" marT="9525" marB="9525" anchor="ctr"/>
                </a:tc>
              </a:tr>
              <a:tr h="0">
                <a:tc>
                  <a:txBody>
                    <a:bodyPr/>
                    <a:lstStyle/>
                    <a:p>
                      <a:pPr latinLnBrk="1"/>
                      <a:r>
                        <a:rPr lang="en-US" sz="2400">
                          <a:effectLst/>
                        </a:rPr>
                        <a:t>2</a:t>
                      </a:r>
                      <a:endParaRPr lang="en-US" sz="2400">
                        <a:effectLst/>
                      </a:endParaRPr>
                    </a:p>
                  </a:txBody>
                  <a:tcPr marL="47625" marR="47625" marT="9525" marB="9525" anchor="ctr"/>
                </a:tc>
                <a:tc>
                  <a:txBody>
                    <a:bodyPr/>
                    <a:lstStyle/>
                    <a:p>
                      <a:pPr latinLnBrk="1"/>
                      <a:r>
                        <a:rPr lang="en-US" sz="2400">
                          <a:effectLst/>
                        </a:rPr>
                        <a:t>The cat sat on the mat</a:t>
                      </a:r>
                      <a:endParaRPr lang="en-US" sz="2400">
                        <a:effectLst/>
                      </a:endParaRPr>
                    </a:p>
                  </a:txBody>
                  <a:tcPr marL="47625" marR="47625" marT="9525" marB="9525" anchor="ctr"/>
                </a:tc>
                <a:tc>
                  <a:txBody>
                    <a:bodyPr/>
                    <a:lstStyle/>
                    <a:p>
                      <a:pPr latinLnBrk="1"/>
                      <a:r>
                        <a:rPr lang="en-US" sz="2400">
                          <a:effectLst/>
                        </a:rPr>
                        <a:t>and</a:t>
                      </a:r>
                      <a:endParaRPr lang="en-US" sz="2400">
                        <a:effectLst/>
                      </a:endParaRPr>
                    </a:p>
                  </a:txBody>
                  <a:tcPr marL="47625" marR="47625" marT="9525" marB="9525" anchor="ctr"/>
                </a:tc>
              </a:tr>
              <a:tr h="0">
                <a:tc>
                  <a:txBody>
                    <a:bodyPr/>
                    <a:lstStyle/>
                    <a:p>
                      <a:pPr latinLnBrk="1"/>
                      <a:r>
                        <a:rPr lang="en-US" sz="2400">
                          <a:effectLst/>
                        </a:rPr>
                        <a:t>3</a:t>
                      </a:r>
                      <a:endParaRPr lang="en-US" sz="2400">
                        <a:effectLst/>
                      </a:endParaRPr>
                    </a:p>
                  </a:txBody>
                  <a:tcPr marL="47625" marR="47625" marT="9525" marB="9525" anchor="ctr"/>
                </a:tc>
                <a:tc>
                  <a:txBody>
                    <a:bodyPr/>
                    <a:lstStyle/>
                    <a:p>
                      <a:pPr latinLnBrk="1"/>
                      <a:r>
                        <a:rPr lang="en-US" sz="2400" dirty="0">
                          <a:effectLst/>
                        </a:rPr>
                        <a:t>The cat sat on the mat and</a:t>
                      </a:r>
                      <a:endParaRPr lang="en-US" sz="2400" dirty="0">
                        <a:effectLst/>
                      </a:endParaRPr>
                    </a:p>
                  </a:txBody>
                  <a:tcPr marL="47625" marR="47625" marT="9525" marB="9525" anchor="ctr"/>
                </a:tc>
                <a:tc>
                  <a:txBody>
                    <a:bodyPr/>
                    <a:lstStyle/>
                    <a:p>
                      <a:pPr latinLnBrk="1"/>
                      <a:r>
                        <a:rPr lang="en-US" sz="2400">
                          <a:effectLst/>
                        </a:rPr>
                        <a:t>looked</a:t>
                      </a:r>
                      <a:endParaRPr lang="en-US" sz="2400">
                        <a:effectLst/>
                      </a:endParaRPr>
                    </a:p>
                  </a:txBody>
                  <a:tcPr marL="47625" marR="47625" marT="9525" marB="9525" anchor="ctr"/>
                </a:tc>
              </a:tr>
              <a:tr h="0">
                <a:tc>
                  <a:txBody>
                    <a:bodyPr/>
                    <a:lstStyle/>
                    <a:p>
                      <a:pPr latinLnBrk="1"/>
                      <a:r>
                        <a:rPr lang="en-US" sz="2400">
                          <a:effectLst/>
                        </a:rPr>
                        <a:t>4</a:t>
                      </a:r>
                      <a:endParaRPr lang="en-US" sz="2400">
                        <a:effectLst/>
                      </a:endParaRPr>
                    </a:p>
                  </a:txBody>
                  <a:tcPr marL="47625" marR="47625" marT="9525" marB="9525" anchor="ctr"/>
                </a:tc>
                <a:tc>
                  <a:txBody>
                    <a:bodyPr/>
                    <a:lstStyle/>
                    <a:p>
                      <a:pPr latinLnBrk="1"/>
                      <a:r>
                        <a:rPr lang="en-US" sz="2400" dirty="0">
                          <a:effectLst/>
                        </a:rPr>
                        <a:t>The cat sat on the mat and looked</a:t>
                      </a:r>
                      <a:endParaRPr lang="en-US" sz="2400" dirty="0">
                        <a:effectLst/>
                      </a:endParaRPr>
                    </a:p>
                  </a:txBody>
                  <a:tcPr marL="47625" marR="47625" marT="9525" marB="9525" anchor="ctr"/>
                </a:tc>
                <a:tc>
                  <a:txBody>
                    <a:bodyPr/>
                    <a:lstStyle/>
                    <a:p>
                      <a:pPr latinLnBrk="1"/>
                      <a:r>
                        <a:rPr lang="en-US" sz="2400" dirty="0">
                          <a:solidFill>
                            <a:schemeClr val="accent2"/>
                          </a:solidFill>
                          <a:effectLst/>
                        </a:rPr>
                        <a:t>around</a:t>
                      </a:r>
                      <a:endParaRPr lang="en-US" sz="2400" dirty="0">
                        <a:solidFill>
                          <a:schemeClr val="accent2"/>
                        </a:solidFill>
                        <a:effectLst/>
                      </a:endParaRPr>
                    </a:p>
                  </a:txBody>
                  <a:tcPr marL="47625" marR="47625" marT="9525" marB="9525" anchor="ctr"/>
                </a:tc>
              </a:tr>
              <a:tr h="0">
                <a:tc>
                  <a:txBody>
                    <a:bodyPr/>
                    <a:lstStyle/>
                    <a:p>
                      <a:pPr latinLnBrk="1"/>
                      <a:r>
                        <a:rPr lang="en-US" sz="2400">
                          <a:effectLst/>
                        </a:rPr>
                        <a:t>5</a:t>
                      </a:r>
                      <a:endParaRPr lang="en-US" sz="2400">
                        <a:effectLst/>
                      </a:endParaRPr>
                    </a:p>
                  </a:txBody>
                  <a:tcPr marL="47625" marR="47625" marT="9525" marB="9525" anchor="ctr"/>
                </a:tc>
                <a:tc>
                  <a:txBody>
                    <a:bodyPr/>
                    <a:lstStyle/>
                    <a:p>
                      <a:pPr latinLnBrk="1"/>
                      <a:r>
                        <a:rPr lang="en-US" sz="2400">
                          <a:effectLst/>
                        </a:rPr>
                        <a:t>The cat sat on the mat and looked around</a:t>
                      </a:r>
                      <a:endParaRPr lang="en-US" sz="2400">
                        <a:effectLst/>
                      </a:endParaRPr>
                    </a:p>
                  </a:txBody>
                  <a:tcPr marL="47625" marR="47625" marT="9525" marB="9525" anchor="ctr"/>
                </a:tc>
                <a:tc>
                  <a:txBody>
                    <a:bodyPr/>
                    <a:lstStyle/>
                    <a:p>
                      <a:pPr latinLnBrk="1"/>
                      <a:r>
                        <a:rPr lang="en-US" sz="2400">
                          <a:effectLst/>
                        </a:rPr>
                        <a:t>curiously</a:t>
                      </a:r>
                      <a:endParaRPr lang="en-US" sz="2400">
                        <a:effectLst/>
                      </a:endParaRPr>
                    </a:p>
                  </a:txBody>
                  <a:tcPr marL="47625" marR="47625" marT="9525" marB="9525" anchor="ctr"/>
                </a:tc>
              </a:tr>
              <a:tr h="0">
                <a:tc>
                  <a:txBody>
                    <a:bodyPr/>
                    <a:lstStyle/>
                    <a:p>
                      <a:pPr latinLnBrk="1"/>
                      <a:r>
                        <a:rPr lang="en-US" sz="2400">
                          <a:effectLst/>
                        </a:rPr>
                        <a:t>6</a:t>
                      </a:r>
                      <a:endParaRPr lang="en-US" sz="2400">
                        <a:effectLst/>
                      </a:endParaRPr>
                    </a:p>
                  </a:txBody>
                  <a:tcPr marL="47625" marR="47625" marT="9525" marB="9525" anchor="ctr"/>
                </a:tc>
                <a:tc>
                  <a:txBody>
                    <a:bodyPr/>
                    <a:lstStyle/>
                    <a:p>
                      <a:pPr latinLnBrk="1"/>
                      <a:r>
                        <a:rPr lang="en-US" sz="2400">
                          <a:effectLst/>
                        </a:rPr>
                        <a:t>The cat sat on the mat and looked around curiously</a:t>
                      </a:r>
                      <a:endParaRPr lang="en-US" sz="2400">
                        <a:effectLst/>
                      </a:endParaRPr>
                    </a:p>
                  </a:txBody>
                  <a:tcPr marL="47625" marR="47625" marT="9525" marB="9525" anchor="ctr"/>
                </a:tc>
                <a:tc>
                  <a:txBody>
                    <a:bodyPr/>
                    <a:lstStyle/>
                    <a:p>
                      <a:pPr latinLnBrk="1"/>
                      <a:r>
                        <a:rPr lang="en-US" sz="2400">
                          <a:effectLst/>
                        </a:rPr>
                        <a:t>at</a:t>
                      </a:r>
                      <a:endParaRPr lang="en-US" sz="2400">
                        <a:effectLst/>
                      </a:endParaRPr>
                    </a:p>
                  </a:txBody>
                  <a:tcPr marL="47625" marR="47625" marT="9525" marB="9525" anchor="ctr"/>
                </a:tc>
              </a:tr>
              <a:tr h="0">
                <a:tc>
                  <a:txBody>
                    <a:bodyPr/>
                    <a:lstStyle/>
                    <a:p>
                      <a:pPr latinLnBrk="1"/>
                      <a:r>
                        <a:rPr lang="en-US" sz="2400">
                          <a:effectLst/>
                        </a:rPr>
                        <a:t>7</a:t>
                      </a:r>
                      <a:endParaRPr lang="en-US" sz="2400">
                        <a:effectLst/>
                      </a:endParaRPr>
                    </a:p>
                  </a:txBody>
                  <a:tcPr marL="47625" marR="47625" marT="9525" marB="9525" anchor="ctr"/>
                </a:tc>
                <a:tc>
                  <a:txBody>
                    <a:bodyPr/>
                    <a:lstStyle/>
                    <a:p>
                      <a:pPr latinLnBrk="1"/>
                      <a:r>
                        <a:rPr lang="en-US" sz="2400">
                          <a:effectLst/>
                        </a:rPr>
                        <a:t>The cat sat on the mat and looked around curiously at</a:t>
                      </a:r>
                      <a:endParaRPr lang="en-US" sz="2400">
                        <a:effectLst/>
                      </a:endParaRPr>
                    </a:p>
                  </a:txBody>
                  <a:tcPr marL="47625" marR="47625" marT="9525" marB="9525" anchor="ctr"/>
                </a:tc>
                <a:tc>
                  <a:txBody>
                    <a:bodyPr/>
                    <a:lstStyle/>
                    <a:p>
                      <a:pPr latinLnBrk="1"/>
                      <a:r>
                        <a:rPr lang="en-US" sz="2400">
                          <a:effectLst/>
                        </a:rPr>
                        <a:t>the</a:t>
                      </a:r>
                      <a:endParaRPr lang="en-US" sz="2400">
                        <a:effectLst/>
                      </a:endParaRPr>
                    </a:p>
                  </a:txBody>
                  <a:tcPr marL="47625" marR="47625" marT="9525" marB="9525" anchor="ctr"/>
                </a:tc>
              </a:tr>
              <a:tr h="0">
                <a:tc>
                  <a:txBody>
                    <a:bodyPr/>
                    <a:lstStyle/>
                    <a:p>
                      <a:pPr latinLnBrk="1"/>
                      <a:r>
                        <a:rPr lang="en-US" sz="2400">
                          <a:effectLst/>
                        </a:rPr>
                        <a:t>8</a:t>
                      </a:r>
                      <a:endParaRPr lang="en-US" sz="2400">
                        <a:effectLst/>
                      </a:endParaRPr>
                    </a:p>
                  </a:txBody>
                  <a:tcPr marL="47625" marR="47625" marT="9525" marB="9525" anchor="ctr"/>
                </a:tc>
                <a:tc>
                  <a:txBody>
                    <a:bodyPr/>
                    <a:lstStyle/>
                    <a:p>
                      <a:pPr latinLnBrk="1"/>
                      <a:r>
                        <a:rPr lang="en-US" sz="2400">
                          <a:effectLst/>
                        </a:rPr>
                        <a:t>The cat sat on the mat and looked around curiously at the</a:t>
                      </a:r>
                      <a:endParaRPr lang="en-US" sz="2400">
                        <a:effectLst/>
                      </a:endParaRPr>
                    </a:p>
                  </a:txBody>
                  <a:tcPr marL="47625" marR="47625" marT="9525" marB="9525" anchor="ctr"/>
                </a:tc>
                <a:tc>
                  <a:txBody>
                    <a:bodyPr/>
                    <a:lstStyle/>
                    <a:p>
                      <a:pPr latinLnBrk="1"/>
                      <a:r>
                        <a:rPr lang="en-US" sz="2400">
                          <a:effectLst/>
                        </a:rPr>
                        <a:t>birds</a:t>
                      </a:r>
                      <a:endParaRPr lang="en-US" sz="2400">
                        <a:effectLst/>
                      </a:endParaRPr>
                    </a:p>
                  </a:txBody>
                  <a:tcPr marL="47625" marR="47625" marT="9525" marB="9525" anchor="ctr"/>
                </a:tc>
              </a:tr>
              <a:tr h="0">
                <a:tc>
                  <a:txBody>
                    <a:bodyPr/>
                    <a:lstStyle/>
                    <a:p>
                      <a:pPr latinLnBrk="1"/>
                      <a:r>
                        <a:rPr lang="en-US" sz="2400" dirty="0">
                          <a:effectLst/>
                        </a:rPr>
                        <a:t>9</a:t>
                      </a:r>
                      <a:endParaRPr lang="en-US" sz="2400" dirty="0">
                        <a:effectLst/>
                      </a:endParaRPr>
                    </a:p>
                  </a:txBody>
                  <a:tcPr marL="47625" marR="47625" marT="9525" marB="9525" anchor="ctr"/>
                </a:tc>
                <a:tc>
                  <a:txBody>
                    <a:bodyPr/>
                    <a:lstStyle/>
                    <a:p>
                      <a:pPr latinLnBrk="1"/>
                      <a:r>
                        <a:rPr lang="en-US" sz="2400">
                          <a:effectLst/>
                        </a:rPr>
                        <a:t>The cat sat on the mat and looked around curiously at the birds</a:t>
                      </a:r>
                      <a:endParaRPr lang="en-US" sz="2400">
                        <a:effectLst/>
                      </a:endParaRPr>
                    </a:p>
                  </a:txBody>
                  <a:tcPr marL="47625" marR="47625" marT="9525" marB="9525" anchor="ctr"/>
                </a:tc>
                <a:tc>
                  <a:txBody>
                    <a:bodyPr/>
                    <a:lstStyle/>
                    <a:p>
                      <a:pPr latinLnBrk="1"/>
                      <a:r>
                        <a:rPr lang="en-US" sz="2400" dirty="0">
                          <a:effectLst/>
                        </a:rPr>
                        <a:t>flying</a:t>
                      </a:r>
                      <a:endParaRPr lang="en-US" sz="2400" dirty="0">
                        <a:effectLst/>
                      </a:endParaRPr>
                    </a:p>
                  </a:txBody>
                  <a:tcPr marL="47625" marR="47625" marT="9525" marB="9525" anchor="ctr"/>
                </a:tc>
              </a:tr>
            </a:tbl>
          </a:graphicData>
        </a:graphic>
      </p:graphicFrame>
      <p:sp>
        <p:nvSpPr>
          <p:cNvPr id="4" name="Slide Number Placeholder 3"/>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dirty="0"/>
              <a:t>Word Prediction with Probabilities</a:t>
            </a:r>
            <a:endParaRPr lang="en-US" dirty="0"/>
          </a:p>
        </p:txBody>
      </p:sp>
      <p:graphicFrame>
        <p:nvGraphicFramePr>
          <p:cNvPr id="5" name="Content Placeholder 4"/>
          <p:cNvGraphicFramePr>
            <a:graphicFrameLocks noGrp="1"/>
          </p:cNvGraphicFramePr>
          <p:nvPr>
            <p:ph idx="1"/>
          </p:nvPr>
        </p:nvGraphicFramePr>
        <p:xfrm>
          <a:off x="838199" y="1825625"/>
          <a:ext cx="10515599" cy="3444240"/>
        </p:xfrm>
        <a:graphic>
          <a:graphicData uri="http://schemas.openxmlformats.org/drawingml/2006/table">
            <a:tbl>
              <a:tblPr>
                <a:tableStyleId>{85BE263C-DBD7-4A20-BB59-AAB30ACAA65A}</a:tableStyleId>
              </a:tblPr>
              <a:tblGrid>
                <a:gridCol w="4438560"/>
                <a:gridCol w="2245823"/>
                <a:gridCol w="1915608"/>
                <a:gridCol w="1915608"/>
              </a:tblGrid>
              <a:tr h="0">
                <a:tc>
                  <a:txBody>
                    <a:bodyPr/>
                    <a:lstStyle/>
                    <a:p>
                      <a:pPr algn="ctr" latinLnBrk="1"/>
                      <a:r>
                        <a:rPr lang="en-US" sz="2400" b="1" dirty="0">
                          <a:effectLst/>
                        </a:rPr>
                        <a:t>Current Sentence</a:t>
                      </a:r>
                      <a:endParaRPr lang="en-US" sz="2400" dirty="0">
                        <a:effectLst/>
                      </a:endParaRPr>
                    </a:p>
                  </a:txBody>
                  <a:tcPr marL="47625" marR="47625" marT="9525" marB="9525" anchor="ctr"/>
                </a:tc>
                <a:tc>
                  <a:txBody>
                    <a:bodyPr/>
                    <a:lstStyle/>
                    <a:p>
                      <a:pPr algn="ctr" latinLnBrk="1"/>
                      <a:r>
                        <a:rPr lang="en-US" sz="2400" b="1" dirty="0">
                          <a:effectLst/>
                        </a:rPr>
                        <a:t>Potential </a:t>
                      </a:r>
                      <a:endParaRPr lang="en-US" sz="2400" b="1" dirty="0">
                        <a:effectLst/>
                      </a:endParaRPr>
                    </a:p>
                    <a:p>
                      <a:pPr algn="ctr" latinLnBrk="1"/>
                      <a:r>
                        <a:rPr lang="en-US" sz="2400" b="1" dirty="0">
                          <a:effectLst/>
                        </a:rPr>
                        <a:t>Next Words</a:t>
                      </a:r>
                      <a:endParaRPr lang="en-US" sz="2400" dirty="0">
                        <a:effectLst/>
                      </a:endParaRPr>
                    </a:p>
                  </a:txBody>
                  <a:tcPr marL="47625" marR="47625" marT="9525" marB="9525" anchor="ctr">
                    <a:solidFill>
                      <a:schemeClr val="accent2">
                        <a:lumMod val="20000"/>
                        <a:lumOff val="80000"/>
                      </a:schemeClr>
                    </a:solidFill>
                  </a:tcPr>
                </a:tc>
                <a:tc>
                  <a:txBody>
                    <a:bodyPr/>
                    <a:lstStyle/>
                    <a:p>
                      <a:pPr algn="ctr" latinLnBrk="1"/>
                      <a:r>
                        <a:rPr lang="en-US" sz="2400" b="1" dirty="0">
                          <a:effectLst/>
                        </a:rPr>
                        <a:t>Probabilities</a:t>
                      </a:r>
                      <a:endParaRPr lang="en-US" sz="2400" dirty="0">
                        <a:effectLst/>
                      </a:endParaRPr>
                    </a:p>
                  </a:txBody>
                  <a:tcPr marL="47625" marR="47625" marT="9525" marB="9525" anchor="ctr">
                    <a:solidFill>
                      <a:schemeClr val="accent2">
                        <a:lumMod val="20000"/>
                        <a:lumOff val="80000"/>
                      </a:schemeClr>
                    </a:solidFill>
                  </a:tcPr>
                </a:tc>
                <a:tc>
                  <a:txBody>
                    <a:bodyPr/>
                    <a:lstStyle/>
                    <a:p>
                      <a:pPr algn="ctr" latinLnBrk="1"/>
                      <a:r>
                        <a:rPr lang="en-US" sz="2400" b="1" dirty="0">
                          <a:effectLst/>
                        </a:rPr>
                        <a:t>Model </a:t>
                      </a:r>
                      <a:endParaRPr lang="en-US" sz="2400" b="1" dirty="0">
                        <a:effectLst/>
                      </a:endParaRPr>
                    </a:p>
                    <a:p>
                      <a:pPr algn="ctr" latinLnBrk="1"/>
                      <a:r>
                        <a:rPr lang="en-US" sz="2400" b="1" dirty="0">
                          <a:effectLst/>
                        </a:rPr>
                        <a:t>Output</a:t>
                      </a:r>
                      <a:endParaRPr lang="en-US" sz="2400" dirty="0">
                        <a:effectLst/>
                      </a:endParaRPr>
                    </a:p>
                  </a:txBody>
                  <a:tcPr marL="47625" marR="47625" marT="9525" marB="9525" anchor="ctr"/>
                </a:tc>
              </a:tr>
              <a:tr h="0">
                <a:tc>
                  <a:txBody>
                    <a:bodyPr/>
                    <a:lstStyle/>
                    <a:p>
                      <a:pPr algn="ctr" latinLnBrk="1"/>
                      <a:r>
                        <a:rPr lang="en-US" sz="2400" dirty="0">
                          <a:effectLst/>
                        </a:rPr>
                        <a:t>The cat sat on the mat and looked</a:t>
                      </a:r>
                      <a:endParaRPr lang="en-US" sz="2400" dirty="0">
                        <a:effectLst/>
                      </a:endParaRPr>
                    </a:p>
                  </a:txBody>
                  <a:tcPr marL="47625" marR="47625" marT="9525" marB="9525" anchor="ctr"/>
                </a:tc>
                <a:tc>
                  <a:txBody>
                    <a:bodyPr/>
                    <a:lstStyle/>
                    <a:p>
                      <a:pPr algn="ctr" latinLnBrk="1"/>
                      <a:r>
                        <a:rPr lang="en-US" sz="2400" dirty="0">
                          <a:solidFill>
                            <a:schemeClr val="accent2"/>
                          </a:solidFill>
                          <a:effectLst/>
                        </a:rPr>
                        <a:t>around</a:t>
                      </a:r>
                      <a:endParaRPr lang="en-US" sz="2400" dirty="0">
                        <a:solidFill>
                          <a:schemeClr val="accent2"/>
                        </a:solidFill>
                        <a:effectLst/>
                      </a:endParaRPr>
                    </a:p>
                  </a:txBody>
                  <a:tcPr marL="47625" marR="47625" marT="9525" marB="9525" anchor="ctr">
                    <a:solidFill>
                      <a:schemeClr val="accent2">
                        <a:lumMod val="20000"/>
                        <a:lumOff val="80000"/>
                      </a:schemeClr>
                    </a:solidFill>
                  </a:tcPr>
                </a:tc>
                <a:tc>
                  <a:txBody>
                    <a:bodyPr/>
                    <a:lstStyle/>
                    <a:p>
                      <a:pPr algn="ctr" latinLnBrk="1"/>
                      <a:r>
                        <a:rPr lang="en-US" sz="2400" dirty="0">
                          <a:solidFill>
                            <a:schemeClr val="accent2"/>
                          </a:solidFill>
                          <a:effectLst/>
                        </a:rPr>
                        <a:t>0.35</a:t>
                      </a:r>
                      <a:endParaRPr lang="en-US" sz="2400" dirty="0">
                        <a:solidFill>
                          <a:schemeClr val="accent2"/>
                        </a:solidFill>
                        <a:effectLst/>
                      </a:endParaRPr>
                    </a:p>
                  </a:txBody>
                  <a:tcPr marL="47625" marR="47625" marT="9525" marB="9525" anchor="ctr">
                    <a:solidFill>
                      <a:schemeClr val="accent2">
                        <a:lumMod val="20000"/>
                        <a:lumOff val="80000"/>
                      </a:schemeClr>
                    </a:solidFill>
                  </a:tcPr>
                </a:tc>
                <a:tc>
                  <a:txBody>
                    <a:bodyPr/>
                    <a:lstStyle/>
                    <a:p>
                      <a:pPr algn="ctr" latinLnBrk="1"/>
                      <a:r>
                        <a:rPr lang="en-US" sz="2400" dirty="0">
                          <a:solidFill>
                            <a:schemeClr val="accent2"/>
                          </a:solidFill>
                          <a:effectLst/>
                        </a:rPr>
                        <a:t>around</a:t>
                      </a:r>
                      <a:endParaRPr lang="en-US" sz="2400" dirty="0">
                        <a:solidFill>
                          <a:schemeClr val="accent2"/>
                        </a:solidFill>
                        <a:effectLst/>
                      </a:endParaRPr>
                    </a:p>
                  </a:txBody>
                  <a:tcPr marL="47625" marR="47625" marT="9525" marB="9525" anchor="ctr"/>
                </a:tc>
              </a:tr>
              <a:tr h="0">
                <a:tc>
                  <a:txBody>
                    <a:bodyPr/>
                    <a:lstStyle/>
                    <a:p>
                      <a:pPr algn="ctr" latinLnBrk="1"/>
                      <a:endParaRPr lang="en-US" sz="2400" dirty="0">
                        <a:effectLst/>
                      </a:endParaRPr>
                    </a:p>
                  </a:txBody>
                  <a:tcPr marL="47625" marR="47625" marT="9525" marB="9525" anchor="ctr"/>
                </a:tc>
                <a:tc>
                  <a:txBody>
                    <a:bodyPr/>
                    <a:lstStyle/>
                    <a:p>
                      <a:pPr algn="ctr" latinLnBrk="1"/>
                      <a:r>
                        <a:rPr lang="en-US" sz="2400" dirty="0">
                          <a:effectLst/>
                        </a:rPr>
                        <a:t>curiously</a:t>
                      </a:r>
                      <a:endParaRPr lang="en-US" sz="2400" dirty="0">
                        <a:effectLst/>
                      </a:endParaRPr>
                    </a:p>
                  </a:txBody>
                  <a:tcPr marL="47625" marR="47625" marT="9525" marB="9525" anchor="ctr">
                    <a:solidFill>
                      <a:schemeClr val="accent2">
                        <a:lumMod val="20000"/>
                        <a:lumOff val="80000"/>
                      </a:schemeClr>
                    </a:solidFill>
                  </a:tcPr>
                </a:tc>
                <a:tc>
                  <a:txBody>
                    <a:bodyPr/>
                    <a:lstStyle/>
                    <a:p>
                      <a:pPr algn="ctr" latinLnBrk="1"/>
                      <a:r>
                        <a:rPr lang="en-US" sz="2400" dirty="0">
                          <a:effectLst/>
                        </a:rPr>
                        <a:t>0.25</a:t>
                      </a:r>
                      <a:endParaRPr lang="en-US" sz="2400" dirty="0">
                        <a:effectLst/>
                      </a:endParaRPr>
                    </a:p>
                  </a:txBody>
                  <a:tcPr marL="47625" marR="47625" marT="9525" marB="9525" anchor="ctr">
                    <a:solidFill>
                      <a:schemeClr val="accent2">
                        <a:lumMod val="20000"/>
                        <a:lumOff val="80000"/>
                      </a:schemeClr>
                    </a:solidFill>
                  </a:tcPr>
                </a:tc>
                <a:tc>
                  <a:txBody>
                    <a:bodyPr/>
                    <a:lstStyle/>
                    <a:p>
                      <a:pPr algn="ctr" latinLnBrk="1"/>
                      <a:endParaRPr lang="en-US" sz="2400" dirty="0">
                        <a:effectLst/>
                      </a:endParaRPr>
                    </a:p>
                  </a:txBody>
                  <a:tcPr marL="47625" marR="47625" marT="9525" marB="9525" anchor="ctr"/>
                </a:tc>
              </a:tr>
              <a:tr h="0">
                <a:tc>
                  <a:txBody>
                    <a:bodyPr/>
                    <a:lstStyle/>
                    <a:p>
                      <a:pPr algn="ctr" latinLnBrk="1"/>
                      <a:endParaRPr lang="en-US" sz="2400" dirty="0">
                        <a:effectLst/>
                      </a:endParaRPr>
                    </a:p>
                  </a:txBody>
                  <a:tcPr marL="47625" marR="47625" marT="9525" marB="9525" anchor="ctr"/>
                </a:tc>
                <a:tc>
                  <a:txBody>
                    <a:bodyPr/>
                    <a:lstStyle/>
                    <a:p>
                      <a:pPr algn="ctr" latinLnBrk="1"/>
                      <a:r>
                        <a:rPr lang="en-US" sz="2400" dirty="0">
                          <a:effectLst/>
                        </a:rPr>
                        <a:t>quickly</a:t>
                      </a:r>
                      <a:endParaRPr lang="en-US" sz="2400" dirty="0">
                        <a:effectLst/>
                      </a:endParaRPr>
                    </a:p>
                  </a:txBody>
                  <a:tcPr marL="47625" marR="47625" marT="9525" marB="9525" anchor="ctr">
                    <a:solidFill>
                      <a:schemeClr val="accent2">
                        <a:lumMod val="20000"/>
                        <a:lumOff val="80000"/>
                      </a:schemeClr>
                    </a:solidFill>
                  </a:tcPr>
                </a:tc>
                <a:tc>
                  <a:txBody>
                    <a:bodyPr/>
                    <a:lstStyle/>
                    <a:p>
                      <a:pPr algn="ctr" latinLnBrk="1"/>
                      <a:r>
                        <a:rPr lang="en-US" sz="2400" dirty="0">
                          <a:effectLst/>
                        </a:rPr>
                        <a:t>0.15</a:t>
                      </a:r>
                      <a:endParaRPr lang="en-US" sz="2400" dirty="0">
                        <a:effectLst/>
                      </a:endParaRPr>
                    </a:p>
                  </a:txBody>
                  <a:tcPr marL="47625" marR="47625" marT="9525" marB="9525" anchor="ctr">
                    <a:solidFill>
                      <a:schemeClr val="accent2">
                        <a:lumMod val="20000"/>
                        <a:lumOff val="80000"/>
                      </a:schemeClr>
                    </a:solidFill>
                  </a:tcPr>
                </a:tc>
                <a:tc>
                  <a:txBody>
                    <a:bodyPr/>
                    <a:lstStyle/>
                    <a:p>
                      <a:pPr algn="ctr" latinLnBrk="1"/>
                      <a:endParaRPr lang="en-US" sz="2400">
                        <a:effectLst/>
                      </a:endParaRPr>
                    </a:p>
                  </a:txBody>
                  <a:tcPr marL="47625" marR="47625" marT="9525" marB="9525" anchor="ctr"/>
                </a:tc>
              </a:tr>
              <a:tr h="0">
                <a:tc>
                  <a:txBody>
                    <a:bodyPr/>
                    <a:lstStyle/>
                    <a:p>
                      <a:pPr algn="ctr" latinLnBrk="1"/>
                      <a:endParaRPr lang="en-US" sz="2400" dirty="0">
                        <a:effectLst/>
                      </a:endParaRPr>
                    </a:p>
                  </a:txBody>
                  <a:tcPr marL="47625" marR="47625" marT="9525" marB="9525" anchor="ctr"/>
                </a:tc>
                <a:tc>
                  <a:txBody>
                    <a:bodyPr/>
                    <a:lstStyle/>
                    <a:p>
                      <a:pPr algn="ctr" latinLnBrk="1"/>
                      <a:r>
                        <a:rPr lang="en-US" sz="2400" dirty="0">
                          <a:effectLst/>
                        </a:rPr>
                        <a:t>lazily</a:t>
                      </a:r>
                      <a:endParaRPr lang="en-US" sz="2400" dirty="0">
                        <a:effectLst/>
                      </a:endParaRPr>
                    </a:p>
                  </a:txBody>
                  <a:tcPr marL="47625" marR="47625" marT="9525" marB="9525" anchor="ctr">
                    <a:solidFill>
                      <a:schemeClr val="accent2">
                        <a:lumMod val="20000"/>
                        <a:lumOff val="80000"/>
                      </a:schemeClr>
                    </a:solidFill>
                  </a:tcPr>
                </a:tc>
                <a:tc>
                  <a:txBody>
                    <a:bodyPr/>
                    <a:lstStyle/>
                    <a:p>
                      <a:pPr algn="ctr" latinLnBrk="1"/>
                      <a:r>
                        <a:rPr lang="en-US" sz="2400" dirty="0">
                          <a:effectLst/>
                        </a:rPr>
                        <a:t>0.10</a:t>
                      </a:r>
                      <a:endParaRPr lang="en-US" sz="2400" dirty="0">
                        <a:effectLst/>
                      </a:endParaRPr>
                    </a:p>
                  </a:txBody>
                  <a:tcPr marL="47625" marR="47625" marT="9525" marB="9525" anchor="ctr">
                    <a:solidFill>
                      <a:schemeClr val="accent2">
                        <a:lumMod val="20000"/>
                        <a:lumOff val="80000"/>
                      </a:schemeClr>
                    </a:solidFill>
                  </a:tcPr>
                </a:tc>
                <a:tc>
                  <a:txBody>
                    <a:bodyPr/>
                    <a:lstStyle/>
                    <a:p>
                      <a:pPr algn="ctr" latinLnBrk="1"/>
                      <a:endParaRPr lang="en-US" sz="2400">
                        <a:effectLst/>
                      </a:endParaRPr>
                    </a:p>
                  </a:txBody>
                  <a:tcPr marL="47625" marR="47625" marT="9525" marB="9525" anchor="ctr"/>
                </a:tc>
              </a:tr>
              <a:tr h="0">
                <a:tc>
                  <a:txBody>
                    <a:bodyPr/>
                    <a:lstStyle/>
                    <a:p>
                      <a:pPr algn="ctr" latinLnBrk="1"/>
                      <a:endParaRPr lang="en-US" sz="2400" dirty="0">
                        <a:effectLst/>
                      </a:endParaRPr>
                    </a:p>
                  </a:txBody>
                  <a:tcPr marL="47625" marR="47625" marT="9525" marB="9525" anchor="ctr"/>
                </a:tc>
                <a:tc>
                  <a:txBody>
                    <a:bodyPr/>
                    <a:lstStyle/>
                    <a:p>
                      <a:pPr algn="ctr" latinLnBrk="1"/>
                      <a:r>
                        <a:rPr lang="en-US" sz="2400" dirty="0">
                          <a:effectLst/>
                        </a:rPr>
                        <a:t>intently</a:t>
                      </a:r>
                      <a:endParaRPr lang="en-US" sz="2400" dirty="0">
                        <a:effectLst/>
                      </a:endParaRPr>
                    </a:p>
                  </a:txBody>
                  <a:tcPr marL="47625" marR="47625" marT="9525" marB="9525" anchor="ctr">
                    <a:solidFill>
                      <a:schemeClr val="accent2">
                        <a:lumMod val="20000"/>
                        <a:lumOff val="80000"/>
                      </a:schemeClr>
                    </a:solidFill>
                  </a:tcPr>
                </a:tc>
                <a:tc>
                  <a:txBody>
                    <a:bodyPr/>
                    <a:lstStyle/>
                    <a:p>
                      <a:pPr algn="ctr" latinLnBrk="1"/>
                      <a:r>
                        <a:rPr lang="en-US" sz="2400" dirty="0">
                          <a:effectLst/>
                        </a:rPr>
                        <a:t>0.05</a:t>
                      </a:r>
                      <a:endParaRPr lang="en-US" sz="2400" dirty="0">
                        <a:effectLst/>
                      </a:endParaRPr>
                    </a:p>
                  </a:txBody>
                  <a:tcPr marL="47625" marR="47625" marT="9525" marB="9525" anchor="ctr">
                    <a:solidFill>
                      <a:schemeClr val="accent2">
                        <a:lumMod val="20000"/>
                        <a:lumOff val="80000"/>
                      </a:schemeClr>
                    </a:solidFill>
                  </a:tcPr>
                </a:tc>
                <a:tc>
                  <a:txBody>
                    <a:bodyPr/>
                    <a:lstStyle/>
                    <a:p>
                      <a:pPr algn="ctr" latinLnBrk="1"/>
                      <a:endParaRPr lang="en-US" sz="2400">
                        <a:effectLst/>
                      </a:endParaRPr>
                    </a:p>
                  </a:txBody>
                  <a:tcPr marL="47625" marR="47625" marT="9525" marB="9525" anchor="ctr"/>
                </a:tc>
              </a:tr>
              <a:tr h="0">
                <a:tc>
                  <a:txBody>
                    <a:bodyPr/>
                    <a:lstStyle/>
                    <a:p>
                      <a:pPr algn="ctr" latinLnBrk="1"/>
                      <a:endParaRPr lang="en-US" sz="2400">
                        <a:effectLst/>
                      </a:endParaRPr>
                    </a:p>
                  </a:txBody>
                  <a:tcPr marL="47625" marR="47625" marT="9525" marB="9525" anchor="ctr"/>
                </a:tc>
                <a:tc>
                  <a:txBody>
                    <a:bodyPr/>
                    <a:lstStyle/>
                    <a:p>
                      <a:pPr algn="ctr" latinLnBrk="1"/>
                      <a:r>
                        <a:rPr lang="en-US" sz="2400" dirty="0">
                          <a:effectLst/>
                        </a:rPr>
                        <a:t>at</a:t>
                      </a:r>
                      <a:endParaRPr lang="en-US" sz="2400" dirty="0">
                        <a:effectLst/>
                      </a:endParaRPr>
                    </a:p>
                  </a:txBody>
                  <a:tcPr marL="47625" marR="47625" marT="9525" marB="9525" anchor="ctr">
                    <a:solidFill>
                      <a:schemeClr val="accent2">
                        <a:lumMod val="20000"/>
                        <a:lumOff val="80000"/>
                      </a:schemeClr>
                    </a:solidFill>
                  </a:tcPr>
                </a:tc>
                <a:tc>
                  <a:txBody>
                    <a:bodyPr/>
                    <a:lstStyle/>
                    <a:p>
                      <a:pPr algn="ctr" latinLnBrk="1"/>
                      <a:r>
                        <a:rPr lang="en-US" sz="2400" dirty="0">
                          <a:effectLst/>
                        </a:rPr>
                        <a:t>0.05</a:t>
                      </a:r>
                      <a:endParaRPr lang="en-US" sz="2400" dirty="0">
                        <a:effectLst/>
                      </a:endParaRPr>
                    </a:p>
                  </a:txBody>
                  <a:tcPr marL="47625" marR="47625" marT="9525" marB="9525" anchor="ctr">
                    <a:solidFill>
                      <a:schemeClr val="accent2">
                        <a:lumMod val="20000"/>
                        <a:lumOff val="80000"/>
                      </a:schemeClr>
                    </a:solidFill>
                  </a:tcPr>
                </a:tc>
                <a:tc>
                  <a:txBody>
                    <a:bodyPr/>
                    <a:lstStyle/>
                    <a:p>
                      <a:pPr algn="ctr" latinLnBrk="1"/>
                      <a:endParaRPr lang="en-US" sz="2400">
                        <a:effectLst/>
                      </a:endParaRPr>
                    </a:p>
                  </a:txBody>
                  <a:tcPr marL="47625" marR="47625" marT="9525" marB="9525" anchor="ctr"/>
                </a:tc>
              </a:tr>
              <a:tr h="0">
                <a:tc>
                  <a:txBody>
                    <a:bodyPr/>
                    <a:lstStyle/>
                    <a:p>
                      <a:pPr algn="ctr" latinLnBrk="1"/>
                      <a:endParaRPr lang="en-US" sz="2400" dirty="0">
                        <a:effectLst/>
                      </a:endParaRPr>
                    </a:p>
                  </a:txBody>
                  <a:tcPr marL="47625" marR="47625" marT="9525" marB="9525" anchor="ctr"/>
                </a:tc>
                <a:tc>
                  <a:txBody>
                    <a:bodyPr/>
                    <a:lstStyle/>
                    <a:p>
                      <a:pPr algn="ctr" latinLnBrk="1"/>
                      <a:r>
                        <a:rPr lang="en-US" sz="2400" dirty="0">
                          <a:effectLst/>
                        </a:rPr>
                        <a:t>outside</a:t>
                      </a:r>
                      <a:endParaRPr lang="en-US" sz="2400" dirty="0">
                        <a:effectLst/>
                      </a:endParaRPr>
                    </a:p>
                  </a:txBody>
                  <a:tcPr marL="47625" marR="47625" marT="9525" marB="9525" anchor="ctr">
                    <a:solidFill>
                      <a:schemeClr val="accent2">
                        <a:lumMod val="20000"/>
                        <a:lumOff val="80000"/>
                      </a:schemeClr>
                    </a:solidFill>
                  </a:tcPr>
                </a:tc>
                <a:tc>
                  <a:txBody>
                    <a:bodyPr/>
                    <a:lstStyle/>
                    <a:p>
                      <a:pPr algn="ctr" latinLnBrk="1"/>
                      <a:r>
                        <a:rPr lang="en-US" sz="2400" dirty="0">
                          <a:effectLst/>
                        </a:rPr>
                        <a:t>0.05</a:t>
                      </a:r>
                      <a:endParaRPr lang="en-US" sz="2400" dirty="0">
                        <a:effectLst/>
                      </a:endParaRPr>
                    </a:p>
                  </a:txBody>
                  <a:tcPr marL="47625" marR="47625" marT="9525" marB="9525" anchor="ctr">
                    <a:solidFill>
                      <a:schemeClr val="accent2">
                        <a:lumMod val="20000"/>
                        <a:lumOff val="80000"/>
                      </a:schemeClr>
                    </a:solidFill>
                  </a:tcPr>
                </a:tc>
                <a:tc>
                  <a:txBody>
                    <a:bodyPr/>
                    <a:lstStyle/>
                    <a:p>
                      <a:pPr algn="ctr" latinLnBrk="1"/>
                      <a:endParaRPr lang="en-US" sz="2400" dirty="0">
                        <a:effectLst/>
                      </a:endParaRPr>
                    </a:p>
                  </a:txBody>
                  <a:tcPr marL="47625" marR="47625" marT="9525" marB="9525" anchor="ctr"/>
                </a:tc>
              </a:tr>
            </a:tbl>
          </a:graphicData>
        </a:graphic>
      </p:graphicFrame>
      <p:sp>
        <p:nvSpPr>
          <p:cNvPr id="4" name="Slide Number Placeholder 3"/>
          <p:cNvSpPr>
            <a:spLocks noGrp="1"/>
          </p:cNvSpPr>
          <p:nvPr>
            <p:ph type="sldNum" sz="quarter" idx="12"/>
          </p:nvPr>
        </p:nvSpPr>
        <p:spPr>
          <a:xfrm>
            <a:off x="8610600" y="6356350"/>
            <a:ext cx="2743200" cy="365125"/>
          </a:xfrm>
        </p:spPr>
        <p:txBody>
          <a:bodyPr/>
          <a:lstStyle/>
          <a:p>
            <a:fld id="{7F8CBF50-853B-304C-BCA2-DB5146F0D4EA}" type="slidenum">
              <a:rPr lang="en-US" smtClean="0"/>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1"/>
          <a:stretch>
            <a:fillRect/>
          </a:stretch>
        </p:blipFill>
        <p:spPr>
          <a:xfrm>
            <a:off x="1784828" y="0"/>
            <a:ext cx="8622344" cy="6833205"/>
          </a:xfrm>
          <a:prstGeom prst="rect">
            <a:avLst/>
          </a:prstGeom>
          <a:noFill/>
        </p:spPr>
      </p:pic>
      <p:sp>
        <p:nvSpPr>
          <p:cNvPr id="4" name="Slide Number Placeholder 3" hidden="1"/>
          <p:cNvSpPr>
            <a:spLocks noGrp="1"/>
          </p:cNvSpPr>
          <p:nvPr>
            <p:ph type="sldNum" sz="quarter" idx="12"/>
          </p:nvPr>
        </p:nvSpPr>
        <p:spPr/>
        <p:txBody>
          <a:bodyPr/>
          <a:lstStyle/>
          <a:p>
            <a:pPr>
              <a:spcAft>
                <a:spcPts val="600"/>
              </a:spcAft>
            </a:pPr>
            <a:fld id="{7F8CBF50-853B-304C-BCA2-DB5146F0D4EA}" type="slidenum">
              <a:rPr lang="en-US" smtClean="0"/>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610600" y="6356350"/>
            <a:ext cx="2743200" cy="365125"/>
          </a:xfrm>
        </p:spPr>
        <p:txBody>
          <a:bodyPr vert="horz" lIns="91440" tIns="45720" rIns="91440" bIns="45720" rtlCol="0" anchor="ctr">
            <a:normAutofit/>
          </a:bodyPr>
          <a:lstStyle/>
          <a:p>
            <a:pPr defTabSz="914400">
              <a:spcAft>
                <a:spcPts val="600"/>
              </a:spcAft>
            </a:pPr>
            <a:fld id="{7F8CBF50-853B-304C-BCA2-DB5146F0D4EA}" type="slidenum">
              <a:rPr lang="en-US" smtClean="0"/>
            </a:fld>
            <a:endParaRPr lang="en-US"/>
          </a:p>
        </p:txBody>
      </p:sp>
      <p:pic>
        <p:nvPicPr>
          <p:cNvPr id="8" name="Picture 7"/>
          <p:cNvPicPr>
            <a:picLocks noChangeAspect="1"/>
          </p:cNvPicPr>
          <p:nvPr/>
        </p:nvPicPr>
        <p:blipFill>
          <a:blip r:embed="rId1"/>
          <a:stretch>
            <a:fillRect/>
          </a:stretch>
        </p:blipFill>
        <p:spPr>
          <a:xfrm>
            <a:off x="575310" y="0"/>
            <a:ext cx="11209020" cy="733697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graph with text and images&#10;&#10;Description automatically generated with medium confidence"/>
          <p:cNvPicPr>
            <a:picLocks noChangeAspect="1"/>
          </p:cNvPicPr>
          <p:nvPr/>
        </p:nvPicPr>
        <p:blipFill>
          <a:blip r:embed="rId1"/>
          <a:stretch>
            <a:fillRect/>
          </a:stretch>
        </p:blipFill>
        <p:spPr>
          <a:xfrm>
            <a:off x="889395" y="643466"/>
            <a:ext cx="10413209" cy="5571067"/>
          </a:xfrm>
          <a:prstGeom prst="rect">
            <a:avLst/>
          </a:prstGeom>
        </p:spPr>
      </p:pic>
      <p:sp>
        <p:nvSpPr>
          <p:cNvPr id="3" name="Slide Number Placeholder 2"/>
          <p:cNvSpPr>
            <a:spLocks noGrp="1"/>
          </p:cNvSpPr>
          <p:nvPr>
            <p:ph type="sldNum" sz="quarter" idx="12"/>
          </p:nvPr>
        </p:nvSpPr>
        <p:spPr>
          <a:xfrm>
            <a:off x="8610600" y="6356350"/>
            <a:ext cx="2743200" cy="365125"/>
          </a:xfrm>
        </p:spPr>
        <p:txBody>
          <a:bodyPr vert="horz" lIns="91440" tIns="45720" rIns="91440" bIns="45720" rtlCol="0" anchor="ctr">
            <a:normAutofit/>
          </a:bodyPr>
          <a:lstStyle/>
          <a:p>
            <a:pPr defTabSz="914400">
              <a:spcAft>
                <a:spcPts val="600"/>
              </a:spcAft>
            </a:pPr>
            <a:fld id="{7F8CBF50-853B-304C-BCA2-DB5146F0D4EA}" type="slidenum">
              <a:rPr lang="en-US" smtClean="0"/>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1"/>
          <a:stretch>
            <a:fillRect/>
          </a:stretch>
        </p:blipFill>
        <p:spPr>
          <a:xfrm>
            <a:off x="960664" y="566968"/>
            <a:ext cx="10270671" cy="5724063"/>
          </a:xfrm>
          <a:prstGeom prst="rect">
            <a:avLst/>
          </a:prstGeom>
        </p:spPr>
      </p:pic>
      <p:sp>
        <p:nvSpPr>
          <p:cNvPr id="4" name="Slide Number Placeholder 3"/>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Transformer Model (2017)</a:t>
            </a:r>
            <a:endParaRPr lang="en-US" dirty="0"/>
          </a:p>
        </p:txBody>
      </p:sp>
      <p:sp>
        <p:nvSpPr>
          <p:cNvPr id="3" name="Content Placeholder 2"/>
          <p:cNvSpPr>
            <a:spLocks noGrp="1"/>
          </p:cNvSpPr>
          <p:nvPr>
            <p:ph idx="1"/>
          </p:nvPr>
        </p:nvSpPr>
        <p:spPr/>
        <p:txBody>
          <a:bodyPr/>
          <a:lstStyle/>
          <a:p>
            <a:pPr>
              <a:defRPr sz="2800">
                <a:solidFill>
                  <a:srgbClr val="000000"/>
                </a:solidFill>
              </a:defRPr>
            </a:pPr>
            <a:r>
              <a:rPr lang="en-US" dirty="0"/>
              <a:t>Revolutionary NLP model</a:t>
            </a:r>
            <a:endParaRPr lang="en-US" dirty="0"/>
          </a:p>
          <a:p>
            <a:pPr>
              <a:defRPr sz="2800">
                <a:solidFill>
                  <a:srgbClr val="000000"/>
                </a:solidFill>
              </a:defRPr>
            </a:pPr>
            <a:r>
              <a:rPr lang="en-US" dirty="0"/>
              <a:t>Self-attention mechanism</a:t>
            </a:r>
            <a:endParaRPr lang="en-US" dirty="0"/>
          </a:p>
          <a:p>
            <a:pPr>
              <a:defRPr sz="2800">
                <a:solidFill>
                  <a:srgbClr val="000000"/>
                </a:solidFill>
              </a:defRPr>
            </a:pPr>
            <a:r>
              <a:rPr lang="en-US" dirty="0"/>
              <a:t>Parallel processing</a:t>
            </a:r>
            <a:endParaRPr lang="en-US" dirty="0"/>
          </a:p>
          <a:p>
            <a:pPr>
              <a:defRPr sz="2800">
                <a:solidFill>
                  <a:srgbClr val="000000"/>
                </a:solidFill>
              </a:defRPr>
            </a:pPr>
            <a:r>
              <a:rPr lang="en-US" dirty="0"/>
              <a:t>State-of-the-art performance</a:t>
            </a:r>
            <a:endParaRPr lang="en-US" dirty="0"/>
          </a:p>
        </p:txBody>
      </p:sp>
      <p:sp>
        <p:nvSpPr>
          <p:cNvPr id="4" name="Slide Number Placeholder 3"/>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dirty="0"/>
              <a:t>Transformer Model Architecture</a:t>
            </a:r>
            <a:endParaRPr lang="en-US" dirty="0"/>
          </a:p>
        </p:txBody>
      </p:sp>
      <p:sp>
        <p:nvSpPr>
          <p:cNvPr id="3" name="Content Placeholder 2"/>
          <p:cNvSpPr>
            <a:spLocks noGrp="1"/>
          </p:cNvSpPr>
          <p:nvPr>
            <p:ph idx="1"/>
          </p:nvPr>
        </p:nvSpPr>
        <p:spPr>
          <a:xfrm>
            <a:off x="838200" y="1825625"/>
            <a:ext cx="10515600" cy="4351338"/>
          </a:xfrm>
        </p:spPr>
        <p:txBody>
          <a:bodyPr/>
          <a:lstStyle/>
          <a:p>
            <a:r>
              <a:rPr lang="en-US" dirty="0"/>
              <a:t>Transformer model architecture consists of two components, or blocks:</a:t>
            </a:r>
            <a:endParaRPr lang="en-US" dirty="0"/>
          </a:p>
          <a:p>
            <a:pPr lvl="1"/>
            <a:r>
              <a:rPr lang="en-US" dirty="0"/>
              <a:t>An encoder block that creates semantic representations of the training vocabulary.</a:t>
            </a:r>
            <a:endParaRPr lang="en-US" dirty="0"/>
          </a:p>
          <a:p>
            <a:pPr lvl="1"/>
            <a:r>
              <a:rPr lang="en-US" dirty="0"/>
              <a:t>A decoder block that generates new language sequences.</a:t>
            </a:r>
            <a:endParaRPr lang="en-US" dirty="0"/>
          </a:p>
          <a:p>
            <a:endParaRPr lang="en-US" dirty="0"/>
          </a:p>
        </p:txBody>
      </p:sp>
      <p:sp>
        <p:nvSpPr>
          <p:cNvPr id="4" name="Slide Number Placeholder 3"/>
          <p:cNvSpPr>
            <a:spLocks noGrp="1"/>
          </p:cNvSpPr>
          <p:nvPr>
            <p:ph type="sldNum" sz="quarter" idx="12"/>
          </p:nvPr>
        </p:nvSpPr>
        <p:spPr>
          <a:xfrm>
            <a:off x="8610600" y="6356350"/>
            <a:ext cx="2743200" cy="365125"/>
          </a:xfrm>
        </p:spPr>
        <p:txBody>
          <a:bodyPr/>
          <a:lstStyle/>
          <a:p>
            <a:fld id="{7F8CBF50-853B-304C-BCA2-DB5146F0D4EA}" type="slidenum">
              <a:rPr lang="en-US" smtClean="0"/>
            </a:fld>
            <a:endParaRPr lang="en-US"/>
          </a:p>
        </p:txBody>
      </p:sp>
      <p:sp>
        <p:nvSpPr>
          <p:cNvPr id="8" name="TextBox 7"/>
          <p:cNvSpPr txBox="1"/>
          <p:nvPr/>
        </p:nvSpPr>
        <p:spPr>
          <a:xfrm>
            <a:off x="3088195" y="6400412"/>
            <a:ext cx="6015610" cy="276999"/>
          </a:xfrm>
          <a:prstGeom prst="rect">
            <a:avLst/>
          </a:prstGeom>
          <a:noFill/>
        </p:spPr>
        <p:txBody>
          <a:bodyPr wrap="square" rtlCol="0">
            <a:spAutoFit/>
          </a:bodyPr>
          <a:lstStyle/>
          <a:p>
            <a:pPr algn="ctr"/>
            <a:r>
              <a:rPr lang="en-US" altLang="zh-CN" sz="1200" dirty="0">
                <a:solidFill>
                  <a:schemeClr val="tx1">
                    <a:lumMod val="50000"/>
                    <a:lumOff val="50000"/>
                  </a:schemeClr>
                </a:solidFill>
              </a:rPr>
              <a:t>Source: </a:t>
            </a:r>
            <a:r>
              <a:rPr lang="en-US" sz="1200" dirty="0">
                <a:solidFill>
                  <a:schemeClr val="tx1">
                    <a:lumMod val="50000"/>
                    <a:lumOff val="50000"/>
                  </a:schemeClr>
                </a:solidFill>
              </a:rPr>
              <a:t>Microsoft Learn</a:t>
            </a:r>
            <a:endParaRPr lang="en-US" sz="1200" dirty="0">
              <a:solidFill>
                <a:schemeClr val="tx1">
                  <a:lumMod val="50000"/>
                  <a:lumOff val="50000"/>
                </a:schemeClr>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 name="Title 1"/>
          <p:cNvSpPr>
            <a:spLocks noGrp="1"/>
          </p:cNvSpPr>
          <p:nvPr>
            <p:ph type="title"/>
          </p:nvPr>
        </p:nvSpPr>
        <p:spPr>
          <a:xfrm>
            <a:off x="838200" y="365125"/>
            <a:ext cx="10515600" cy="1325563"/>
          </a:xfrm>
        </p:spPr>
        <p:txBody>
          <a:bodyPr/>
          <a:lstStyle/>
          <a:p>
            <a:r>
              <a:rPr lang="en-US" dirty="0"/>
              <a:t>Transformer Models</a:t>
            </a:r>
            <a:endParaRPr lang="en-US" dirty="0"/>
          </a:p>
        </p:txBody>
      </p:sp>
      <p:pic>
        <p:nvPicPr>
          <p:cNvPr id="1026" name="Picture 2" descr="Diagram of transformer model architecture with the encoder and decoder blocks."/>
          <p:cNvPicPr>
            <a:picLocks noGrp="1" noChangeAspect="1" noChangeArrowheads="1"/>
          </p:cNvPicPr>
          <p:nvPr>
            <p:ph idx="1"/>
          </p:nvPr>
        </p:nvPicPr>
        <p:blipFill>
          <a:blip r:embed="rId1"/>
          <a:stretch>
            <a:fillRect/>
          </a:stretch>
        </p:blipFill>
        <p:spPr bwMode="auto">
          <a:xfrm>
            <a:off x="1366284" y="1825625"/>
            <a:ext cx="9459431" cy="4351338"/>
          </a:xfrm>
          <a:prstGeom prst="rect">
            <a:avLst/>
          </a:prstGeom>
          <a:solidFill>
            <a:srgbClr val="FFFFFF"/>
          </a:solidFill>
        </p:spPr>
      </p:pic>
      <p:sp>
        <p:nvSpPr>
          <p:cNvPr id="4" name="Slide Number Placeholder 3"/>
          <p:cNvSpPr>
            <a:spLocks noGrp="1"/>
          </p:cNvSpPr>
          <p:nvPr>
            <p:ph type="sldNum" sz="quarter" idx="12"/>
          </p:nvPr>
        </p:nvSpPr>
        <p:spPr>
          <a:xfrm>
            <a:off x="8610600" y="6356350"/>
            <a:ext cx="2743200" cy="365125"/>
          </a:xfrm>
        </p:spPr>
        <p:txBody>
          <a:bodyPr anchor="ctr">
            <a:normAutofit/>
          </a:bodyPr>
          <a:lstStyle/>
          <a:p>
            <a:pPr>
              <a:spcAft>
                <a:spcPts val="600"/>
              </a:spcAft>
            </a:pPr>
            <a:fld id="{7F8CBF50-853B-304C-BCA2-DB5146F0D4EA}" type="slidenum">
              <a:rPr lang="en-US" smtClean="0"/>
            </a:fld>
            <a:endParaRPr lang="en-US"/>
          </a:p>
        </p:txBody>
      </p:sp>
      <p:sp>
        <p:nvSpPr>
          <p:cNvPr id="11" name="TextBox 10"/>
          <p:cNvSpPr txBox="1"/>
          <p:nvPr/>
        </p:nvSpPr>
        <p:spPr>
          <a:xfrm>
            <a:off x="3088195" y="6400412"/>
            <a:ext cx="6015610" cy="276999"/>
          </a:xfrm>
          <a:prstGeom prst="rect">
            <a:avLst/>
          </a:prstGeom>
          <a:noFill/>
        </p:spPr>
        <p:txBody>
          <a:bodyPr wrap="square" rtlCol="0">
            <a:spAutoFit/>
          </a:bodyPr>
          <a:lstStyle/>
          <a:p>
            <a:pPr algn="ctr"/>
            <a:r>
              <a:rPr lang="en-US" altLang="zh-CN" sz="1200" dirty="0">
                <a:solidFill>
                  <a:schemeClr val="tx1">
                    <a:lumMod val="50000"/>
                    <a:lumOff val="50000"/>
                  </a:schemeClr>
                </a:solidFill>
              </a:rPr>
              <a:t>Source: </a:t>
            </a:r>
            <a:r>
              <a:rPr lang="en-US" sz="1200" dirty="0">
                <a:solidFill>
                  <a:schemeClr val="tx1">
                    <a:lumMod val="50000"/>
                    <a:lumOff val="50000"/>
                  </a:schemeClr>
                </a:solidFill>
              </a:rPr>
              <a:t>Microsoft Learn</a:t>
            </a:r>
            <a:endParaRPr lang="en-US" sz="1200" dirty="0">
              <a:solidFill>
                <a:schemeClr val="tx1">
                  <a:lumMod val="50000"/>
                  <a:lumOff val="50000"/>
                </a:schemeClr>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Transformer Models</a:t>
            </a:r>
            <a:endParaRPr lang="en-US" dirty="0"/>
          </a:p>
        </p:txBody>
      </p:sp>
      <p:sp>
        <p:nvSpPr>
          <p:cNvPr id="3" name="Content Placeholder 2"/>
          <p:cNvSpPr>
            <a:spLocks noGrp="1"/>
          </p:cNvSpPr>
          <p:nvPr>
            <p:ph idx="1"/>
          </p:nvPr>
        </p:nvSpPr>
        <p:spPr>
          <a:xfrm>
            <a:off x="838200" y="1825625"/>
            <a:ext cx="10515600" cy="4351338"/>
          </a:xfrm>
        </p:spPr>
        <p:txBody>
          <a:bodyPr/>
          <a:lstStyle/>
          <a:p>
            <a:pPr marL="514350" indent="-514350">
              <a:buFont typeface="+mj-lt"/>
              <a:buAutoNum type="arabicPeriod"/>
            </a:pPr>
            <a:r>
              <a:rPr lang="en-US" dirty="0"/>
              <a:t>The model is trained using extensive natural language text.</a:t>
            </a:r>
            <a:endParaRPr lang="en-US" dirty="0"/>
          </a:p>
          <a:p>
            <a:pPr marL="514350" indent="-514350">
              <a:buFont typeface="+mj-lt"/>
              <a:buAutoNum type="arabicPeriod"/>
            </a:pPr>
            <a:r>
              <a:rPr lang="en-US" dirty="0"/>
              <a:t>Text sequences are </a:t>
            </a:r>
            <a:r>
              <a:rPr lang="en-US" dirty="0">
                <a:solidFill>
                  <a:schemeClr val="accent2"/>
                </a:solidFill>
              </a:rPr>
              <a:t>tokenized</a:t>
            </a:r>
            <a:r>
              <a:rPr lang="en-US" dirty="0"/>
              <a:t> and processed using </a:t>
            </a:r>
            <a:r>
              <a:rPr lang="en-US" dirty="0">
                <a:solidFill>
                  <a:schemeClr val="accent2"/>
                </a:solidFill>
              </a:rPr>
              <a:t>attention</a:t>
            </a:r>
            <a:r>
              <a:rPr lang="en-US" dirty="0"/>
              <a:t> to identify relationships between tokens.</a:t>
            </a:r>
            <a:endParaRPr lang="en-US" dirty="0"/>
          </a:p>
          <a:p>
            <a:pPr marL="514350" indent="-514350">
              <a:buFont typeface="+mj-lt"/>
              <a:buAutoNum type="arabicPeriod"/>
            </a:pPr>
            <a:r>
              <a:rPr lang="en-US" dirty="0"/>
              <a:t>The encoder generates </a:t>
            </a:r>
            <a:r>
              <a:rPr lang="en-US" dirty="0">
                <a:solidFill>
                  <a:schemeClr val="accent2"/>
                </a:solidFill>
              </a:rPr>
              <a:t>embeddings</a:t>
            </a:r>
            <a:r>
              <a:rPr lang="en-US" dirty="0"/>
              <a:t>, representing semantic attributes of tokens.</a:t>
            </a:r>
            <a:endParaRPr lang="en-US" dirty="0"/>
          </a:p>
          <a:p>
            <a:pPr marL="514350" indent="-514350">
              <a:buFont typeface="+mj-lt"/>
              <a:buAutoNum type="arabicPeriod"/>
            </a:pPr>
            <a:r>
              <a:rPr lang="en-US" dirty="0"/>
              <a:t>The decoder uses these </a:t>
            </a:r>
            <a:r>
              <a:rPr lang="en-US" dirty="0">
                <a:solidFill>
                  <a:schemeClr val="accent2"/>
                </a:solidFill>
              </a:rPr>
              <a:t>embeddings</a:t>
            </a:r>
            <a:r>
              <a:rPr lang="en-US" dirty="0"/>
              <a:t> to produce coherent natural language output.</a:t>
            </a:r>
            <a:endParaRPr lang="en-US" dirty="0"/>
          </a:p>
          <a:p>
            <a:pPr marL="514350" indent="-514350">
              <a:buFont typeface="+mj-lt"/>
              <a:buAutoNum type="arabicPeriod"/>
            </a:pPr>
            <a:r>
              <a:rPr lang="en-US" dirty="0"/>
              <a:t>For instance, given the input "When my dog was," the model can predict an appropriate continuation like "a puppy."</a:t>
            </a:r>
            <a:endParaRPr lang="en-US" dirty="0"/>
          </a:p>
        </p:txBody>
      </p:sp>
      <p:sp>
        <p:nvSpPr>
          <p:cNvPr id="4" name="Slide Number Placeholder 3"/>
          <p:cNvSpPr>
            <a:spLocks noGrp="1"/>
          </p:cNvSpPr>
          <p:nvPr>
            <p:ph type="sldNum" sz="quarter" idx="12"/>
          </p:nvPr>
        </p:nvSpPr>
        <p:spPr>
          <a:xfrm>
            <a:off x="8610600" y="6356350"/>
            <a:ext cx="2743200" cy="365125"/>
          </a:xfrm>
        </p:spPr>
        <p:txBody>
          <a:bodyPr/>
          <a:lstStyle/>
          <a:p>
            <a:fld id="{7F8CBF50-853B-304C-BCA2-DB5146F0D4EA}" type="slidenum">
              <a:rPr lang="en-US" smtClean="0"/>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dirty="0"/>
              <a:t>Tokenization</a:t>
            </a:r>
            <a:endParaRPr lang="en-US" dirty="0"/>
          </a:p>
        </p:txBody>
      </p:sp>
      <p:sp>
        <p:nvSpPr>
          <p:cNvPr id="3" name="Content Placeholder 2"/>
          <p:cNvSpPr>
            <a:spLocks noGrp="1"/>
          </p:cNvSpPr>
          <p:nvPr>
            <p:ph idx="1"/>
          </p:nvPr>
        </p:nvSpPr>
        <p:spPr>
          <a:xfrm>
            <a:off x="838200" y="1825625"/>
            <a:ext cx="10515600" cy="4351338"/>
          </a:xfrm>
        </p:spPr>
        <p:txBody>
          <a:bodyPr>
            <a:normAutofit fontScale="77500" lnSpcReduction="20000"/>
          </a:bodyPr>
          <a:lstStyle/>
          <a:p>
            <a:r>
              <a:rPr lang="en-US" dirty="0"/>
              <a:t>The first step in training a transformer model is to decompose the training text into tokens - in other words, identify each unique text value.</a:t>
            </a:r>
            <a:endParaRPr lang="en-US" dirty="0"/>
          </a:p>
          <a:p>
            <a:r>
              <a:rPr lang="en-US" dirty="0"/>
              <a:t>“I heard a dog bark loudly at a cat” can be represented with the tokens: {1 2 3 4 5 6 7 3 8}</a:t>
            </a:r>
            <a:endParaRPr lang="en-US" dirty="0"/>
          </a:p>
          <a:p>
            <a:r>
              <a:rPr lang="en-US" dirty="0"/>
              <a:t>- I (1)</a:t>
            </a:r>
            <a:endParaRPr lang="en-US" dirty="0"/>
          </a:p>
          <a:p>
            <a:r>
              <a:rPr lang="en-US" dirty="0"/>
              <a:t>- heard (2)</a:t>
            </a:r>
            <a:endParaRPr lang="en-US" dirty="0"/>
          </a:p>
          <a:p>
            <a:r>
              <a:rPr lang="en-US" dirty="0"/>
              <a:t>- a (3)</a:t>
            </a:r>
            <a:endParaRPr lang="en-US" dirty="0"/>
          </a:p>
          <a:p>
            <a:r>
              <a:rPr lang="en-US" dirty="0"/>
              <a:t>- dog (4)</a:t>
            </a:r>
            <a:endParaRPr lang="en-US" dirty="0"/>
          </a:p>
          <a:p>
            <a:r>
              <a:rPr lang="en-US" dirty="0"/>
              <a:t>- bark (5)</a:t>
            </a:r>
            <a:endParaRPr lang="en-US" dirty="0"/>
          </a:p>
          <a:p>
            <a:r>
              <a:rPr lang="en-US" dirty="0"/>
              <a:t>- loudly (6)</a:t>
            </a:r>
            <a:endParaRPr lang="en-US" dirty="0"/>
          </a:p>
          <a:p>
            <a:r>
              <a:rPr lang="en-US" dirty="0"/>
              <a:t>- at (7)</a:t>
            </a:r>
            <a:endParaRPr lang="en-US" dirty="0"/>
          </a:p>
          <a:p>
            <a:r>
              <a:rPr lang="en-US" dirty="0"/>
              <a:t>- *("a" is already tokenized as 3)*</a:t>
            </a:r>
            <a:endParaRPr lang="en-US" dirty="0"/>
          </a:p>
          <a:p>
            <a:r>
              <a:rPr lang="en-US" dirty="0"/>
              <a:t>- cat (8)</a:t>
            </a:r>
            <a:endParaRPr lang="en-US" dirty="0"/>
          </a:p>
        </p:txBody>
      </p:sp>
      <p:sp>
        <p:nvSpPr>
          <p:cNvPr id="4" name="Slide Number Placeholder 3"/>
          <p:cNvSpPr>
            <a:spLocks noGrp="1"/>
          </p:cNvSpPr>
          <p:nvPr>
            <p:ph type="sldNum" sz="quarter" idx="12"/>
          </p:nvPr>
        </p:nvSpPr>
        <p:spPr>
          <a:xfrm>
            <a:off x="8610600" y="6356350"/>
            <a:ext cx="2743200" cy="365125"/>
          </a:xfrm>
        </p:spPr>
        <p:txBody>
          <a:bodyPr/>
          <a:lstStyle/>
          <a:p>
            <a:fld id="{7F8CBF50-853B-304C-BCA2-DB5146F0D4EA}" type="slidenum">
              <a:rPr lang="en-US" smtClean="0"/>
            </a:fld>
            <a:endParaRPr lang="en-US"/>
          </a:p>
        </p:txBody>
      </p:sp>
      <p:sp>
        <p:nvSpPr>
          <p:cNvPr id="14" name="TextBox 13"/>
          <p:cNvSpPr txBox="1"/>
          <p:nvPr/>
        </p:nvSpPr>
        <p:spPr>
          <a:xfrm>
            <a:off x="3088195" y="6400412"/>
            <a:ext cx="6015610" cy="276999"/>
          </a:xfrm>
          <a:prstGeom prst="rect">
            <a:avLst/>
          </a:prstGeom>
          <a:noFill/>
        </p:spPr>
        <p:txBody>
          <a:bodyPr wrap="square" rtlCol="0">
            <a:spAutoFit/>
          </a:bodyPr>
          <a:lstStyle/>
          <a:p>
            <a:pPr algn="ctr"/>
            <a:r>
              <a:rPr lang="en-US" altLang="zh-CN" sz="1200" dirty="0">
                <a:solidFill>
                  <a:schemeClr val="tx1">
                    <a:lumMod val="50000"/>
                    <a:lumOff val="50000"/>
                  </a:schemeClr>
                </a:solidFill>
              </a:rPr>
              <a:t>Source: </a:t>
            </a:r>
            <a:r>
              <a:rPr lang="en-US" sz="1200" dirty="0">
                <a:solidFill>
                  <a:schemeClr val="tx1">
                    <a:lumMod val="50000"/>
                    <a:lumOff val="50000"/>
                  </a:schemeClr>
                </a:solidFill>
              </a:rPr>
              <a:t>Microsoft Learn</a:t>
            </a:r>
            <a:endParaRPr lang="en-US" sz="1200" dirty="0">
              <a:solidFill>
                <a:schemeClr val="tx1">
                  <a:lumMod val="50000"/>
                  <a:lumOff val="50000"/>
                </a:schemeClr>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1013" y="3752849"/>
            <a:ext cx="3290887" cy="2452687"/>
          </a:xfrm>
        </p:spPr>
        <p:txBody>
          <a:bodyPr anchor="ctr">
            <a:normAutofit/>
          </a:bodyPr>
          <a:lstStyle/>
          <a:p>
            <a:r>
              <a:rPr lang="en-US" sz="3600"/>
              <a:t>Tokenization</a:t>
            </a:r>
            <a:endParaRPr lang="en-US" sz="3600"/>
          </a:p>
        </p:txBody>
      </p:sp>
      <p:pic>
        <p:nvPicPr>
          <p:cNvPr id="1026" name="Picture 2" descr="Example of tokenization"/>
          <p:cNvPicPr>
            <a:picLocks noChangeAspect="1" noChangeArrowheads="1"/>
          </p:cNvPicPr>
          <p:nvPr/>
        </p:nvPicPr>
        <p:blipFill>
          <a:blip r:embed="rId1"/>
          <a:srcRect r="607"/>
          <a:stretch>
            <a:fillRect/>
          </a:stretch>
        </p:blipFill>
        <p:spPr bwMode="auto">
          <a:xfrm>
            <a:off x="20" y="10"/>
            <a:ext cx="12191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1"/>
          </p:nvPr>
        </p:nvSpPr>
        <p:spPr>
          <a:xfrm>
            <a:off x="4223982" y="3752850"/>
            <a:ext cx="7485413" cy="2452687"/>
          </a:xfrm>
        </p:spPr>
        <p:txBody>
          <a:bodyPr anchor="ctr">
            <a:normAutofit lnSpcReduction="10000"/>
          </a:bodyPr>
          <a:lstStyle/>
          <a:p>
            <a:r>
              <a:rPr lang="en-US" sz="1800" dirty="0">
                <a:solidFill>
                  <a:schemeClr val="accent2"/>
                </a:solidFill>
              </a:rPr>
              <a:t>Tokens</a:t>
            </a:r>
            <a:r>
              <a:rPr lang="en-US" sz="1800" dirty="0"/>
              <a:t> are common sequences of characters found in a set of text.</a:t>
            </a:r>
            <a:endParaRPr lang="en-US" sz="1800" dirty="0"/>
          </a:p>
          <a:p>
            <a:r>
              <a:rPr lang="en-US" sz="1800" dirty="0"/>
              <a:t>A </a:t>
            </a:r>
            <a:r>
              <a:rPr lang="en-US" sz="1800" dirty="0">
                <a:solidFill>
                  <a:schemeClr val="accent2"/>
                </a:solidFill>
              </a:rPr>
              <a:t>tokenizer</a:t>
            </a:r>
            <a:r>
              <a:rPr lang="en-US" sz="1800" dirty="0"/>
              <a:t> is used to split an input text into an array of tokens.</a:t>
            </a:r>
            <a:endParaRPr lang="en-US" sz="1800" dirty="0"/>
          </a:p>
          <a:p>
            <a:r>
              <a:rPr lang="en-US" sz="1800" dirty="0"/>
              <a:t>The exact </a:t>
            </a:r>
            <a:r>
              <a:rPr lang="en-US" sz="1800" dirty="0">
                <a:solidFill>
                  <a:schemeClr val="accent2"/>
                </a:solidFill>
              </a:rPr>
              <a:t>tokenization</a:t>
            </a:r>
            <a:r>
              <a:rPr lang="en-US" sz="1800" dirty="0"/>
              <a:t> process varies between models.</a:t>
            </a:r>
            <a:endParaRPr lang="en-US" sz="1800" dirty="0"/>
          </a:p>
          <a:p>
            <a:r>
              <a:rPr lang="en-US" sz="1800" dirty="0"/>
              <a:t>Each token is mapped with a </a:t>
            </a:r>
            <a:r>
              <a:rPr lang="en-US" sz="1800" dirty="0">
                <a:solidFill>
                  <a:schemeClr val="accent2"/>
                </a:solidFill>
              </a:rPr>
              <a:t>token index</a:t>
            </a:r>
            <a:r>
              <a:rPr lang="en-US" sz="1800" dirty="0"/>
              <a:t>, which is the integer encoding of the original text chunk.</a:t>
            </a:r>
            <a:endParaRPr lang="en-US" sz="1800" dirty="0"/>
          </a:p>
          <a:p>
            <a:r>
              <a:rPr lang="en-US" sz="1800" dirty="0"/>
              <a:t>One token generally corresponds to ~4 characters of text for common English text. This translates to roughly </a:t>
            </a:r>
            <a:r>
              <a:rPr lang="en-US" sz="1800" dirty="0">
                <a:solidFill>
                  <a:schemeClr val="accent2"/>
                </a:solidFill>
              </a:rPr>
              <a:t>¾</a:t>
            </a:r>
            <a:r>
              <a:rPr lang="en-US" sz="1800" dirty="0"/>
              <a:t> of a word (so 100 tokens ~= 75 words).</a:t>
            </a:r>
            <a:endParaRPr lang="en-US" sz="1800" dirty="0"/>
          </a:p>
        </p:txBody>
      </p:sp>
      <p:sp>
        <p:nvSpPr>
          <p:cNvPr id="4" name="Slide Number Placeholder 3"/>
          <p:cNvSpPr>
            <a:spLocks noGrp="1"/>
          </p:cNvSpPr>
          <p:nvPr>
            <p:ph type="sldNum" sz="quarter" idx="12"/>
          </p:nvPr>
        </p:nvSpPr>
        <p:spPr>
          <a:xfrm>
            <a:off x="8864600" y="6356350"/>
            <a:ext cx="2743200" cy="365125"/>
          </a:xfrm>
        </p:spPr>
        <p:txBody>
          <a:bodyPr>
            <a:normAutofit/>
          </a:bodyPr>
          <a:lstStyle/>
          <a:p>
            <a:pPr>
              <a:spcAft>
                <a:spcPts val="600"/>
              </a:spcAft>
            </a:pPr>
            <a:fld id="{7F8CBF50-853B-304C-BCA2-DB5146F0D4EA}" type="slidenum">
              <a:rPr lang="en-US">
                <a:solidFill>
                  <a:schemeClr val="tx1">
                    <a:lumMod val="75000"/>
                    <a:lumOff val="25000"/>
                  </a:schemeClr>
                </a:solidFill>
              </a:rPr>
            </a:fld>
            <a:endParaRPr lang="en-US">
              <a:solidFill>
                <a:schemeClr val="tx1">
                  <a:lumMod val="75000"/>
                  <a:lumOff val="25000"/>
                </a:schemeClr>
              </a:solidFill>
            </a:endParaRPr>
          </a:p>
        </p:txBody>
      </p:sp>
      <p:sp>
        <p:nvSpPr>
          <p:cNvPr id="5" name="TextBox 4"/>
          <p:cNvSpPr txBox="1"/>
          <p:nvPr/>
        </p:nvSpPr>
        <p:spPr>
          <a:xfrm>
            <a:off x="3023556" y="6400412"/>
            <a:ext cx="7857804" cy="276999"/>
          </a:xfrm>
          <a:prstGeom prst="rect">
            <a:avLst/>
          </a:prstGeom>
          <a:noFill/>
        </p:spPr>
        <p:txBody>
          <a:bodyPr wrap="square" rtlCol="0">
            <a:spAutoFit/>
          </a:bodyPr>
          <a:lstStyle/>
          <a:p>
            <a:pPr algn="ctr"/>
            <a:r>
              <a:rPr lang="en-US" altLang="zh-CN" sz="1200" dirty="0">
                <a:solidFill>
                  <a:schemeClr val="tx1">
                    <a:lumMod val="50000"/>
                    <a:lumOff val="50000"/>
                  </a:schemeClr>
                </a:solidFill>
              </a:rPr>
              <a:t>Source: </a:t>
            </a:r>
            <a:r>
              <a:rPr lang="en-US" sz="1200" dirty="0">
                <a:solidFill>
                  <a:schemeClr val="tx1">
                    <a:lumMod val="50000"/>
                    <a:lumOff val="50000"/>
                  </a:schemeClr>
                </a:solidFill>
              </a:rPr>
              <a:t>https://</a:t>
            </a:r>
            <a:r>
              <a:rPr lang="en-US" sz="1200" dirty="0" err="1">
                <a:solidFill>
                  <a:schemeClr val="tx1">
                    <a:lumMod val="50000"/>
                    <a:lumOff val="50000"/>
                  </a:schemeClr>
                </a:solidFill>
              </a:rPr>
              <a:t>platform.openai.com</a:t>
            </a:r>
            <a:r>
              <a:rPr lang="en-US" sz="1200" dirty="0">
                <a:solidFill>
                  <a:schemeClr val="tx1">
                    <a:lumMod val="50000"/>
                    <a:lumOff val="50000"/>
                  </a:schemeClr>
                </a:solidFill>
              </a:rPr>
              <a:t>/tokenizer</a:t>
            </a:r>
            <a:endParaRPr lang="en-US" sz="1200" dirty="0">
              <a:solidFill>
                <a:schemeClr val="tx1">
                  <a:lumMod val="50000"/>
                  <a:lumOff val="50000"/>
                </a:schemeClr>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dirty="0"/>
              <a:t>Attention</a:t>
            </a:r>
            <a:endParaRPr lang="en-US" dirty="0"/>
          </a:p>
        </p:txBody>
      </p:sp>
      <p:sp>
        <p:nvSpPr>
          <p:cNvPr id="10" name="Content Placeholder 9"/>
          <p:cNvSpPr>
            <a:spLocks noGrp="1"/>
          </p:cNvSpPr>
          <p:nvPr>
            <p:ph idx="1"/>
          </p:nvPr>
        </p:nvSpPr>
        <p:spPr>
          <a:xfrm>
            <a:off x="838200" y="1825625"/>
            <a:ext cx="10515600" cy="4351338"/>
          </a:xfrm>
        </p:spPr>
        <p:txBody>
          <a:bodyPr/>
          <a:lstStyle/>
          <a:p>
            <a:r>
              <a:rPr lang="en-US" dirty="0"/>
              <a:t>Attention is a technique used to examine a sequence of text tokens and try to quantify the strength of the relationships between them. </a:t>
            </a:r>
            <a:endParaRPr lang="en-US" dirty="0"/>
          </a:p>
          <a:p>
            <a:r>
              <a:rPr lang="en-US" dirty="0"/>
              <a:t>In particular, self-attention involves considering how other tokens around one particular token influence that token's meaning.</a:t>
            </a:r>
            <a:endParaRPr lang="en-US" dirty="0"/>
          </a:p>
        </p:txBody>
      </p:sp>
      <p:sp>
        <p:nvSpPr>
          <p:cNvPr id="5" name="Slide Number Placeholder 4"/>
          <p:cNvSpPr>
            <a:spLocks noGrp="1"/>
          </p:cNvSpPr>
          <p:nvPr>
            <p:ph type="sldNum" sz="quarter" idx="12"/>
          </p:nvPr>
        </p:nvSpPr>
        <p:spPr>
          <a:xfrm>
            <a:off x="8610600" y="6356350"/>
            <a:ext cx="2743200" cy="365125"/>
          </a:xfrm>
        </p:spPr>
        <p:txBody>
          <a:bodyPr/>
          <a:lstStyle/>
          <a:p>
            <a:fld id="{7F8CBF50-853B-304C-BCA2-DB5146F0D4EA}" type="slidenum">
              <a:rPr lang="en-US" smtClean="0"/>
            </a:fld>
            <a:endParaRPr lang="en-US"/>
          </a:p>
        </p:txBody>
      </p:sp>
      <p:sp>
        <p:nvSpPr>
          <p:cNvPr id="3" name="TextBox 2"/>
          <p:cNvSpPr txBox="1"/>
          <p:nvPr/>
        </p:nvSpPr>
        <p:spPr>
          <a:xfrm>
            <a:off x="3088195" y="6400412"/>
            <a:ext cx="6015610" cy="276999"/>
          </a:xfrm>
          <a:prstGeom prst="rect">
            <a:avLst/>
          </a:prstGeom>
          <a:noFill/>
        </p:spPr>
        <p:txBody>
          <a:bodyPr wrap="square" rtlCol="0">
            <a:spAutoFit/>
          </a:bodyPr>
          <a:lstStyle/>
          <a:p>
            <a:pPr algn="ctr"/>
            <a:r>
              <a:rPr lang="en-US" altLang="zh-CN" sz="1200" dirty="0">
                <a:solidFill>
                  <a:schemeClr val="tx1">
                    <a:lumMod val="50000"/>
                    <a:lumOff val="50000"/>
                  </a:schemeClr>
                </a:solidFill>
              </a:rPr>
              <a:t>Source: </a:t>
            </a:r>
            <a:r>
              <a:rPr lang="en-US" sz="1200" dirty="0">
                <a:solidFill>
                  <a:schemeClr val="tx1">
                    <a:lumMod val="50000"/>
                    <a:lumOff val="50000"/>
                  </a:schemeClr>
                </a:solidFill>
              </a:rPr>
              <a:t>Microsoft Learn</a:t>
            </a:r>
            <a:endParaRPr lang="en-US" sz="1200" dirty="0">
              <a:solidFill>
                <a:schemeClr val="tx1">
                  <a:lumMod val="50000"/>
                  <a:lumOff val="50000"/>
                </a:schemeClr>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Attention: making … more difficult</a:t>
            </a:r>
            <a:endParaRPr lang="en-US" dirty="0"/>
          </a:p>
        </p:txBody>
      </p:sp>
      <p:pic>
        <p:nvPicPr>
          <p:cNvPr id="5" name="Content Placeholder 4"/>
          <p:cNvPicPr>
            <a:picLocks noGrp="1" noChangeAspect="1"/>
          </p:cNvPicPr>
          <p:nvPr>
            <p:ph idx="1"/>
          </p:nvPr>
        </p:nvPicPr>
        <p:blipFill>
          <a:blip r:embed="rId1"/>
          <a:stretch>
            <a:fillRect/>
          </a:stretch>
        </p:blipFill>
        <p:spPr>
          <a:xfrm>
            <a:off x="1065940" y="1290918"/>
            <a:ext cx="10287860" cy="5567082"/>
          </a:xfrm>
          <a:prstGeom prst="rect">
            <a:avLst/>
          </a:prstGeom>
        </p:spPr>
      </p:pic>
      <p:sp>
        <p:nvSpPr>
          <p:cNvPr id="4" name="Slide Number Placeholder 3"/>
          <p:cNvSpPr>
            <a:spLocks noGrp="1"/>
          </p:cNvSpPr>
          <p:nvPr>
            <p:ph type="sldNum" sz="quarter" idx="12"/>
          </p:nvPr>
        </p:nvSpPr>
        <p:spPr/>
        <p:txBody>
          <a:bodyPr/>
          <a:lstStyle/>
          <a:p>
            <a:fld id="{7F8CBF50-853B-304C-BCA2-DB5146F0D4EA}" type="slidenum">
              <a:rPr lang="en-US" smtClean="0"/>
            </a:fld>
            <a:endParaRPr lang="en-US"/>
          </a:p>
        </p:txBody>
      </p:sp>
      <p:sp>
        <p:nvSpPr>
          <p:cNvPr id="6" name="TextBox 5"/>
          <p:cNvSpPr txBox="1"/>
          <p:nvPr/>
        </p:nvSpPr>
        <p:spPr>
          <a:xfrm>
            <a:off x="-720012" y="6400412"/>
            <a:ext cx="6015610" cy="276999"/>
          </a:xfrm>
          <a:prstGeom prst="rect">
            <a:avLst/>
          </a:prstGeom>
          <a:noFill/>
        </p:spPr>
        <p:txBody>
          <a:bodyPr wrap="square" rtlCol="0">
            <a:spAutoFit/>
          </a:bodyPr>
          <a:lstStyle/>
          <a:p>
            <a:pPr algn="ctr"/>
            <a:r>
              <a:rPr lang="en-US" altLang="zh-CN" sz="1200" dirty="0">
                <a:solidFill>
                  <a:schemeClr val="tx1">
                    <a:lumMod val="50000"/>
                    <a:lumOff val="50000"/>
                  </a:schemeClr>
                </a:solidFill>
              </a:rPr>
              <a:t>Source: </a:t>
            </a:r>
            <a:r>
              <a:rPr lang="en-US" sz="1200" dirty="0">
                <a:solidFill>
                  <a:schemeClr val="tx1">
                    <a:lumMod val="50000"/>
                    <a:lumOff val="50000"/>
                  </a:schemeClr>
                </a:solidFill>
              </a:rPr>
              <a:t>Attention is All You Need</a:t>
            </a:r>
            <a:endParaRPr lang="en-US" sz="1200" dirty="0">
              <a:solidFill>
                <a:schemeClr val="tx1">
                  <a:lumMod val="50000"/>
                  <a:lumOff val="50000"/>
                </a:schemeClr>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838200" y="365125"/>
            <a:ext cx="10515600" cy="1325563"/>
          </a:xfrm>
        </p:spPr>
        <p:txBody>
          <a:bodyPr/>
          <a:lstStyle/>
          <a:p>
            <a:r>
              <a:rPr lang="en-US" dirty="0"/>
              <a:t>Embeddings</a:t>
            </a:r>
            <a:endParaRPr lang="en-US" dirty="0"/>
          </a:p>
        </p:txBody>
      </p:sp>
      <p:sp>
        <p:nvSpPr>
          <p:cNvPr id="7" name="Content Placeholder 6"/>
          <p:cNvSpPr>
            <a:spLocks noGrp="1"/>
          </p:cNvSpPr>
          <p:nvPr>
            <p:ph idx="1"/>
          </p:nvPr>
        </p:nvSpPr>
        <p:spPr>
          <a:xfrm>
            <a:off x="838200" y="1825625"/>
            <a:ext cx="10515600" cy="4351338"/>
          </a:xfrm>
        </p:spPr>
        <p:txBody>
          <a:bodyPr>
            <a:normAutofit fontScale="92500" lnSpcReduction="10000"/>
          </a:bodyPr>
          <a:lstStyle/>
          <a:p>
            <a:r>
              <a:rPr lang="en-US" dirty="0"/>
              <a:t>While it may be convenient to represent tokens as </a:t>
            </a:r>
            <a:r>
              <a:rPr lang="en-US" dirty="0">
                <a:solidFill>
                  <a:schemeClr val="accent2"/>
                </a:solidFill>
              </a:rPr>
              <a:t>simple IDs - essentially creating an index for all the words in the vocabulary</a:t>
            </a:r>
            <a:r>
              <a:rPr lang="en-US" dirty="0"/>
              <a:t>, they don't tell us anything about the meaning of the words, or the relationships between them.</a:t>
            </a:r>
            <a:endParaRPr lang="en-US" dirty="0"/>
          </a:p>
          <a:p>
            <a:r>
              <a:rPr lang="en-US" dirty="0"/>
              <a:t>To create a vocabulary that encapsulates </a:t>
            </a:r>
            <a:r>
              <a:rPr lang="en-US" dirty="0">
                <a:solidFill>
                  <a:schemeClr val="accent2"/>
                </a:solidFill>
              </a:rPr>
              <a:t>semantic</a:t>
            </a:r>
            <a:r>
              <a:rPr lang="en-US" dirty="0"/>
              <a:t> relationships between the tokens, we define contextual vectors, known as embeddings, for them. </a:t>
            </a:r>
            <a:endParaRPr lang="en-US" dirty="0"/>
          </a:p>
          <a:p>
            <a:r>
              <a:rPr lang="en-US" dirty="0"/>
              <a:t>Vectors are multi-valued numeric representations of information, for example [10, 3, 1] in which each numeric element represents a particular attribute of the information. </a:t>
            </a:r>
            <a:endParaRPr lang="en-US" dirty="0"/>
          </a:p>
          <a:p>
            <a:r>
              <a:rPr lang="en-US" dirty="0"/>
              <a:t>Vectors represent lines in multidimensional space, describing </a:t>
            </a:r>
            <a:r>
              <a:rPr lang="en-US" i="1" dirty="0"/>
              <a:t>direction</a:t>
            </a:r>
            <a:r>
              <a:rPr lang="en-US" dirty="0"/>
              <a:t> and </a:t>
            </a:r>
            <a:r>
              <a:rPr lang="en-US" i="1" dirty="0"/>
              <a:t>distance</a:t>
            </a:r>
            <a:r>
              <a:rPr lang="en-US" dirty="0"/>
              <a:t> (or amplitude and magnitude) along multiple axes.</a:t>
            </a:r>
            <a:endParaRPr lang="en-US" dirty="0"/>
          </a:p>
        </p:txBody>
      </p:sp>
      <p:sp>
        <p:nvSpPr>
          <p:cNvPr id="5" name="Slide Number Placeholder 4"/>
          <p:cNvSpPr>
            <a:spLocks noGrp="1"/>
          </p:cNvSpPr>
          <p:nvPr>
            <p:ph type="sldNum" sz="quarter" idx="12"/>
          </p:nvPr>
        </p:nvSpPr>
        <p:spPr>
          <a:xfrm>
            <a:off x="8610600" y="6356350"/>
            <a:ext cx="2743200" cy="365125"/>
          </a:xfrm>
        </p:spPr>
        <p:txBody>
          <a:bodyPr/>
          <a:lstStyle/>
          <a:p>
            <a:fld id="{7F8CBF50-853B-304C-BCA2-DB5146F0D4EA}" type="slidenum">
              <a:rPr lang="en-US" smtClean="0"/>
            </a:fld>
            <a:endParaRPr lang="en-US"/>
          </a:p>
        </p:txBody>
      </p:sp>
      <p:sp>
        <p:nvSpPr>
          <p:cNvPr id="11" name="TextBox 10"/>
          <p:cNvSpPr txBox="1"/>
          <p:nvPr/>
        </p:nvSpPr>
        <p:spPr>
          <a:xfrm>
            <a:off x="3088195" y="6400412"/>
            <a:ext cx="6015610" cy="276999"/>
          </a:xfrm>
          <a:prstGeom prst="rect">
            <a:avLst/>
          </a:prstGeom>
          <a:noFill/>
        </p:spPr>
        <p:txBody>
          <a:bodyPr wrap="square" rtlCol="0">
            <a:spAutoFit/>
          </a:bodyPr>
          <a:lstStyle/>
          <a:p>
            <a:pPr algn="ctr"/>
            <a:r>
              <a:rPr lang="en-US" altLang="zh-CN" sz="1200" dirty="0">
                <a:solidFill>
                  <a:schemeClr val="tx1">
                    <a:lumMod val="50000"/>
                    <a:lumOff val="50000"/>
                  </a:schemeClr>
                </a:solidFill>
              </a:rPr>
              <a:t>Source: </a:t>
            </a:r>
            <a:r>
              <a:rPr lang="en-US" sz="1200" dirty="0">
                <a:solidFill>
                  <a:schemeClr val="tx1">
                    <a:lumMod val="50000"/>
                    <a:lumOff val="50000"/>
                  </a:schemeClr>
                </a:solidFill>
              </a:rPr>
              <a:t>Microsoft Learn</a:t>
            </a:r>
            <a:endParaRPr lang="en-US" sz="1200" dirty="0">
              <a:solidFill>
                <a:schemeClr val="tx1">
                  <a:lumMod val="50000"/>
                  <a:lumOff val="50000"/>
                </a:schemeClr>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chor="ctr">
            <a:normAutofit/>
          </a:bodyPr>
          <a:lstStyle/>
          <a:p>
            <a:r>
              <a:rPr lang="en-US"/>
              <a:t>Embeddings</a:t>
            </a:r>
            <a:endParaRPr lang="en-US" dirty="0"/>
          </a:p>
        </p:txBody>
      </p:sp>
      <p:sp>
        <p:nvSpPr>
          <p:cNvPr id="5" name="Content Placeholder 4"/>
          <p:cNvSpPr>
            <a:spLocks noGrp="1"/>
          </p:cNvSpPr>
          <p:nvPr>
            <p:ph sz="half" idx="1"/>
          </p:nvPr>
        </p:nvSpPr>
        <p:spPr>
          <a:xfrm>
            <a:off x="838200" y="1825625"/>
            <a:ext cx="4427136" cy="4351338"/>
          </a:xfrm>
        </p:spPr>
        <p:txBody>
          <a:bodyPr>
            <a:normAutofit/>
          </a:bodyPr>
          <a:lstStyle/>
          <a:p>
            <a:r>
              <a:rPr lang="en-US" dirty="0"/>
              <a:t>4 ("dog"): [10,3,2]</a:t>
            </a:r>
            <a:endParaRPr lang="en-US" dirty="0"/>
          </a:p>
          <a:p>
            <a:r>
              <a:rPr lang="en-US" dirty="0"/>
              <a:t>8 ("cat"): [10,3,1]</a:t>
            </a:r>
            <a:endParaRPr lang="en-US" dirty="0"/>
          </a:p>
          <a:p>
            <a:r>
              <a:rPr lang="en-US" dirty="0"/>
              <a:t>9 ("puppy"): [5,2,1]</a:t>
            </a:r>
            <a:endParaRPr lang="en-US" dirty="0"/>
          </a:p>
          <a:p>
            <a:r>
              <a:rPr lang="en-US" dirty="0"/>
              <a:t>10 ("skateboard"): [-3,3,2]</a:t>
            </a:r>
            <a:endParaRPr lang="en-US" dirty="0"/>
          </a:p>
          <a:p>
            <a:endParaRPr lang="en-US" dirty="0"/>
          </a:p>
          <a:p>
            <a:r>
              <a:rPr lang="en-US" dirty="0"/>
              <a:t>Semantically similar tokens point in the same direction.</a:t>
            </a:r>
            <a:endParaRPr lang="en-US" dirty="0"/>
          </a:p>
          <a:p>
            <a:endParaRPr lang="en-US" dirty="0"/>
          </a:p>
        </p:txBody>
      </p:sp>
      <p:pic>
        <p:nvPicPr>
          <p:cNvPr id="2050" name="Picture 2" descr="Diagram of token vectors plotted in three dimensional space."/>
          <p:cNvPicPr>
            <a:picLocks noGrp="1" noChangeAspect="1" noChangeArrowheads="1"/>
          </p:cNvPicPr>
          <p:nvPr>
            <p:ph sz="half" idx="2"/>
          </p:nvPr>
        </p:nvPicPr>
        <p:blipFill>
          <a:blip r:embed="rId1"/>
          <a:stretch>
            <a:fillRect/>
          </a:stretch>
        </p:blipFill>
        <p:spPr bwMode="auto">
          <a:xfrm>
            <a:off x="5207286" y="1690688"/>
            <a:ext cx="6885570" cy="3735422"/>
          </a:xfrm>
          <a:solidFill>
            <a:srgbClr val="FFFFFF"/>
          </a:solidFill>
        </p:spPr>
      </p:pic>
      <p:sp>
        <p:nvSpPr>
          <p:cNvPr id="4" name="Slide Number Placeholder 3"/>
          <p:cNvSpPr>
            <a:spLocks noGrp="1"/>
          </p:cNvSpPr>
          <p:nvPr>
            <p:ph type="sldNum" sz="quarter" idx="12"/>
          </p:nvPr>
        </p:nvSpPr>
        <p:spPr>
          <a:xfrm>
            <a:off x="8610600" y="6356350"/>
            <a:ext cx="2743200" cy="365125"/>
          </a:xfrm>
        </p:spPr>
        <p:txBody>
          <a:bodyPr anchor="ctr">
            <a:normAutofit/>
          </a:bodyPr>
          <a:lstStyle/>
          <a:p>
            <a:pPr>
              <a:spcAft>
                <a:spcPts val="600"/>
              </a:spcAft>
            </a:pPr>
            <a:fld id="{7F8CBF50-853B-304C-BCA2-DB5146F0D4EA}" type="slidenum">
              <a:rPr lang="en-US" smtClean="0"/>
            </a:fld>
            <a:endParaRPr lang="en-US"/>
          </a:p>
        </p:txBody>
      </p:sp>
      <p:sp>
        <p:nvSpPr>
          <p:cNvPr id="14" name="TextBox 13"/>
          <p:cNvSpPr txBox="1"/>
          <p:nvPr/>
        </p:nvSpPr>
        <p:spPr>
          <a:xfrm>
            <a:off x="3088195" y="6400412"/>
            <a:ext cx="6015610" cy="276999"/>
          </a:xfrm>
          <a:prstGeom prst="rect">
            <a:avLst/>
          </a:prstGeom>
          <a:noFill/>
        </p:spPr>
        <p:txBody>
          <a:bodyPr wrap="square" rtlCol="0">
            <a:spAutoFit/>
          </a:bodyPr>
          <a:lstStyle/>
          <a:p>
            <a:pPr algn="ctr"/>
            <a:r>
              <a:rPr lang="en-US" altLang="zh-CN" sz="1200" dirty="0">
                <a:solidFill>
                  <a:schemeClr val="tx1">
                    <a:lumMod val="50000"/>
                    <a:lumOff val="50000"/>
                  </a:schemeClr>
                </a:solidFill>
              </a:rPr>
              <a:t>Source: </a:t>
            </a:r>
            <a:r>
              <a:rPr lang="en-US" sz="1200" dirty="0">
                <a:solidFill>
                  <a:schemeClr val="tx1">
                    <a:lumMod val="50000"/>
                    <a:lumOff val="50000"/>
                  </a:schemeClr>
                </a:solidFill>
              </a:rPr>
              <a:t>Microsoft Learn</a:t>
            </a:r>
            <a:endParaRPr lang="en-US" sz="1200" dirty="0">
              <a:solidFill>
                <a:schemeClr val="tx1">
                  <a:lumMod val="50000"/>
                  <a:lumOff val="50000"/>
                </a:schemeClr>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nvPr>
        </p:nvGraphicFramePr>
        <p:xfrm>
          <a:off x="838200" y="419548"/>
          <a:ext cx="10512548" cy="5883251"/>
        </p:xfrm>
        <a:graphic>
          <a:graphicData uri="http://schemas.openxmlformats.org/drawingml/2006/table">
            <a:tbl>
              <a:tblPr firstRow="1" bandRow="1">
                <a:tableStyleId>{72833802-FEF1-4C79-8D5D-14CF1EAF98D9}</a:tableStyleId>
              </a:tblPr>
              <a:tblGrid>
                <a:gridCol w="1840454"/>
                <a:gridCol w="4336047"/>
                <a:gridCol w="4336047"/>
              </a:tblGrid>
              <a:tr h="1632938">
                <a:tc>
                  <a:txBody>
                    <a:bodyPr/>
                    <a:lstStyle/>
                    <a:p>
                      <a:pPr>
                        <a:lnSpc>
                          <a:spcPct val="115000"/>
                        </a:lnSpc>
                        <a:spcAft>
                          <a:spcPts val="800"/>
                        </a:spcAft>
                      </a:pPr>
                      <a:r>
                        <a:rPr lang="en-US" sz="2800" b="1" kern="100">
                          <a:solidFill>
                            <a:schemeClr val="tx1"/>
                          </a:solidFill>
                          <a:effectLst/>
                        </a:rPr>
                        <a:t> </a:t>
                      </a:r>
                      <a:endParaRPr lang="en-US" sz="2800" b="1" kern="100">
                        <a:solidFill>
                          <a:schemeClr val="tx1"/>
                        </a:solidFill>
                        <a:effectLst/>
                        <a:latin typeface="Aptos" panose="020B0004020202020204" pitchFamily="34" charset="0"/>
                        <a:ea typeface="等线" panose="02010600030101010101" charset="-122"/>
                        <a:cs typeface="Times New Roman" panose="02020603050405020304" pitchFamily="18" charset="0"/>
                      </a:endParaRPr>
                    </a:p>
                  </a:txBody>
                  <a:tcPr marL="134569" marR="134569" marT="0" marB="0"/>
                </a:tc>
                <a:tc>
                  <a:txBody>
                    <a:bodyPr/>
                    <a:lstStyle/>
                    <a:p>
                      <a:pPr marL="0" marR="0" indent="0" algn="l" defTabSz="914400" rtl="0" eaLnBrk="1" fontAlgn="auto" latinLnBrk="0" hangingPunct="1">
                        <a:lnSpc>
                          <a:spcPct val="115000"/>
                        </a:lnSpc>
                        <a:spcBef>
                          <a:spcPts val="0"/>
                        </a:spcBef>
                        <a:spcAft>
                          <a:spcPts val="800"/>
                        </a:spcAft>
                        <a:buClrTx/>
                        <a:buSzTx/>
                        <a:buFontTx/>
                        <a:buNone/>
                        <a:defRPr/>
                      </a:pPr>
                      <a:r>
                        <a:rPr lang="en-US" sz="2800" b="1" kern="100" dirty="0">
                          <a:solidFill>
                            <a:schemeClr val="bg1"/>
                          </a:solidFill>
                          <a:effectLst/>
                        </a:rPr>
                        <a:t>Bidirectional Encoder Representations from Transformers (BERT)</a:t>
                      </a:r>
                      <a:endParaRPr lang="en-US" sz="2800" b="1" kern="100" dirty="0">
                        <a:solidFill>
                          <a:schemeClr val="bg1"/>
                        </a:solidFill>
                        <a:effectLst/>
                        <a:latin typeface="Aptos" panose="020B0004020202020204" pitchFamily="34" charset="0"/>
                        <a:ea typeface="等线" panose="02010600030101010101" charset="-122"/>
                        <a:cs typeface="Times New Roman" panose="02020603050405020304" pitchFamily="18" charset="0"/>
                      </a:endParaRPr>
                    </a:p>
                  </a:txBody>
                  <a:tcPr marL="134569" marR="134569" marT="0" marB="0"/>
                </a:tc>
                <a:tc>
                  <a:txBody>
                    <a:bodyPr/>
                    <a:lstStyle/>
                    <a:p>
                      <a:pPr>
                        <a:lnSpc>
                          <a:spcPct val="115000"/>
                        </a:lnSpc>
                        <a:spcAft>
                          <a:spcPts val="800"/>
                        </a:spcAft>
                      </a:pPr>
                      <a:r>
                        <a:rPr lang="en-US" sz="2800" b="1" kern="100" dirty="0">
                          <a:solidFill>
                            <a:schemeClr val="bg1"/>
                          </a:solidFill>
                          <a:effectLst/>
                        </a:rPr>
                        <a:t>Generative Pre-trained Transformer (GPT)</a:t>
                      </a:r>
                      <a:endParaRPr lang="en-US" sz="2800" b="1" kern="100" dirty="0">
                        <a:solidFill>
                          <a:schemeClr val="bg1"/>
                        </a:solidFill>
                        <a:effectLst/>
                        <a:latin typeface="Aptos" panose="020B0004020202020204" pitchFamily="34" charset="0"/>
                        <a:ea typeface="等线" panose="02010600030101010101" charset="-122"/>
                        <a:cs typeface="Times New Roman" panose="02020603050405020304" pitchFamily="18" charset="0"/>
                      </a:endParaRPr>
                    </a:p>
                  </a:txBody>
                  <a:tcPr marL="134569" marR="134569" marT="0" marB="0"/>
                </a:tc>
              </a:tr>
              <a:tr h="593660">
                <a:tc>
                  <a:txBody>
                    <a:bodyPr/>
                    <a:lstStyle/>
                    <a:p>
                      <a:pPr>
                        <a:lnSpc>
                          <a:spcPct val="115000"/>
                        </a:lnSpc>
                        <a:spcAft>
                          <a:spcPts val="800"/>
                        </a:spcAft>
                      </a:pPr>
                      <a:r>
                        <a:rPr lang="en-US" sz="2800" kern="100" dirty="0">
                          <a:solidFill>
                            <a:schemeClr val="tx1"/>
                          </a:solidFill>
                          <a:effectLst/>
                        </a:rPr>
                        <a:t>Type</a:t>
                      </a:r>
                      <a:endParaRPr lang="en-US" sz="2800" kern="100" dirty="0">
                        <a:solidFill>
                          <a:schemeClr val="tx1"/>
                        </a:solidFill>
                        <a:effectLst/>
                        <a:latin typeface="Aptos" panose="020B0004020202020204" pitchFamily="34" charset="0"/>
                        <a:ea typeface="等线" panose="02010600030101010101" charset="-122"/>
                        <a:cs typeface="Times New Roman" panose="02020603050405020304" pitchFamily="18" charset="0"/>
                      </a:endParaRPr>
                    </a:p>
                  </a:txBody>
                  <a:tcPr marL="134569" marR="134569" marT="0" marB="0"/>
                </a:tc>
                <a:tc>
                  <a:txBody>
                    <a:bodyPr/>
                    <a:lstStyle/>
                    <a:p>
                      <a:pPr>
                        <a:lnSpc>
                          <a:spcPct val="115000"/>
                        </a:lnSpc>
                        <a:spcAft>
                          <a:spcPts val="800"/>
                        </a:spcAft>
                      </a:pPr>
                      <a:r>
                        <a:rPr lang="en-US" sz="2800" kern="100" dirty="0">
                          <a:solidFill>
                            <a:schemeClr val="tx1"/>
                          </a:solidFill>
                          <a:effectLst/>
                        </a:rPr>
                        <a:t>Encoder-only model</a:t>
                      </a:r>
                      <a:endParaRPr lang="en-US" sz="2800" kern="100" dirty="0">
                        <a:solidFill>
                          <a:schemeClr val="tx1"/>
                        </a:solidFill>
                        <a:effectLst/>
                        <a:latin typeface="Aptos" panose="020B0004020202020204" pitchFamily="34" charset="0"/>
                        <a:ea typeface="等线" panose="02010600030101010101" charset="-122"/>
                        <a:cs typeface="Times New Roman" panose="02020603050405020304" pitchFamily="18" charset="0"/>
                      </a:endParaRPr>
                    </a:p>
                  </a:txBody>
                  <a:tcPr marL="134569" marR="134569" marT="0" marB="0"/>
                </a:tc>
                <a:tc>
                  <a:txBody>
                    <a:bodyPr/>
                    <a:lstStyle/>
                    <a:p>
                      <a:pPr>
                        <a:lnSpc>
                          <a:spcPct val="115000"/>
                        </a:lnSpc>
                        <a:spcAft>
                          <a:spcPts val="800"/>
                        </a:spcAft>
                      </a:pPr>
                      <a:r>
                        <a:rPr lang="en-US" sz="2800" kern="100">
                          <a:solidFill>
                            <a:schemeClr val="tx1"/>
                          </a:solidFill>
                          <a:effectLst/>
                        </a:rPr>
                        <a:t>Decoder-only model</a:t>
                      </a:r>
                      <a:endParaRPr lang="en-US" sz="2800" kern="100">
                        <a:solidFill>
                          <a:schemeClr val="tx1"/>
                        </a:solidFill>
                        <a:effectLst/>
                        <a:latin typeface="Aptos" panose="020B0004020202020204" pitchFamily="34" charset="0"/>
                        <a:ea typeface="等线" panose="02010600030101010101" charset="-122"/>
                        <a:cs typeface="Times New Roman" panose="02020603050405020304" pitchFamily="18" charset="0"/>
                      </a:endParaRPr>
                    </a:p>
                  </a:txBody>
                  <a:tcPr marL="134569" marR="134569" marT="0" marB="0"/>
                </a:tc>
              </a:tr>
              <a:tr h="593660">
                <a:tc>
                  <a:txBody>
                    <a:bodyPr/>
                    <a:lstStyle/>
                    <a:p>
                      <a:pPr>
                        <a:lnSpc>
                          <a:spcPct val="115000"/>
                        </a:lnSpc>
                        <a:spcAft>
                          <a:spcPts val="800"/>
                        </a:spcAft>
                      </a:pPr>
                      <a:r>
                        <a:rPr lang="en-US" sz="2800" kern="100">
                          <a:solidFill>
                            <a:schemeClr val="tx1"/>
                          </a:solidFill>
                          <a:effectLst/>
                        </a:rPr>
                        <a:t>Processing</a:t>
                      </a:r>
                      <a:endParaRPr lang="en-US" sz="2800" kern="100">
                        <a:solidFill>
                          <a:schemeClr val="tx1"/>
                        </a:solidFill>
                        <a:effectLst/>
                        <a:latin typeface="Aptos" panose="020B0004020202020204" pitchFamily="34" charset="0"/>
                        <a:ea typeface="等线" panose="02010600030101010101" charset="-122"/>
                        <a:cs typeface="Times New Roman" panose="02020603050405020304" pitchFamily="18" charset="0"/>
                      </a:endParaRPr>
                    </a:p>
                  </a:txBody>
                  <a:tcPr marL="134569" marR="134569" marT="0" marB="0"/>
                </a:tc>
                <a:tc>
                  <a:txBody>
                    <a:bodyPr/>
                    <a:lstStyle/>
                    <a:p>
                      <a:pPr>
                        <a:lnSpc>
                          <a:spcPct val="115000"/>
                        </a:lnSpc>
                        <a:spcAft>
                          <a:spcPts val="800"/>
                        </a:spcAft>
                      </a:pPr>
                      <a:r>
                        <a:rPr lang="en-US" sz="2800" kern="100" dirty="0">
                          <a:solidFill>
                            <a:schemeClr val="tx1"/>
                          </a:solidFill>
                          <a:effectLst/>
                        </a:rPr>
                        <a:t>Bidirectional</a:t>
                      </a:r>
                      <a:endParaRPr lang="en-US" sz="2800" kern="100" dirty="0">
                        <a:solidFill>
                          <a:schemeClr val="tx1"/>
                        </a:solidFill>
                        <a:effectLst/>
                        <a:latin typeface="Aptos" panose="020B0004020202020204" pitchFamily="34" charset="0"/>
                        <a:ea typeface="等线" panose="02010600030101010101" charset="-122"/>
                        <a:cs typeface="Times New Roman" panose="02020603050405020304" pitchFamily="18" charset="0"/>
                      </a:endParaRPr>
                    </a:p>
                  </a:txBody>
                  <a:tcPr marL="134569" marR="134569" marT="0" marB="0"/>
                </a:tc>
                <a:tc>
                  <a:txBody>
                    <a:bodyPr/>
                    <a:lstStyle/>
                    <a:p>
                      <a:pPr>
                        <a:lnSpc>
                          <a:spcPct val="115000"/>
                        </a:lnSpc>
                        <a:spcAft>
                          <a:spcPts val="800"/>
                        </a:spcAft>
                      </a:pPr>
                      <a:r>
                        <a:rPr lang="en-US" sz="2800" kern="100">
                          <a:solidFill>
                            <a:schemeClr val="tx1"/>
                          </a:solidFill>
                          <a:effectLst/>
                        </a:rPr>
                        <a:t>Unidirectional</a:t>
                      </a:r>
                      <a:endParaRPr lang="en-US" sz="2800" kern="100">
                        <a:solidFill>
                          <a:schemeClr val="tx1"/>
                        </a:solidFill>
                        <a:effectLst/>
                        <a:latin typeface="Aptos" panose="020B0004020202020204" pitchFamily="34" charset="0"/>
                        <a:ea typeface="等线" panose="02010600030101010101" charset="-122"/>
                        <a:cs typeface="Times New Roman" panose="02020603050405020304" pitchFamily="18" charset="0"/>
                      </a:endParaRPr>
                    </a:p>
                  </a:txBody>
                  <a:tcPr marL="134569" marR="134569" marT="0" marB="0"/>
                </a:tc>
              </a:tr>
              <a:tr h="1125354">
                <a:tc>
                  <a:txBody>
                    <a:bodyPr/>
                    <a:lstStyle/>
                    <a:p>
                      <a:pPr>
                        <a:lnSpc>
                          <a:spcPct val="115000"/>
                        </a:lnSpc>
                        <a:spcAft>
                          <a:spcPts val="800"/>
                        </a:spcAft>
                      </a:pPr>
                      <a:r>
                        <a:rPr lang="en-US" sz="2800" kern="100">
                          <a:solidFill>
                            <a:schemeClr val="tx1"/>
                          </a:solidFill>
                          <a:effectLst/>
                        </a:rPr>
                        <a:t>Focus</a:t>
                      </a:r>
                      <a:endParaRPr lang="en-US" sz="2800" kern="100">
                        <a:solidFill>
                          <a:schemeClr val="tx1"/>
                        </a:solidFill>
                        <a:effectLst/>
                        <a:latin typeface="Aptos" panose="020B0004020202020204" pitchFamily="34" charset="0"/>
                        <a:ea typeface="等线" panose="02010600030101010101" charset="-122"/>
                        <a:cs typeface="Times New Roman" panose="02020603050405020304" pitchFamily="18" charset="0"/>
                      </a:endParaRPr>
                    </a:p>
                  </a:txBody>
                  <a:tcPr marL="134569" marR="134569" marT="0" marB="0"/>
                </a:tc>
                <a:tc>
                  <a:txBody>
                    <a:bodyPr/>
                    <a:lstStyle/>
                    <a:p>
                      <a:pPr>
                        <a:lnSpc>
                          <a:spcPct val="115000"/>
                        </a:lnSpc>
                        <a:spcAft>
                          <a:spcPts val="800"/>
                        </a:spcAft>
                      </a:pPr>
                      <a:r>
                        <a:rPr lang="en-US" sz="2800" kern="100">
                          <a:solidFill>
                            <a:schemeClr val="tx1"/>
                          </a:solidFill>
                          <a:effectLst/>
                        </a:rPr>
                        <a:t>Understanding context and relationships in text</a:t>
                      </a:r>
                      <a:endParaRPr lang="en-US" sz="2800" kern="100">
                        <a:solidFill>
                          <a:schemeClr val="tx1"/>
                        </a:solidFill>
                        <a:effectLst/>
                        <a:latin typeface="Aptos" panose="020B0004020202020204" pitchFamily="34" charset="0"/>
                        <a:ea typeface="等线" panose="02010600030101010101" charset="-122"/>
                        <a:cs typeface="Times New Roman" panose="02020603050405020304" pitchFamily="18" charset="0"/>
                      </a:endParaRPr>
                    </a:p>
                  </a:txBody>
                  <a:tcPr marL="134569" marR="134569" marT="0" marB="0"/>
                </a:tc>
                <a:tc>
                  <a:txBody>
                    <a:bodyPr/>
                    <a:lstStyle/>
                    <a:p>
                      <a:pPr>
                        <a:lnSpc>
                          <a:spcPct val="115000"/>
                        </a:lnSpc>
                        <a:spcAft>
                          <a:spcPts val="800"/>
                        </a:spcAft>
                      </a:pPr>
                      <a:r>
                        <a:rPr lang="en-US" sz="2800" kern="100">
                          <a:solidFill>
                            <a:schemeClr val="tx1"/>
                          </a:solidFill>
                          <a:effectLst/>
                        </a:rPr>
                        <a:t>Generating coherent and contextually relevant text</a:t>
                      </a:r>
                      <a:endParaRPr lang="en-US" sz="2800" kern="100">
                        <a:solidFill>
                          <a:schemeClr val="tx1"/>
                        </a:solidFill>
                        <a:effectLst/>
                        <a:latin typeface="Aptos" panose="020B0004020202020204" pitchFamily="34" charset="0"/>
                        <a:ea typeface="等线" panose="02010600030101010101" charset="-122"/>
                        <a:cs typeface="Times New Roman" panose="02020603050405020304" pitchFamily="18" charset="0"/>
                      </a:endParaRPr>
                    </a:p>
                  </a:txBody>
                  <a:tcPr marL="134569" marR="134569" marT="0" marB="0"/>
                </a:tc>
              </a:tr>
              <a:tr h="1900896">
                <a:tc>
                  <a:txBody>
                    <a:bodyPr/>
                    <a:lstStyle/>
                    <a:p>
                      <a:pPr>
                        <a:lnSpc>
                          <a:spcPct val="115000"/>
                        </a:lnSpc>
                        <a:spcAft>
                          <a:spcPts val="800"/>
                        </a:spcAft>
                      </a:pPr>
                      <a:r>
                        <a:rPr lang="en-US" sz="2800" kern="100">
                          <a:solidFill>
                            <a:schemeClr val="tx1"/>
                          </a:solidFill>
                          <a:effectLst/>
                        </a:rPr>
                        <a:t>Use Cases</a:t>
                      </a:r>
                      <a:endParaRPr lang="en-US" sz="2800" kern="100">
                        <a:solidFill>
                          <a:schemeClr val="tx1"/>
                        </a:solidFill>
                        <a:effectLst/>
                        <a:latin typeface="Aptos" panose="020B0004020202020204" pitchFamily="34" charset="0"/>
                        <a:ea typeface="等线" panose="02010600030101010101" charset="-122"/>
                        <a:cs typeface="Times New Roman" panose="02020603050405020304" pitchFamily="18" charset="0"/>
                      </a:endParaRPr>
                    </a:p>
                  </a:txBody>
                  <a:tcPr marL="134569" marR="134569" marT="0" marB="0"/>
                </a:tc>
                <a:tc>
                  <a:txBody>
                    <a:bodyPr/>
                    <a:lstStyle/>
                    <a:p>
                      <a:pPr>
                        <a:lnSpc>
                          <a:spcPct val="115000"/>
                        </a:lnSpc>
                        <a:spcAft>
                          <a:spcPts val="800"/>
                        </a:spcAft>
                      </a:pPr>
                      <a:r>
                        <a:rPr lang="en-US" sz="2800" kern="100" dirty="0">
                          <a:solidFill>
                            <a:schemeClr val="tx1"/>
                          </a:solidFill>
                          <a:effectLst/>
                        </a:rPr>
                        <a:t>Natural language understanding tasks (e.g., question answering, sentiment analysis)</a:t>
                      </a:r>
                      <a:endParaRPr lang="en-US" sz="2800" kern="100" dirty="0">
                        <a:solidFill>
                          <a:schemeClr val="tx1"/>
                        </a:solidFill>
                        <a:effectLst/>
                        <a:latin typeface="Aptos" panose="020B0004020202020204" pitchFamily="34" charset="0"/>
                        <a:ea typeface="等线" panose="02010600030101010101" charset="-122"/>
                        <a:cs typeface="Times New Roman" panose="02020603050405020304" pitchFamily="18" charset="0"/>
                      </a:endParaRPr>
                    </a:p>
                  </a:txBody>
                  <a:tcPr marL="134569" marR="134569" marT="0" marB="0"/>
                </a:tc>
                <a:tc>
                  <a:txBody>
                    <a:bodyPr/>
                    <a:lstStyle/>
                    <a:p>
                      <a:pPr>
                        <a:lnSpc>
                          <a:spcPct val="115000"/>
                        </a:lnSpc>
                        <a:spcAft>
                          <a:spcPts val="800"/>
                        </a:spcAft>
                      </a:pPr>
                      <a:r>
                        <a:rPr lang="en-US" sz="2800" kern="100" dirty="0">
                          <a:solidFill>
                            <a:schemeClr val="tx1"/>
                          </a:solidFill>
                          <a:effectLst/>
                        </a:rPr>
                        <a:t>Natural language generation tasks (e.g., text completion, creative writing)</a:t>
                      </a:r>
                      <a:endParaRPr lang="en-US" sz="2800" kern="100" dirty="0">
                        <a:solidFill>
                          <a:schemeClr val="tx1"/>
                        </a:solidFill>
                        <a:effectLst/>
                        <a:latin typeface="Aptos" panose="020B0004020202020204" pitchFamily="34" charset="0"/>
                        <a:ea typeface="等线" panose="02010600030101010101" charset="-122"/>
                        <a:cs typeface="Times New Roman" panose="02020603050405020304" pitchFamily="18" charset="0"/>
                      </a:endParaRPr>
                    </a:p>
                  </a:txBody>
                  <a:tcPr marL="134569" marR="134569" marT="0" marB="0"/>
                </a:tc>
              </a:tr>
            </a:tbl>
          </a:graphicData>
        </a:graphic>
      </p:graphicFrame>
      <p:sp>
        <p:nvSpPr>
          <p:cNvPr id="4" name="Slide Number Placeholder 3"/>
          <p:cNvSpPr>
            <a:spLocks noGrp="1"/>
          </p:cNvSpPr>
          <p:nvPr>
            <p:ph type="sldNum" sz="quarter" idx="12"/>
          </p:nvPr>
        </p:nvSpPr>
        <p:spPr>
          <a:xfrm>
            <a:off x="8610600" y="6356350"/>
            <a:ext cx="2743200" cy="365125"/>
          </a:xfrm>
        </p:spPr>
        <p:txBody>
          <a:bodyPr vert="horz" lIns="91440" tIns="45720" rIns="91440" bIns="45720" rtlCol="0" anchor="ctr">
            <a:normAutofit/>
          </a:bodyPr>
          <a:lstStyle/>
          <a:p>
            <a:fld id="{7F8CBF50-853B-304C-BCA2-DB5146F0D4EA}" type="slidenum">
              <a:rPr lang="en-US" smtClean="0"/>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610600" y="6356350"/>
            <a:ext cx="2743200" cy="365125"/>
          </a:xfrm>
        </p:spPr>
        <p:txBody>
          <a:bodyPr vert="horz" lIns="91440" tIns="45720" rIns="91440" bIns="45720" rtlCol="0" anchor="ctr">
            <a:normAutofit/>
          </a:bodyPr>
          <a:lstStyle/>
          <a:p>
            <a:pPr defTabSz="914400">
              <a:spcAft>
                <a:spcPts val="600"/>
              </a:spcAft>
            </a:pPr>
            <a:fld id="{7F8CBF50-853B-304C-BCA2-DB5146F0D4EA}" type="slidenum">
              <a:rPr lang="en-US" smtClean="0"/>
            </a:fld>
            <a:endParaRPr lang="en-US"/>
          </a:p>
        </p:txBody>
      </p:sp>
      <p:graphicFrame>
        <p:nvGraphicFramePr>
          <p:cNvPr id="5" name="Content Placeholder 4"/>
          <p:cNvGraphicFramePr>
            <a:graphicFrameLocks noGrp="1"/>
          </p:cNvGraphicFramePr>
          <p:nvPr>
            <p:ph idx="1"/>
          </p:nvPr>
        </p:nvGraphicFramePr>
        <p:xfrm>
          <a:off x="346038" y="512083"/>
          <a:ext cx="11499923" cy="5536269"/>
        </p:xfrm>
        <a:graphic>
          <a:graphicData uri="http://schemas.openxmlformats.org/drawingml/2006/table">
            <a:tbl>
              <a:tblPr firstRow="1" bandRow="1">
                <a:tableStyleId>{5C22544A-7EE6-4342-B048-85BDC9FD1C3A}</a:tableStyleId>
              </a:tblPr>
              <a:tblGrid>
                <a:gridCol w="5860631"/>
                <a:gridCol w="5639292"/>
              </a:tblGrid>
              <a:tr h="572090">
                <a:tc>
                  <a:txBody>
                    <a:bodyPr/>
                    <a:lstStyle/>
                    <a:p>
                      <a:pPr>
                        <a:lnSpc>
                          <a:spcPct val="115000"/>
                        </a:lnSpc>
                        <a:spcAft>
                          <a:spcPts val="800"/>
                        </a:spcAft>
                      </a:pPr>
                      <a:r>
                        <a:rPr lang="en-US" sz="2800" b="1" kern="100" dirty="0">
                          <a:solidFill>
                            <a:schemeClr val="tx1"/>
                          </a:solidFill>
                          <a:effectLst/>
                        </a:rPr>
                        <a:t>Large Language Models (LLMs)</a:t>
                      </a:r>
                      <a:endParaRPr lang="en-US" sz="2800" b="1" kern="100" dirty="0">
                        <a:solidFill>
                          <a:schemeClr val="tx1"/>
                        </a:solidFill>
                        <a:effectLst/>
                        <a:latin typeface="Aptos" panose="020B0004020202020204" pitchFamily="34" charset="0"/>
                        <a:ea typeface="等线" panose="02010600030101010101" charset="-122"/>
                        <a:cs typeface="Times New Roman" panose="02020603050405020304" pitchFamily="18" charset="0"/>
                      </a:endParaRPr>
                    </a:p>
                  </a:txBody>
                  <a:tcPr marL="135901" marR="135901" marT="0" marB="0">
                    <a:lnL>
                      <a:noFill/>
                    </a:lnL>
                    <a:lnR>
                      <a:noFill/>
                    </a:lnR>
                    <a:lnT>
                      <a:noFill/>
                    </a:lnT>
                    <a:lnB w="19050">
                      <a:solidFill>
                        <a:schemeClr val="accent1"/>
                      </a:solidFill>
                    </a:lnB>
                    <a:noFill/>
                  </a:tcPr>
                </a:tc>
                <a:tc>
                  <a:txBody>
                    <a:bodyPr/>
                    <a:lstStyle/>
                    <a:p>
                      <a:pPr>
                        <a:lnSpc>
                          <a:spcPct val="115000"/>
                        </a:lnSpc>
                        <a:spcAft>
                          <a:spcPts val="800"/>
                        </a:spcAft>
                      </a:pPr>
                      <a:r>
                        <a:rPr lang="en-US" sz="2800" b="1" kern="100">
                          <a:solidFill>
                            <a:schemeClr val="tx1"/>
                          </a:solidFill>
                          <a:effectLst/>
                        </a:rPr>
                        <a:t>Small Language Models (SLMs)</a:t>
                      </a:r>
                      <a:endParaRPr lang="en-US" sz="2800" b="1" kern="100">
                        <a:solidFill>
                          <a:schemeClr val="tx1"/>
                        </a:solidFill>
                        <a:effectLst/>
                        <a:latin typeface="Aptos" panose="020B0004020202020204" pitchFamily="34" charset="0"/>
                        <a:ea typeface="等线" panose="02010600030101010101" charset="-122"/>
                        <a:cs typeface="Times New Roman" panose="02020603050405020304" pitchFamily="18" charset="0"/>
                      </a:endParaRPr>
                    </a:p>
                  </a:txBody>
                  <a:tcPr marL="135901" marR="135901" marT="0" marB="0">
                    <a:lnL>
                      <a:noFill/>
                    </a:lnL>
                    <a:lnR>
                      <a:noFill/>
                    </a:lnR>
                    <a:lnT>
                      <a:noFill/>
                    </a:lnT>
                    <a:lnB w="19050">
                      <a:solidFill>
                        <a:schemeClr val="accent1"/>
                      </a:solidFill>
                    </a:lnB>
                    <a:noFill/>
                  </a:tcPr>
                </a:tc>
              </a:tr>
              <a:tr h="1084466">
                <a:tc>
                  <a:txBody>
                    <a:bodyPr/>
                    <a:lstStyle/>
                    <a:p>
                      <a:pPr>
                        <a:lnSpc>
                          <a:spcPct val="115000"/>
                        </a:lnSpc>
                        <a:spcAft>
                          <a:spcPts val="800"/>
                        </a:spcAft>
                      </a:pPr>
                      <a:r>
                        <a:rPr lang="en-US" sz="2800" kern="100" dirty="0">
                          <a:solidFill>
                            <a:schemeClr val="tx1"/>
                          </a:solidFill>
                          <a:effectLst/>
                        </a:rPr>
                        <a:t>Trained with a vast amount of text on various subjects.</a:t>
                      </a:r>
                      <a:endParaRPr lang="en-US" sz="2800" kern="100" dirty="0">
                        <a:solidFill>
                          <a:schemeClr val="tx1"/>
                        </a:solidFill>
                        <a:effectLst/>
                        <a:latin typeface="Aptos" panose="020B0004020202020204" pitchFamily="34" charset="0"/>
                        <a:ea typeface="等线" panose="02010600030101010101" charset="-122"/>
                        <a:cs typeface="Times New Roman" panose="02020603050405020304" pitchFamily="18" charset="0"/>
                      </a:endParaRPr>
                    </a:p>
                  </a:txBody>
                  <a:tcPr marL="135901" marR="135901" marT="0" marB="0">
                    <a:lnL>
                      <a:noFill/>
                    </a:lnL>
                    <a:lnR>
                      <a:noFill/>
                    </a:lnR>
                    <a:lnT w="19050">
                      <a:solidFill>
                        <a:schemeClr val="accent1"/>
                      </a:solidFill>
                    </a:lnT>
                    <a:lnB w="3175">
                      <a:solidFill>
                        <a:schemeClr val="tx1"/>
                      </a:solidFill>
                    </a:lnB>
                    <a:noFill/>
                  </a:tcPr>
                </a:tc>
                <a:tc>
                  <a:txBody>
                    <a:bodyPr/>
                    <a:lstStyle/>
                    <a:p>
                      <a:pPr>
                        <a:lnSpc>
                          <a:spcPct val="115000"/>
                        </a:lnSpc>
                        <a:spcAft>
                          <a:spcPts val="800"/>
                        </a:spcAft>
                      </a:pPr>
                      <a:r>
                        <a:rPr lang="en-US" sz="2800" kern="100">
                          <a:solidFill>
                            <a:schemeClr val="tx1"/>
                          </a:solidFill>
                          <a:effectLst/>
                        </a:rPr>
                        <a:t>Trained with smaller, focused datasets.</a:t>
                      </a:r>
                      <a:endParaRPr lang="en-US" sz="2800" kern="100">
                        <a:solidFill>
                          <a:schemeClr val="tx1"/>
                        </a:solidFill>
                        <a:effectLst/>
                        <a:latin typeface="Aptos" panose="020B0004020202020204" pitchFamily="34" charset="0"/>
                        <a:ea typeface="等线" panose="02010600030101010101" charset="-122"/>
                        <a:cs typeface="Times New Roman" panose="02020603050405020304" pitchFamily="18" charset="0"/>
                      </a:endParaRPr>
                    </a:p>
                  </a:txBody>
                  <a:tcPr marL="135901" marR="135901" marT="0" marB="0">
                    <a:lnL>
                      <a:noFill/>
                    </a:lnL>
                    <a:lnR>
                      <a:noFill/>
                    </a:lnR>
                    <a:lnT w="19050">
                      <a:solidFill>
                        <a:schemeClr val="accent1"/>
                      </a:solidFill>
                    </a:lnT>
                    <a:lnB w="3175">
                      <a:solidFill>
                        <a:schemeClr val="tx1"/>
                      </a:solidFill>
                    </a:lnB>
                    <a:noFill/>
                  </a:tcPr>
                </a:tc>
              </a:tr>
              <a:tr h="574561">
                <a:tc>
                  <a:txBody>
                    <a:bodyPr/>
                    <a:lstStyle/>
                    <a:p>
                      <a:pPr>
                        <a:lnSpc>
                          <a:spcPct val="115000"/>
                        </a:lnSpc>
                        <a:spcAft>
                          <a:spcPts val="800"/>
                        </a:spcAft>
                      </a:pPr>
                      <a:r>
                        <a:rPr lang="en-US" sz="2800" kern="100" dirty="0">
                          <a:solidFill>
                            <a:schemeClr val="tx1"/>
                          </a:solidFill>
                          <a:effectLst/>
                        </a:rPr>
                        <a:t>Have billions to trillions of parameters.</a:t>
                      </a:r>
                      <a:endParaRPr lang="en-US" sz="2800" kern="100" dirty="0">
                        <a:solidFill>
                          <a:schemeClr val="tx1"/>
                        </a:solidFill>
                        <a:effectLst/>
                        <a:latin typeface="Aptos" panose="020B0004020202020204" pitchFamily="34" charset="0"/>
                        <a:ea typeface="等线" panose="02010600030101010101" charset="-122"/>
                        <a:cs typeface="Times New Roman" panose="02020603050405020304" pitchFamily="18" charset="0"/>
                      </a:endParaRPr>
                    </a:p>
                  </a:txBody>
                  <a:tcPr marL="135901" marR="135901" marT="0" marB="0">
                    <a:lnL>
                      <a:noFill/>
                    </a:lnL>
                    <a:lnR>
                      <a:noFill/>
                    </a:lnR>
                    <a:lnT w="3175">
                      <a:solidFill>
                        <a:schemeClr val="tx1"/>
                      </a:solidFill>
                    </a:lnT>
                    <a:lnB w="3175">
                      <a:solidFill>
                        <a:schemeClr val="tx1"/>
                      </a:solidFill>
                    </a:lnB>
                    <a:noFill/>
                  </a:tcPr>
                </a:tc>
                <a:tc>
                  <a:txBody>
                    <a:bodyPr/>
                    <a:lstStyle/>
                    <a:p>
                      <a:pPr>
                        <a:lnSpc>
                          <a:spcPct val="115000"/>
                        </a:lnSpc>
                        <a:spcAft>
                          <a:spcPts val="800"/>
                        </a:spcAft>
                      </a:pPr>
                      <a:r>
                        <a:rPr lang="en-US" sz="2800" kern="100">
                          <a:solidFill>
                            <a:schemeClr val="tx1"/>
                          </a:solidFill>
                          <a:effectLst/>
                        </a:rPr>
                        <a:t>Have fewer parameters than LLMs.</a:t>
                      </a:r>
                      <a:endParaRPr lang="en-US" sz="2800" kern="100">
                        <a:solidFill>
                          <a:schemeClr val="tx1"/>
                        </a:solidFill>
                        <a:effectLst/>
                        <a:latin typeface="Aptos" panose="020B0004020202020204" pitchFamily="34" charset="0"/>
                        <a:ea typeface="等线" panose="02010600030101010101" charset="-122"/>
                        <a:cs typeface="Times New Roman" panose="02020603050405020304" pitchFamily="18" charset="0"/>
                      </a:endParaRPr>
                    </a:p>
                  </a:txBody>
                  <a:tcPr marL="135901" marR="135901" marT="0" marB="0">
                    <a:lnL>
                      <a:noFill/>
                    </a:lnL>
                    <a:lnR>
                      <a:noFill/>
                    </a:lnR>
                    <a:lnT w="3175">
                      <a:solidFill>
                        <a:schemeClr val="tx1"/>
                      </a:solidFill>
                    </a:lnT>
                    <a:lnB w="3175">
                      <a:solidFill>
                        <a:schemeClr val="tx1"/>
                      </a:solidFill>
                    </a:lnB>
                    <a:noFill/>
                  </a:tcPr>
                </a:tc>
              </a:tr>
              <a:tr h="1084466">
                <a:tc>
                  <a:txBody>
                    <a:bodyPr/>
                    <a:lstStyle/>
                    <a:p>
                      <a:pPr>
                        <a:lnSpc>
                          <a:spcPct val="115000"/>
                        </a:lnSpc>
                        <a:spcAft>
                          <a:spcPts val="800"/>
                        </a:spcAft>
                      </a:pPr>
                      <a:r>
                        <a:rPr lang="en-US" sz="2800" kern="100" dirty="0">
                          <a:solidFill>
                            <a:schemeClr val="tx1"/>
                          </a:solidFill>
                          <a:effectLst/>
                        </a:rPr>
                        <a:t>Good at general language generation.</a:t>
                      </a:r>
                      <a:endParaRPr lang="en-US" sz="2800" kern="100" dirty="0">
                        <a:solidFill>
                          <a:schemeClr val="tx1"/>
                        </a:solidFill>
                        <a:effectLst/>
                        <a:latin typeface="Aptos" panose="020B0004020202020204" pitchFamily="34" charset="0"/>
                        <a:ea typeface="等线" panose="02010600030101010101" charset="-122"/>
                        <a:cs typeface="Times New Roman" panose="02020603050405020304" pitchFamily="18" charset="0"/>
                      </a:endParaRPr>
                    </a:p>
                  </a:txBody>
                  <a:tcPr marL="135901" marR="135901" marT="0" marB="0">
                    <a:lnL>
                      <a:noFill/>
                    </a:lnL>
                    <a:lnR>
                      <a:noFill/>
                    </a:lnR>
                    <a:lnT w="3175">
                      <a:solidFill>
                        <a:schemeClr val="tx1"/>
                      </a:solidFill>
                    </a:lnT>
                    <a:lnB w="3175">
                      <a:solidFill>
                        <a:schemeClr val="tx1"/>
                      </a:solidFill>
                    </a:lnB>
                    <a:noFill/>
                  </a:tcPr>
                </a:tc>
                <a:tc>
                  <a:txBody>
                    <a:bodyPr/>
                    <a:lstStyle/>
                    <a:p>
                      <a:pPr>
                        <a:lnSpc>
                          <a:spcPct val="115000"/>
                        </a:lnSpc>
                        <a:spcAft>
                          <a:spcPts val="800"/>
                        </a:spcAft>
                      </a:pPr>
                      <a:r>
                        <a:rPr lang="en-US" sz="2800" kern="100" dirty="0">
                          <a:solidFill>
                            <a:schemeClr val="tx1"/>
                          </a:solidFill>
                          <a:effectLst/>
                        </a:rPr>
                        <a:t>Effective in specific topics, less so in general language.</a:t>
                      </a:r>
                      <a:endParaRPr lang="en-US" sz="2800" kern="100" dirty="0">
                        <a:solidFill>
                          <a:schemeClr val="tx1"/>
                        </a:solidFill>
                        <a:effectLst/>
                        <a:latin typeface="Aptos" panose="020B0004020202020204" pitchFamily="34" charset="0"/>
                        <a:ea typeface="等线" panose="02010600030101010101" charset="-122"/>
                        <a:cs typeface="Times New Roman" panose="02020603050405020304" pitchFamily="18" charset="0"/>
                      </a:endParaRPr>
                    </a:p>
                  </a:txBody>
                  <a:tcPr marL="135901" marR="135901" marT="0" marB="0">
                    <a:lnL>
                      <a:noFill/>
                    </a:lnL>
                    <a:lnR>
                      <a:noFill/>
                    </a:lnR>
                    <a:lnT w="3175">
                      <a:solidFill>
                        <a:schemeClr val="tx1"/>
                      </a:solidFill>
                    </a:lnT>
                    <a:lnB w="3175">
                      <a:solidFill>
                        <a:schemeClr val="tx1"/>
                      </a:solidFill>
                    </a:lnB>
                    <a:noFill/>
                  </a:tcPr>
                </a:tc>
              </a:tr>
              <a:tr h="1136220">
                <a:tc>
                  <a:txBody>
                    <a:bodyPr/>
                    <a:lstStyle/>
                    <a:p>
                      <a:pPr>
                        <a:lnSpc>
                          <a:spcPct val="115000"/>
                        </a:lnSpc>
                        <a:spcAft>
                          <a:spcPts val="800"/>
                        </a:spcAft>
                      </a:pPr>
                      <a:r>
                        <a:rPr lang="en-US" sz="2800" kern="100" dirty="0">
                          <a:solidFill>
                            <a:schemeClr val="tx1"/>
                          </a:solidFill>
                          <a:effectLst/>
                        </a:rPr>
                        <a:t>Large size can affect performance and local deployment.</a:t>
                      </a:r>
                      <a:endParaRPr lang="en-US" sz="2800" kern="100" dirty="0">
                        <a:solidFill>
                          <a:schemeClr val="tx1"/>
                        </a:solidFill>
                        <a:effectLst/>
                        <a:latin typeface="Aptos" panose="020B0004020202020204" pitchFamily="34" charset="0"/>
                        <a:ea typeface="等线" panose="02010600030101010101" charset="-122"/>
                        <a:cs typeface="Times New Roman" panose="02020603050405020304" pitchFamily="18" charset="0"/>
                      </a:endParaRPr>
                    </a:p>
                  </a:txBody>
                  <a:tcPr marL="135901" marR="135901" marT="0" marB="0">
                    <a:lnL>
                      <a:noFill/>
                    </a:lnL>
                    <a:lnR>
                      <a:noFill/>
                    </a:lnR>
                    <a:lnT w="3175">
                      <a:solidFill>
                        <a:schemeClr val="tx1"/>
                      </a:solidFill>
                    </a:lnT>
                    <a:lnB w="3175">
                      <a:solidFill>
                        <a:schemeClr val="tx1"/>
                      </a:solidFill>
                    </a:lnB>
                    <a:noFill/>
                  </a:tcPr>
                </a:tc>
                <a:tc>
                  <a:txBody>
                    <a:bodyPr/>
                    <a:lstStyle/>
                    <a:p>
                      <a:pPr>
                        <a:lnSpc>
                          <a:spcPct val="115000"/>
                        </a:lnSpc>
                        <a:spcAft>
                          <a:spcPts val="800"/>
                        </a:spcAft>
                      </a:pPr>
                      <a:r>
                        <a:rPr lang="en-US" sz="2800" kern="100">
                          <a:solidFill>
                            <a:schemeClr val="tx1"/>
                          </a:solidFill>
                          <a:effectLst/>
                        </a:rPr>
                        <a:t>Smaller size is better for local deployment and quicker fine-tuning.</a:t>
                      </a:r>
                      <a:endParaRPr lang="en-US" sz="2800" kern="100">
                        <a:solidFill>
                          <a:schemeClr val="tx1"/>
                        </a:solidFill>
                        <a:effectLst/>
                        <a:latin typeface="Aptos" panose="020B0004020202020204" pitchFamily="34" charset="0"/>
                        <a:ea typeface="等线" panose="02010600030101010101" charset="-122"/>
                        <a:cs typeface="Times New Roman" panose="02020603050405020304" pitchFamily="18" charset="0"/>
                      </a:endParaRPr>
                    </a:p>
                  </a:txBody>
                  <a:tcPr marL="135901" marR="135901" marT="0" marB="0">
                    <a:lnL>
                      <a:noFill/>
                    </a:lnL>
                    <a:lnR>
                      <a:noFill/>
                    </a:lnR>
                    <a:lnT w="3175">
                      <a:solidFill>
                        <a:schemeClr val="tx1"/>
                      </a:solidFill>
                    </a:lnT>
                    <a:lnB w="3175">
                      <a:solidFill>
                        <a:schemeClr val="tx1"/>
                      </a:solidFill>
                    </a:lnB>
                    <a:noFill/>
                  </a:tcPr>
                </a:tc>
              </a:tr>
              <a:tr h="1084466">
                <a:tc>
                  <a:txBody>
                    <a:bodyPr/>
                    <a:lstStyle/>
                    <a:p>
                      <a:pPr>
                        <a:lnSpc>
                          <a:spcPct val="115000"/>
                        </a:lnSpc>
                        <a:spcAft>
                          <a:spcPts val="800"/>
                        </a:spcAft>
                      </a:pPr>
                      <a:r>
                        <a:rPr lang="en-US" sz="2800" kern="100" dirty="0">
                          <a:solidFill>
                            <a:schemeClr val="tx1"/>
                          </a:solidFill>
                          <a:effectLst/>
                        </a:rPr>
                        <a:t>Fine-tuning is time-consuming and costly.</a:t>
                      </a:r>
                      <a:endParaRPr lang="en-US" sz="2800" kern="100" dirty="0">
                        <a:solidFill>
                          <a:schemeClr val="tx1"/>
                        </a:solidFill>
                        <a:effectLst/>
                        <a:latin typeface="Aptos" panose="020B0004020202020204" pitchFamily="34" charset="0"/>
                        <a:ea typeface="等线" panose="02010600030101010101" charset="-122"/>
                        <a:cs typeface="Times New Roman" panose="02020603050405020304" pitchFamily="18" charset="0"/>
                      </a:endParaRPr>
                    </a:p>
                  </a:txBody>
                  <a:tcPr marL="135901" marR="135901" marT="0" marB="0">
                    <a:lnL>
                      <a:noFill/>
                    </a:lnL>
                    <a:lnR>
                      <a:noFill/>
                    </a:lnR>
                    <a:lnT w="3175">
                      <a:solidFill>
                        <a:schemeClr val="tx1"/>
                      </a:solidFill>
                    </a:lnT>
                    <a:lnB w="12700">
                      <a:solidFill>
                        <a:schemeClr val="accent1"/>
                      </a:solidFill>
                    </a:lnB>
                    <a:noFill/>
                  </a:tcPr>
                </a:tc>
                <a:tc>
                  <a:txBody>
                    <a:bodyPr/>
                    <a:lstStyle/>
                    <a:p>
                      <a:pPr>
                        <a:lnSpc>
                          <a:spcPct val="115000"/>
                        </a:lnSpc>
                        <a:spcAft>
                          <a:spcPts val="800"/>
                        </a:spcAft>
                      </a:pPr>
                      <a:r>
                        <a:rPr lang="en-US" sz="2800" kern="100" dirty="0">
                          <a:solidFill>
                            <a:schemeClr val="tx1"/>
                          </a:solidFill>
                          <a:effectLst/>
                        </a:rPr>
                        <a:t>Fine-tuning is less time-consuming and costly.</a:t>
                      </a:r>
                      <a:endParaRPr lang="en-US" sz="2800" kern="100" dirty="0">
                        <a:solidFill>
                          <a:schemeClr val="tx1"/>
                        </a:solidFill>
                        <a:effectLst/>
                        <a:latin typeface="Aptos" panose="020B0004020202020204" pitchFamily="34" charset="0"/>
                        <a:ea typeface="等线" panose="02010600030101010101" charset="-122"/>
                        <a:cs typeface="Times New Roman" panose="02020603050405020304" pitchFamily="18" charset="0"/>
                      </a:endParaRPr>
                    </a:p>
                  </a:txBody>
                  <a:tcPr marL="135901" marR="135901" marT="0" marB="0">
                    <a:lnL>
                      <a:noFill/>
                    </a:lnL>
                    <a:lnR>
                      <a:noFill/>
                    </a:lnR>
                    <a:lnT w="3175">
                      <a:solidFill>
                        <a:schemeClr val="tx1"/>
                      </a:solidFill>
                    </a:lnT>
                    <a:lnB w="12700">
                      <a:solidFill>
                        <a:schemeClr val="accent1"/>
                      </a:solidFill>
                    </a:lnB>
                    <a:noFill/>
                  </a:tcPr>
                </a:tc>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p:cNvSpPr>
            <a:spLocks noGrp="1" noRot="1" noChangeAspect="1" noMove="1" noResize="1" noEditPoints="1" noAdjustHandles="1" noChangeArrowheads="1" noChangeShapeType="1" noTextEdit="1"/>
          </p:cNvSpPr>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descr="A diagram of a diagram&#10;&#10;Description automatically generated"/>
          <p:cNvPicPr>
            <a:picLocks noGrp="1" noChangeAspect="1"/>
          </p:cNvPicPr>
          <p:nvPr>
            <p:ph idx="1"/>
          </p:nvPr>
        </p:nvPicPr>
        <p:blipFill>
          <a:blip r:embed="rId1"/>
          <a:srcRect/>
          <a:stretch>
            <a:fillRect/>
          </a:stretch>
        </p:blipFill>
        <p:spPr>
          <a:xfrm>
            <a:off x="20" y="1282"/>
            <a:ext cx="12191980" cy="6856718"/>
          </a:xfrm>
          <a:prstGeom prst="rect">
            <a:avLst/>
          </a:prstGeom>
        </p:spPr>
      </p:pic>
      <p:sp>
        <p:nvSpPr>
          <p:cNvPr id="4" name="Slide Number Placeholder 3"/>
          <p:cNvSpPr>
            <a:spLocks noGrp="1"/>
          </p:cNvSpPr>
          <p:nvPr>
            <p:ph type="sldNum" sz="quarter" idx="12"/>
          </p:nvPr>
        </p:nvSpPr>
        <p:spPr>
          <a:xfrm>
            <a:off x="8610600" y="6356350"/>
            <a:ext cx="2743200" cy="365125"/>
          </a:xfrm>
        </p:spPr>
        <p:txBody>
          <a:bodyPr vert="horz" lIns="91440" tIns="45720" rIns="91440" bIns="45720" rtlCol="0" anchor="ctr">
            <a:normAutofit/>
          </a:bodyPr>
          <a:lstStyle/>
          <a:p>
            <a:pPr defTabSz="914400">
              <a:spcAft>
                <a:spcPts val="600"/>
              </a:spcAft>
            </a:pPr>
            <a:fld id="{7F8CBF50-853B-304C-BCA2-DB5146F0D4EA}" type="slidenum">
              <a:rPr lang="en-US">
                <a:solidFill>
                  <a:srgbClr val="FFFFFF"/>
                </a:solidFill>
              </a:rPr>
            </a:fld>
            <a:endParaRPr lang="en-US">
              <a:solidFill>
                <a:srgbClr val="FFFFFF"/>
              </a:solidFill>
            </a:endParaRPr>
          </a:p>
        </p:txBody>
      </p:sp>
      <p:sp>
        <p:nvSpPr>
          <p:cNvPr id="6" name="TextBox 5"/>
          <p:cNvSpPr txBox="1"/>
          <p:nvPr/>
        </p:nvSpPr>
        <p:spPr>
          <a:xfrm>
            <a:off x="-551569" y="6464254"/>
            <a:ext cx="3096883" cy="276999"/>
          </a:xfrm>
          <a:prstGeom prst="rect">
            <a:avLst/>
          </a:prstGeom>
          <a:noFill/>
        </p:spPr>
        <p:txBody>
          <a:bodyPr wrap="square" rtlCol="0">
            <a:spAutoFit/>
          </a:bodyPr>
          <a:lstStyle/>
          <a:p>
            <a:pPr algn="ctr"/>
            <a:r>
              <a:rPr lang="en-US" altLang="zh-CN" sz="1200" dirty="0">
                <a:solidFill>
                  <a:schemeClr val="tx1">
                    <a:lumMod val="50000"/>
                    <a:lumOff val="50000"/>
                  </a:schemeClr>
                </a:solidFill>
              </a:rPr>
              <a:t>Source: Databricks</a:t>
            </a:r>
            <a:endParaRPr lang="en-US" altLang="zh-CN" sz="1200" dirty="0">
              <a:solidFill>
                <a:schemeClr val="tx1">
                  <a:lumMod val="50000"/>
                  <a:lumOff val="50000"/>
                </a:schemeClr>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solidFill>
                  <a:srgbClr val="000000"/>
                </a:solidFill>
                <a:latin typeface="等线" panose="02010600030101010101" charset="-122"/>
                <a:ea typeface="等线" panose="02010600030101010101" charset="-122"/>
              </a:rPr>
              <a:t>LLM Key Technologies</a:t>
            </a:r>
            <a:endParaRPr lang="en-US" dirty="0"/>
          </a:p>
        </p:txBody>
      </p:sp>
      <p:sp>
        <p:nvSpPr>
          <p:cNvPr id="3" name="Content Placeholder 2"/>
          <p:cNvSpPr>
            <a:spLocks noGrp="1"/>
          </p:cNvSpPr>
          <p:nvPr>
            <p:ph idx="1"/>
          </p:nvPr>
        </p:nvSpPr>
        <p:spPr>
          <a:xfrm>
            <a:off x="838200" y="1825625"/>
            <a:ext cx="10515600" cy="4351338"/>
          </a:xfrm>
        </p:spPr>
        <p:txBody>
          <a:bodyPr/>
          <a:lstStyle/>
          <a:p>
            <a:r>
              <a:rPr lang="en-US" dirty="0"/>
              <a:t>Prompt Engineering</a:t>
            </a:r>
            <a:endParaRPr lang="en-US" dirty="0"/>
          </a:p>
          <a:p>
            <a:r>
              <a:rPr lang="en-US" dirty="0"/>
              <a:t>Function Calling</a:t>
            </a:r>
            <a:endParaRPr lang="en-US" dirty="0"/>
          </a:p>
          <a:p>
            <a:r>
              <a:rPr lang="en-US" dirty="0"/>
              <a:t>Retrieval-Augmented Generation (RAG)</a:t>
            </a:r>
            <a:endParaRPr lang="en-US" dirty="0"/>
          </a:p>
          <a:p>
            <a:r>
              <a:rPr lang="en-US" dirty="0"/>
              <a:t>Fine-Tuning Large Language Models</a:t>
            </a:r>
            <a:endParaRPr lang="en-US" dirty="0"/>
          </a:p>
          <a:p>
            <a:r>
              <a:rPr lang="en-US" dirty="0"/>
              <a:t>Reasoning</a:t>
            </a:r>
            <a:endParaRPr lang="en-US" dirty="0"/>
          </a:p>
          <a:p>
            <a:r>
              <a:rPr lang="en-US" dirty="0"/>
              <a:t>Code Interpreter</a:t>
            </a:r>
            <a:endParaRPr lang="en-US" dirty="0"/>
          </a:p>
          <a:p>
            <a:r>
              <a:rPr lang="en-US" dirty="0"/>
              <a:t>AI Agent</a:t>
            </a:r>
            <a:endParaRPr lang="en-US" dirty="0"/>
          </a:p>
        </p:txBody>
      </p:sp>
      <p:sp>
        <p:nvSpPr>
          <p:cNvPr id="2" name="Slide Number Placeholder 1"/>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dirty="0"/>
              <a:t>Prompts and Completions</a:t>
            </a:r>
            <a:endParaRPr lang="en-US" dirty="0"/>
          </a:p>
        </p:txBody>
      </p:sp>
      <p:pic>
        <p:nvPicPr>
          <p:cNvPr id="10" name="Content Placeholder 9"/>
          <p:cNvPicPr>
            <a:picLocks noGrp="1" noChangeAspect="1"/>
          </p:cNvPicPr>
          <p:nvPr>
            <p:ph idx="1"/>
          </p:nvPr>
        </p:nvPicPr>
        <p:blipFill rotWithShape="1">
          <a:blip r:embed="rId1"/>
          <a:srcRect t="21549" b="38270"/>
          <a:stretch>
            <a:fillRect/>
          </a:stretch>
        </p:blipFill>
        <p:spPr>
          <a:xfrm>
            <a:off x="1810718" y="2108444"/>
            <a:ext cx="8570563" cy="1937105"/>
          </a:xfrm>
        </p:spPr>
      </p:pic>
      <p:sp>
        <p:nvSpPr>
          <p:cNvPr id="14" name="TextBox 13"/>
          <p:cNvSpPr txBox="1"/>
          <p:nvPr/>
        </p:nvSpPr>
        <p:spPr>
          <a:xfrm>
            <a:off x="2627644" y="4127777"/>
            <a:ext cx="2054887" cy="461665"/>
          </a:xfrm>
          <a:prstGeom prst="rect">
            <a:avLst/>
          </a:prstGeom>
          <a:noFill/>
        </p:spPr>
        <p:txBody>
          <a:bodyPr wrap="square">
            <a:spAutoFit/>
          </a:bodyPr>
          <a:lstStyle/>
          <a:p>
            <a:r>
              <a:rPr lang="en-US" altLang="zh-CN" sz="2400" b="0" i="0" dirty="0">
                <a:effectLst/>
                <a:latin typeface="Roboto" panose="02000000000000000000" pitchFamily="2" charset="0"/>
              </a:rPr>
              <a:t>1+1=?</a:t>
            </a:r>
            <a:endParaRPr lang="en-US" sz="2400" dirty="0"/>
          </a:p>
        </p:txBody>
      </p:sp>
      <p:sp>
        <p:nvSpPr>
          <p:cNvPr id="15" name="TextBox 14"/>
          <p:cNvSpPr txBox="1"/>
          <p:nvPr/>
        </p:nvSpPr>
        <p:spPr>
          <a:xfrm>
            <a:off x="7509471" y="4127777"/>
            <a:ext cx="2425002" cy="461665"/>
          </a:xfrm>
          <a:prstGeom prst="rect">
            <a:avLst/>
          </a:prstGeom>
          <a:noFill/>
        </p:spPr>
        <p:txBody>
          <a:bodyPr wrap="square">
            <a:spAutoFit/>
          </a:bodyPr>
          <a:lstStyle/>
          <a:p>
            <a:r>
              <a:rPr lang="en-US" altLang="zh-CN" sz="2400" b="0" i="0" dirty="0">
                <a:effectLst/>
                <a:latin typeface="Roboto" panose="02000000000000000000" pitchFamily="2" charset="0"/>
              </a:rPr>
              <a:t>1+1=2</a:t>
            </a:r>
            <a:endParaRPr lang="en-US" sz="2400" dirty="0"/>
          </a:p>
        </p:txBody>
      </p:sp>
      <p:sp>
        <p:nvSpPr>
          <p:cNvPr id="18" name="TextBox 17"/>
          <p:cNvSpPr txBox="1"/>
          <p:nvPr/>
        </p:nvSpPr>
        <p:spPr>
          <a:xfrm>
            <a:off x="5068555" y="2795923"/>
            <a:ext cx="2054887" cy="461665"/>
          </a:xfrm>
          <a:prstGeom prst="rect">
            <a:avLst/>
          </a:prstGeom>
          <a:noFill/>
        </p:spPr>
        <p:txBody>
          <a:bodyPr wrap="square">
            <a:spAutoFit/>
          </a:bodyPr>
          <a:lstStyle/>
          <a:p>
            <a:pPr algn="ctr"/>
            <a:r>
              <a:rPr lang="en-US" altLang="zh-CN" sz="2400" dirty="0"/>
              <a:t>GPT-4</a:t>
            </a:r>
            <a:endParaRPr lang="en-US" sz="2400" dirty="0"/>
          </a:p>
        </p:txBody>
      </p:sp>
      <p:sp>
        <p:nvSpPr>
          <p:cNvPr id="19" name="TextBox 18"/>
          <p:cNvSpPr txBox="1"/>
          <p:nvPr/>
        </p:nvSpPr>
        <p:spPr>
          <a:xfrm>
            <a:off x="2627644" y="4953020"/>
            <a:ext cx="2647000" cy="461665"/>
          </a:xfrm>
          <a:prstGeom prst="rect">
            <a:avLst/>
          </a:prstGeom>
          <a:noFill/>
        </p:spPr>
        <p:txBody>
          <a:bodyPr wrap="square">
            <a:spAutoFit/>
          </a:bodyPr>
          <a:lstStyle/>
          <a:p>
            <a:pPr algn="l"/>
            <a:r>
              <a:rPr lang="en-US" sz="2400" dirty="0">
                <a:latin typeface="Roboto" panose="02000000000000000000" pitchFamily="2" charset="0"/>
              </a:rPr>
              <a:t>W</a:t>
            </a:r>
            <a:r>
              <a:rPr lang="en-US" sz="2400" b="0" i="0" dirty="0">
                <a:effectLst/>
                <a:latin typeface="Roboto" panose="02000000000000000000" pitchFamily="2" charset="0"/>
              </a:rPr>
              <a:t>hich year is it?</a:t>
            </a:r>
            <a:endParaRPr lang="en-US" sz="2400" b="0" i="0" dirty="0">
              <a:effectLst/>
              <a:latin typeface="Roboto" panose="02000000000000000000" pitchFamily="2" charset="0"/>
            </a:endParaRPr>
          </a:p>
        </p:txBody>
      </p:sp>
      <p:sp>
        <p:nvSpPr>
          <p:cNvPr id="20" name="TextBox 19"/>
          <p:cNvSpPr txBox="1"/>
          <p:nvPr/>
        </p:nvSpPr>
        <p:spPr>
          <a:xfrm>
            <a:off x="7509471" y="4953020"/>
            <a:ext cx="3299700" cy="461665"/>
          </a:xfrm>
          <a:prstGeom prst="rect">
            <a:avLst/>
          </a:prstGeom>
          <a:noFill/>
        </p:spPr>
        <p:txBody>
          <a:bodyPr wrap="square">
            <a:spAutoFit/>
          </a:bodyPr>
          <a:lstStyle/>
          <a:p>
            <a:pPr algn="l"/>
            <a:r>
              <a:rPr lang="en-US" sz="2400" b="0" i="0" dirty="0">
                <a:effectLst/>
                <a:latin typeface="Roboto" panose="02000000000000000000" pitchFamily="2" charset="0"/>
              </a:rPr>
              <a:t>It is currently </a:t>
            </a:r>
            <a:r>
              <a:rPr lang="en-US" sz="2400" b="0" i="0" dirty="0">
                <a:solidFill>
                  <a:srgbClr val="FF0000"/>
                </a:solidFill>
                <a:effectLst/>
                <a:latin typeface="Roboto" panose="02000000000000000000" pitchFamily="2" charset="0"/>
              </a:rPr>
              <a:t>202</a:t>
            </a:r>
            <a:r>
              <a:rPr lang="en-US" altLang="zh-CN" sz="2400" b="0" i="0" dirty="0">
                <a:solidFill>
                  <a:srgbClr val="FF0000"/>
                </a:solidFill>
                <a:effectLst/>
                <a:latin typeface="Roboto" panose="02000000000000000000" pitchFamily="2" charset="0"/>
              </a:rPr>
              <a:t>5</a:t>
            </a:r>
            <a:r>
              <a:rPr lang="en-US" sz="2400" b="0" i="0" dirty="0">
                <a:effectLst/>
                <a:latin typeface="Roboto" panose="02000000000000000000" pitchFamily="2" charset="0"/>
              </a:rPr>
              <a:t>.</a:t>
            </a:r>
            <a:endParaRPr lang="en-US" sz="2400" b="0" i="0" dirty="0">
              <a:effectLst/>
              <a:latin typeface="Roboto" panose="02000000000000000000" pitchFamily="2" charset="0"/>
            </a:endParaRPr>
          </a:p>
        </p:txBody>
      </p:sp>
      <p:sp>
        <p:nvSpPr>
          <p:cNvPr id="3" name="TextBox 2"/>
          <p:cNvSpPr txBox="1"/>
          <p:nvPr/>
        </p:nvSpPr>
        <p:spPr>
          <a:xfrm>
            <a:off x="4547556" y="6400412"/>
            <a:ext cx="3096883" cy="276999"/>
          </a:xfrm>
          <a:prstGeom prst="rect">
            <a:avLst/>
          </a:prstGeom>
          <a:noFill/>
        </p:spPr>
        <p:txBody>
          <a:bodyPr wrap="square" rtlCol="0">
            <a:spAutoFit/>
          </a:bodyPr>
          <a:lstStyle/>
          <a:p>
            <a:pPr algn="ctr"/>
            <a:r>
              <a:rPr lang="en-US" altLang="zh-CN" sz="1200" dirty="0">
                <a:solidFill>
                  <a:schemeClr val="tx1">
                    <a:lumMod val="50000"/>
                    <a:lumOff val="50000"/>
                  </a:schemeClr>
                </a:solidFill>
              </a:rPr>
              <a:t>Source: </a:t>
            </a:r>
            <a:r>
              <a:rPr lang="en-US" altLang="zh-CN" sz="1200" dirty="0" err="1">
                <a:solidFill>
                  <a:schemeClr val="tx1">
                    <a:lumMod val="50000"/>
                    <a:lumOff val="50000"/>
                  </a:schemeClr>
                </a:solidFill>
              </a:rPr>
              <a:t>DeepLearning.AI</a:t>
            </a:r>
            <a:r>
              <a:rPr lang="en-US" altLang="zh-CN" sz="1200" dirty="0">
                <a:solidFill>
                  <a:schemeClr val="tx1">
                    <a:lumMod val="50000"/>
                    <a:lumOff val="50000"/>
                  </a:schemeClr>
                </a:solidFill>
              </a:rPr>
              <a:t> / AWS</a:t>
            </a:r>
            <a:endParaRPr lang="en-US" altLang="zh-CN" sz="1200" dirty="0">
              <a:solidFill>
                <a:schemeClr val="tx1">
                  <a:lumMod val="50000"/>
                  <a:lumOff val="50000"/>
                </a:schemeClr>
              </a:solidFill>
            </a:endParaRPr>
          </a:p>
        </p:txBody>
      </p:sp>
      <p:sp>
        <p:nvSpPr>
          <p:cNvPr id="4" name="Slide Number Placeholder 3"/>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a:spLocks noGrp="1"/>
          </p:cNvSpPr>
          <p:nvPr>
            <p:ph type="title"/>
          </p:nvPr>
        </p:nvSpPr>
        <p:spPr>
          <a:xfrm>
            <a:off x="838200" y="365125"/>
            <a:ext cx="10515600" cy="1325563"/>
          </a:xfrm>
        </p:spPr>
        <p:txBody>
          <a:bodyPr/>
          <a:lstStyle/>
          <a:p>
            <a:r>
              <a:rPr lang="en-US" dirty="0"/>
              <a:t>LLM Use Cases and Tasks</a:t>
            </a:r>
            <a:endParaRPr lang="en-US" dirty="0"/>
          </a:p>
        </p:txBody>
      </p:sp>
      <p:pic>
        <p:nvPicPr>
          <p:cNvPr id="6" name="Content Placeholder 5"/>
          <p:cNvPicPr>
            <a:picLocks noGrp="1" noChangeAspect="1"/>
          </p:cNvPicPr>
          <p:nvPr>
            <p:ph idx="1"/>
          </p:nvPr>
        </p:nvPicPr>
        <p:blipFill rotWithShape="1">
          <a:blip r:embed="rId1"/>
          <a:srcRect t="13839" b="14332"/>
          <a:stretch>
            <a:fillRect/>
          </a:stretch>
        </p:blipFill>
        <p:spPr>
          <a:xfrm>
            <a:off x="838200" y="1588169"/>
            <a:ext cx="10515600" cy="4248676"/>
          </a:xfrm>
        </p:spPr>
      </p:pic>
      <p:sp>
        <p:nvSpPr>
          <p:cNvPr id="11" name="Rectangle 10"/>
          <p:cNvSpPr/>
          <p:nvPr/>
        </p:nvSpPr>
        <p:spPr>
          <a:xfrm>
            <a:off x="9244484" y="1457005"/>
            <a:ext cx="2134573" cy="4350942"/>
          </a:xfrm>
          <a:prstGeom prst="rect">
            <a:avLst/>
          </a:pr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4547558" y="6400412"/>
            <a:ext cx="3096883" cy="276999"/>
          </a:xfrm>
          <a:prstGeom prst="rect">
            <a:avLst/>
          </a:prstGeom>
          <a:noFill/>
        </p:spPr>
        <p:txBody>
          <a:bodyPr wrap="square" rtlCol="0">
            <a:spAutoFit/>
          </a:bodyPr>
          <a:lstStyle/>
          <a:p>
            <a:pPr algn="ctr"/>
            <a:r>
              <a:rPr lang="en-US" altLang="zh-CN" sz="1200" dirty="0">
                <a:solidFill>
                  <a:schemeClr val="tx1">
                    <a:lumMod val="50000"/>
                    <a:lumOff val="50000"/>
                  </a:schemeClr>
                </a:solidFill>
              </a:rPr>
              <a:t>Source: </a:t>
            </a:r>
            <a:r>
              <a:rPr lang="en-US" altLang="zh-CN" sz="1200" dirty="0" err="1">
                <a:solidFill>
                  <a:schemeClr val="tx1">
                    <a:lumMod val="50000"/>
                    <a:lumOff val="50000"/>
                  </a:schemeClr>
                </a:solidFill>
              </a:rPr>
              <a:t>DeepLearning.AI</a:t>
            </a:r>
            <a:r>
              <a:rPr lang="en-US" altLang="zh-CN" sz="1200" dirty="0">
                <a:solidFill>
                  <a:schemeClr val="tx1">
                    <a:lumMod val="50000"/>
                    <a:lumOff val="50000"/>
                  </a:schemeClr>
                </a:solidFill>
              </a:rPr>
              <a:t> / AWS</a:t>
            </a:r>
            <a:endParaRPr lang="en-US" altLang="zh-CN" sz="1200" dirty="0">
              <a:solidFill>
                <a:schemeClr val="tx1">
                  <a:lumMod val="50000"/>
                  <a:lumOff val="50000"/>
                </a:schemeClr>
              </a:solidFill>
            </a:endParaRPr>
          </a:p>
        </p:txBody>
      </p:sp>
      <p:sp>
        <p:nvSpPr>
          <p:cNvPr id="2" name="Slide Number Placeholder 1"/>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365125"/>
            <a:ext cx="10515600" cy="1325563"/>
          </a:xfrm>
        </p:spPr>
        <p:txBody>
          <a:bodyPr/>
          <a:lstStyle/>
          <a:p>
            <a:r>
              <a:rPr lang="en-US" dirty="0"/>
              <a:t>Information Extraction with LLM</a:t>
            </a:r>
            <a:endParaRPr lang="en-US" dirty="0"/>
          </a:p>
        </p:txBody>
      </p:sp>
      <p:sp>
        <p:nvSpPr>
          <p:cNvPr id="3" name="Content Placeholder 2"/>
          <p:cNvSpPr>
            <a:spLocks noGrp="1"/>
          </p:cNvSpPr>
          <p:nvPr>
            <p:ph idx="1"/>
          </p:nvPr>
        </p:nvSpPr>
        <p:spPr/>
        <p:txBody>
          <a:bodyPr>
            <a:normAutofit fontScale="92500" lnSpcReduction="10000"/>
          </a:bodyPr>
          <a:lstStyle/>
          <a:p>
            <a:pPr marL="0" indent="0">
              <a:lnSpc>
                <a:spcPct val="110000"/>
              </a:lnSpc>
              <a:spcBef>
                <a:spcPts val="0"/>
              </a:spcBef>
              <a:buNone/>
            </a:pPr>
            <a:r>
              <a:rPr lang="en-US" sz="1800" dirty="0"/>
              <a:t>prompt = </a:t>
            </a:r>
            <a:r>
              <a:rPr lang="en-US" sz="1800" dirty="0" err="1"/>
              <a:t>f"""Summarize</a:t>
            </a:r>
            <a:r>
              <a:rPr lang="en-US" sz="1800" dirty="0"/>
              <a:t> the events mentioned in the following news article delimited by triple backticks in the format of JSONL. </a:t>
            </a:r>
            <a:br>
              <a:rPr lang="en-US" sz="1800" dirty="0"/>
            </a:br>
            <a:r>
              <a:rPr lang="en-US" sz="1800" dirty="0"/>
              <a:t>An event describes something that happened that could cause the price of an asset to change. Some examples of an asset include stock, bond, sector, gold, and overall market. Federal Reserve is not an asset.</a:t>
            </a:r>
            <a:br>
              <a:rPr lang="en-US" sz="1800" dirty="0"/>
            </a:br>
            <a:r>
              <a:rPr lang="en-US" sz="1800" dirty="0"/>
              <a:t>The fields for the JSONL file include "date", which is the date of the event;</a:t>
            </a:r>
            <a:br>
              <a:rPr lang="en-US" sz="1800" dirty="0"/>
            </a:br>
            <a:r>
              <a:rPr lang="en-US" sz="1800" dirty="0"/>
              <a:t>"</a:t>
            </a:r>
            <a:r>
              <a:rPr lang="en-US" sz="1800" dirty="0" err="1"/>
              <a:t>event_cause</a:t>
            </a:r>
            <a:r>
              <a:rPr lang="en-US" sz="1800" dirty="0"/>
              <a:t>", which describes the plausible cause of an asset's price change in one or a few sentences; </a:t>
            </a:r>
            <a:br>
              <a:rPr lang="en-US" sz="1800" dirty="0"/>
            </a:br>
            <a:r>
              <a:rPr lang="en-US" sz="1800" dirty="0"/>
              <a:t>"asset", which is an individual asset affected by the event cause; </a:t>
            </a:r>
            <a:br>
              <a:rPr lang="en-US" sz="1800" dirty="0"/>
            </a:br>
            <a:r>
              <a:rPr lang="en-US" sz="1800" dirty="0"/>
              <a:t>"</a:t>
            </a:r>
            <a:r>
              <a:rPr lang="en-US" sz="1800" dirty="0" err="1"/>
              <a:t>price_movement</a:t>
            </a:r>
            <a:r>
              <a:rPr lang="en-US" sz="1800" dirty="0"/>
              <a:t>", which represents the direction of the price change of the asset and equals UP if the price increases/jumps/rises/goes up or DOWN if the price decreases/goes down; </a:t>
            </a:r>
            <a:br>
              <a:rPr lang="en-US" sz="1800" dirty="0"/>
            </a:br>
            <a:r>
              <a:rPr lang="en-US" sz="1800" dirty="0"/>
              <a:t>and "</a:t>
            </a:r>
            <a:r>
              <a:rPr lang="en-US" sz="1800" dirty="0" err="1"/>
              <a:t>percentage_change</a:t>
            </a:r>
            <a:r>
              <a:rPr lang="en-US" sz="1800" dirty="0"/>
              <a:t>", which describes the magnitude of the </a:t>
            </a:r>
            <a:r>
              <a:rPr lang="en-US" sz="1800" dirty="0" err="1"/>
              <a:t>price_movement</a:t>
            </a:r>
            <a:r>
              <a:rPr lang="en-US" sz="1800" dirty="0"/>
              <a:t>. </a:t>
            </a:r>
            <a:br>
              <a:rPr lang="en-US" sz="1800" dirty="0"/>
            </a:br>
            <a:r>
              <a:rPr lang="en-US" sz="1800" dirty="0"/>
              <a:t>        ```{title}</a:t>
            </a:r>
            <a:br>
              <a:rPr lang="en-US" sz="1800" dirty="0"/>
            </a:br>
            <a:r>
              <a:rPr lang="en-US" sz="1800" dirty="0"/>
              <a:t>        {</a:t>
            </a:r>
            <a:r>
              <a:rPr lang="en-US" sz="1800" dirty="0" err="1"/>
              <a:t>subheadline</a:t>
            </a:r>
            <a:r>
              <a:rPr lang="en-US" sz="1800" dirty="0"/>
              <a:t>}</a:t>
            </a:r>
            <a:br>
              <a:rPr lang="en-US" sz="1800" dirty="0"/>
            </a:br>
            <a:r>
              <a:rPr lang="en-US" sz="1800" dirty="0"/>
              <a:t>        {date}</a:t>
            </a:r>
            <a:br>
              <a:rPr lang="en-US" sz="1800" dirty="0"/>
            </a:br>
            <a:r>
              <a:rPr lang="en-US" sz="1800" dirty="0"/>
              <a:t>        {news}```</a:t>
            </a:r>
            <a:br>
              <a:rPr lang="en-US" sz="1800" dirty="0"/>
            </a:br>
            <a:r>
              <a:rPr lang="en-US" sz="1800" dirty="0"/>
              <a:t>        """</a:t>
            </a:r>
            <a:endParaRPr lang="en-US" sz="1800" dirty="0"/>
          </a:p>
        </p:txBody>
      </p:sp>
      <p:sp>
        <p:nvSpPr>
          <p:cNvPr id="2" name="Slide Number Placeholder 1"/>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 screen&#10;&#10;AI-generated content may be incorrect."/>
          <p:cNvPicPr>
            <a:picLocks noChangeAspect="1"/>
          </p:cNvPicPr>
          <p:nvPr/>
        </p:nvPicPr>
        <p:blipFill>
          <a:blip r:embed="rId1"/>
          <a:stretch>
            <a:fillRect/>
          </a:stretch>
        </p:blipFill>
        <p:spPr>
          <a:xfrm>
            <a:off x="217715" y="68263"/>
            <a:ext cx="11756569" cy="6172200"/>
          </a:xfrm>
          <a:prstGeom prst="rect">
            <a:avLst/>
          </a:prstGeom>
          <a:noFill/>
        </p:spPr>
      </p:pic>
      <p:sp>
        <p:nvSpPr>
          <p:cNvPr id="4" name="Slide Number Placeholder 3" hidden="1"/>
          <p:cNvSpPr>
            <a:spLocks noGrp="1"/>
          </p:cNvSpPr>
          <p:nvPr>
            <p:ph type="sldNum" sz="quarter" idx="12"/>
          </p:nvPr>
        </p:nvSpPr>
        <p:spPr>
          <a:xfrm>
            <a:off x="8610600" y="6356350"/>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US"/>
              <a:t>1</a:t>
            </a:r>
            <a:endParaRPr lang="en-US"/>
          </a:p>
        </p:txBody>
      </p:sp>
      <p:sp>
        <p:nvSpPr>
          <p:cNvPr id="6" name="TextBox 5"/>
          <p:cNvSpPr txBox="1"/>
          <p:nvPr/>
        </p:nvSpPr>
        <p:spPr>
          <a:xfrm>
            <a:off x="4710318" y="6581001"/>
            <a:ext cx="3743324" cy="276999"/>
          </a:xfrm>
          <a:prstGeom prst="rect">
            <a:avLst/>
          </a:prstGeom>
          <a:noFill/>
        </p:spPr>
        <p:txBody>
          <a:bodyPr wrap="square" rtlCol="0">
            <a:spAutoFit/>
          </a:bodyPr>
          <a:lstStyle/>
          <a:p>
            <a:r>
              <a:rPr lang="en-US" altLang="ja-JP" sz="1200" dirty="0">
                <a:solidFill>
                  <a:schemeClr val="tx1">
                    <a:lumMod val="50000"/>
                    <a:lumOff val="50000"/>
                  </a:schemeClr>
                </a:solidFill>
                <a:ea typeface="等线" panose="02010600030101010101" charset="-122"/>
              </a:rPr>
              <a:t>Source: </a:t>
            </a:r>
            <a:r>
              <a:rPr lang="en-US" altLang="zh-CN" sz="1200" dirty="0">
                <a:solidFill>
                  <a:schemeClr val="tx1">
                    <a:lumMod val="50000"/>
                    <a:lumOff val="50000"/>
                  </a:schemeClr>
                </a:solidFill>
                <a:ea typeface="等线" panose="02010600030101010101" charset="-122"/>
                <a:hlinkClick r:id="rId2"/>
              </a:rPr>
              <a:t>https://hk.filingsai.org/filings/33492</a:t>
            </a:r>
            <a:r>
              <a:rPr lang="en-US" altLang="zh-CN" sz="1200" dirty="0">
                <a:solidFill>
                  <a:schemeClr val="tx1">
                    <a:lumMod val="50000"/>
                    <a:lumOff val="50000"/>
                  </a:schemeClr>
                </a:solidFill>
                <a:ea typeface="等线" panose="02010600030101010101" charset="-122"/>
              </a:rPr>
              <a:t> </a:t>
            </a:r>
            <a:endParaRPr lang="en-US" sz="1200" dirty="0">
              <a:solidFill>
                <a:schemeClr val="tx1">
                  <a:lumMod val="50000"/>
                  <a:lumOff val="50000"/>
                </a:schemeClr>
              </a:solidFill>
              <a:ea typeface="等线" panose="02010600030101010101"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 Calling</a:t>
            </a:r>
            <a:endParaRPr lang="en-US" dirty="0"/>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1</a:t>
            </a:r>
            <a:endParaRPr lang="en-US"/>
          </a:p>
        </p:txBody>
      </p:sp>
      <p:pic>
        <p:nvPicPr>
          <p:cNvPr id="6" name="Picture 2" descr="Function Calling Diagram Steps"/>
          <p:cNvPicPr>
            <a:picLocks noGrp="1" noChangeAspect="1" noChangeArrowheads="1"/>
          </p:cNvPicPr>
          <p:nvPr>
            <p:ph idx="1"/>
          </p:nvPr>
        </p:nvPicPr>
        <p:blipFill>
          <a:blip r:embed="rId1"/>
          <a:srcRect/>
          <a:stretch>
            <a:fillRect/>
          </a:stretch>
        </p:blipFill>
        <p:spPr bwMode="auto">
          <a:xfrm>
            <a:off x="7409574" y="0"/>
            <a:ext cx="4782426" cy="688264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Function Calling diagram"/>
          <p:cNvPicPr>
            <a:picLocks noChangeAspect="1" noChangeArrowheads="1"/>
          </p:cNvPicPr>
          <p:nvPr/>
        </p:nvPicPr>
        <p:blipFill>
          <a:blip r:embed="rId2"/>
          <a:stretch>
            <a:fillRect/>
          </a:stretch>
        </p:blipFill>
        <p:spPr bwMode="auto">
          <a:xfrm>
            <a:off x="838200" y="1548117"/>
            <a:ext cx="5991770" cy="459868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chor="ctr">
            <a:normAutofit/>
          </a:bodyPr>
          <a:lstStyle/>
          <a:p>
            <a:r>
              <a:rPr lang="en-US" dirty="0"/>
              <a:t>Function Calling + Database</a:t>
            </a:r>
            <a:endParaRPr lang="en-US" dirty="0"/>
          </a:p>
        </p:txBody>
      </p:sp>
      <p:pic>
        <p:nvPicPr>
          <p:cNvPr id="5" name="Content Placeholder 4"/>
          <p:cNvPicPr>
            <a:picLocks noGrp="1" noChangeAspect="1"/>
          </p:cNvPicPr>
          <p:nvPr>
            <p:ph idx="1"/>
          </p:nvPr>
        </p:nvPicPr>
        <p:blipFill>
          <a:blip r:embed="rId1"/>
          <a:stretch>
            <a:fillRect/>
          </a:stretch>
        </p:blipFill>
        <p:spPr>
          <a:xfrm>
            <a:off x="1595966" y="1424751"/>
            <a:ext cx="9000067" cy="5197537"/>
          </a:xfrm>
          <a:prstGeom prst="rect">
            <a:avLst/>
          </a:prstGeom>
          <a:noFill/>
        </p:spPr>
      </p:pic>
      <p:sp>
        <p:nvSpPr>
          <p:cNvPr id="4" name="Slide Number Placeholder 3"/>
          <p:cNvSpPr>
            <a:spLocks noGrp="1"/>
          </p:cNvSpPr>
          <p:nvPr>
            <p:ph type="sldNum" sz="quarter" idx="12"/>
          </p:nvPr>
        </p:nvSpPr>
        <p:spPr>
          <a:xfrm>
            <a:off x="8610600" y="6356350"/>
            <a:ext cx="2743200" cy="365125"/>
          </a:xfrm>
        </p:spPr>
        <p:txBody>
          <a:bodyPr anchor="ctr">
            <a:normAutofit/>
          </a:bodyPr>
          <a:lstStyle/>
          <a:p>
            <a:pPr>
              <a:spcAft>
                <a:spcPts val="600"/>
              </a:spcAft>
            </a:pPr>
            <a:fld id="{7F8CBF50-853B-304C-BCA2-DB5146F0D4EA}" type="slidenum">
              <a:rPr lang="en-US" smtClean="0"/>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1" y="365125"/>
            <a:ext cx="10515600" cy="1325563"/>
          </a:xfrm>
        </p:spPr>
        <p:txBody>
          <a:bodyPr anchor="ctr">
            <a:normAutofit/>
          </a:bodyPr>
          <a:lstStyle/>
          <a:p>
            <a:r>
              <a:rPr lang="en-US" altLang="zh-CN" dirty="0"/>
              <a:t>OpenAI ChatGPT Search</a:t>
            </a:r>
            <a:endParaRPr lang="en-US" dirty="0"/>
          </a:p>
        </p:txBody>
      </p:sp>
      <p:pic>
        <p:nvPicPr>
          <p:cNvPr id="1026" name="Picture 2" descr="Screenshot of backyard improvement suggestions, including cozy seating, outdoor lighting, and fire pits, with images of stylish backyard setups. A sidebar lists citations from sources like The Spruce, Family Handyman, and Better Homes &amp; Gardens."/>
          <p:cNvPicPr>
            <a:picLocks noGrp="1" noChangeAspect="1" noChangeArrowheads="1"/>
          </p:cNvPicPr>
          <p:nvPr>
            <p:ph idx="1"/>
          </p:nvPr>
        </p:nvPicPr>
        <p:blipFill>
          <a:blip r:embed="rId1"/>
          <a:srcRect/>
          <a:stretch>
            <a:fillRect/>
          </a:stretch>
        </p:blipFill>
        <p:spPr bwMode="auto">
          <a:xfrm>
            <a:off x="838200" y="1826975"/>
            <a:ext cx="10515600" cy="4348638"/>
          </a:xfrm>
          <a:solidFill>
            <a:srgbClr val="FFFFFF"/>
          </a:solidFill>
        </p:spPr>
      </p:pic>
      <p:sp>
        <p:nvSpPr>
          <p:cNvPr id="3" name="Slide Number Placeholder 2"/>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A diagram of a process flow&#10;&#10;Description automatically generated"/>
          <p:cNvPicPr>
            <a:picLocks noGrp="1" noChangeAspect="1" noChangeArrowheads="1"/>
          </p:cNvPicPr>
          <p:nvPr>
            <p:ph idx="1"/>
          </p:nvPr>
        </p:nvPicPr>
        <p:blipFill rotWithShape="1">
          <a:blip r:embed="rId1"/>
          <a:srcRect/>
          <a:stretch>
            <a:fillRect/>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1"/>
          <a:srcRect/>
          <a:stretch>
            <a:fillRect/>
          </a:stretch>
        </p:blipFill>
        <p:spPr>
          <a:xfrm>
            <a:off x="190622" y="1676"/>
            <a:ext cx="11810755" cy="6856324"/>
          </a:xfrm>
        </p:spPr>
      </p:pic>
      <p:sp>
        <p:nvSpPr>
          <p:cNvPr id="2" name="Slide Number Placeholder 1"/>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screenshot of a chat&#10;&#10;AI-generated content may be incorrect."/>
          <p:cNvPicPr>
            <a:picLocks noGrp="1" noChangeAspect="1"/>
          </p:cNvPicPr>
          <p:nvPr>
            <p:ph idx="1"/>
          </p:nvPr>
        </p:nvPicPr>
        <p:blipFill>
          <a:blip r:embed="rId1"/>
          <a:stretch>
            <a:fillRect/>
          </a:stretch>
        </p:blipFill>
        <p:spPr>
          <a:xfrm>
            <a:off x="190622" y="1676"/>
            <a:ext cx="11810755" cy="6856324"/>
          </a:xfrm>
        </p:spPr>
      </p:pic>
      <p:sp>
        <p:nvSpPr>
          <p:cNvPr id="2" name="Slide Number Placeholder 1"/>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381878" y="6581001"/>
            <a:ext cx="3096883" cy="276999"/>
          </a:xfrm>
          <a:prstGeom prst="rect">
            <a:avLst/>
          </a:prstGeom>
          <a:noFill/>
        </p:spPr>
        <p:txBody>
          <a:bodyPr wrap="square" rtlCol="0">
            <a:spAutoFit/>
          </a:bodyPr>
          <a:lstStyle/>
          <a:p>
            <a:pPr algn="ctr"/>
            <a:r>
              <a:rPr lang="en-US" altLang="zh-CN" sz="1200" dirty="0">
                <a:solidFill>
                  <a:schemeClr val="tx1">
                    <a:lumMod val="50000"/>
                    <a:lumOff val="50000"/>
                  </a:schemeClr>
                </a:solidFill>
              </a:rPr>
              <a:t>Source: Microsoft</a:t>
            </a:r>
            <a:endParaRPr lang="en-US" altLang="zh-CN" sz="1200" dirty="0">
              <a:solidFill>
                <a:schemeClr val="tx1">
                  <a:lumMod val="50000"/>
                  <a:lumOff val="50000"/>
                </a:schemeClr>
              </a:solidFill>
            </a:endParaRPr>
          </a:p>
        </p:txBody>
      </p:sp>
      <p:sp>
        <p:nvSpPr>
          <p:cNvPr id="9" name="Title 1"/>
          <p:cNvSpPr>
            <a:spLocks noGrp="1"/>
          </p:cNvSpPr>
          <p:nvPr>
            <p:ph type="title"/>
          </p:nvPr>
        </p:nvSpPr>
        <p:spPr>
          <a:xfrm>
            <a:off x="838200" y="365125"/>
            <a:ext cx="10515600" cy="1325563"/>
          </a:xfrm>
        </p:spPr>
        <p:txBody>
          <a:bodyPr/>
          <a:lstStyle/>
          <a:p>
            <a:r>
              <a:rPr lang="en-US" dirty="0"/>
              <a:t>ML vs. LLM</a:t>
            </a:r>
            <a:endParaRPr lang="en-US" dirty="0"/>
          </a:p>
        </p:txBody>
      </p:sp>
      <p:pic>
        <p:nvPicPr>
          <p:cNvPr id="2050" name="Picture 2" descr="thumbnail image 1 of blog post titled &#10; &#10; &#10;  &#10; &#10; &#10; &#10;    &#10;  &#10;   &#10;    &#10;      &#10;       An Introduction to LLMOps: Operationalizing and Managing Large Language Models using Azure ML&#10;       &#10;      &#10;     &#10;   &#10;  &#10; &#10;   &#10; &#10; &#10; &#10; &#10; &#10;"/>
          <p:cNvPicPr>
            <a:picLocks noGrp="1" noChangeAspect="1" noChangeArrowheads="1"/>
          </p:cNvPicPr>
          <p:nvPr>
            <p:ph idx="1"/>
          </p:nvPr>
        </p:nvPicPr>
        <p:blipFill>
          <a:blip r:embed="rId1"/>
          <a:srcRect/>
          <a:stretch>
            <a:fillRect/>
          </a:stretch>
        </p:blipFill>
        <p:spPr bwMode="auto">
          <a:xfrm>
            <a:off x="838199" y="1569759"/>
            <a:ext cx="10515599" cy="486307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p:cNvPicPr>
            <a:picLocks noGrp="1" noChangeAspect="1"/>
          </p:cNvPicPr>
          <p:nvPr>
            <p:ph idx="1"/>
          </p:nvPr>
        </p:nvPicPr>
        <p:blipFill>
          <a:blip r:embed="rId1"/>
          <a:stretch>
            <a:fillRect/>
          </a:stretch>
        </p:blipFill>
        <p:spPr>
          <a:xfrm>
            <a:off x="1138760" y="2000870"/>
            <a:ext cx="9914479" cy="4000847"/>
          </a:xfrm>
        </p:spPr>
      </p:pic>
      <p:sp>
        <p:nvSpPr>
          <p:cNvPr id="12" name="Title 1"/>
          <p:cNvSpPr>
            <a:spLocks noGrp="1"/>
          </p:cNvSpPr>
          <p:nvPr>
            <p:ph type="title"/>
          </p:nvPr>
        </p:nvSpPr>
        <p:spPr>
          <a:xfrm>
            <a:off x="838200" y="365125"/>
            <a:ext cx="10515600" cy="1325563"/>
          </a:xfrm>
        </p:spPr>
        <p:txBody>
          <a:bodyPr/>
          <a:lstStyle/>
          <a:p>
            <a:r>
              <a:rPr lang="en-US" dirty="0"/>
              <a:t>In-context Learning</a:t>
            </a:r>
            <a:endParaRPr lang="en-US" dirty="0"/>
          </a:p>
        </p:txBody>
      </p:sp>
      <p:sp>
        <p:nvSpPr>
          <p:cNvPr id="2" name="Slide Number Placeholder 1"/>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descr="A graph with colorful dots&#10;&#10;Description automatically generated"/>
          <p:cNvPicPr>
            <a:picLocks noGrp="1" noChangeAspect="1"/>
          </p:cNvPicPr>
          <p:nvPr>
            <p:ph idx="1"/>
          </p:nvPr>
        </p:nvPicPr>
        <p:blipFill>
          <a:blip r:embed="rId1"/>
          <a:stretch>
            <a:fillRect/>
          </a:stretch>
        </p:blipFill>
        <p:spPr>
          <a:xfrm>
            <a:off x="913611" y="643466"/>
            <a:ext cx="10364778" cy="5571067"/>
          </a:xfrm>
          <a:prstGeom prst="rect">
            <a:avLst/>
          </a:prstGeom>
        </p:spPr>
      </p:pic>
      <p:sp>
        <p:nvSpPr>
          <p:cNvPr id="2" name="Slide Number Placeholder 1"/>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Content Placeholder 12"/>
          <p:cNvPicPr>
            <a:picLocks noGrp="1" noChangeAspect="1"/>
          </p:cNvPicPr>
          <p:nvPr>
            <p:ph idx="1"/>
          </p:nvPr>
        </p:nvPicPr>
        <p:blipFill>
          <a:blip r:embed="rId1"/>
          <a:stretch>
            <a:fillRect/>
          </a:stretch>
        </p:blipFill>
        <p:spPr>
          <a:xfrm>
            <a:off x="838200" y="1977733"/>
            <a:ext cx="10515600" cy="4047121"/>
          </a:xfrm>
        </p:spPr>
      </p:pic>
      <p:sp>
        <p:nvSpPr>
          <p:cNvPr id="3" name="TextBox 2"/>
          <p:cNvSpPr txBox="1"/>
          <p:nvPr/>
        </p:nvSpPr>
        <p:spPr>
          <a:xfrm>
            <a:off x="4547558" y="6581001"/>
            <a:ext cx="3096883" cy="276999"/>
          </a:xfrm>
          <a:prstGeom prst="rect">
            <a:avLst/>
          </a:prstGeom>
          <a:noFill/>
        </p:spPr>
        <p:txBody>
          <a:bodyPr wrap="square" rtlCol="0">
            <a:spAutoFit/>
          </a:bodyPr>
          <a:lstStyle/>
          <a:p>
            <a:pPr algn="ctr"/>
            <a:r>
              <a:rPr lang="en-US" altLang="zh-CN" sz="1200" dirty="0">
                <a:solidFill>
                  <a:schemeClr val="tx1">
                    <a:lumMod val="50000"/>
                    <a:lumOff val="50000"/>
                  </a:schemeClr>
                </a:solidFill>
              </a:rPr>
              <a:t>Source: </a:t>
            </a:r>
            <a:r>
              <a:rPr lang="en-US" altLang="zh-CN" sz="1200" dirty="0" err="1">
                <a:solidFill>
                  <a:schemeClr val="tx1">
                    <a:lumMod val="50000"/>
                    <a:lumOff val="50000"/>
                  </a:schemeClr>
                </a:solidFill>
              </a:rPr>
              <a:t>DeepLearning.AI</a:t>
            </a:r>
            <a:r>
              <a:rPr lang="en-US" altLang="zh-CN" sz="1200" dirty="0">
                <a:solidFill>
                  <a:schemeClr val="tx1">
                    <a:lumMod val="50000"/>
                    <a:lumOff val="50000"/>
                  </a:schemeClr>
                </a:solidFill>
              </a:rPr>
              <a:t> / AWS</a:t>
            </a:r>
            <a:endParaRPr lang="en-US" altLang="zh-CN" sz="1200" dirty="0">
              <a:solidFill>
                <a:schemeClr val="tx1">
                  <a:lumMod val="50000"/>
                  <a:lumOff val="50000"/>
                </a:schemeClr>
              </a:solidFill>
            </a:endParaRPr>
          </a:p>
        </p:txBody>
      </p:sp>
      <p:sp>
        <p:nvSpPr>
          <p:cNvPr id="9" name="Title 1"/>
          <p:cNvSpPr>
            <a:spLocks noGrp="1"/>
          </p:cNvSpPr>
          <p:nvPr>
            <p:ph type="title"/>
          </p:nvPr>
        </p:nvSpPr>
        <p:spPr>
          <a:xfrm>
            <a:off x="838200" y="365125"/>
            <a:ext cx="10515600" cy="1325563"/>
          </a:xfrm>
        </p:spPr>
        <p:txBody>
          <a:bodyPr/>
          <a:lstStyle/>
          <a:p>
            <a:r>
              <a:rPr lang="en-US" dirty="0"/>
              <a:t>Fine-Tuning Large Language Models</a:t>
            </a:r>
            <a:endParaRPr lang="en-US" dirty="0"/>
          </a:p>
        </p:txBody>
      </p:sp>
      <p:sp>
        <p:nvSpPr>
          <p:cNvPr id="2" name="Slide Number Placeholder 1"/>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chor="ctr">
            <a:normAutofit/>
          </a:bodyPr>
          <a:lstStyle/>
          <a:p>
            <a:r>
              <a:rPr lang="en-US" altLang="zh-CN" dirty="0"/>
              <a:t>Reasoning Model</a:t>
            </a:r>
            <a:endParaRPr lang="en-US" dirty="0"/>
          </a:p>
        </p:txBody>
      </p:sp>
      <p:pic>
        <p:nvPicPr>
          <p:cNvPr id="1028" name="Picture 4" descr="Reasoning tokens aren't retained in context"/>
          <p:cNvPicPr>
            <a:picLocks noGrp="1" noChangeAspect="1" noChangeArrowheads="1"/>
          </p:cNvPicPr>
          <p:nvPr>
            <p:ph idx="1"/>
          </p:nvPr>
        </p:nvPicPr>
        <p:blipFill>
          <a:blip r:embed="rId1"/>
          <a:stretch>
            <a:fillRect/>
          </a:stretch>
        </p:blipFill>
        <p:spPr bwMode="auto">
          <a:xfrm>
            <a:off x="3095077" y="1825625"/>
            <a:ext cx="6001845" cy="4351338"/>
          </a:xfrm>
          <a:prstGeom prst="rect">
            <a:avLst/>
          </a:prstGeom>
          <a:solidFill>
            <a:srgbClr val="FFFFFF"/>
          </a:solidFill>
        </p:spPr>
      </p:pic>
      <p:sp>
        <p:nvSpPr>
          <p:cNvPr id="4" name="Slide Number Placeholder 3"/>
          <p:cNvSpPr>
            <a:spLocks noGrp="1"/>
          </p:cNvSpPr>
          <p:nvPr>
            <p:ph type="sldNum" sz="quarter" idx="12"/>
          </p:nvPr>
        </p:nvSpPr>
        <p:spPr>
          <a:xfrm>
            <a:off x="8610600" y="6356350"/>
            <a:ext cx="2743200" cy="365125"/>
          </a:xfrm>
        </p:spPr>
        <p:txBody>
          <a:bodyPr anchor="ctr">
            <a:normAutofit/>
          </a:bodyPr>
          <a:lstStyle/>
          <a:p>
            <a:pPr>
              <a:spcAft>
                <a:spcPts val="600"/>
              </a:spcAft>
            </a:pPr>
            <a:fld id="{7F8CBF50-853B-304C-BCA2-DB5146F0D4EA}" type="slidenum">
              <a:rPr lang="en-US" smtClean="0"/>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a:spLocks noGrp="1"/>
          </p:cNvSpPr>
          <p:nvPr>
            <p:ph type="title"/>
          </p:nvPr>
        </p:nvSpPr>
        <p:spPr>
          <a:xfrm>
            <a:off x="838200" y="365125"/>
            <a:ext cx="10515600" cy="1325563"/>
          </a:xfrm>
        </p:spPr>
        <p:txBody>
          <a:bodyPr anchor="ctr">
            <a:normAutofit/>
          </a:bodyPr>
          <a:lstStyle/>
          <a:p>
            <a:r>
              <a:rPr lang="en-US" dirty="0">
                <a:effectLst/>
              </a:rPr>
              <a:t>Agent</a:t>
            </a:r>
            <a:endParaRPr lang="en-US" dirty="0"/>
          </a:p>
        </p:txBody>
      </p:sp>
      <p:pic>
        <p:nvPicPr>
          <p:cNvPr id="5" name="Content Placeholder 4" descr="A screenshot of a computer&#10;&#10;Description automatically generated"/>
          <p:cNvPicPr>
            <a:picLocks noGrp="1" noChangeAspect="1"/>
          </p:cNvPicPr>
          <p:nvPr>
            <p:ph idx="1"/>
          </p:nvPr>
        </p:nvPicPr>
        <p:blipFill>
          <a:blip r:embed="rId1"/>
          <a:srcRect t="5730" b="5657"/>
          <a:stretch>
            <a:fillRect/>
          </a:stretch>
        </p:blipFill>
        <p:spPr>
          <a:xfrm>
            <a:off x="1484027" y="1558977"/>
            <a:ext cx="9608694" cy="4981003"/>
          </a:xfrm>
          <a:prstGeom prst="rect">
            <a:avLst/>
          </a:prstGeom>
          <a:noFill/>
        </p:spPr>
      </p:pic>
      <p:sp>
        <p:nvSpPr>
          <p:cNvPr id="2" name="TextBox 1"/>
          <p:cNvSpPr txBox="1"/>
          <p:nvPr/>
        </p:nvSpPr>
        <p:spPr>
          <a:xfrm>
            <a:off x="3088195" y="6584379"/>
            <a:ext cx="6015610" cy="276999"/>
          </a:xfrm>
          <a:prstGeom prst="rect">
            <a:avLst/>
          </a:prstGeom>
          <a:noFill/>
        </p:spPr>
        <p:txBody>
          <a:bodyPr wrap="square" rtlCol="0">
            <a:spAutoFit/>
          </a:bodyPr>
          <a:lstStyle/>
          <a:p>
            <a:pPr algn="ctr"/>
            <a:r>
              <a:rPr lang="en-US" altLang="zh-CN" sz="1200" dirty="0">
                <a:solidFill>
                  <a:schemeClr val="tx1">
                    <a:lumMod val="50000"/>
                    <a:lumOff val="50000"/>
                  </a:schemeClr>
                </a:solidFill>
              </a:rPr>
              <a:t>Source: </a:t>
            </a:r>
            <a:r>
              <a:rPr lang="en-US" sz="1200" dirty="0">
                <a:solidFill>
                  <a:schemeClr val="tx1">
                    <a:lumMod val="50000"/>
                    <a:lumOff val="50000"/>
                  </a:schemeClr>
                </a:solidFill>
              </a:rPr>
              <a:t>Google</a:t>
            </a:r>
            <a:endParaRPr lang="en-US" sz="1200" dirty="0">
              <a:solidFill>
                <a:schemeClr val="tx1">
                  <a:lumMod val="50000"/>
                  <a:lumOff val="50000"/>
                </a:schemeClr>
              </a:solidFill>
            </a:endParaRPr>
          </a:p>
        </p:txBody>
      </p:sp>
      <p:sp>
        <p:nvSpPr>
          <p:cNvPr id="3" name="Slide Number Placeholder 2"/>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907486" cy="1325563"/>
          </a:xfrm>
        </p:spPr>
        <p:txBody>
          <a:bodyPr>
            <a:normAutofit/>
          </a:bodyPr>
          <a:lstStyle/>
          <a:p>
            <a:r>
              <a:rPr lang="en-US" dirty="0"/>
              <a:t>Introducing: Deep Research on Perplexity</a:t>
            </a:r>
            <a:endParaRPr lang="en-US" dirty="0"/>
          </a:p>
        </p:txBody>
      </p:sp>
      <p:pic>
        <p:nvPicPr>
          <p:cNvPr id="4" name="Online Media 3" descr="Introducing: Deep Research on Perplexity">
            <a:hlinkClick r:id="" action="ppaction://media"/>
          </p:cNvPr>
          <p:cNvPicPr>
            <a:picLocks noGrp="1" noRot="1" noChangeAspect="1"/>
          </p:cNvPicPr>
          <p:nvPr>
            <p:ph idx="1"/>
            <a:videoFile r:link="rId1"/>
            <p:extLst>
              <p:ext uri="{DAA4B4D4-6D71-4841-9C94-3DE7FCFB9230}">
                <p14:media xmlns:p14="http://schemas.microsoft.com/office/powerpoint/2010/main" r:link="rId2"/>
              </p:ext>
            </p:extLst>
          </p:nvPr>
        </p:nvPicPr>
        <p:blipFill>
          <a:blip r:embed="rId3"/>
          <a:stretch>
            <a:fillRect/>
          </a:stretch>
        </p:blipFill>
        <p:spPr>
          <a:xfrm>
            <a:off x="2522839" y="1411174"/>
            <a:ext cx="7146321" cy="5215963"/>
          </a:xfrm>
        </p:spPr>
      </p:pic>
      <p:sp>
        <p:nvSpPr>
          <p:cNvPr id="3" name="Slide Number Placeholder 2"/>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ormAutofit/>
          </a:bodyPr>
          <a:lstStyle/>
          <a:p>
            <a:r>
              <a:rPr lang="en-US" dirty="0"/>
              <a:t>Vibe Coding with Gemini 3 in Google AI Studio</a:t>
            </a:r>
            <a:endParaRPr lang="en-US" dirty="0"/>
          </a:p>
        </p:txBody>
      </p:sp>
      <p:pic>
        <p:nvPicPr>
          <p:cNvPr id="4" name="Online Media 3" descr="Vibe Coding with Gemini 3 in Google AI Studio">
            <a:hlinkClick r:id="" action="ppaction://media"/>
          </p:cNvPr>
          <p:cNvPicPr>
            <a:picLocks noGrp="1" noRot="1" noChangeAspect="1"/>
          </p:cNvPicPr>
          <p:nvPr>
            <p:ph idx="1"/>
            <a:videoFile r:link="rId1"/>
            <p:extLst>
              <p:ext uri="{DAA4B4D4-6D71-4841-9C94-3DE7FCFB9230}">
                <p14:media xmlns:p14="http://schemas.microsoft.com/office/powerpoint/2010/main" r:link="rId2"/>
              </p:ext>
            </p:extLst>
          </p:nvPr>
        </p:nvPicPr>
        <p:blipFill>
          <a:blip r:embed="rId3"/>
          <a:stretch>
            <a:fillRect/>
          </a:stretch>
        </p:blipFill>
        <p:spPr>
          <a:xfrm>
            <a:off x="2245258" y="1825625"/>
            <a:ext cx="7701483" cy="4351338"/>
          </a:xfrm>
        </p:spPr>
      </p:pic>
      <p:sp>
        <p:nvSpPr>
          <p:cNvPr id="3" name="Slide Number Placeholder 2"/>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7340600" cy="1325563"/>
          </a:xfrm>
        </p:spPr>
        <p:txBody>
          <a:bodyPr anchor="ctr">
            <a:normAutofit/>
          </a:bodyPr>
          <a:lstStyle/>
          <a:p>
            <a:r>
              <a:rPr lang="en-US" dirty="0"/>
              <a:t>AI Data Analyst / Agent</a:t>
            </a:r>
            <a:endParaRPr lang="en-US" dirty="0"/>
          </a:p>
        </p:txBody>
      </p:sp>
      <p:sp>
        <p:nvSpPr>
          <p:cNvPr id="3" name="Content Placeholder 2"/>
          <p:cNvSpPr>
            <a:spLocks noGrp="1"/>
          </p:cNvSpPr>
          <p:nvPr>
            <p:ph sz="half" idx="1"/>
          </p:nvPr>
        </p:nvSpPr>
        <p:spPr>
          <a:xfrm>
            <a:off x="838200" y="1825625"/>
            <a:ext cx="5181600" cy="4351338"/>
          </a:xfrm>
        </p:spPr>
        <p:txBody>
          <a:bodyPr>
            <a:normAutofit fontScale="92500" lnSpcReduction="10000"/>
          </a:bodyPr>
          <a:lstStyle/>
          <a:p>
            <a:r>
              <a:rPr lang="en-US" dirty="0">
                <a:hlinkClick r:id="rId1"/>
              </a:rPr>
              <a:t>https://code.hkubs.ai</a:t>
            </a:r>
            <a:endParaRPr lang="en-US" dirty="0"/>
          </a:p>
          <a:p>
            <a:endParaRPr lang="en-US" dirty="0"/>
          </a:p>
          <a:p>
            <a:r>
              <a:rPr lang="en-US" dirty="0"/>
              <a:t>Agent </a:t>
            </a:r>
            <a:r>
              <a:rPr lang="en-US" altLang="zh-CN" dirty="0"/>
              <a:t>+ Code Interpreter</a:t>
            </a:r>
            <a:endParaRPr lang="en-US" dirty="0"/>
          </a:p>
          <a:p>
            <a:r>
              <a:rPr lang="en-US" dirty="0"/>
              <a:t>Exploratory Data Analysis (EDA)</a:t>
            </a:r>
            <a:endParaRPr lang="en-US" dirty="0"/>
          </a:p>
          <a:p>
            <a:r>
              <a:rPr lang="en-US" dirty="0"/>
              <a:t>Machine Learning Modeling</a:t>
            </a:r>
            <a:endParaRPr lang="en-US" dirty="0"/>
          </a:p>
          <a:p>
            <a:r>
              <a:rPr lang="en-US" dirty="0"/>
              <a:t>Self Debugging</a:t>
            </a:r>
            <a:endParaRPr lang="en-US" dirty="0"/>
          </a:p>
          <a:p>
            <a:endParaRPr lang="en-US" dirty="0"/>
          </a:p>
          <a:p>
            <a:r>
              <a:rPr lang="en-US" dirty="0"/>
              <a:t>Chat History: </a:t>
            </a:r>
            <a:r>
              <a:rPr lang="en-US" dirty="0">
                <a:hlinkClick r:id="rId2"/>
              </a:rPr>
              <a:t>https://code.hkubs.ai/share/KA-Pg_k3jDiUZwfLvJm1c</a:t>
            </a:r>
            <a:endParaRPr lang="en-US" dirty="0"/>
          </a:p>
        </p:txBody>
      </p:sp>
      <p:pic>
        <p:nvPicPr>
          <p:cNvPr id="4" name="Picture 3" descr="A screenshot of a computer&#10;&#10;AI-generated content may be incorrect."/>
          <p:cNvPicPr>
            <a:picLocks noChangeAspect="1"/>
          </p:cNvPicPr>
          <p:nvPr/>
        </p:nvPicPr>
        <p:blipFill>
          <a:blip r:embed="rId3"/>
          <a:stretch>
            <a:fillRect/>
          </a:stretch>
        </p:blipFill>
        <p:spPr>
          <a:xfrm>
            <a:off x="6701554" y="1825625"/>
            <a:ext cx="4122892" cy="4351338"/>
          </a:xfrm>
          <a:prstGeom prst="rect">
            <a:avLst/>
          </a:prstGeom>
          <a:noFill/>
        </p:spPr>
      </p:pic>
      <p:sp>
        <p:nvSpPr>
          <p:cNvPr id="5" name="Slide Number Placeholder 4"/>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ormAutofit/>
          </a:bodyPr>
          <a:lstStyle/>
          <a:p>
            <a:r>
              <a:rPr lang="en-US" dirty="0"/>
              <a:t>What are Microsoft 365 Copilot agents and how to use them</a:t>
            </a:r>
            <a:endParaRPr lang="en-US" dirty="0"/>
          </a:p>
        </p:txBody>
      </p:sp>
      <p:pic>
        <p:nvPicPr>
          <p:cNvPr id="4" name="Online Media 3" descr="What are Microsoft 365 Copilot agents and how to use them | Microsoft">
            <a:hlinkClick r:id="" action="ppaction://media"/>
          </p:cNvPr>
          <p:cNvPicPr>
            <a:picLocks noGrp="1" noRot="1" noChangeAspect="1"/>
          </p:cNvPicPr>
          <p:nvPr>
            <p:ph idx="1"/>
            <a:videoFile r:link="rId1"/>
            <p:extLst>
              <p:ext uri="{DAA4B4D4-6D71-4841-9C94-3DE7FCFB9230}">
                <p14:media xmlns:p14="http://schemas.microsoft.com/office/powerpoint/2010/main" r:link="rId2"/>
              </p:ext>
            </p:extLst>
          </p:nvPr>
        </p:nvPicPr>
        <p:blipFill>
          <a:blip r:embed="rId3"/>
          <a:stretch>
            <a:fillRect/>
          </a:stretch>
        </p:blipFill>
        <p:spPr>
          <a:xfrm>
            <a:off x="2245258" y="1825625"/>
            <a:ext cx="7701483" cy="4351338"/>
          </a:xfrm>
        </p:spPr>
      </p:pic>
      <p:sp>
        <p:nvSpPr>
          <p:cNvPr id="3" name="Slide Number Placeholder 2"/>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ormAutofit/>
          </a:bodyPr>
          <a:lstStyle/>
          <a:p>
            <a:r>
              <a:rPr lang="en-US" dirty="0"/>
              <a:t>Shop with Perplexity: AI-Powered, Personal, Effortless</a:t>
            </a:r>
            <a:endParaRPr lang="en-US" dirty="0"/>
          </a:p>
        </p:txBody>
      </p:sp>
      <p:pic>
        <p:nvPicPr>
          <p:cNvPr id="4" name="Online Media 3" descr="Shop with Perplexity: AI-Powered, Personal, Effortless">
            <a:hlinkClick r:id="" action="ppaction://media"/>
          </p:cNvPr>
          <p:cNvPicPr>
            <a:picLocks noGrp="1" noRot="1" noChangeAspect="1"/>
          </p:cNvPicPr>
          <p:nvPr>
            <p:ph idx="1"/>
            <a:videoFile r:link="rId1"/>
            <p:extLst>
              <p:ext uri="{DAA4B4D4-6D71-4841-9C94-3DE7FCFB9230}">
                <p14:media xmlns:p14="http://schemas.microsoft.com/office/powerpoint/2010/main" r:link="rId2"/>
              </p:ext>
            </p:extLst>
          </p:nvPr>
        </p:nvPicPr>
        <p:blipFill>
          <a:blip r:embed="rId3"/>
          <a:stretch>
            <a:fillRect/>
          </a:stretch>
        </p:blipFill>
        <p:spPr>
          <a:xfrm>
            <a:off x="2245258" y="1825625"/>
            <a:ext cx="7701483" cy="4351338"/>
          </a:xfrm>
        </p:spPr>
      </p:pic>
      <p:sp>
        <p:nvSpPr>
          <p:cNvPr id="3" name="Slide Number Placeholder 2"/>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16481</Words>
  <Application>WPS 演示</Application>
  <PresentationFormat>Widescreen</PresentationFormat>
  <Paragraphs>843</Paragraphs>
  <Slides>80</Slides>
  <Notes>19</Notes>
  <HiddenSlides>0</HiddenSlides>
  <MMClips>4</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80</vt:i4>
      </vt:variant>
    </vt:vector>
  </HeadingPairs>
  <TitlesOfParts>
    <vt:vector size="94" baseType="lpstr">
      <vt:lpstr>Arial</vt:lpstr>
      <vt:lpstr>宋体</vt:lpstr>
      <vt:lpstr>Wingdings</vt:lpstr>
      <vt:lpstr>Calibri Light</vt:lpstr>
      <vt:lpstr>Calibri</vt:lpstr>
      <vt:lpstr>微软雅黑</vt:lpstr>
      <vt:lpstr>Arial Unicode MS</vt:lpstr>
      <vt:lpstr>等线</vt:lpstr>
      <vt:lpstr>楷体</vt:lpstr>
      <vt:lpstr>Aptos</vt:lpstr>
      <vt:lpstr>Segoe UI</vt:lpstr>
      <vt:lpstr>Times New Roman</vt:lpstr>
      <vt:lpstr>Roboto</vt:lpstr>
      <vt:lpstr>Office Theme</vt:lpstr>
      <vt:lpstr>1. AI-generated Financial Analyst Reports</vt:lpstr>
      <vt:lpstr>2. Competitive Intelligence for Master Programs</vt:lpstr>
      <vt:lpstr>3. Agent‑Based Intelligent Travel Planner</vt:lpstr>
      <vt:lpstr>Introduction to LLM</vt:lpstr>
      <vt:lpstr>Course Information</vt:lpstr>
      <vt:lpstr>Contact Me</vt:lpstr>
      <vt:lpstr>Course Information</vt:lpstr>
      <vt:lpstr>Utilisation of AI Tools</vt:lpstr>
      <vt:lpstr>Course Information</vt:lpstr>
      <vt:lpstr>In-class Individual Presentation</vt:lpstr>
      <vt:lpstr>Sample Ideas for Individual Presentations</vt:lpstr>
      <vt:lpstr>Course Information</vt:lpstr>
      <vt:lpstr>Course Information</vt:lpstr>
      <vt:lpstr>Group Project</vt:lpstr>
      <vt:lpstr>Group Project Ideas</vt:lpstr>
      <vt:lpstr>1. AI-generated Financial Analyst Reports</vt:lpstr>
      <vt:lpstr>2. Competitive Intelligence for Master Programs</vt:lpstr>
      <vt:lpstr>3. Agent‑Based Intelligent Travel Planner</vt:lpstr>
      <vt:lpstr>Group Project Proposal</vt:lpstr>
      <vt:lpstr>Group Project Report</vt:lpstr>
      <vt:lpstr>Purposes of Each Assessment</vt:lpstr>
      <vt:lpstr>Topics</vt:lpstr>
      <vt:lpstr>Topics</vt:lpstr>
      <vt:lpstr>Tutorials</vt:lpstr>
      <vt:lpstr>Essential Tools and Resources</vt:lpstr>
      <vt:lpstr>Microsoft Azure for Students</vt:lpstr>
      <vt:lpstr>PowerPoint 演示文稿</vt:lpstr>
      <vt:lpstr>Model summary table and region availability</vt:lpstr>
      <vt:lpstr>PowerPoint 演示文稿</vt:lpstr>
      <vt:lpstr>PowerPoint 演示文稿</vt:lpstr>
      <vt:lpstr>PowerPoint 演示文稿</vt:lpstr>
      <vt:lpstr>Assistants Playground</vt:lpstr>
      <vt:lpstr>Integrated Development Environment Tools</vt:lpstr>
      <vt:lpstr>GitHub Copilot</vt:lpstr>
      <vt:lpstr>PowerPoint 演示文稿</vt:lpstr>
      <vt:lpstr>GitHub Codespaces</vt:lpstr>
      <vt:lpstr>PowerPoint 演示文稿</vt:lpstr>
      <vt:lpstr>Three Generations of AI Development</vt:lpstr>
      <vt:lpstr>PowerPoint 演示文稿</vt:lpstr>
      <vt:lpstr>How LLMs Work</vt:lpstr>
      <vt:lpstr>Word Prediction with Probabilities</vt:lpstr>
      <vt:lpstr>PowerPoint 演示文稿</vt:lpstr>
      <vt:lpstr>PowerPoint 演示文稿</vt:lpstr>
      <vt:lpstr>PowerPoint 演示文稿</vt:lpstr>
      <vt:lpstr>PowerPoint 演示文稿</vt:lpstr>
      <vt:lpstr>Transformer Model (2017)</vt:lpstr>
      <vt:lpstr>Transformer Model Architecture</vt:lpstr>
      <vt:lpstr>Transformer Models</vt:lpstr>
      <vt:lpstr>Transformer Models</vt:lpstr>
      <vt:lpstr>Tokenization</vt:lpstr>
      <vt:lpstr>Tokenization</vt:lpstr>
      <vt:lpstr>Attention</vt:lpstr>
      <vt:lpstr>Attention: making … more difficult</vt:lpstr>
      <vt:lpstr>Embeddings</vt:lpstr>
      <vt:lpstr>Embeddings</vt:lpstr>
      <vt:lpstr>PowerPoint 演示文稿</vt:lpstr>
      <vt:lpstr>PowerPoint 演示文稿</vt:lpstr>
      <vt:lpstr>PowerPoint 演示文稿</vt:lpstr>
      <vt:lpstr>LLM Key Technologies</vt:lpstr>
      <vt:lpstr>Prompts and Completions</vt:lpstr>
      <vt:lpstr>LLM Use Cases and Tasks</vt:lpstr>
      <vt:lpstr>Information Extraction with LLM</vt:lpstr>
      <vt:lpstr>PowerPoint 演示文稿</vt:lpstr>
      <vt:lpstr>Function Calling</vt:lpstr>
      <vt:lpstr>Function Calling + Database</vt:lpstr>
      <vt:lpstr>OpenAI ChatGPT Search</vt:lpstr>
      <vt:lpstr>PowerPoint 演示文稿</vt:lpstr>
      <vt:lpstr>PowerPoint 演示文稿</vt:lpstr>
      <vt:lpstr>PowerPoint 演示文稿</vt:lpstr>
      <vt:lpstr>ML vs. LLM</vt:lpstr>
      <vt:lpstr>In-context Learning</vt:lpstr>
      <vt:lpstr>PowerPoint 演示文稿</vt:lpstr>
      <vt:lpstr>Fine-Tuning Large Language Models</vt:lpstr>
      <vt:lpstr>Reasoning Model</vt:lpstr>
      <vt:lpstr>Agent</vt:lpstr>
      <vt:lpstr>Introducing: Deep Research on Perplexity</vt:lpstr>
      <vt:lpstr>Vibe Coding with Gemini 3 in Google AI Studio</vt:lpstr>
      <vt:lpstr>AI Data Analyst / Agent</vt:lpstr>
      <vt:lpstr>What are Microsoft 365 Copilot agents and how to use them</vt:lpstr>
      <vt:lpstr>Shop with Perplexity: AI-Powered, Personal, Effortless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Knowledge Mining</dc:title>
  <dc:creator>Hailiang Chen</dc:creator>
  <cp:lastModifiedBy>WPS_1636963851</cp:lastModifiedBy>
  <cp:revision>810</cp:revision>
  <dcterms:created xsi:type="dcterms:W3CDTF">2021-01-12T07:59:00Z</dcterms:created>
  <dcterms:modified xsi:type="dcterms:W3CDTF">2026-04-08T01:53:27Z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67C5634E6716466EBF827E097B9A1001_12</vt:lpwstr>
  </property>
</Properties>
</file>