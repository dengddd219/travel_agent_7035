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55"/>
  </p:notesMasterIdLst>
  <p:sldIdLst>
    <p:sldId id="257" r:id="rId2"/>
    <p:sldId id="2061898249" r:id="rId3"/>
    <p:sldId id="2061898177" r:id="rId4"/>
    <p:sldId id="2061898257" r:id="rId5"/>
    <p:sldId id="1054" r:id="rId6"/>
    <p:sldId id="1064" r:id="rId7"/>
    <p:sldId id="2061898250" r:id="rId8"/>
    <p:sldId id="2061898256" r:id="rId9"/>
    <p:sldId id="2061898254" r:id="rId10"/>
    <p:sldId id="2061898253" r:id="rId11"/>
    <p:sldId id="2061898147" r:id="rId12"/>
    <p:sldId id="1892" r:id="rId13"/>
    <p:sldId id="261" r:id="rId14"/>
    <p:sldId id="2061898202" r:id="rId15"/>
    <p:sldId id="2061898204" r:id="rId16"/>
    <p:sldId id="2061898218" r:id="rId17"/>
    <p:sldId id="2061898220" r:id="rId18"/>
    <p:sldId id="2061898219" r:id="rId19"/>
    <p:sldId id="2061898221" r:id="rId20"/>
    <p:sldId id="2061898222" r:id="rId21"/>
    <p:sldId id="2061898223" r:id="rId22"/>
    <p:sldId id="2061898224" r:id="rId23"/>
    <p:sldId id="2061898208" r:id="rId24"/>
    <p:sldId id="2061898132" r:id="rId25"/>
    <p:sldId id="2061898212" r:id="rId26"/>
    <p:sldId id="2061898213" r:id="rId27"/>
    <p:sldId id="2061898235" r:id="rId28"/>
    <p:sldId id="2061898207" r:id="rId29"/>
    <p:sldId id="2061898209" r:id="rId30"/>
    <p:sldId id="2061898211" r:id="rId31"/>
    <p:sldId id="2061898210" r:id="rId32"/>
    <p:sldId id="2061898203" r:id="rId33"/>
    <p:sldId id="2061898214" r:id="rId34"/>
    <p:sldId id="2061898215" r:id="rId35"/>
    <p:sldId id="2061898237" r:id="rId36"/>
    <p:sldId id="2061898205" r:id="rId37"/>
    <p:sldId id="2061898225" r:id="rId38"/>
    <p:sldId id="2061898226" r:id="rId39"/>
    <p:sldId id="2061898236" r:id="rId40"/>
    <p:sldId id="2061898227" r:id="rId41"/>
    <p:sldId id="2061898206" r:id="rId42"/>
    <p:sldId id="2061898228" r:id="rId43"/>
    <p:sldId id="2061898230" r:id="rId44"/>
    <p:sldId id="2061898231" r:id="rId45"/>
    <p:sldId id="2061898232" r:id="rId46"/>
    <p:sldId id="313" r:id="rId47"/>
    <p:sldId id="2061898233" r:id="rId48"/>
    <p:sldId id="2061898234" r:id="rId49"/>
    <p:sldId id="2061898229" r:id="rId50"/>
    <p:sldId id="2061898238" r:id="rId51"/>
    <p:sldId id="2061898240" r:id="rId52"/>
    <p:sldId id="2061898251" r:id="rId53"/>
    <p:sldId id="2061898252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DD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46"/>
    <p:restoredTop sz="81741"/>
  </p:normalViewPr>
  <p:slideViewPr>
    <p:cSldViewPr snapToGrid="0" snapToObjects="1">
      <p:cViewPr varScale="1">
        <p:scale>
          <a:sx n="111" d="100"/>
          <a:sy n="111" d="100"/>
        </p:scale>
        <p:origin x="326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8" d="100"/>
        <a:sy n="78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BF8D03-8E00-2842-B526-E7A56EB5FE12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GB"/>
        </a:p>
      </dgm:t>
    </dgm:pt>
    <dgm:pt modelId="{9C83E9B6-EE66-E849-9A65-62220F4423F4}">
      <dgm:prSet/>
      <dgm:spPr/>
      <dgm:t>
        <a:bodyPr/>
        <a:lstStyle/>
        <a:p>
          <a:r>
            <a:rPr lang="en-US"/>
            <a:t>Text</a:t>
          </a:r>
          <a:endParaRPr lang="en-HK"/>
        </a:p>
      </dgm:t>
    </dgm:pt>
    <dgm:pt modelId="{A7D6F197-E352-5146-9730-CC936EBCC170}" type="parTrans" cxnId="{C1161E27-D90F-7047-8C9B-06E1F27F3E49}">
      <dgm:prSet/>
      <dgm:spPr/>
      <dgm:t>
        <a:bodyPr/>
        <a:lstStyle/>
        <a:p>
          <a:endParaRPr lang="en-GB"/>
        </a:p>
      </dgm:t>
    </dgm:pt>
    <dgm:pt modelId="{42910B3E-FED5-AE41-AD0C-9EB98BCA9A8A}" type="sibTrans" cxnId="{C1161E27-D90F-7047-8C9B-06E1F27F3E49}">
      <dgm:prSet/>
      <dgm:spPr/>
      <dgm:t>
        <a:bodyPr/>
        <a:lstStyle/>
        <a:p>
          <a:endParaRPr lang="en-GB"/>
        </a:p>
      </dgm:t>
    </dgm:pt>
    <dgm:pt modelId="{5C369227-B53E-8A46-9614-E43E275857CC}">
      <dgm:prSet/>
      <dgm:spPr/>
      <dgm:t>
        <a:bodyPr/>
        <a:lstStyle/>
        <a:p>
          <a:r>
            <a:rPr lang="en-US"/>
            <a:t>Tokenization</a:t>
          </a:r>
          <a:endParaRPr lang="en-HK"/>
        </a:p>
      </dgm:t>
    </dgm:pt>
    <dgm:pt modelId="{7F5CCE3D-F219-0640-83A3-AF3ADB0E9F00}" type="parTrans" cxnId="{1A92C6A5-D88B-CF46-A75D-B2B088D29A39}">
      <dgm:prSet/>
      <dgm:spPr/>
      <dgm:t>
        <a:bodyPr/>
        <a:lstStyle/>
        <a:p>
          <a:endParaRPr lang="en-GB"/>
        </a:p>
      </dgm:t>
    </dgm:pt>
    <dgm:pt modelId="{26973320-E19A-4847-88B3-3EC31B24927A}" type="sibTrans" cxnId="{1A92C6A5-D88B-CF46-A75D-B2B088D29A39}">
      <dgm:prSet/>
      <dgm:spPr/>
      <dgm:t>
        <a:bodyPr/>
        <a:lstStyle/>
        <a:p>
          <a:endParaRPr lang="en-GB"/>
        </a:p>
      </dgm:t>
    </dgm:pt>
    <dgm:pt modelId="{88BF8EE3-DD86-6B44-A8E2-8DAB9DE4544E}">
      <dgm:prSet/>
      <dgm:spPr/>
      <dgm:t>
        <a:bodyPr/>
        <a:lstStyle/>
        <a:p>
          <a:r>
            <a:rPr lang="en-US"/>
            <a:t>Indexing</a:t>
          </a:r>
          <a:endParaRPr lang="en-HK"/>
        </a:p>
      </dgm:t>
    </dgm:pt>
    <dgm:pt modelId="{57BF785F-389A-2641-86FB-9DE655AE01A5}" type="parTrans" cxnId="{E5E5B2ED-5496-FF49-8E39-47F58AEF1CC5}">
      <dgm:prSet/>
      <dgm:spPr/>
      <dgm:t>
        <a:bodyPr/>
        <a:lstStyle/>
        <a:p>
          <a:endParaRPr lang="en-GB"/>
        </a:p>
      </dgm:t>
    </dgm:pt>
    <dgm:pt modelId="{B2502917-1474-E643-A8A1-6FBB656FB8DD}" type="sibTrans" cxnId="{E5E5B2ED-5496-FF49-8E39-47F58AEF1CC5}">
      <dgm:prSet/>
      <dgm:spPr/>
      <dgm:t>
        <a:bodyPr/>
        <a:lstStyle/>
        <a:p>
          <a:endParaRPr lang="en-GB"/>
        </a:p>
      </dgm:t>
    </dgm:pt>
    <dgm:pt modelId="{F197EB56-0B8B-314E-9C8A-E0A8FA449880}">
      <dgm:prSet/>
      <dgm:spPr/>
      <dgm:t>
        <a:bodyPr/>
        <a:lstStyle/>
        <a:p>
          <a:r>
            <a:rPr lang="en-US"/>
            <a:t>Embedding</a:t>
          </a:r>
          <a:endParaRPr lang="en-HK"/>
        </a:p>
      </dgm:t>
    </dgm:pt>
    <dgm:pt modelId="{3AC81CF0-FFB1-8249-A845-CAA2F120B3DF}" type="parTrans" cxnId="{B611E4B6-9845-F94C-B836-6D8211D403EC}">
      <dgm:prSet/>
      <dgm:spPr/>
      <dgm:t>
        <a:bodyPr/>
        <a:lstStyle/>
        <a:p>
          <a:endParaRPr lang="en-GB"/>
        </a:p>
      </dgm:t>
    </dgm:pt>
    <dgm:pt modelId="{30B7FA09-0E7D-7B4F-94BE-E4E7FF1AEA57}" type="sibTrans" cxnId="{B611E4B6-9845-F94C-B836-6D8211D403EC}">
      <dgm:prSet/>
      <dgm:spPr/>
      <dgm:t>
        <a:bodyPr/>
        <a:lstStyle/>
        <a:p>
          <a:endParaRPr lang="en-GB"/>
        </a:p>
      </dgm:t>
    </dgm:pt>
    <dgm:pt modelId="{9144ADF3-9DC7-444B-B485-46486C6A13C7}" type="pres">
      <dgm:prSet presAssocID="{4DBF8D03-8E00-2842-B526-E7A56EB5FE12}" presName="Name0" presStyleCnt="0">
        <dgm:presLayoutVars>
          <dgm:dir/>
          <dgm:resizeHandles val="exact"/>
        </dgm:presLayoutVars>
      </dgm:prSet>
      <dgm:spPr/>
    </dgm:pt>
    <dgm:pt modelId="{BD514136-BD13-954E-8466-5529BC5C9610}" type="pres">
      <dgm:prSet presAssocID="{9C83E9B6-EE66-E849-9A65-62220F4423F4}" presName="node" presStyleLbl="node1" presStyleIdx="0" presStyleCnt="4">
        <dgm:presLayoutVars>
          <dgm:bulletEnabled val="1"/>
        </dgm:presLayoutVars>
      </dgm:prSet>
      <dgm:spPr/>
    </dgm:pt>
    <dgm:pt modelId="{56014405-0E20-DF42-BB0D-534BCAD61435}" type="pres">
      <dgm:prSet presAssocID="{42910B3E-FED5-AE41-AD0C-9EB98BCA9A8A}" presName="sibTrans" presStyleLbl="sibTrans2D1" presStyleIdx="0" presStyleCnt="3"/>
      <dgm:spPr/>
    </dgm:pt>
    <dgm:pt modelId="{A8417399-B84C-F64E-B82D-770F948EC8B5}" type="pres">
      <dgm:prSet presAssocID="{42910B3E-FED5-AE41-AD0C-9EB98BCA9A8A}" presName="connectorText" presStyleLbl="sibTrans2D1" presStyleIdx="0" presStyleCnt="3"/>
      <dgm:spPr/>
    </dgm:pt>
    <dgm:pt modelId="{01FA7F08-CD1C-E348-9015-F0CD80302B81}" type="pres">
      <dgm:prSet presAssocID="{5C369227-B53E-8A46-9614-E43E275857CC}" presName="node" presStyleLbl="node1" presStyleIdx="1" presStyleCnt="4">
        <dgm:presLayoutVars>
          <dgm:bulletEnabled val="1"/>
        </dgm:presLayoutVars>
      </dgm:prSet>
      <dgm:spPr/>
    </dgm:pt>
    <dgm:pt modelId="{DEF215C2-64E5-0A42-B76F-2A9A2B176E14}" type="pres">
      <dgm:prSet presAssocID="{26973320-E19A-4847-88B3-3EC31B24927A}" presName="sibTrans" presStyleLbl="sibTrans2D1" presStyleIdx="1" presStyleCnt="3"/>
      <dgm:spPr/>
    </dgm:pt>
    <dgm:pt modelId="{5FFAD292-609B-2E43-AC17-CF3BFF321D01}" type="pres">
      <dgm:prSet presAssocID="{26973320-E19A-4847-88B3-3EC31B24927A}" presName="connectorText" presStyleLbl="sibTrans2D1" presStyleIdx="1" presStyleCnt="3"/>
      <dgm:spPr/>
    </dgm:pt>
    <dgm:pt modelId="{1DF29FF5-A2DB-2740-8AAC-A66189C74D30}" type="pres">
      <dgm:prSet presAssocID="{88BF8EE3-DD86-6B44-A8E2-8DAB9DE4544E}" presName="node" presStyleLbl="node1" presStyleIdx="2" presStyleCnt="4">
        <dgm:presLayoutVars>
          <dgm:bulletEnabled val="1"/>
        </dgm:presLayoutVars>
      </dgm:prSet>
      <dgm:spPr/>
    </dgm:pt>
    <dgm:pt modelId="{EC0A2B24-9FFA-D24B-935F-1914934B9801}" type="pres">
      <dgm:prSet presAssocID="{B2502917-1474-E643-A8A1-6FBB656FB8DD}" presName="sibTrans" presStyleLbl="sibTrans2D1" presStyleIdx="2" presStyleCnt="3"/>
      <dgm:spPr/>
    </dgm:pt>
    <dgm:pt modelId="{10BB2859-50EF-2048-A143-1A7DC2264E02}" type="pres">
      <dgm:prSet presAssocID="{B2502917-1474-E643-A8A1-6FBB656FB8DD}" presName="connectorText" presStyleLbl="sibTrans2D1" presStyleIdx="2" presStyleCnt="3"/>
      <dgm:spPr/>
    </dgm:pt>
    <dgm:pt modelId="{D1B42E0A-77CE-CE48-B60C-780D2836E4D1}" type="pres">
      <dgm:prSet presAssocID="{F197EB56-0B8B-314E-9C8A-E0A8FA449880}" presName="node" presStyleLbl="node1" presStyleIdx="3" presStyleCnt="4">
        <dgm:presLayoutVars>
          <dgm:bulletEnabled val="1"/>
        </dgm:presLayoutVars>
      </dgm:prSet>
      <dgm:spPr/>
    </dgm:pt>
  </dgm:ptLst>
  <dgm:cxnLst>
    <dgm:cxn modelId="{1810C31D-DDC2-2E48-9967-CD483A0D0385}" type="presOf" srcId="{88BF8EE3-DD86-6B44-A8E2-8DAB9DE4544E}" destId="{1DF29FF5-A2DB-2740-8AAC-A66189C74D30}" srcOrd="0" destOrd="0" presId="urn:microsoft.com/office/officeart/2005/8/layout/process1"/>
    <dgm:cxn modelId="{C1161E27-D90F-7047-8C9B-06E1F27F3E49}" srcId="{4DBF8D03-8E00-2842-B526-E7A56EB5FE12}" destId="{9C83E9B6-EE66-E849-9A65-62220F4423F4}" srcOrd="0" destOrd="0" parTransId="{A7D6F197-E352-5146-9730-CC936EBCC170}" sibTransId="{42910B3E-FED5-AE41-AD0C-9EB98BCA9A8A}"/>
    <dgm:cxn modelId="{CBA6C338-82E4-B945-B51E-A2AB76CAD011}" type="presOf" srcId="{B2502917-1474-E643-A8A1-6FBB656FB8DD}" destId="{10BB2859-50EF-2048-A143-1A7DC2264E02}" srcOrd="1" destOrd="0" presId="urn:microsoft.com/office/officeart/2005/8/layout/process1"/>
    <dgm:cxn modelId="{AA6AE552-70B9-014F-98C3-A2B238313165}" type="presOf" srcId="{42910B3E-FED5-AE41-AD0C-9EB98BCA9A8A}" destId="{56014405-0E20-DF42-BB0D-534BCAD61435}" srcOrd="0" destOrd="0" presId="urn:microsoft.com/office/officeart/2005/8/layout/process1"/>
    <dgm:cxn modelId="{46E7635B-3F6C-CB41-89B5-7DBE34067786}" type="presOf" srcId="{9C83E9B6-EE66-E849-9A65-62220F4423F4}" destId="{BD514136-BD13-954E-8466-5529BC5C9610}" srcOrd="0" destOrd="0" presId="urn:microsoft.com/office/officeart/2005/8/layout/process1"/>
    <dgm:cxn modelId="{5C7C7460-5FA5-4D4E-9BB0-4FCBBC21ED6E}" type="presOf" srcId="{26973320-E19A-4847-88B3-3EC31B24927A}" destId="{5FFAD292-609B-2E43-AC17-CF3BFF321D01}" srcOrd="1" destOrd="0" presId="urn:microsoft.com/office/officeart/2005/8/layout/process1"/>
    <dgm:cxn modelId="{C2BBFA72-FD55-C342-8414-3632AF49C49F}" type="presOf" srcId="{F197EB56-0B8B-314E-9C8A-E0A8FA449880}" destId="{D1B42E0A-77CE-CE48-B60C-780D2836E4D1}" srcOrd="0" destOrd="0" presId="urn:microsoft.com/office/officeart/2005/8/layout/process1"/>
    <dgm:cxn modelId="{21202197-D0AA-2E42-AB53-AF53E597E1D4}" type="presOf" srcId="{5C369227-B53E-8A46-9614-E43E275857CC}" destId="{01FA7F08-CD1C-E348-9015-F0CD80302B81}" srcOrd="0" destOrd="0" presId="urn:microsoft.com/office/officeart/2005/8/layout/process1"/>
    <dgm:cxn modelId="{9290769F-AF7C-3344-943C-DF35912B8CFA}" type="presOf" srcId="{26973320-E19A-4847-88B3-3EC31B24927A}" destId="{DEF215C2-64E5-0A42-B76F-2A9A2B176E14}" srcOrd="0" destOrd="0" presId="urn:microsoft.com/office/officeart/2005/8/layout/process1"/>
    <dgm:cxn modelId="{7B652DA0-A321-A440-AF2F-5F6971A7293A}" type="presOf" srcId="{42910B3E-FED5-AE41-AD0C-9EB98BCA9A8A}" destId="{A8417399-B84C-F64E-B82D-770F948EC8B5}" srcOrd="1" destOrd="0" presId="urn:microsoft.com/office/officeart/2005/8/layout/process1"/>
    <dgm:cxn modelId="{1A92C6A5-D88B-CF46-A75D-B2B088D29A39}" srcId="{4DBF8D03-8E00-2842-B526-E7A56EB5FE12}" destId="{5C369227-B53E-8A46-9614-E43E275857CC}" srcOrd="1" destOrd="0" parTransId="{7F5CCE3D-F219-0640-83A3-AF3ADB0E9F00}" sibTransId="{26973320-E19A-4847-88B3-3EC31B24927A}"/>
    <dgm:cxn modelId="{B611E4B6-9845-F94C-B836-6D8211D403EC}" srcId="{4DBF8D03-8E00-2842-B526-E7A56EB5FE12}" destId="{F197EB56-0B8B-314E-9C8A-E0A8FA449880}" srcOrd="3" destOrd="0" parTransId="{3AC81CF0-FFB1-8249-A845-CAA2F120B3DF}" sibTransId="{30B7FA09-0E7D-7B4F-94BE-E4E7FF1AEA57}"/>
    <dgm:cxn modelId="{A79AD3B8-C8BB-E44E-9DDF-7378E8AF51EE}" type="presOf" srcId="{B2502917-1474-E643-A8A1-6FBB656FB8DD}" destId="{EC0A2B24-9FFA-D24B-935F-1914934B9801}" srcOrd="0" destOrd="0" presId="urn:microsoft.com/office/officeart/2005/8/layout/process1"/>
    <dgm:cxn modelId="{994DEDDB-AD7F-6D45-90A3-45C868EE56C2}" type="presOf" srcId="{4DBF8D03-8E00-2842-B526-E7A56EB5FE12}" destId="{9144ADF3-9DC7-444B-B485-46486C6A13C7}" srcOrd="0" destOrd="0" presId="urn:microsoft.com/office/officeart/2005/8/layout/process1"/>
    <dgm:cxn modelId="{E5E5B2ED-5496-FF49-8E39-47F58AEF1CC5}" srcId="{4DBF8D03-8E00-2842-B526-E7A56EB5FE12}" destId="{88BF8EE3-DD86-6B44-A8E2-8DAB9DE4544E}" srcOrd="2" destOrd="0" parTransId="{57BF785F-389A-2641-86FB-9DE655AE01A5}" sibTransId="{B2502917-1474-E643-A8A1-6FBB656FB8DD}"/>
    <dgm:cxn modelId="{E5A2D77A-DBDA-EE48-9FED-AE0F58E49FE1}" type="presParOf" srcId="{9144ADF3-9DC7-444B-B485-46486C6A13C7}" destId="{BD514136-BD13-954E-8466-5529BC5C9610}" srcOrd="0" destOrd="0" presId="urn:microsoft.com/office/officeart/2005/8/layout/process1"/>
    <dgm:cxn modelId="{91A33A74-537D-2F40-A7CD-759A7D134AF5}" type="presParOf" srcId="{9144ADF3-9DC7-444B-B485-46486C6A13C7}" destId="{56014405-0E20-DF42-BB0D-534BCAD61435}" srcOrd="1" destOrd="0" presId="urn:microsoft.com/office/officeart/2005/8/layout/process1"/>
    <dgm:cxn modelId="{A27921F3-DCA3-6244-B0F8-5483C0D6BBF0}" type="presParOf" srcId="{56014405-0E20-DF42-BB0D-534BCAD61435}" destId="{A8417399-B84C-F64E-B82D-770F948EC8B5}" srcOrd="0" destOrd="0" presId="urn:microsoft.com/office/officeart/2005/8/layout/process1"/>
    <dgm:cxn modelId="{13B43134-15F9-D64E-AA3E-BF52A7FDD223}" type="presParOf" srcId="{9144ADF3-9DC7-444B-B485-46486C6A13C7}" destId="{01FA7F08-CD1C-E348-9015-F0CD80302B81}" srcOrd="2" destOrd="0" presId="urn:microsoft.com/office/officeart/2005/8/layout/process1"/>
    <dgm:cxn modelId="{65D33E8E-38DE-AB49-890F-CA2B8EE7B554}" type="presParOf" srcId="{9144ADF3-9DC7-444B-B485-46486C6A13C7}" destId="{DEF215C2-64E5-0A42-B76F-2A9A2B176E14}" srcOrd="3" destOrd="0" presId="urn:microsoft.com/office/officeart/2005/8/layout/process1"/>
    <dgm:cxn modelId="{BE95E056-497D-714D-8E3A-FB44888EE8FA}" type="presParOf" srcId="{DEF215C2-64E5-0A42-B76F-2A9A2B176E14}" destId="{5FFAD292-609B-2E43-AC17-CF3BFF321D01}" srcOrd="0" destOrd="0" presId="urn:microsoft.com/office/officeart/2005/8/layout/process1"/>
    <dgm:cxn modelId="{C7115523-E0E4-4348-9EAD-2AC881161505}" type="presParOf" srcId="{9144ADF3-9DC7-444B-B485-46486C6A13C7}" destId="{1DF29FF5-A2DB-2740-8AAC-A66189C74D30}" srcOrd="4" destOrd="0" presId="urn:microsoft.com/office/officeart/2005/8/layout/process1"/>
    <dgm:cxn modelId="{5B945F19-008F-8543-B4E4-9C5C370F91DF}" type="presParOf" srcId="{9144ADF3-9DC7-444B-B485-46486C6A13C7}" destId="{EC0A2B24-9FFA-D24B-935F-1914934B9801}" srcOrd="5" destOrd="0" presId="urn:microsoft.com/office/officeart/2005/8/layout/process1"/>
    <dgm:cxn modelId="{49E814CB-7505-A642-B3E3-230EF386D1E8}" type="presParOf" srcId="{EC0A2B24-9FFA-D24B-935F-1914934B9801}" destId="{10BB2859-50EF-2048-A143-1A7DC2264E02}" srcOrd="0" destOrd="0" presId="urn:microsoft.com/office/officeart/2005/8/layout/process1"/>
    <dgm:cxn modelId="{082ABF49-8E51-B54C-A619-0E18339E9468}" type="presParOf" srcId="{9144ADF3-9DC7-444B-B485-46486C6A13C7}" destId="{D1B42E0A-77CE-CE48-B60C-780D2836E4D1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514136-BD13-954E-8466-5529BC5C9610}">
      <dsp:nvSpPr>
        <dsp:cNvPr id="0" name=""/>
        <dsp:cNvSpPr/>
      </dsp:nvSpPr>
      <dsp:spPr>
        <a:xfrm>
          <a:off x="4621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Text</a:t>
          </a:r>
          <a:endParaRPr lang="en-HK" sz="2700" kern="1200"/>
        </a:p>
      </dsp:txBody>
      <dsp:txXfrm>
        <a:off x="40127" y="1605038"/>
        <a:ext cx="1949441" cy="1141260"/>
      </dsp:txXfrm>
    </dsp:sp>
    <dsp:sp modelId="{56014405-0E20-DF42-BB0D-534BCAD61435}">
      <dsp:nvSpPr>
        <dsp:cNvPr id="0" name=""/>
        <dsp:cNvSpPr/>
      </dsp:nvSpPr>
      <dsp:spPr>
        <a:xfrm>
          <a:off x="2227119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100" kern="1200"/>
        </a:p>
      </dsp:txBody>
      <dsp:txXfrm>
        <a:off x="2227119" y="2025346"/>
        <a:ext cx="299835" cy="300644"/>
      </dsp:txXfrm>
    </dsp:sp>
    <dsp:sp modelId="{01FA7F08-CD1C-E348-9015-F0CD80302B81}">
      <dsp:nvSpPr>
        <dsp:cNvPr id="0" name=""/>
        <dsp:cNvSpPr/>
      </dsp:nvSpPr>
      <dsp:spPr>
        <a:xfrm>
          <a:off x="2833255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Tokenization</a:t>
          </a:r>
          <a:endParaRPr lang="en-HK" sz="2700" kern="1200"/>
        </a:p>
      </dsp:txBody>
      <dsp:txXfrm>
        <a:off x="2868761" y="1605038"/>
        <a:ext cx="1949441" cy="1141260"/>
      </dsp:txXfrm>
    </dsp:sp>
    <dsp:sp modelId="{DEF215C2-64E5-0A42-B76F-2A9A2B176E14}">
      <dsp:nvSpPr>
        <dsp:cNvPr id="0" name=""/>
        <dsp:cNvSpPr/>
      </dsp:nvSpPr>
      <dsp:spPr>
        <a:xfrm>
          <a:off x="5055754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100" kern="1200"/>
        </a:p>
      </dsp:txBody>
      <dsp:txXfrm>
        <a:off x="5055754" y="2025346"/>
        <a:ext cx="299835" cy="300644"/>
      </dsp:txXfrm>
    </dsp:sp>
    <dsp:sp modelId="{1DF29FF5-A2DB-2740-8AAC-A66189C74D30}">
      <dsp:nvSpPr>
        <dsp:cNvPr id="0" name=""/>
        <dsp:cNvSpPr/>
      </dsp:nvSpPr>
      <dsp:spPr>
        <a:xfrm>
          <a:off x="5661890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Indexing</a:t>
          </a:r>
          <a:endParaRPr lang="en-HK" sz="2700" kern="1200"/>
        </a:p>
      </dsp:txBody>
      <dsp:txXfrm>
        <a:off x="5697396" y="1605038"/>
        <a:ext cx="1949441" cy="1141260"/>
      </dsp:txXfrm>
    </dsp:sp>
    <dsp:sp modelId="{EC0A2B24-9FFA-D24B-935F-1914934B9801}">
      <dsp:nvSpPr>
        <dsp:cNvPr id="0" name=""/>
        <dsp:cNvSpPr/>
      </dsp:nvSpPr>
      <dsp:spPr>
        <a:xfrm>
          <a:off x="7884389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100" kern="1200"/>
        </a:p>
      </dsp:txBody>
      <dsp:txXfrm>
        <a:off x="7884389" y="2025346"/>
        <a:ext cx="299835" cy="300644"/>
      </dsp:txXfrm>
    </dsp:sp>
    <dsp:sp modelId="{D1B42E0A-77CE-CE48-B60C-780D2836E4D1}">
      <dsp:nvSpPr>
        <dsp:cNvPr id="0" name=""/>
        <dsp:cNvSpPr/>
      </dsp:nvSpPr>
      <dsp:spPr>
        <a:xfrm>
          <a:off x="8490525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Embedding</a:t>
          </a:r>
          <a:endParaRPr lang="en-HK" sz="2700" kern="1200"/>
        </a:p>
      </dsp:txBody>
      <dsp:txXfrm>
        <a:off x="8526031" y="1605038"/>
        <a:ext cx="1949441" cy="11412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915E8-0D14-5A47-A140-2DDA56A25C59}" type="datetimeFigureOut">
              <a:t>3/31/26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4E518-724E-624D-9EAD-82F09AF346E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752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HK" smtClean="0"/>
              <a:t>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095278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/Azure/GPT-RAG/blob/main/docs/</a:t>
            </a:r>
            <a:r>
              <a:rPr lang="en-US" dirty="0" err="1"/>
              <a:t>RAG_CONCEPTS.md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HK" smtClean="0"/>
              <a:t>6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93065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HK" smtClean="0"/>
              <a:t>7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914382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HK" smtClean="0"/>
              <a:t>12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858975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HK" smtClean="0"/>
              <a:t>13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894627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techcommunity.microsoft.com</a:t>
            </a:r>
            <a:r>
              <a:rPr lang="en-US" dirty="0"/>
              <a:t>/blog/</a:t>
            </a:r>
            <a:r>
              <a:rPr lang="en-US" dirty="0" err="1"/>
              <a:t>fasttrackforazureblog</a:t>
            </a:r>
            <a:r>
              <a:rPr lang="en-US" dirty="0"/>
              <a:t>/grounding-</a:t>
            </a:r>
            <a:r>
              <a:rPr lang="en-US" dirty="0" err="1"/>
              <a:t>llms</a:t>
            </a:r>
            <a:r>
              <a:rPr lang="en-US" dirty="0"/>
              <a:t>/3843857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HK" smtClean="0"/>
              <a:t>14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54055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HK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RAKE (Rapid Automatic Keyword Extraction)</a:t>
            </a:r>
          </a:p>
          <a:p>
            <a:pPr algn="l"/>
            <a:r>
              <a:rPr lang="en-HK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RAKE is a keyword extraction algorithm that identifies key phrases in a text by </a:t>
            </a:r>
            <a:r>
              <a:rPr lang="en-HK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analyzing</a:t>
            </a:r>
            <a:r>
              <a:rPr lang="en-HK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the frequency of word co-occurrences. It works by: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HK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Breaking down the text into phrases.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HK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Scoring these phrases based on their frequency and the degree of their words' connections.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HK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It’s particularly useful for extracting keywords from short texts.</a:t>
            </a:r>
          </a:p>
          <a:p>
            <a:endParaRPr lang="en-US" dirty="0"/>
          </a:p>
          <a:p>
            <a:pPr algn="l"/>
            <a:r>
              <a:rPr lang="en-HK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KeyBERT</a:t>
            </a:r>
            <a:endParaRPr lang="en-HK" b="1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/>
            <a:r>
              <a:rPr lang="en-HK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KeyBERT</a:t>
            </a:r>
            <a:r>
              <a:rPr lang="en-HK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is a more advanced keyword extraction technique that uses BERT (Bidirectional Encoder Representations from Transformers) embeddings to find keywords. It: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HK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Generates contextual embeddings for words and phrases.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HK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Identifies keywords by measuring their similarity to the main text.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HK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Is effective for capturing the semantic meaning of the text, making it suitable for more nuanced keyword extraction.</a:t>
            </a:r>
          </a:p>
          <a:p>
            <a:endParaRPr lang="en-US" dirty="0"/>
          </a:p>
          <a:p>
            <a:pPr algn="l"/>
            <a:r>
              <a:rPr lang="en-HK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MultiRake</a:t>
            </a:r>
            <a:endParaRPr lang="en-HK" b="1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/>
            <a:r>
              <a:rPr lang="en-HK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MultiRake</a:t>
            </a:r>
            <a:r>
              <a:rPr lang="en-HK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is an extension of the RAKE algorithm that supports multiple languages. Its features include: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HK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Automatic keyword extraction from texts in various languages without needing predefined </a:t>
            </a:r>
            <a:r>
              <a:rPr lang="en-HK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stopwords</a:t>
            </a:r>
            <a:r>
              <a:rPr lang="en-HK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HK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It generates </a:t>
            </a:r>
            <a:r>
              <a:rPr lang="en-HK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stopwords</a:t>
            </a:r>
            <a:r>
              <a:rPr lang="en-HK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dynamically based on the text, making it versatile for multilingual applications.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HK" smtClean="0"/>
              <a:t>22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29839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HK" smtClean="0"/>
              <a:t>24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108144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HK" smtClean="0"/>
              <a:t>26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2426971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HK" smtClean="0"/>
              <a:t>27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5395497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learn.microsoft.com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-us/azure/architecture/ai-ml/guide/rag/rag-</a:t>
            </a:r>
            <a:r>
              <a:rPr lang="en-US" dirty="0" err="1"/>
              <a:t>llm</a:t>
            </a:r>
            <a:r>
              <a:rPr lang="en-US" dirty="0"/>
              <a:t>-evaluation-phase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HK" smtClean="0"/>
              <a:t>51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780974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6BE3-5DDE-F643-9315-D22DAF4D08C4}" type="datetime1">
              <a:rPr lang="en-HK" smtClean="0"/>
              <a:t>31/3/2026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10747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93C3-2097-B944-9D97-6EC595C10831}" type="datetime1">
              <a:rPr lang="en-HK" smtClean="0"/>
              <a:t>31/3/2026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153AFE-A860-8E43-9CB7-294559C409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6307963"/>
            <a:ext cx="1730728" cy="46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0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A7F9-0BBB-C443-BFC4-AFBB921FDB24}" type="datetime1">
              <a:rPr lang="en-HK" smtClean="0"/>
              <a:t>31/3/2026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84B387-0542-6B40-87C9-78765E62D7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850" y="6307963"/>
            <a:ext cx="1730728" cy="46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3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12F6-7437-764B-AD64-B04663E663D2}" type="datetime1">
              <a:rPr lang="en-HK" smtClean="0"/>
              <a:t>31/3/2026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DE8367-27F6-574B-8573-90DBCE9683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850" y="6307963"/>
            <a:ext cx="1730728" cy="46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537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9D10D-BF75-8D42-8F12-DB16C1C9E07C}" type="datetime1">
              <a:rPr lang="en-HK" smtClean="0"/>
              <a:t>31/3/2026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CDC535-5E9B-ED46-8DA7-641E24130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850" y="6307963"/>
            <a:ext cx="1730728" cy="46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67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95364-AB47-CA4F-928A-68B8B07D0834}" type="datetime1">
              <a:rPr lang="en-HK" smtClean="0"/>
              <a:t>31/3/2026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DFEB7C-CEA5-FC44-B182-5DA1BB8942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850" y="6307963"/>
            <a:ext cx="1730728" cy="46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71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86F1-3AB5-174C-B484-D9CF2ACC2FE9}" type="datetime1">
              <a:rPr lang="en-HK" smtClean="0"/>
              <a:t>31/3/2026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  <p:pic>
        <p:nvPicPr>
          <p:cNvPr id="6" name="Picture 2" descr="HKU Business School">
            <a:extLst>
              <a:ext uri="{FF2B5EF4-FFF2-40B4-BE49-F238E27FC236}">
                <a16:creationId xmlns:a16="http://schemas.microsoft.com/office/drawing/2014/main" id="{E2750214-276E-F24A-B856-0923552D05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200" y="6311079"/>
            <a:ext cx="2057400" cy="455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52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A89A-339C-7546-A7E7-C47798C19ED0}" type="datetime1">
              <a:rPr lang="en-HK" smtClean="0"/>
              <a:t>31/3/2026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234591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ABE7-AB00-464D-BD4A-7ECCDD1DA032}" type="datetime1">
              <a:rPr lang="en-HK" smtClean="0"/>
              <a:t>31/3/2026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379372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7E8D2-526B-DA45-95B0-F8FC3E5F8A04}" type="datetime1">
              <a:rPr lang="en-HK" smtClean="0"/>
              <a:t>31/3/2026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348636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08E7A-3D02-D649-8012-DC5AAAD85163}" type="datetime1">
              <a:rPr lang="en-HK" smtClean="0"/>
              <a:t>31/3/2026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99960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85D85-9D2A-3246-A844-1B9682581E3A}" type="datetime1">
              <a:rPr lang="en-HK" smtClean="0"/>
              <a:t>31/3/2026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0935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hlchen.com/doc/rag.pdf" TargetMode="External"/><Relationship Id="rId2" Type="http://schemas.openxmlformats.org/officeDocument/2006/relationships/hyperlink" Target="https://47.113.119.241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38942-7409-4804-B544-3AFDC53BE1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CN" sz="4400" dirty="0">
                <a:solidFill>
                  <a:schemeClr val="accent2"/>
                </a:solidFill>
              </a:rPr>
              <a:t>Retrieval-Augmented Generation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750707-3DFA-4164-9D7B-E38E99CBD9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HK" dirty="0"/>
          </a:p>
          <a:p>
            <a:r>
              <a:rPr lang="en-HK" dirty="0" err="1"/>
              <a:t>Hailiang</a:t>
            </a:r>
            <a:r>
              <a:rPr lang="en-HK" dirty="0"/>
              <a:t> Chen</a:t>
            </a:r>
          </a:p>
          <a:p>
            <a:r>
              <a:rPr lang="en-HK" dirty="0"/>
              <a:t>HKU</a:t>
            </a:r>
            <a:r>
              <a:rPr lang="zh-CN" altLang="en-US" dirty="0"/>
              <a:t> </a:t>
            </a:r>
            <a:r>
              <a:rPr lang="en-US" altLang="zh-CN" dirty="0"/>
              <a:t>Business</a:t>
            </a:r>
            <a:r>
              <a:rPr lang="zh-CN" altLang="en-US" dirty="0"/>
              <a:t> </a:t>
            </a:r>
            <a:r>
              <a:rPr lang="en-US" altLang="zh-CN" dirty="0"/>
              <a:t>School</a:t>
            </a:r>
          </a:p>
          <a:p>
            <a:r>
              <a:rPr lang="en-US" dirty="0"/>
              <a:t>The University of Hong Kong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069015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D3C0-A044-CA0E-3951-F77EC33F0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E274D-EF89-75B3-8DC3-777D1463E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Trained on general public data</a:t>
            </a:r>
          </a:p>
          <a:p>
            <a:r>
              <a:rPr lang="en-US" dirty="0"/>
              <a:t>Frequent hallucinations</a:t>
            </a:r>
          </a:p>
          <a:p>
            <a:r>
              <a:rPr lang="en-US" dirty="0"/>
              <a:t>Limited context window for private data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5F656-8536-508B-64A7-202D65EBD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2</a:t>
            </a:fld>
            <a:endParaRPr lang="en-H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C85544-F22F-0201-5047-30014155B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313073"/>
            <a:ext cx="7772400" cy="30432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2BD731-4610-114C-A661-00AC7B677954}"/>
              </a:ext>
            </a:extLst>
          </p:cNvPr>
          <p:cNvSpPr txBox="1"/>
          <p:nvPr/>
        </p:nvSpPr>
        <p:spPr>
          <a:xfrm>
            <a:off x="4266552" y="6400413"/>
            <a:ext cx="36588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Image Source: 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DeepLearning.AI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LlamaIndex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3742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5826F-05E5-A4D3-CD1B-04887C62F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Why RAG?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16712-51C8-8BCF-28E5-81A589B56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HK" dirty="0"/>
              <a:t>Information richness: ensures text responses are </a:t>
            </a:r>
            <a:r>
              <a:rPr lang="en-HK" dirty="0">
                <a:solidFill>
                  <a:schemeClr val="accent2"/>
                </a:solidFill>
              </a:rPr>
              <a:t>up to date </a:t>
            </a:r>
            <a:r>
              <a:rPr lang="en-HK" dirty="0"/>
              <a:t>and </a:t>
            </a:r>
            <a:r>
              <a:rPr lang="en-HK" dirty="0">
                <a:solidFill>
                  <a:schemeClr val="accent2"/>
                </a:solidFill>
              </a:rPr>
              <a:t>relevant</a:t>
            </a:r>
            <a:r>
              <a:rPr lang="en-HK" dirty="0"/>
              <a:t>. It, therefore, enhances performance on domain specific tasks by accessing the internal knowledge base.</a:t>
            </a:r>
          </a:p>
          <a:p>
            <a:r>
              <a:rPr lang="en-HK" dirty="0"/>
              <a:t>Reduces fabrication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chemeClr val="accent2"/>
                </a:solidFill>
              </a:rPr>
              <a:t>hallucination</a:t>
            </a:r>
            <a:r>
              <a:rPr lang="en-HK" dirty="0"/>
              <a:t> by utilizing verifiable data in the knowledge base to provide context to the user queries.</a:t>
            </a:r>
          </a:p>
          <a:p>
            <a:r>
              <a:rPr lang="en-HK" dirty="0"/>
              <a:t>It is </a:t>
            </a:r>
            <a:r>
              <a:rPr lang="en-HK" dirty="0">
                <a:solidFill>
                  <a:schemeClr val="accent2"/>
                </a:solidFill>
              </a:rPr>
              <a:t>cost effective </a:t>
            </a:r>
            <a:r>
              <a:rPr lang="en-HK" dirty="0"/>
              <a:t>as they are more economical compared to fine-tuning an LLM.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CCFE7-B4FE-F14E-B3A4-2777F5823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3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91501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C317C0-9C5F-466C-60C7-F0D39AB63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Grounding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4753F0-2C0E-9E40-27D3-F2796EC85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Ungrounded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D19A298-419E-0246-0AB5-FE5D952B27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Grounded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4063F-183B-493C-F02A-1E2F6C535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4</a:t>
            </a:fld>
            <a:endParaRPr lang="en-HK"/>
          </a:p>
        </p:txBody>
      </p:sp>
      <p:pic>
        <p:nvPicPr>
          <p:cNvPr id="2050" name="Picture 2" descr="Diagram showing an ungrounded model returning an uncontextualized response based only on training data.">
            <a:extLst>
              <a:ext uri="{FF2B5EF4-FFF2-40B4-BE49-F238E27FC236}">
                <a16:creationId xmlns:a16="http://schemas.microsoft.com/office/drawing/2014/main" id="{2C8ED34F-746B-1EAF-D7DE-EDDFCE12CC8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88" y="2657750"/>
            <a:ext cx="5157787" cy="3379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iagram comparing an ungrounded model returning generic responses versus a grounded model returning data-backed responses.">
            <a:extLst>
              <a:ext uri="{FF2B5EF4-FFF2-40B4-BE49-F238E27FC236}">
                <a16:creationId xmlns:a16="http://schemas.microsoft.com/office/drawing/2014/main" id="{EFBA4F10-8829-1D85-8110-DF41BBE5CCA4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427" y="2663991"/>
            <a:ext cx="5157785" cy="337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2677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EDD89-F238-B1AD-0B33-B07CCA1B8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HK" altLang="zh-CN" dirty="0"/>
              <a:t>Retrieval-Augmented Generation (RAG)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08FFB-66E2-1347-A60B-EBECC599D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HK" altLang="zh-CN" dirty="0"/>
              <a:t>Create Query: Generate a query based on the user's input.</a:t>
            </a:r>
          </a:p>
          <a:p>
            <a:r>
              <a:rPr lang="en-HK" altLang="zh-CN" dirty="0"/>
              <a:t>Perform Search: Use the query to search for relevant information in the knowledge base (e.g., database, Internet, vector store). </a:t>
            </a:r>
          </a:p>
          <a:p>
            <a:r>
              <a:rPr lang="en-HK" altLang="zh-CN" dirty="0"/>
              <a:t>Extract Information: Extract relevant content from the search results. </a:t>
            </a:r>
          </a:p>
          <a:p>
            <a:r>
              <a:rPr lang="en-HK" altLang="zh-CN" dirty="0"/>
              <a:t>Context Integration: Use the extracted information as context for generating an answer. </a:t>
            </a:r>
          </a:p>
          <a:p>
            <a:r>
              <a:rPr lang="en-HK" altLang="zh-CN" dirty="0"/>
              <a:t>Generate Answer: The large language model combines the context and user input to produce a response.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20C17-68A6-80D1-B433-C570F3223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D49EFF0-5BC8-4886-A1D5-59C0C1A1A17F}" type="slidenum">
              <a:rPr lang="en-HK" smtClean="0"/>
              <a:pPr/>
              <a:t>5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017313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 diagram of a process flow&#10;&#10;Description automatically generated">
            <a:extLst>
              <a:ext uri="{FF2B5EF4-FFF2-40B4-BE49-F238E27FC236}">
                <a16:creationId xmlns:a16="http://schemas.microsoft.com/office/drawing/2014/main" id="{C098EB91-CDEE-29A3-0D43-82DEDA07AD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5" t="4480" r="-1"/>
          <a:stretch/>
        </p:blipFill>
        <p:spPr bwMode="auto">
          <a:xfrm>
            <a:off x="1002105" y="691393"/>
            <a:ext cx="10187789" cy="547521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D82D9-017F-A2FD-8EB6-9344A3A0A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7F8CBF50-853B-304C-BCA2-DB5146F0D4EA}" type="slidenum">
              <a:rPr lang="en-US"/>
              <a:pPr/>
              <a:t>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DAF1CF-740D-3684-602A-493323699B3F}"/>
              </a:ext>
            </a:extLst>
          </p:cNvPr>
          <p:cNvSpPr txBox="1"/>
          <p:nvPr/>
        </p:nvSpPr>
        <p:spPr>
          <a:xfrm>
            <a:off x="4547556" y="6400412"/>
            <a:ext cx="309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Microsoft Azure</a:t>
            </a:r>
          </a:p>
        </p:txBody>
      </p:sp>
    </p:spTree>
    <p:extLst>
      <p:ext uri="{BB962C8B-B14F-4D97-AF65-F5344CB8AC3E}">
        <p14:creationId xmlns:p14="http://schemas.microsoft.com/office/powerpoint/2010/main" val="3982546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at&#10;&#10;AI-generated content may be incorrect.">
            <a:extLst>
              <a:ext uri="{FF2B5EF4-FFF2-40B4-BE49-F238E27FC236}">
                <a16:creationId xmlns:a16="http://schemas.microsoft.com/office/drawing/2014/main" id="{CC7936F6-0451-B27F-0336-2B04C80A1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73" y="68263"/>
            <a:ext cx="11700853" cy="6172200"/>
          </a:xfrm>
          <a:prstGeom prst="rect">
            <a:avLst/>
          </a:prstGeo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041F251E-E889-91BC-3F0F-19D130CF9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7F8CBF50-853B-304C-BCA2-DB5146F0D4EA}" type="slidenum">
              <a:rPr lang="en-HK" smtClean="0"/>
              <a:pPr>
                <a:spcAft>
                  <a:spcPts val="600"/>
                </a:spcAft>
              </a:pPr>
              <a:t>7</a:t>
            </a:fld>
            <a:endParaRPr lang="en-H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FBC78E-6A3A-B2B2-21E6-C2440A3A2FB9}"/>
              </a:ext>
            </a:extLst>
          </p:cNvPr>
          <p:cNvSpPr txBox="1"/>
          <p:nvPr/>
        </p:nvSpPr>
        <p:spPr>
          <a:xfrm>
            <a:off x="4266552" y="6400413"/>
            <a:ext cx="36588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DeepLearning.AI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LlamaIndex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264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FAA1D-6127-32AC-188E-E1E56D137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HK" sz="2800" dirty="0"/>
              <a:t>An embedding is a mathematical representation of text as a vector — a list of floating-point numbers that captures the meaning of words, sentences, or documents.</a:t>
            </a:r>
            <a:endParaRPr lang="en-US" sz="2800" dirty="0"/>
          </a:p>
        </p:txBody>
      </p:sp>
      <p:pic>
        <p:nvPicPr>
          <p:cNvPr id="1026" name="Picture 2" descr="Diagram showing text keywords plotted as vectors in multidimensional space, with the distance between vectors representing semantic similarity.">
            <a:extLst>
              <a:ext uri="{FF2B5EF4-FFF2-40B4-BE49-F238E27FC236}">
                <a16:creationId xmlns:a16="http://schemas.microsoft.com/office/drawing/2014/main" id="{00319C1B-8545-2B52-07ED-8F5A2DAA953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1950752"/>
            <a:ext cx="10515600" cy="4101084"/>
          </a:xfrm>
          <a:solidFill>
            <a:srgbClr val="FFFFFF"/>
          </a:solidFill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C0725-D4D4-0739-A3CE-747C828F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F8CBF50-853B-304C-BCA2-DB5146F0D4EA}" type="slidenum">
              <a:rPr lang="en-HK" smtClean="0"/>
              <a:pPr>
                <a:spcAft>
                  <a:spcPts val="600"/>
                </a:spcAft>
              </a:pPr>
              <a:t>8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929576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news&#10;&#10;AI-generated content may be incorrect.">
            <a:extLst>
              <a:ext uri="{FF2B5EF4-FFF2-40B4-BE49-F238E27FC236}">
                <a16:creationId xmlns:a16="http://schemas.microsoft.com/office/drawing/2014/main" id="{AE7F2D0A-8A79-FCDE-281A-77CAB964F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789" y="68263"/>
            <a:ext cx="10828421" cy="6172200"/>
          </a:xfr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FB426B36-DB29-F70E-31E1-CC2A4CCDD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7F8CBF50-853B-304C-BCA2-DB5146F0D4EA}" type="slidenum">
              <a:rPr lang="en-HK" smtClean="0"/>
              <a:pPr>
                <a:spcAft>
                  <a:spcPts val="600"/>
                </a:spcAft>
              </a:pPr>
              <a:t>9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562764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1E37C-4293-BD60-0899-EC02B2E9B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Washington Post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C4763-D8DF-E944-C527-1AE8CB493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10</a:t>
            </a:fld>
            <a:endParaRPr lang="en-HK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24237F8-FBDE-9C0F-9B26-AEB7FF929C1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179" y="1825625"/>
            <a:ext cx="593364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A65203-1008-A259-6FC3-2F9229C69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755" y="1385888"/>
            <a:ext cx="24638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1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F4BB0-D5DA-4FF9-774D-501BB9CF4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HK" dirty="0"/>
              <a:t>Policy and Regulation Chatbot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6944B-5F03-763B-0101-E886E0D03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>
                <a:hlinkClick r:id="rId2"/>
              </a:rPr>
              <a:t>http://47.113.119.241/</a:t>
            </a:r>
            <a:r>
              <a:rPr lang="en-US" dirty="0"/>
              <a:t> (demo site only; may go offline without notice)</a:t>
            </a:r>
          </a:p>
          <a:p>
            <a:r>
              <a:rPr lang="en-US" dirty="0"/>
              <a:t>Report: </a:t>
            </a:r>
            <a:r>
              <a:rPr lang="en-US" altLang="zh-CN" dirty="0">
                <a:hlinkClick r:id="rId3"/>
              </a:rPr>
              <a:t>http://hlchen.com/doc/rag.pdf</a:t>
            </a:r>
            <a:endParaRPr lang="en-US" dirty="0"/>
          </a:p>
          <a:p>
            <a:endParaRPr lang="en-US" dirty="0"/>
          </a:p>
          <a:p>
            <a:r>
              <a:rPr lang="en-US" dirty="0"/>
              <a:t>Knowledge Base: Over 15K government documents, including </a:t>
            </a:r>
            <a:r>
              <a:rPr lang="en-HK" dirty="0"/>
              <a:t>laws, administrative regulations, recent policies, policy interpretations, and departmental public information.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F9B64-2D97-5CA3-23F5-4FBAE3432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D49EFF0-5BC8-4886-A1D5-59C0C1A1A17F}" type="slidenum">
              <a:rPr lang="en-HK" smtClean="0"/>
              <a:pPr/>
              <a:t>11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342093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D70FD7E-52ED-4522-D5E6-4BBCFE074F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10528"/>
            <a:ext cx="12205523" cy="6652009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18250A-43B4-D20D-A790-90686B0CA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12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699754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99B72-7400-A936-D9B4-D7A940A7A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DB1FA46-6C0F-2EAF-23F1-6307E13DC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20576"/>
            <a:ext cx="12218543" cy="664196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28CA3D-67AD-DA3B-793C-A9F07961C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13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85586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computer&#10;&#10;Description automatically generated">
            <a:extLst>
              <a:ext uri="{FF2B5EF4-FFF2-40B4-BE49-F238E27FC236}">
                <a16:creationId xmlns:a16="http://schemas.microsoft.com/office/drawing/2014/main" id="{955F44B9-8E3F-C837-5A03-F44C28C1AA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650" y="555086"/>
            <a:ext cx="11950700" cy="5198554"/>
          </a:xfrm>
          <a:prstGeom prst="rect">
            <a:avLst/>
          </a:prstGeo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8577AE33-C41B-E05B-0A0C-4D21E0B2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7F8CBF50-853B-304C-BCA2-DB5146F0D4EA}" type="slidenum">
              <a:rPr lang="en-HK" smtClean="0"/>
              <a:pPr>
                <a:spcAft>
                  <a:spcPts val="600"/>
                </a:spcAft>
              </a:pPr>
              <a:t>14</a:t>
            </a:fld>
            <a:endParaRPr lang="en-HK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BFC8C8-38EF-5B7C-78A2-25EC61662B00}"/>
              </a:ext>
            </a:extLst>
          </p:cNvPr>
          <p:cNvSpPr txBox="1"/>
          <p:nvPr/>
        </p:nvSpPr>
        <p:spPr>
          <a:xfrm>
            <a:off x="4547556" y="6400412"/>
            <a:ext cx="309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Microsoft Tech Community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1D809D3-864D-83E5-CD20-5E430CB0BF41}"/>
              </a:ext>
            </a:extLst>
          </p:cNvPr>
          <p:cNvGrpSpPr/>
          <p:nvPr/>
        </p:nvGrpSpPr>
        <p:grpSpPr>
          <a:xfrm>
            <a:off x="88751" y="1839433"/>
            <a:ext cx="4664001" cy="3997841"/>
            <a:chOff x="88751" y="1839433"/>
            <a:chExt cx="4664001" cy="399784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67329A7-87A0-6098-A342-EE970A6F2FF3}"/>
                </a:ext>
              </a:extLst>
            </p:cNvPr>
            <p:cNvSpPr/>
            <p:nvPr/>
          </p:nvSpPr>
          <p:spPr>
            <a:xfrm>
              <a:off x="88751" y="1839433"/>
              <a:ext cx="4664001" cy="3997841"/>
            </a:xfrm>
            <a:prstGeom prst="rect">
              <a:avLst/>
            </a:prstGeom>
            <a:noFill/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5B3C5D-F80A-6DDA-0EE4-1807E265AE5A}"/>
                </a:ext>
              </a:extLst>
            </p:cNvPr>
            <p:cNvSpPr txBox="1"/>
            <p:nvPr/>
          </p:nvSpPr>
          <p:spPr>
            <a:xfrm>
              <a:off x="2132050" y="3284355"/>
              <a:ext cx="577402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600" b="1" dirty="0">
                  <a:solidFill>
                    <a:schemeClr val="accent2"/>
                  </a:solidFill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4990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software flowchart&#10;&#10;Description automatically generated">
            <a:extLst>
              <a:ext uri="{FF2B5EF4-FFF2-40B4-BE49-F238E27FC236}">
                <a16:creationId xmlns:a16="http://schemas.microsoft.com/office/drawing/2014/main" id="{90509991-8906-76CD-1ED6-092D38DB4A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70889"/>
            <a:ext cx="10905066" cy="531622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8CACC-8D0B-55B3-0434-9B892E2A1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F8CBF50-853B-304C-BCA2-DB5146F0D4EA}" type="slidenum">
              <a:rPr lang="en-US" smtClean="0"/>
              <a:pPr defTabSz="914400"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F50BFD-1645-9C7D-B3C7-6BB73F9DFE6B}"/>
              </a:ext>
            </a:extLst>
          </p:cNvPr>
          <p:cNvSpPr txBox="1"/>
          <p:nvPr/>
        </p:nvSpPr>
        <p:spPr>
          <a:xfrm>
            <a:off x="4547556" y="6400412"/>
            <a:ext cx="309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Microsoft Tech Community</a:t>
            </a:r>
          </a:p>
        </p:txBody>
      </p:sp>
    </p:spTree>
    <p:extLst>
      <p:ext uri="{BB962C8B-B14F-4D97-AF65-F5344CB8AC3E}">
        <p14:creationId xmlns:p14="http://schemas.microsoft.com/office/powerpoint/2010/main" val="2020277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ADD71-8A3D-7D3B-6D64-B36AEA17A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HK" dirty="0"/>
              <a:t>What is Chunking?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DC13EA9-2B15-1312-6061-B83B1DDE6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HK" dirty="0"/>
              <a:t>Dividing large documents into smaller segments.</a:t>
            </a:r>
          </a:p>
          <a:p>
            <a:r>
              <a:rPr lang="en-HK" dirty="0"/>
              <a:t>Chunking is only required if the source documents are too large for the maximum input size imposed by models.</a:t>
            </a:r>
          </a:p>
          <a:p>
            <a:pPr lvl="1"/>
            <a:r>
              <a:rPr lang="en-HK" dirty="0"/>
              <a:t>For example, the maximum length of input text for the Azure OpenAI text-embedding-ada-002 model is 8,191 tokens. </a:t>
            </a:r>
          </a:p>
          <a:p>
            <a:r>
              <a:rPr lang="en-HK" dirty="0"/>
              <a:t>Chunks can be defined by document, page, or sentence.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51EFE-65FD-CE56-AEAC-E2A120B39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16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3355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6B680-F09E-FBD0-4FC0-A15F9EAF8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HK" dirty="0"/>
              <a:t>Common Chunking Techniques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165B4-9B34-C8E5-D354-BCBACB305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HK" dirty="0"/>
              <a:t>Fixed-size chunks: Define a fixed size that’s sufficient for semantically meaningful paragraphs (for example, 200 words) and allows for some overlap (for example, 10-15% of the content) can produce good chunks as input for embedding vector generators.</a:t>
            </a:r>
          </a:p>
          <a:p>
            <a:r>
              <a:rPr lang="en-HK" dirty="0"/>
              <a:t>Variable-sized chunks based on content: Partition your data based on content characteristics, such as end-of-sentence punctuation marks, end-of-line markers, or using features in the Natural Language Processing (NLP) libraries. Markdown language structure can also be used to split the data.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9E62E-D333-6C0E-910E-27E46163E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17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90863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344C9-4832-1653-0A36-726907A62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HK" dirty="0"/>
              <a:t>Importance of Chunk Size in RAG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A7B4F-9039-B17C-FE7E-9BB0E1B05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HK" dirty="0"/>
              <a:t>Too Large:</a:t>
            </a:r>
          </a:p>
          <a:p>
            <a:pPr lvl="1"/>
            <a:r>
              <a:rPr lang="en-HK" dirty="0"/>
              <a:t>Loss of Specificity: Generalized embeddings reduce relevance.</a:t>
            </a:r>
          </a:p>
          <a:p>
            <a:pPr lvl="1"/>
            <a:r>
              <a:rPr lang="en-HK" dirty="0"/>
              <a:t>Information Overload: Excessive data can overwhelm the model.</a:t>
            </a:r>
          </a:p>
          <a:p>
            <a:r>
              <a:rPr lang="en-HK" dirty="0"/>
              <a:t>Too Small:</a:t>
            </a:r>
          </a:p>
          <a:p>
            <a:pPr lvl="1"/>
            <a:r>
              <a:rPr lang="en-HK" dirty="0"/>
              <a:t>Loss of Context: Important connections may be lost.</a:t>
            </a:r>
          </a:p>
          <a:p>
            <a:pPr lvl="1"/>
            <a:r>
              <a:rPr lang="en-HK" dirty="0"/>
              <a:t>Fragmented Information: Leads to incomplete answers.</a:t>
            </a:r>
          </a:p>
          <a:p>
            <a:r>
              <a:rPr lang="en-HK" dirty="0"/>
              <a:t>Finding the Balance</a:t>
            </a:r>
          </a:p>
          <a:p>
            <a:pPr lvl="1"/>
            <a:r>
              <a:rPr lang="en-HK" dirty="0"/>
              <a:t>Meaningful &amp; Concise: Retain essential information while fitting processing limits, e.g., append the document title to chunks from the middle of the document to prevent context loss.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9F1014-F06F-E171-9DB1-B623896A4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18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5495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826F9-09FD-222A-6F59-E908CE437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HK" dirty="0"/>
              <a:t>Chunk Enrichment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96E533C-FF41-6D90-00DC-4865E470F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Cleaning the chunks </a:t>
            </a:r>
            <a:r>
              <a:rPr lang="en-HK" dirty="0"/>
              <a:t>to support closeness matches by eliminating potential differences that aren't material to the semantics of the text.</a:t>
            </a:r>
            <a:endParaRPr lang="en-US" dirty="0"/>
          </a:p>
          <a:p>
            <a:r>
              <a:rPr lang="en-HK" dirty="0"/>
              <a:t>Augmenting the chunks with metadata that can be used as either filters or as part of the search.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32B59-337E-C935-16D1-F738159F1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19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046886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229F1-BB1F-0E0C-4CC0-3737B3F25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2F5DF-F68E-8421-5DD0-FB493F60C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HK" dirty="0"/>
              <a:t>Lowercasing - Match words regardless of capitalization.</a:t>
            </a:r>
          </a:p>
          <a:p>
            <a:pPr lvl="0"/>
            <a:r>
              <a:rPr lang="en-HK" dirty="0"/>
              <a:t>Remove stop words - Reduce dimensionality by removing common words like "a", "an", "the".</a:t>
            </a:r>
          </a:p>
          <a:p>
            <a:pPr lvl="0"/>
            <a:r>
              <a:rPr lang="en-HK" dirty="0"/>
              <a:t>Fix spelling mistakes - Ensure correct spelling for accurate embeddings.</a:t>
            </a:r>
          </a:p>
          <a:p>
            <a:pPr lvl="0"/>
            <a:r>
              <a:rPr lang="en-HK" dirty="0"/>
              <a:t>Remove Unicode characters - Reduce noise and dimensionality by removing unnecessary characters.</a:t>
            </a:r>
          </a:p>
          <a:p>
            <a:pPr lvl="0"/>
            <a:r>
              <a:rPr lang="en-HK" dirty="0"/>
              <a:t>Normalization - Standardize text by expanding abbreviations and contractions.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70F58-58EC-2BA1-C2FB-35EEA0BE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20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7492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4E3728-D057-C7AC-BC7B-CFE41CC36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Augmenting</a:t>
            </a:r>
            <a:endParaRPr lang="en-US" dirty="0"/>
          </a:p>
        </p:txBody>
      </p:sp>
      <p:pic>
        <p:nvPicPr>
          <p:cNvPr id="1026" name="Picture 2" descr="Diagram showing json of fully enriched content and how it might be used in a search platform.">
            <a:extLst>
              <a:ext uri="{FF2B5EF4-FFF2-40B4-BE49-F238E27FC236}">
                <a16:creationId xmlns:a16="http://schemas.microsoft.com/office/drawing/2014/main" id="{74FFDE2E-28D2-0DEA-8692-0387A0FDB54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7288" y="1337997"/>
            <a:ext cx="10897423" cy="5520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E4F8A-301C-DEA5-2F9E-5181DB0F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F8CBF50-853B-304C-BCA2-DB5146F0D4EA}" type="slidenum">
              <a:rPr lang="en-US" smtClean="0"/>
              <a:pPr defTabSz="914400">
                <a:spcAft>
                  <a:spcPts val="600"/>
                </a:spcAft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78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9C5014F-499E-5A9E-3EDC-4F1D8A7C4D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6981969"/>
              </p:ext>
            </p:extLst>
          </p:nvPr>
        </p:nvGraphicFramePr>
        <p:xfrm>
          <a:off x="186070" y="171450"/>
          <a:ext cx="11819860" cy="632989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749333">
                  <a:extLst>
                    <a:ext uri="{9D8B030D-6E8A-4147-A177-3AD203B41FA5}">
                      <a16:colId xmlns:a16="http://schemas.microsoft.com/office/drawing/2014/main" val="1452670394"/>
                    </a:ext>
                  </a:extLst>
                </a:gridCol>
                <a:gridCol w="5997404">
                  <a:extLst>
                    <a:ext uri="{9D8B030D-6E8A-4147-A177-3AD203B41FA5}">
                      <a16:colId xmlns:a16="http://schemas.microsoft.com/office/drawing/2014/main" val="393320865"/>
                    </a:ext>
                  </a:extLst>
                </a:gridCol>
                <a:gridCol w="3073123">
                  <a:extLst>
                    <a:ext uri="{9D8B030D-6E8A-4147-A177-3AD203B41FA5}">
                      <a16:colId xmlns:a16="http://schemas.microsoft.com/office/drawing/2014/main" val="521840704"/>
                    </a:ext>
                  </a:extLst>
                </a:gridCol>
              </a:tblGrid>
              <a:tr h="5351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 dirty="0">
                          <a:effectLst/>
                        </a:rPr>
                        <a:t>Metadata Field</a:t>
                      </a:r>
                      <a:endParaRPr lang="en-HK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 dirty="0">
                          <a:effectLst/>
                        </a:rPr>
                        <a:t>Description</a:t>
                      </a:r>
                      <a:endParaRPr lang="en-HK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 dirty="0">
                          <a:effectLst/>
                        </a:rPr>
                        <a:t>Tools</a:t>
                      </a:r>
                      <a:endParaRPr lang="en-HK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366258"/>
                  </a:ext>
                </a:extLst>
              </a:tr>
              <a:tr h="5351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>
                          <a:effectLst/>
                        </a:rPr>
                        <a:t>ID</a:t>
                      </a:r>
                      <a:endParaRPr lang="en-HK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>
                          <a:effectLst/>
                        </a:rPr>
                        <a:t>Uniquely identifies a chunk</a:t>
                      </a:r>
                      <a:endParaRPr lang="en-HK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>
                          <a:effectLst/>
                        </a:rPr>
                        <a:t>Hashing library</a:t>
                      </a:r>
                      <a:endParaRPr lang="en-HK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4588709"/>
                  </a:ext>
                </a:extLst>
              </a:tr>
              <a:tr h="6463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 dirty="0">
                          <a:effectLst/>
                        </a:rPr>
                        <a:t>Title</a:t>
                      </a:r>
                      <a:endParaRPr lang="en-HK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 dirty="0">
                          <a:effectLst/>
                        </a:rPr>
                        <a:t>Provides a quick content summary, useful for indexed search</a:t>
                      </a:r>
                      <a:endParaRPr lang="en-HK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>
                          <a:effectLst/>
                        </a:rPr>
                        <a:t>Large language model</a:t>
                      </a:r>
                      <a:endParaRPr lang="en-HK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7111984"/>
                  </a:ext>
                </a:extLst>
              </a:tr>
              <a:tr h="5351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>
                          <a:effectLst/>
                        </a:rPr>
                        <a:t>Summary</a:t>
                      </a:r>
                      <a:endParaRPr lang="en-HK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>
                          <a:effectLst/>
                        </a:rPr>
                        <a:t>Longer than title, useful for indexed search</a:t>
                      </a:r>
                      <a:endParaRPr lang="en-HK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 dirty="0">
                          <a:effectLst/>
                        </a:rPr>
                        <a:t>Large language model</a:t>
                      </a:r>
                      <a:endParaRPr lang="en-HK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55976076"/>
                  </a:ext>
                </a:extLst>
              </a:tr>
              <a:tr h="5351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>
                          <a:effectLst/>
                        </a:rPr>
                        <a:t>Rephrasing</a:t>
                      </a:r>
                      <a:endParaRPr lang="en-HK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>
                          <a:effectLst/>
                        </a:rPr>
                        <a:t>Captures variations in language for vector search</a:t>
                      </a:r>
                      <a:endParaRPr lang="en-HK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>
                          <a:effectLst/>
                        </a:rPr>
                        <a:t>Large language model</a:t>
                      </a:r>
                      <a:endParaRPr lang="en-HK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2686713"/>
                  </a:ext>
                </a:extLst>
              </a:tr>
              <a:tr h="6463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>
                          <a:effectLst/>
                        </a:rPr>
                        <a:t>Keywords</a:t>
                      </a:r>
                      <a:endParaRPr lang="en-HK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>
                          <a:effectLst/>
                        </a:rPr>
                        <a:t>Good for exact match searches</a:t>
                      </a:r>
                      <a:endParaRPr lang="en-HK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 dirty="0">
                          <a:effectLst/>
                        </a:rPr>
                        <a:t>Large language model, RAKE, </a:t>
                      </a:r>
                      <a:r>
                        <a:rPr lang="en-HK" sz="2000" kern="100" dirty="0" err="1">
                          <a:effectLst/>
                        </a:rPr>
                        <a:t>KeyBERT</a:t>
                      </a:r>
                      <a:r>
                        <a:rPr lang="en-HK" sz="2000" kern="100" dirty="0">
                          <a:effectLst/>
                        </a:rPr>
                        <a:t>, </a:t>
                      </a:r>
                      <a:r>
                        <a:rPr lang="en-HK" sz="2000" kern="100" dirty="0" err="1">
                          <a:effectLst/>
                        </a:rPr>
                        <a:t>MultiRake</a:t>
                      </a:r>
                      <a:endParaRPr lang="en-HK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2493479"/>
                  </a:ext>
                </a:extLst>
              </a:tr>
              <a:tr h="6463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>
                          <a:effectLst/>
                        </a:rPr>
                        <a:t>Entities</a:t>
                      </a:r>
                      <a:endParaRPr lang="en-HK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>
                          <a:effectLst/>
                        </a:rPr>
                        <a:t>Specific info like people, organizations, locations</a:t>
                      </a:r>
                      <a:endParaRPr lang="en-HK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 dirty="0" err="1">
                          <a:effectLst/>
                        </a:rPr>
                        <a:t>SpaCy</a:t>
                      </a:r>
                      <a:r>
                        <a:rPr lang="en-HK" sz="2000" kern="100" dirty="0">
                          <a:effectLst/>
                        </a:rPr>
                        <a:t>, SNER, scikit-learn, NLTK</a:t>
                      </a:r>
                      <a:endParaRPr lang="en-HK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5975317"/>
                  </a:ext>
                </a:extLst>
              </a:tr>
              <a:tr h="5351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>
                          <a:effectLst/>
                        </a:rPr>
                        <a:t>Cleaned Text</a:t>
                      </a:r>
                      <a:endParaRPr lang="en-HK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>
                          <a:effectLst/>
                        </a:rPr>
                        <a:t>Clean version of chunk text</a:t>
                      </a:r>
                      <a:endParaRPr lang="en-HK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>
                          <a:effectLst/>
                        </a:rPr>
                        <a:t>Large language model</a:t>
                      </a:r>
                      <a:endParaRPr lang="en-HK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1803560"/>
                  </a:ext>
                </a:extLst>
              </a:tr>
              <a:tr h="5351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>
                          <a:effectLst/>
                        </a:rPr>
                        <a:t>Answerable Questions</a:t>
                      </a:r>
                      <a:endParaRPr lang="en-HK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 dirty="0">
                          <a:effectLst/>
                        </a:rPr>
                        <a:t>Formulated queries for better matching</a:t>
                      </a:r>
                      <a:endParaRPr lang="en-HK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 dirty="0">
                          <a:effectLst/>
                        </a:rPr>
                        <a:t>Large language model</a:t>
                      </a:r>
                      <a:endParaRPr lang="en-HK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708087"/>
                  </a:ext>
                </a:extLst>
              </a:tr>
              <a:tr h="5351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>
                          <a:effectLst/>
                        </a:rPr>
                        <a:t>Source</a:t>
                      </a:r>
                      <a:endParaRPr lang="en-HK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>
                          <a:effectLst/>
                        </a:rPr>
                        <a:t>Original source information</a:t>
                      </a:r>
                      <a:endParaRPr lang="en-HK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>
                          <a:effectLst/>
                        </a:rPr>
                        <a:t>N/A</a:t>
                      </a:r>
                      <a:endParaRPr lang="en-HK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60484228"/>
                  </a:ext>
                </a:extLst>
              </a:tr>
              <a:tr h="5351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>
                          <a:effectLst/>
                        </a:rPr>
                        <a:t>Language</a:t>
                      </a:r>
                      <a:endParaRPr lang="en-HK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 dirty="0">
                          <a:effectLst/>
                        </a:rPr>
                        <a:t>Filter queries by language</a:t>
                      </a:r>
                      <a:endParaRPr lang="en-HK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000" kern="100" dirty="0">
                          <a:effectLst/>
                        </a:rPr>
                        <a:t>N/A</a:t>
                      </a:r>
                      <a:endParaRPr lang="en-HK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479434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39FB0-00AE-6F9F-48C8-73EC0797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22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9855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3598A-E2E3-D072-951F-C8528A0D0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Embedding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6D01A3F-3901-479F-1204-4B528A033C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663550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85867-7BDD-3AD4-ACCB-63ACFD3D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23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053748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1586-BF43-7BE0-291C-5C9E2210C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/>
              <a:t>Tokenization</a:t>
            </a:r>
          </a:p>
        </p:txBody>
      </p:sp>
      <p:pic>
        <p:nvPicPr>
          <p:cNvPr id="1026" name="Picture 2" descr="Example of tokenization">
            <a:extLst>
              <a:ext uri="{FF2B5EF4-FFF2-40B4-BE49-F238E27FC236}">
                <a16:creationId xmlns:a16="http://schemas.microsoft.com/office/drawing/2014/main" id="{F1285D8B-0373-5D42-6A83-D2E962DEC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7"/>
          <a:stretch/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11CD2-CBA8-2958-9FCA-632BD5084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 lnSpcReduction="10000"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Tokens</a:t>
            </a:r>
            <a:r>
              <a:rPr lang="en-US" sz="1800" dirty="0"/>
              <a:t> are common sequences of characters found in a set of text.</a:t>
            </a:r>
          </a:p>
          <a:p>
            <a:r>
              <a:rPr lang="en-US" sz="1800" dirty="0"/>
              <a:t>A </a:t>
            </a:r>
            <a:r>
              <a:rPr lang="en-US" sz="1800" dirty="0">
                <a:solidFill>
                  <a:schemeClr val="accent2"/>
                </a:solidFill>
              </a:rPr>
              <a:t>tokenizer</a:t>
            </a:r>
            <a:r>
              <a:rPr lang="en-US" sz="1800" dirty="0"/>
              <a:t> is used to split an input text into an array of tokens.</a:t>
            </a:r>
          </a:p>
          <a:p>
            <a:r>
              <a:rPr lang="en-US" sz="1800" dirty="0"/>
              <a:t>The exact </a:t>
            </a:r>
            <a:r>
              <a:rPr lang="en-US" sz="1800" dirty="0">
                <a:solidFill>
                  <a:schemeClr val="accent2"/>
                </a:solidFill>
              </a:rPr>
              <a:t>tokenization</a:t>
            </a:r>
            <a:r>
              <a:rPr lang="en-US" sz="1800" dirty="0"/>
              <a:t> process varies between models.</a:t>
            </a:r>
          </a:p>
          <a:p>
            <a:r>
              <a:rPr lang="en-US" sz="1800" dirty="0"/>
              <a:t>Each token is mapped with a </a:t>
            </a:r>
            <a:r>
              <a:rPr lang="en-US" sz="1800" dirty="0">
                <a:solidFill>
                  <a:schemeClr val="accent2"/>
                </a:solidFill>
              </a:rPr>
              <a:t>token index</a:t>
            </a:r>
            <a:r>
              <a:rPr lang="en-US" sz="1800" dirty="0"/>
              <a:t>, which is the integer encoding of the original text chunk.</a:t>
            </a:r>
          </a:p>
          <a:p>
            <a:r>
              <a:rPr lang="en-US" sz="1800" dirty="0"/>
              <a:t>One token generally corresponds to ~4 characters of text for common English text. This translates to roughly </a:t>
            </a:r>
            <a:r>
              <a:rPr lang="en-US" sz="1800" dirty="0">
                <a:solidFill>
                  <a:schemeClr val="accent2"/>
                </a:solidFill>
              </a:rPr>
              <a:t>¾</a:t>
            </a:r>
            <a:r>
              <a:rPr lang="en-US" sz="1800" dirty="0"/>
              <a:t> of a word (so 100 tokens ~= 75 words).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3144B-A32A-76AA-5DEA-91602718D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4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F8CBF50-853B-304C-BCA2-DB5146F0D4EA}" type="slidenum">
              <a:rPr lang="en-HK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24</a:t>
            </a:fld>
            <a:endParaRPr lang="en-HK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3C704-7AD6-1204-9446-80A1BB34D079}"/>
              </a:ext>
            </a:extLst>
          </p:cNvPr>
          <p:cNvSpPr txBox="1"/>
          <p:nvPr/>
        </p:nvSpPr>
        <p:spPr>
          <a:xfrm>
            <a:off x="3023556" y="6400412"/>
            <a:ext cx="7857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platform.openai.com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/tokenizer</a:t>
            </a:r>
          </a:p>
        </p:txBody>
      </p:sp>
    </p:spTree>
    <p:extLst>
      <p:ext uri="{BB962C8B-B14F-4D97-AF65-F5344CB8AC3E}">
        <p14:creationId xmlns:p14="http://schemas.microsoft.com/office/powerpoint/2010/main" val="1255582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A413920-C39B-96DE-13D7-B050D19EF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HK" dirty="0"/>
              <a:t>Word Embeddings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72DEA7-8EB8-9669-C914-DD81744AE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HK" dirty="0"/>
              <a:t>While it may be convenient to represent tokens as </a:t>
            </a:r>
            <a:r>
              <a:rPr lang="en-HK" dirty="0">
                <a:solidFill>
                  <a:schemeClr val="accent2"/>
                </a:solidFill>
              </a:rPr>
              <a:t>simple IDs - essentially creating an index for all the words in the vocabulary</a:t>
            </a:r>
            <a:r>
              <a:rPr lang="en-HK" dirty="0"/>
              <a:t>, they don't tell us anything about the meaning of the words, or the relationships between them.</a:t>
            </a:r>
          </a:p>
          <a:p>
            <a:r>
              <a:rPr lang="en-HK" dirty="0"/>
              <a:t>To create a vocabulary that encapsulates </a:t>
            </a:r>
            <a:r>
              <a:rPr lang="en-HK" dirty="0">
                <a:solidFill>
                  <a:schemeClr val="accent2"/>
                </a:solidFill>
              </a:rPr>
              <a:t>semantic</a:t>
            </a:r>
            <a:r>
              <a:rPr lang="en-HK" dirty="0"/>
              <a:t> relationships between the tokens, we define contextual vectors, known as embeddings, for them. </a:t>
            </a:r>
          </a:p>
          <a:p>
            <a:r>
              <a:rPr lang="en-HK" dirty="0"/>
              <a:t>Vectors are multi-valued numeric representations of information, for example [10, 3, 1] in which each numeric element represents a particular attribute of the information. </a:t>
            </a:r>
          </a:p>
          <a:p>
            <a:r>
              <a:rPr lang="en-HK" dirty="0"/>
              <a:t>Vectors represent lines in multidimensional space, describing </a:t>
            </a:r>
            <a:r>
              <a:rPr lang="en-HK" i="1" dirty="0"/>
              <a:t>direction</a:t>
            </a:r>
            <a:r>
              <a:rPr lang="en-HK" dirty="0"/>
              <a:t> and </a:t>
            </a:r>
            <a:r>
              <a:rPr lang="en-HK" i="1" dirty="0"/>
              <a:t>distance</a:t>
            </a:r>
            <a:r>
              <a:rPr lang="en-HK" dirty="0"/>
              <a:t> (or amplitude and magnitude) along multiple axes.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267D4-4AED-F521-909E-40D16789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25</a:t>
            </a:fld>
            <a:endParaRPr lang="en-HK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76C50A-3DFF-0FE2-DE16-2B8876FB6BED}"/>
              </a:ext>
            </a:extLst>
          </p:cNvPr>
          <p:cNvSpPr txBox="1"/>
          <p:nvPr/>
        </p:nvSpPr>
        <p:spPr>
          <a:xfrm>
            <a:off x="3088195" y="6400412"/>
            <a:ext cx="6015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</a:t>
            </a:r>
            <a:r>
              <a:rPr lang="en-HK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Microsoft Learn</a:t>
            </a:r>
          </a:p>
        </p:txBody>
      </p:sp>
    </p:spTree>
    <p:extLst>
      <p:ext uri="{BB962C8B-B14F-4D97-AF65-F5344CB8AC3E}">
        <p14:creationId xmlns:p14="http://schemas.microsoft.com/office/powerpoint/2010/main" val="1196397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E2BF4-DC22-B6BC-1E29-82026C7B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HK" dirty="0"/>
              <a:t>Word Embeddings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3AC767-8C18-3771-A46F-40A8B449F3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427136" cy="4351338"/>
          </a:xfrm>
        </p:spPr>
        <p:txBody>
          <a:bodyPr>
            <a:normAutofit/>
          </a:bodyPr>
          <a:lstStyle/>
          <a:p>
            <a:r>
              <a:rPr lang="en-HK" dirty="0"/>
              <a:t>4 ("dog"): [10,3,2]</a:t>
            </a:r>
          </a:p>
          <a:p>
            <a:r>
              <a:rPr lang="en-HK" dirty="0"/>
              <a:t>8 ("cat"): [10,3,1]</a:t>
            </a:r>
          </a:p>
          <a:p>
            <a:r>
              <a:rPr lang="en-HK" dirty="0"/>
              <a:t>9 ("puppy"): [5,2,1]</a:t>
            </a:r>
          </a:p>
          <a:p>
            <a:r>
              <a:rPr lang="en-HK" dirty="0"/>
              <a:t>10 ("skateboard"): [-3,3,2]</a:t>
            </a:r>
          </a:p>
          <a:p>
            <a:endParaRPr lang="en-HK" dirty="0"/>
          </a:p>
          <a:p>
            <a:r>
              <a:rPr lang="en-HK" dirty="0"/>
              <a:t>Semantically similar tokens point in the same direction.</a:t>
            </a:r>
          </a:p>
          <a:p>
            <a:endParaRPr lang="en-US" dirty="0"/>
          </a:p>
        </p:txBody>
      </p:sp>
      <p:pic>
        <p:nvPicPr>
          <p:cNvPr id="2050" name="Picture 2" descr="Diagram of token vectors plotted in three dimensional space.">
            <a:extLst>
              <a:ext uri="{FF2B5EF4-FFF2-40B4-BE49-F238E27FC236}">
                <a16:creationId xmlns:a16="http://schemas.microsoft.com/office/drawing/2014/main" id="{B378E481-0034-FED0-C89B-BB20D72BB6C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07286" y="1690688"/>
            <a:ext cx="6885570" cy="3735422"/>
          </a:xfrm>
          <a:solidFill>
            <a:srgbClr val="FFFFFF"/>
          </a:solidFill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6904B-15CB-D8A5-F593-64945A45A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F8CBF50-853B-304C-BCA2-DB5146F0D4EA}" type="slidenum">
              <a:rPr lang="en-HK" smtClean="0"/>
              <a:pPr>
                <a:spcAft>
                  <a:spcPts val="600"/>
                </a:spcAft>
              </a:pPr>
              <a:t>26</a:t>
            </a:fld>
            <a:endParaRPr lang="en-HK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416F88-EB7F-B76B-481A-A0BC0997927C}"/>
              </a:ext>
            </a:extLst>
          </p:cNvPr>
          <p:cNvSpPr txBox="1"/>
          <p:nvPr/>
        </p:nvSpPr>
        <p:spPr>
          <a:xfrm>
            <a:off x="3088195" y="6400412"/>
            <a:ext cx="6015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</a:t>
            </a:r>
            <a:r>
              <a:rPr lang="en-HK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Microsoft Learn</a:t>
            </a:r>
          </a:p>
        </p:txBody>
      </p:sp>
    </p:spTree>
    <p:extLst>
      <p:ext uri="{BB962C8B-B14F-4D97-AF65-F5344CB8AC3E}">
        <p14:creationId xmlns:p14="http://schemas.microsoft.com/office/powerpoint/2010/main" val="1747683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921DA85-E670-021D-E1DC-B0932A7F7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HK" dirty="0"/>
              <a:t>Position (distance and direction) in the vector space can encode semantics.</a:t>
            </a:r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0C1F4ABB-7C50-D452-68F0-2ECCF459AA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98323"/>
            <a:ext cx="10515600" cy="4005942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5D106E-BE9E-E9D6-DE4A-65862FC93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27</a:t>
            </a:fld>
            <a:endParaRPr lang="en-HK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970FEB-6483-8879-3F6B-CB0EB0F5E491}"/>
              </a:ext>
            </a:extLst>
          </p:cNvPr>
          <p:cNvSpPr txBox="1"/>
          <p:nvPr/>
        </p:nvSpPr>
        <p:spPr>
          <a:xfrm>
            <a:off x="3088195" y="6400412"/>
            <a:ext cx="6015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</a:t>
            </a:r>
            <a:r>
              <a:rPr lang="en-HK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Google</a:t>
            </a:r>
          </a:p>
        </p:txBody>
      </p:sp>
    </p:spTree>
    <p:extLst>
      <p:ext uri="{BB962C8B-B14F-4D97-AF65-F5344CB8AC3E}">
        <p14:creationId xmlns:p14="http://schemas.microsoft.com/office/powerpoint/2010/main" val="1535603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DE83E-C05C-F2AB-B966-F2860B8F6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Word Embedding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8E265-EF00-1694-1B19-AE3AAB7EC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Word2Vec</a:t>
            </a:r>
          </a:p>
          <a:p>
            <a:pPr lvl="1"/>
            <a:r>
              <a:rPr lang="en-HK" dirty="0"/>
              <a:t>Principle: “the semantic meaning of a word is defined by its </a:t>
            </a:r>
            <a:r>
              <a:rPr lang="en-HK" dirty="0" err="1"/>
              <a:t>neighbors</a:t>
            </a:r>
            <a:r>
              <a:rPr lang="en-HK" dirty="0"/>
              <a:t>”</a:t>
            </a:r>
          </a:p>
          <a:p>
            <a:pPr lvl="1"/>
            <a:r>
              <a:rPr lang="en-HK" dirty="0"/>
              <a:t>Two approaches: Continuous bag of words (CBOW) and Skip-Gram</a:t>
            </a:r>
            <a:endParaRPr lang="en-US" dirty="0"/>
          </a:p>
          <a:p>
            <a:r>
              <a:rPr lang="en-US" dirty="0" err="1"/>
              <a:t>GloVe</a:t>
            </a:r>
            <a:r>
              <a:rPr lang="en-US" dirty="0"/>
              <a:t> (</a:t>
            </a:r>
            <a:r>
              <a:rPr lang="en-HK" dirty="0"/>
              <a:t>Global Vectors for Word Representation)</a:t>
            </a:r>
          </a:p>
          <a:p>
            <a:pPr lvl="1"/>
            <a:r>
              <a:rPr lang="en-HK" dirty="0"/>
              <a:t>Captures global statistical information by </a:t>
            </a:r>
            <a:r>
              <a:rPr lang="en-HK" dirty="0" err="1"/>
              <a:t>analyzing</a:t>
            </a:r>
            <a:r>
              <a:rPr lang="en-HK" dirty="0"/>
              <a:t> word co-occurrence matrices</a:t>
            </a:r>
            <a:endParaRPr lang="en-US" dirty="0"/>
          </a:p>
          <a:p>
            <a:r>
              <a:rPr lang="en-US" altLang="zh-CN" dirty="0" err="1"/>
              <a:t>FastText</a:t>
            </a:r>
            <a:endParaRPr lang="en-US" altLang="zh-CN" dirty="0"/>
          </a:p>
          <a:p>
            <a:pPr lvl="1"/>
            <a:r>
              <a:rPr lang="en-HK" dirty="0"/>
              <a:t>Considers </a:t>
            </a:r>
            <a:r>
              <a:rPr lang="en-HK" dirty="0" err="1"/>
              <a:t>subword</a:t>
            </a:r>
            <a:r>
              <a:rPr lang="en-HK" dirty="0"/>
              <a:t> information (like character n-grams), allowing it to create embeddings for out-of-vocabulary words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91390-1525-487F-A029-07FA0C3A5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28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2224461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D7DF5-4D2E-77E3-FCC3-5E401FE8F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Word2Vec’s Two Approaches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A5E0F-6C48-4469-A1A8-8BC82E7E3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29</a:t>
            </a:fld>
            <a:endParaRPr lang="en-H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347917-957F-1EE2-F551-5AFFC44C3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9586" y="1690688"/>
            <a:ext cx="10132828" cy="43394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79CAAB-C3CE-A7AA-36FC-CC27190D78A6}"/>
              </a:ext>
            </a:extLst>
          </p:cNvPr>
          <p:cNvSpPr txBox="1"/>
          <p:nvPr/>
        </p:nvSpPr>
        <p:spPr>
          <a:xfrm>
            <a:off x="4547556" y="6400412"/>
            <a:ext cx="309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Google</a:t>
            </a:r>
          </a:p>
        </p:txBody>
      </p:sp>
    </p:spTree>
    <p:extLst>
      <p:ext uri="{BB962C8B-B14F-4D97-AF65-F5344CB8AC3E}">
        <p14:creationId xmlns:p14="http://schemas.microsoft.com/office/powerpoint/2010/main" val="26357781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6296B-8631-DFFE-D5BC-535C59EC2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Document Embeddings</a:t>
            </a:r>
          </a:p>
        </p:txBody>
      </p:sp>
      <p:pic>
        <p:nvPicPr>
          <p:cNvPr id="5" name="Content Placeholder 3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45A78A83-19AF-E52F-5203-04FACA2FC8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3426" y="1825625"/>
            <a:ext cx="10485148" cy="4351338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F2AF8-0372-077A-7913-BEA73A016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F8CBF50-853B-304C-BCA2-DB5146F0D4EA}" type="slidenum">
              <a:rPr lang="en-HK" smtClean="0"/>
              <a:pPr>
                <a:spcAft>
                  <a:spcPts val="600"/>
                </a:spcAft>
              </a:pPr>
              <a:t>30</a:t>
            </a:fld>
            <a:endParaRPr lang="en-H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B27343-EBCE-1CEA-8AC7-8B9C5156A444}"/>
              </a:ext>
            </a:extLst>
          </p:cNvPr>
          <p:cNvSpPr txBox="1"/>
          <p:nvPr/>
        </p:nvSpPr>
        <p:spPr>
          <a:xfrm>
            <a:off x="4547556" y="6400412"/>
            <a:ext cx="309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Google</a:t>
            </a:r>
          </a:p>
        </p:txBody>
      </p:sp>
    </p:spTree>
    <p:extLst>
      <p:ext uri="{BB962C8B-B14F-4D97-AF65-F5344CB8AC3E}">
        <p14:creationId xmlns:p14="http://schemas.microsoft.com/office/powerpoint/2010/main" val="39943805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8866E-61A7-5BD4-0FB2-4B3DC8C5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HK" dirty="0"/>
              <a:t>Shallow Bag-of-Words (</a:t>
            </a:r>
            <a:r>
              <a:rPr lang="en-HK" dirty="0" err="1"/>
              <a:t>BoW</a:t>
            </a:r>
            <a:r>
              <a:rPr lang="en-HK" dirty="0"/>
              <a:t>) models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54BE59-AF69-EBF4-1B35-045D06E81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HK" dirty="0"/>
              <a:t>Statistical models that use the word frequency to represent the document embedding</a:t>
            </a:r>
          </a:p>
          <a:p>
            <a:r>
              <a:rPr lang="en-HK" dirty="0"/>
              <a:t>TF-IDF: term frequency-inverse document frequency</a:t>
            </a:r>
          </a:p>
          <a:p>
            <a:pPr lvl="1"/>
            <a:r>
              <a:rPr lang="en-HK" dirty="0"/>
              <a:t>Adjust for the weights of popular and niche words</a:t>
            </a:r>
          </a:p>
          <a:p>
            <a:r>
              <a:rPr lang="en-HK" dirty="0"/>
              <a:t>Major weakness: both the word ordering and the semantic meanings are ignored.</a:t>
            </a:r>
          </a:p>
          <a:p>
            <a:endParaRPr lang="en-HK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377C7-7BB0-0C62-0083-E303B5D5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31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7185425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481E61E-035E-E60C-CE6F-FA615A488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Limitations of </a:t>
            </a:r>
            <a:r>
              <a:rPr lang="en-US" dirty="0" err="1"/>
              <a:t>BoW</a:t>
            </a:r>
            <a:r>
              <a:rPr lang="en-US" dirty="0"/>
              <a:t> Models</a:t>
            </a:r>
          </a:p>
        </p:txBody>
      </p:sp>
      <p:pic>
        <p:nvPicPr>
          <p:cNvPr id="5" name="Content Placeholder 4" descr="A diagram of a political system&#10;&#10;Description automatically generated with medium confidence">
            <a:extLst>
              <a:ext uri="{FF2B5EF4-FFF2-40B4-BE49-F238E27FC236}">
                <a16:creationId xmlns:a16="http://schemas.microsoft.com/office/drawing/2014/main" id="{053DCB96-6581-DE88-60A4-113F9F3C8A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1180" y="1825625"/>
            <a:ext cx="9669639" cy="4351338"/>
          </a:xfr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BAD57-A9EE-5497-DBE4-81468A085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F8CBF50-853B-304C-BCA2-DB5146F0D4EA}" type="slidenum">
              <a:rPr lang="en-US" smtClean="0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12E0C-6D1F-C402-93AD-4B5F5D4991C1}"/>
              </a:ext>
            </a:extLst>
          </p:cNvPr>
          <p:cNvSpPr txBox="1"/>
          <p:nvPr/>
        </p:nvSpPr>
        <p:spPr>
          <a:xfrm>
            <a:off x="4547556" y="6400412"/>
            <a:ext cx="309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Microsoft Tech Community</a:t>
            </a:r>
          </a:p>
        </p:txBody>
      </p:sp>
    </p:spTree>
    <p:extLst>
      <p:ext uri="{BB962C8B-B14F-4D97-AF65-F5344CB8AC3E}">
        <p14:creationId xmlns:p14="http://schemas.microsoft.com/office/powerpoint/2010/main" val="36743701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FBA34-73CC-C733-4E31-B63CDA19E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HK" dirty="0"/>
              <a:t>Doc2Vec CBOW model</a:t>
            </a:r>
            <a:endParaRPr lang="en-US" dirty="0"/>
          </a:p>
        </p:txBody>
      </p:sp>
      <p:pic>
        <p:nvPicPr>
          <p:cNvPr id="5" name="Content Placeholder 4" descr="A diagram of a diagram&#10;&#10;Description automatically generated">
            <a:extLst>
              <a:ext uri="{FF2B5EF4-FFF2-40B4-BE49-F238E27FC236}">
                <a16:creationId xmlns:a16="http://schemas.microsoft.com/office/drawing/2014/main" id="{83417CD4-B89A-A2AB-8E88-9DAF6D2D0E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1851" y="1825625"/>
            <a:ext cx="9408297" cy="4351338"/>
          </a:xfr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A0A27-0FF0-760F-7496-B60AC149A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F8CBF50-853B-304C-BCA2-DB5146F0D4EA}" type="slidenum">
              <a:rPr lang="en-HK" smtClean="0"/>
              <a:pPr>
                <a:spcAft>
                  <a:spcPts val="600"/>
                </a:spcAft>
              </a:pPr>
              <a:t>33</a:t>
            </a:fld>
            <a:endParaRPr lang="en-HK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351F5C-5D2D-5EBC-F5BB-2754FDBF54DF}"/>
              </a:ext>
            </a:extLst>
          </p:cNvPr>
          <p:cNvSpPr txBox="1"/>
          <p:nvPr/>
        </p:nvSpPr>
        <p:spPr>
          <a:xfrm>
            <a:off x="4547556" y="6400412"/>
            <a:ext cx="309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Google</a:t>
            </a:r>
          </a:p>
        </p:txBody>
      </p:sp>
    </p:spTree>
    <p:extLst>
      <p:ext uri="{BB962C8B-B14F-4D97-AF65-F5344CB8AC3E}">
        <p14:creationId xmlns:p14="http://schemas.microsoft.com/office/powerpoint/2010/main" val="9867287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35E77-F8CF-ECA0-C105-698C359B2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Deep Pretrained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AA70B-2C29-AFD5-EC02-E5350ECA0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HK" dirty="0"/>
              <a:t>Using more complex learning models, especially bi-directional deep neural network models.</a:t>
            </a:r>
          </a:p>
          <a:p>
            <a:r>
              <a:rPr lang="en-HK" dirty="0"/>
              <a:t>The use of massive pre-training on </a:t>
            </a:r>
            <a:r>
              <a:rPr lang="en-HK" dirty="0" err="1"/>
              <a:t>unlabeled</a:t>
            </a:r>
            <a:r>
              <a:rPr lang="en-HK" dirty="0"/>
              <a:t> text.</a:t>
            </a:r>
          </a:p>
          <a:p>
            <a:r>
              <a:rPr lang="en-HK" dirty="0"/>
              <a:t>The use of a </a:t>
            </a:r>
            <a:r>
              <a:rPr lang="en-HK" dirty="0" err="1"/>
              <a:t>subword</a:t>
            </a:r>
            <a:r>
              <a:rPr lang="en-HK" dirty="0"/>
              <a:t> tokenizer.</a:t>
            </a:r>
          </a:p>
          <a:p>
            <a:r>
              <a:rPr lang="en-HK" dirty="0"/>
              <a:t>Using fine-tuning for various downstream NLP tasks.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DCA4-9F8A-87A9-6EBF-52A1F890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34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8903176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963279-E330-F806-FAE9-2C1ABBF57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Choosing an embedding model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17E8F18-FE4D-6B0A-8E8F-815D3401E0A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47926" y="0"/>
            <a:ext cx="5386258" cy="6855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F1413E-ACA9-2053-AB20-4E72262F0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F8CBF50-853B-304C-BCA2-DB5146F0D4EA}" type="slidenum">
              <a:rPr lang="en-US">
                <a:solidFill>
                  <a:schemeClr val="tx1">
                    <a:alpha val="80000"/>
                  </a:schemeClr>
                </a:solidFill>
              </a:rPr>
              <a:pPr defTabSz="914400">
                <a:spcAft>
                  <a:spcPts val="600"/>
                </a:spcAft>
              </a:pPr>
              <a:t>35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62860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CBD89-5D58-8ECA-D182-12E8C3FA4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Vector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82375-71F5-88EB-E218-2D0E38BCC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Full-text Keyword Search Limitations</a:t>
            </a:r>
          </a:p>
          <a:p>
            <a:pPr lvl="1"/>
            <a:r>
              <a:rPr lang="en-US" dirty="0"/>
              <a:t>Relies on explicit keyword matching</a:t>
            </a:r>
          </a:p>
          <a:p>
            <a:pPr lvl="1"/>
            <a:r>
              <a:rPr lang="en-US" dirty="0"/>
              <a:t>Fails with misspellings or different wording</a:t>
            </a:r>
          </a:p>
          <a:p>
            <a:r>
              <a:rPr lang="en-US" dirty="0"/>
              <a:t>Advantages of Vector Search</a:t>
            </a:r>
          </a:p>
          <a:p>
            <a:pPr lvl="1"/>
            <a:r>
              <a:rPr lang="en-US" dirty="0"/>
              <a:t>Searches for meaning across data modalities</a:t>
            </a:r>
          </a:p>
          <a:p>
            <a:pPr lvl="1"/>
            <a:r>
              <a:rPr lang="en-US" dirty="0"/>
              <a:t>Provides nuanced results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3B28F-AA48-8ADE-AB67-8A5B3A3F6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36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1030654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3B88BA5-E2AF-1BD6-21B0-8072A3EF5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HK" dirty="0"/>
              <a:t>How different metrics compute vector similarity</a:t>
            </a:r>
            <a:endParaRPr lang="en-US" dirty="0"/>
          </a:p>
        </p:txBody>
      </p:sp>
      <p:pic>
        <p:nvPicPr>
          <p:cNvPr id="5" name="Content Placeholder 4" descr="A graph of cosine similar to a cosine&#10;&#10;Description automatically generated">
            <a:extLst>
              <a:ext uri="{FF2B5EF4-FFF2-40B4-BE49-F238E27FC236}">
                <a16:creationId xmlns:a16="http://schemas.microsoft.com/office/drawing/2014/main" id="{1E9B30B6-614D-66F9-6971-50EEF56FE9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00496"/>
            <a:ext cx="10515600" cy="3601595"/>
          </a:xfr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740E4-40CF-3276-6AE9-13EB73D70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F8CBF50-853B-304C-BCA2-DB5146F0D4EA}" type="slidenum">
              <a:rPr lang="en-HK" smtClean="0"/>
              <a:pPr>
                <a:spcAft>
                  <a:spcPts val="600"/>
                </a:spcAft>
              </a:pPr>
              <a:t>37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026829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D24540B-8556-6A69-6C02-E688628ED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FEC36-60BB-E452-5B9D-98DE0A643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HK" dirty="0"/>
              <a:t>Euclidean distance (i.e., L2 distance) is a geometric measure of the distance between two points in a vector space. </a:t>
            </a:r>
          </a:p>
          <a:p>
            <a:r>
              <a:rPr lang="en-HK" dirty="0"/>
              <a:t>Cosine similarity is a measure of the angle between two vectors</a:t>
            </a:r>
          </a:p>
          <a:p>
            <a:r>
              <a:rPr lang="en-HK" dirty="0"/>
              <a:t>Inner/dot product, is the projection of one vector onto another.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CFF7C-96DB-1D12-B3EE-1B3B54D0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38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740351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graph&#10;&#10;Description automatically generated">
            <a:extLst>
              <a:ext uri="{FF2B5EF4-FFF2-40B4-BE49-F238E27FC236}">
                <a16:creationId xmlns:a16="http://schemas.microsoft.com/office/drawing/2014/main" id="{50FEFC1A-38B7-14F8-F318-E3B9BA4AAF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7427" y="68263"/>
            <a:ext cx="9797146" cy="6172200"/>
          </a:xfrm>
          <a:prstGeom prst="rect">
            <a:avLst/>
          </a:prstGeo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BE6231B3-1E50-2C0D-501E-FAA7A2806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7F8CBF50-853B-304C-BCA2-DB5146F0D4EA}" type="slidenum">
              <a:rPr lang="en-HK" smtClean="0"/>
              <a:pPr>
                <a:spcAft>
                  <a:spcPts val="600"/>
                </a:spcAft>
              </a:pPr>
              <a:t>39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0057464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50CBCF2F-26DD-8FFD-4462-FAC1C130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Populating and Querying Vector Databases</a:t>
            </a:r>
          </a:p>
        </p:txBody>
      </p:sp>
      <p:pic>
        <p:nvPicPr>
          <p:cNvPr id="11" name="Content Placeholder 10" descr="A screenshot of a search engine&#10;&#10;Description automatically generated">
            <a:extLst>
              <a:ext uri="{FF2B5EF4-FFF2-40B4-BE49-F238E27FC236}">
                <a16:creationId xmlns:a16="http://schemas.microsoft.com/office/drawing/2014/main" id="{54B25064-0546-BEC0-BCCC-8C6BE62E3D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71377"/>
            <a:ext cx="10515600" cy="3259833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80ED1-0AAB-21DA-27F7-132514FEE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F8CBF50-853B-304C-BCA2-DB5146F0D4EA}" type="slidenum">
              <a:rPr lang="en-HK" smtClean="0"/>
              <a:pPr>
                <a:spcAft>
                  <a:spcPts val="600"/>
                </a:spcAft>
              </a:pPr>
              <a:t>40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628529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8ACB5-6D52-D50D-F6CF-30CF10B2F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Populating and Querying Vector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099C5-FD63-9DD0-15EA-F2C9D9A7E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HK" dirty="0"/>
              <a:t>Embedding: Use a trained embedding model to convert data points into fixed-dimension vectors.</a:t>
            </a:r>
          </a:p>
          <a:p>
            <a:pPr lvl="0"/>
            <a:r>
              <a:rPr lang="en-HK" dirty="0"/>
              <a:t>Indexing: Augment vectors with metadata and index them for efficient search.</a:t>
            </a:r>
          </a:p>
          <a:p>
            <a:pPr lvl="0"/>
            <a:r>
              <a:rPr lang="en-HK" dirty="0"/>
              <a:t>Querying: Embed incoming queries and retrieve the most semantically similar items. Utilize caching, pre-filtering, and post-filtering to enhance performance.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D7D9E-FEE7-A125-A4A6-FA58618B0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41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7753423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1BB32-B172-A4C2-C5B1-538B1CE4C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Vector Search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D6298-B0B3-615F-D635-341F0D6D8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HK" dirty="0"/>
              <a:t>Linear Search</a:t>
            </a:r>
          </a:p>
          <a:p>
            <a:pPr lvl="1"/>
            <a:r>
              <a:rPr lang="en-HK" dirty="0"/>
              <a:t>Compares query vector with each document vector</a:t>
            </a:r>
          </a:p>
          <a:p>
            <a:pPr lvl="1"/>
            <a:r>
              <a:rPr lang="en-HK" dirty="0"/>
              <a:t>Returns the one with the highest similarity</a:t>
            </a:r>
          </a:p>
          <a:p>
            <a:pPr lvl="1"/>
            <a:r>
              <a:rPr lang="en-HK" dirty="0"/>
              <a:t>Scales linearly (O(N)) with the number of documents</a:t>
            </a:r>
          </a:p>
          <a:p>
            <a:pPr lvl="1"/>
            <a:r>
              <a:rPr lang="en-HK" dirty="0"/>
              <a:t>Unacceptably slow for large datasets</a:t>
            </a:r>
          </a:p>
          <a:p>
            <a:r>
              <a:rPr lang="en-HK" dirty="0"/>
              <a:t>Approximate Nearest Neighbour (ANN) Search</a:t>
            </a:r>
          </a:p>
          <a:p>
            <a:pPr lvl="1"/>
            <a:r>
              <a:rPr lang="en-HK" dirty="0"/>
              <a:t>Finds closest points with a small margin of error</a:t>
            </a:r>
          </a:p>
          <a:p>
            <a:pPr lvl="1"/>
            <a:r>
              <a:rPr lang="en-HK" dirty="0"/>
              <a:t>Boosts performance significantly</a:t>
            </a:r>
          </a:p>
          <a:p>
            <a:pPr lvl="1"/>
            <a:r>
              <a:rPr lang="en-HK" dirty="0"/>
              <a:t>Uses techniques like quantization, hashing, clustering, and trees</a:t>
            </a:r>
          </a:p>
          <a:p>
            <a:pPr lvl="1"/>
            <a:r>
              <a:rPr lang="en-HK" dirty="0"/>
              <a:t>Offers varying trade-offs across scale, indexing time, performance, and simplicity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BA1FE-1138-23DD-4849-6FD4EF0F2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42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1855979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60424-6107-AC52-8104-C23090F3F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Context Stuffing </a:t>
            </a:r>
            <a:r>
              <a:rPr lang="en-HK" dirty="0"/>
              <a:t>reduces the LLM’s recall performance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F1014-2CAA-D91D-3184-71ABEE70E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43</a:t>
            </a:fld>
            <a:endParaRPr lang="en-H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46CECC-ECF9-DAA0-D18A-8B6E506544AD}"/>
              </a:ext>
            </a:extLst>
          </p:cNvPr>
          <p:cNvSpPr txBox="1"/>
          <p:nvPr/>
        </p:nvSpPr>
        <p:spPr>
          <a:xfrm>
            <a:off x="3898970" y="6400412"/>
            <a:ext cx="5510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Lost in the Middle: How Language Models Use Long Contexts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692015-E953-9A4D-C391-5C6229005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8457" y="1825625"/>
            <a:ext cx="46950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975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7002C-4469-38FE-ACE3-014828A3C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HK" dirty="0"/>
              <a:t>A two-stage retrieval system</a:t>
            </a:r>
            <a:endParaRPr lang="en-US" dirty="0"/>
          </a:p>
        </p:txBody>
      </p:sp>
      <p:pic>
        <p:nvPicPr>
          <p:cNvPr id="4098" name="Picture 2" descr="A two-stage retrieval system. The vector DB step will typically include a bi-encoder or sparse embedding model.">
            <a:extLst>
              <a:ext uri="{FF2B5EF4-FFF2-40B4-BE49-F238E27FC236}">
                <a16:creationId xmlns:a16="http://schemas.microsoft.com/office/drawing/2014/main" id="{DB1F562F-79CC-312B-1C26-7C4AA1FB72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205" y="1825625"/>
            <a:ext cx="9129589" cy="4351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8B464-AFF2-42AC-3EBA-59EC79923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44</a:t>
            </a:fld>
            <a:endParaRPr lang="en-H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02176D-0AF0-0E0A-0ED9-B85509D3F66A}"/>
              </a:ext>
            </a:extLst>
          </p:cNvPr>
          <p:cNvSpPr txBox="1"/>
          <p:nvPr/>
        </p:nvSpPr>
        <p:spPr>
          <a:xfrm>
            <a:off x="3898970" y="6400412"/>
            <a:ext cx="5510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https://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www.pinecone.io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/learn/series/rag/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rerankers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554749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98AC7-1AEB-96A0-00F9-531601FE6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HK" dirty="0"/>
              <a:t>A two-stage retrieval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AE1F9-CFBD-3B79-22BC-F058C662C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HK" dirty="0"/>
              <a:t>A first-stage model (an embedding model/retriever) retrieves a set of relevant documents from a larger dataset.</a:t>
            </a:r>
          </a:p>
          <a:p>
            <a:pPr lvl="0"/>
            <a:r>
              <a:rPr lang="en-HK" dirty="0"/>
              <a:t>A second-stage model (the </a:t>
            </a:r>
            <a:r>
              <a:rPr lang="en-HK" dirty="0" err="1"/>
              <a:t>reranker</a:t>
            </a:r>
            <a:r>
              <a:rPr lang="en-HK" dirty="0"/>
              <a:t>) is used to </a:t>
            </a:r>
            <a:r>
              <a:rPr lang="en-HK" dirty="0" err="1"/>
              <a:t>rerank</a:t>
            </a:r>
            <a:r>
              <a:rPr lang="en-HK" dirty="0"/>
              <a:t> those documents retrieved by the first-stage model.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1EBDF-271C-0A4A-D393-072AECC8C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45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3433383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CCF4A-2472-C929-C47E-D423BED7F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Reranking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7A9F7-BF19-632D-75D0-86FDA2749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reranking model — also known as a cross-encoder — is a type of model that, given a query and document pair, will output a similarity score. </a:t>
            </a:r>
          </a:p>
          <a:p>
            <a:r>
              <a:rPr lang="en-US" dirty="0"/>
              <a:t>We use this score to reorder the documents by relevance to our query.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E990E-2A48-0E1B-1B9C-75002BDB9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46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589937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636B4-A02B-3BAF-098C-DC093710F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HK" dirty="0"/>
              <a:t>A bi-encoder model</a:t>
            </a:r>
            <a:endParaRPr lang="en-US" dirty="0"/>
          </a:p>
        </p:txBody>
      </p:sp>
      <p:pic>
        <p:nvPicPr>
          <p:cNvPr id="5122" name="Picture 2" descr="A bi-encoder model compresses the document or query meaning into a single vector. Note that the bi-encoder processes our query in the same way as it does documents, but at user query time.">
            <a:extLst>
              <a:ext uri="{FF2B5EF4-FFF2-40B4-BE49-F238E27FC236}">
                <a16:creationId xmlns:a16="http://schemas.microsoft.com/office/drawing/2014/main" id="{49343F0C-3941-845F-6761-FD7CFC2095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235" y="1825625"/>
            <a:ext cx="8457530" cy="4351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B6CCF-D568-FBA9-EC9C-72F6C17D1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47</a:t>
            </a:fld>
            <a:endParaRPr lang="en-H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A14A5C-003F-87B2-5AC5-5766D572CDB4}"/>
              </a:ext>
            </a:extLst>
          </p:cNvPr>
          <p:cNvSpPr txBox="1"/>
          <p:nvPr/>
        </p:nvSpPr>
        <p:spPr>
          <a:xfrm>
            <a:off x="10459779" y="3244334"/>
            <a:ext cx="21398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b="0" i="0" dirty="0">
                <a:solidFill>
                  <a:schemeClr val="accent2"/>
                </a:solidFill>
                <a:effectLst/>
                <a:latin typeface="__Inter_d65c78"/>
              </a:rPr>
              <a:t>information loss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E8D15F-9895-3023-CE99-41D1885B2E66}"/>
              </a:ext>
            </a:extLst>
          </p:cNvPr>
          <p:cNvSpPr txBox="1"/>
          <p:nvPr/>
        </p:nvSpPr>
        <p:spPr>
          <a:xfrm>
            <a:off x="2283342" y="1456293"/>
            <a:ext cx="3490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b="0" i="0" dirty="0">
                <a:solidFill>
                  <a:schemeClr val="accent2"/>
                </a:solidFill>
                <a:effectLst/>
                <a:latin typeface="__Inter_d65c78"/>
              </a:rPr>
              <a:t>document A here can be the query.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47366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5024D-DA40-5C16-AC3E-DB7DB905B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 cross-encoder model (</a:t>
            </a:r>
            <a:r>
              <a:rPr lang="en-US" dirty="0" err="1"/>
              <a:t>reranker</a:t>
            </a:r>
            <a:r>
              <a:rPr lang="en-US" dirty="0"/>
              <a:t>)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F4EFD-53D9-7657-376C-062143131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48</a:t>
            </a:fld>
            <a:endParaRPr lang="en-HK"/>
          </a:p>
        </p:txBody>
      </p:sp>
      <p:pic>
        <p:nvPicPr>
          <p:cNvPr id="6146" name="Picture 2" descr="A reranker considers query and document to produce a single similarity score over a full transformer inference step. Note that document A here is equivalent to our query.">
            <a:extLst>
              <a:ext uri="{FF2B5EF4-FFF2-40B4-BE49-F238E27FC236}">
                <a16:creationId xmlns:a16="http://schemas.microsoft.com/office/drawing/2014/main" id="{4D1DBE07-D8EC-59F8-3DD0-D7341C2072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971" y="1825625"/>
            <a:ext cx="965205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743420-91A2-4276-586F-05D1A37D4C30}"/>
              </a:ext>
            </a:extLst>
          </p:cNvPr>
          <p:cNvSpPr txBox="1"/>
          <p:nvPr/>
        </p:nvSpPr>
        <p:spPr>
          <a:xfrm>
            <a:off x="9013751" y="2957255"/>
            <a:ext cx="21398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b="0" i="0" dirty="0">
                <a:solidFill>
                  <a:schemeClr val="accent2"/>
                </a:solidFill>
                <a:effectLst/>
                <a:latin typeface="__Inter_d65c78"/>
              </a:rPr>
              <a:t>No information loss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11184C-6D95-83BA-A49F-13B91DE5AD5F}"/>
              </a:ext>
            </a:extLst>
          </p:cNvPr>
          <p:cNvSpPr txBox="1"/>
          <p:nvPr/>
        </p:nvSpPr>
        <p:spPr>
          <a:xfrm>
            <a:off x="1858039" y="1456293"/>
            <a:ext cx="3490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b="0" i="0" dirty="0">
                <a:solidFill>
                  <a:schemeClr val="accent2"/>
                </a:solidFill>
                <a:effectLst/>
                <a:latin typeface="__Inter_d65c78"/>
              </a:rPr>
              <a:t>document A here can be the query.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8824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D5EDBC8-4F81-0A22-85D1-2E0D38504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HK" dirty="0"/>
              <a:t>Azure RAG Architecture</a:t>
            </a:r>
            <a:endParaRPr lang="en-US" dirty="0"/>
          </a:p>
        </p:txBody>
      </p:sp>
      <p:pic>
        <p:nvPicPr>
          <p:cNvPr id="3074" name="Picture 2" descr="Diagram showing the high level architecture of a RAG solution, including the request flow and the data pipeline.">
            <a:extLst>
              <a:ext uri="{FF2B5EF4-FFF2-40B4-BE49-F238E27FC236}">
                <a16:creationId xmlns:a16="http://schemas.microsoft.com/office/drawing/2014/main" id="{140B1483-C42B-71D2-C558-AC3A41A16C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1428" y="2261118"/>
            <a:ext cx="11369143" cy="255805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9" name="Slide Number Placeholder 3">
            <a:extLst>
              <a:ext uri="{FF2B5EF4-FFF2-40B4-BE49-F238E27FC236}">
                <a16:creationId xmlns:a16="http://schemas.microsoft.com/office/drawing/2014/main" id="{15CF53DB-49B8-08FA-9DA7-3CE598940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F8CBF50-853B-304C-BCA2-DB5146F0D4EA}" type="slidenum">
              <a:rPr lang="en-HK" smtClean="0"/>
              <a:pPr>
                <a:spcAft>
                  <a:spcPts val="600"/>
                </a:spcAft>
              </a:pPr>
              <a:t>49</a:t>
            </a:fld>
            <a:endParaRPr lang="en-HK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32DD362D-508A-7D36-CDC7-5CE3813E4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F8CBF50-853B-304C-BCA2-DB5146F0D4EA}" type="slidenum">
              <a:rPr lang="en-HK" smtClean="0"/>
              <a:pPr>
                <a:spcAft>
                  <a:spcPts val="600"/>
                </a:spcAft>
              </a:pPr>
              <a:t>49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634935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iagram showing the high level architecture of a RAG solution, including questions that arise when designing the solution.">
            <a:extLst>
              <a:ext uri="{FF2B5EF4-FFF2-40B4-BE49-F238E27FC236}">
                <a16:creationId xmlns:a16="http://schemas.microsoft.com/office/drawing/2014/main" id="{A3A590FF-0615-B401-7C0D-1132A2864E2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650" y="913607"/>
            <a:ext cx="11950700" cy="448151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9A371A2F-8BFB-48E3-3AE3-6506BEE6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7F8CBF50-853B-304C-BCA2-DB5146F0D4EA}" type="slidenum">
              <a:rPr lang="en-HK" smtClean="0"/>
              <a:pPr>
                <a:spcAft>
                  <a:spcPts val="600"/>
                </a:spcAft>
              </a:pPr>
              <a:t>50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6469090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41594-1AD1-B41D-3B7E-183B3646E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RAG Evaluation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0F855B5-E0A5-66BC-1930-3AF52BD1C6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949839"/>
              </p:ext>
            </p:extLst>
          </p:nvPr>
        </p:nvGraphicFramePr>
        <p:xfrm>
          <a:off x="838200" y="1825625"/>
          <a:ext cx="10515600" cy="4500657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553374438"/>
                    </a:ext>
                  </a:extLst>
                </a:gridCol>
                <a:gridCol w="7924800">
                  <a:extLst>
                    <a:ext uri="{9D8B030D-6E8A-4147-A177-3AD203B41FA5}">
                      <a16:colId xmlns:a16="http://schemas.microsoft.com/office/drawing/2014/main" val="978999018"/>
                    </a:ext>
                  </a:extLst>
                </a:gridCol>
              </a:tblGrid>
              <a:tr h="4881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800" kern="100">
                          <a:effectLst/>
                        </a:rPr>
                        <a:t>Measure</a:t>
                      </a:r>
                      <a:endParaRPr lang="en-HK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800" kern="100">
                          <a:effectLst/>
                        </a:rPr>
                        <a:t>Description</a:t>
                      </a:r>
                      <a:endParaRPr lang="en-HK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3792382"/>
                  </a:ext>
                </a:extLst>
              </a:tr>
              <a:tr h="10031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800" kern="100" dirty="0" err="1">
                          <a:effectLst/>
                        </a:rPr>
                        <a:t>Groundedness</a:t>
                      </a:r>
                      <a:endParaRPr lang="en-HK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800" kern="100">
                          <a:effectLst/>
                        </a:rPr>
                        <a:t>Measures whether the response is completely based on the context</a:t>
                      </a:r>
                      <a:endParaRPr lang="en-HK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2596707"/>
                  </a:ext>
                </a:extLst>
              </a:tr>
              <a:tr h="10031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800" kern="100">
                          <a:effectLst/>
                        </a:rPr>
                        <a:t>Completeness</a:t>
                      </a:r>
                      <a:endParaRPr lang="en-HK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800" kern="100">
                          <a:effectLst/>
                        </a:rPr>
                        <a:t>Measures whether the response is answering all parts of the query</a:t>
                      </a:r>
                      <a:endParaRPr lang="en-HK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9283212"/>
                  </a:ext>
                </a:extLst>
              </a:tr>
              <a:tr h="10031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800" kern="100">
                          <a:effectLst/>
                        </a:rPr>
                        <a:t>Utilization</a:t>
                      </a:r>
                      <a:endParaRPr lang="en-HK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800" kern="100">
                          <a:effectLst/>
                        </a:rPr>
                        <a:t>Measures the extent to which the response is made up of information from the chunks in the context</a:t>
                      </a:r>
                      <a:endParaRPr lang="en-HK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172194"/>
                  </a:ext>
                </a:extLst>
              </a:tr>
              <a:tr h="10031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800" kern="100">
                          <a:effectLst/>
                        </a:rPr>
                        <a:t>Relevance</a:t>
                      </a:r>
                      <a:endParaRPr lang="en-HK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HK" sz="2800" kern="100" dirty="0">
                          <a:effectLst/>
                        </a:rPr>
                        <a:t>Measures the extent to which the response is pertinent and related to the query</a:t>
                      </a:r>
                      <a:endParaRPr lang="en-HK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661861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BC0FF-BA5E-0506-06BB-AD6F0195D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51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5987958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5588F-E33D-72DF-0284-C6068122B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AF970-DBB0-85BA-0C1A-D6538127C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Summarization</a:t>
            </a:r>
          </a:p>
          <a:p>
            <a:r>
              <a:rPr lang="en-US" dirty="0"/>
              <a:t>Comparison</a:t>
            </a:r>
          </a:p>
          <a:p>
            <a:r>
              <a:rPr lang="en-US" dirty="0"/>
              <a:t>Multi-part 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A50E2-2641-E3DD-A1CF-5E03F5EED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52</a:t>
            </a:fld>
            <a:endParaRPr lang="en-H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92FF54-C08F-1A0B-5562-BC44A33E3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659583"/>
            <a:ext cx="7772400" cy="13676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214DA5-D903-E8BB-3606-38F5AF3A6C76}"/>
              </a:ext>
            </a:extLst>
          </p:cNvPr>
          <p:cNvSpPr txBox="1"/>
          <p:nvPr/>
        </p:nvSpPr>
        <p:spPr>
          <a:xfrm>
            <a:off x="4266552" y="6400413"/>
            <a:ext cx="36588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DeepLearning.AI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LlamaIndex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6406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3194B-5D59-6AA5-F1DF-D4047080A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Splitting up complex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9DA4A-7167-3D59-F556-0B8889BCB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up multi-part questions into simpler questions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Task for LLM:</a:t>
            </a:r>
          </a:p>
          <a:p>
            <a:pPr lvl="1"/>
            <a:r>
              <a:rPr lang="en-US" dirty="0"/>
              <a:t>Split up a complicated question</a:t>
            </a:r>
          </a:p>
          <a:p>
            <a:pPr lvl="1"/>
            <a:r>
              <a:rPr lang="en-US" dirty="0"/>
              <a:t>Glue the answers back together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4A594-BFA9-DFAB-9FBD-480B8B4E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53</a:t>
            </a:fld>
            <a:endParaRPr lang="en-H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DC75D-4273-B1D1-F748-16A01DFB8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528223"/>
            <a:ext cx="7772400" cy="12017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4F9817C-0C9E-46DA-D027-B7BCDC8D5F52}"/>
              </a:ext>
            </a:extLst>
          </p:cNvPr>
          <p:cNvSpPr/>
          <p:nvPr/>
        </p:nvSpPr>
        <p:spPr>
          <a:xfrm>
            <a:off x="659757" y="3736139"/>
            <a:ext cx="9896354" cy="168701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977D15-7B23-B7C0-0BD1-539241E74140}"/>
              </a:ext>
            </a:extLst>
          </p:cNvPr>
          <p:cNvSpPr txBox="1"/>
          <p:nvPr/>
        </p:nvSpPr>
        <p:spPr>
          <a:xfrm>
            <a:off x="7657617" y="4394979"/>
            <a:ext cx="2898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Building an agent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64F19D-F1AD-CB36-66A9-B4F8551B993E}"/>
              </a:ext>
            </a:extLst>
          </p:cNvPr>
          <p:cNvSpPr txBox="1"/>
          <p:nvPr/>
        </p:nvSpPr>
        <p:spPr>
          <a:xfrm>
            <a:off x="4266552" y="6400413"/>
            <a:ext cx="36588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DeepLearning.AI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LlamaIndex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892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24715</TotalTime>
  <Words>2040</Words>
  <Application>Microsoft Macintosh PowerPoint</Application>
  <PresentationFormat>Widescreen</PresentationFormat>
  <Paragraphs>304</Paragraphs>
  <Slides>53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__Inter_d65c78</vt:lpstr>
      <vt:lpstr>Aptos</vt:lpstr>
      <vt:lpstr>Arial</vt:lpstr>
      <vt:lpstr>Calibri</vt:lpstr>
      <vt:lpstr>Calibri Light</vt:lpstr>
      <vt:lpstr>Segoe UI</vt:lpstr>
      <vt:lpstr>Office Theme</vt:lpstr>
      <vt:lpstr>Retrieval-Augmented Generation</vt:lpstr>
      <vt:lpstr>Limitations of LLMs</vt:lpstr>
      <vt:lpstr>Why RAG?</vt:lpstr>
      <vt:lpstr>Grounding</vt:lpstr>
      <vt:lpstr>Retrieval-Augmented Generation (RAG)</vt:lpstr>
      <vt:lpstr>PowerPoint Presentation</vt:lpstr>
      <vt:lpstr>PowerPoint Presentation</vt:lpstr>
      <vt:lpstr>An embedding is a mathematical representation of text as a vector — a list of floating-point numbers that captures the meaning of words, sentences, or documents.</vt:lpstr>
      <vt:lpstr>PowerPoint Presentation</vt:lpstr>
      <vt:lpstr>The Washington Post</vt:lpstr>
      <vt:lpstr>Policy and Regulation Chatbot</vt:lpstr>
      <vt:lpstr>PowerPoint Presentation</vt:lpstr>
      <vt:lpstr>PowerPoint Presentation</vt:lpstr>
      <vt:lpstr>PowerPoint Presentation</vt:lpstr>
      <vt:lpstr>PowerPoint Presentation</vt:lpstr>
      <vt:lpstr>What is Chunking?</vt:lpstr>
      <vt:lpstr>Common Chunking Techniques</vt:lpstr>
      <vt:lpstr>Importance of Chunk Size in RAG</vt:lpstr>
      <vt:lpstr>Chunk Enrichment</vt:lpstr>
      <vt:lpstr>Cleaning</vt:lpstr>
      <vt:lpstr>Augmenting</vt:lpstr>
      <vt:lpstr>PowerPoint Presentation</vt:lpstr>
      <vt:lpstr>Text Embedding</vt:lpstr>
      <vt:lpstr>Tokenization</vt:lpstr>
      <vt:lpstr>Word Embeddings</vt:lpstr>
      <vt:lpstr>Word Embeddings</vt:lpstr>
      <vt:lpstr>Position (distance and direction) in the vector space can encode semantics.</vt:lpstr>
      <vt:lpstr>Word Embedding Techniques</vt:lpstr>
      <vt:lpstr>Word2Vec’s Two Approaches</vt:lpstr>
      <vt:lpstr>Document Embeddings</vt:lpstr>
      <vt:lpstr>Shallow Bag-of-Words (BoW) models</vt:lpstr>
      <vt:lpstr>Limitations of BoW Models</vt:lpstr>
      <vt:lpstr>Doc2Vec CBOW model</vt:lpstr>
      <vt:lpstr>Deep Pretrained LLMs</vt:lpstr>
      <vt:lpstr>Choosing an embedding model</vt:lpstr>
      <vt:lpstr>Vector Search</vt:lpstr>
      <vt:lpstr>How different metrics compute vector similarity</vt:lpstr>
      <vt:lpstr>Vector Similarity</vt:lpstr>
      <vt:lpstr>PowerPoint Presentation</vt:lpstr>
      <vt:lpstr>Populating and Querying Vector Databases</vt:lpstr>
      <vt:lpstr>Populating and Querying Vector Databases</vt:lpstr>
      <vt:lpstr>Vector Search Algorithms</vt:lpstr>
      <vt:lpstr>Context Stuffing reduces the LLM’s recall performance</vt:lpstr>
      <vt:lpstr>A two-stage retrieval system</vt:lpstr>
      <vt:lpstr>A two-stage retrieval system</vt:lpstr>
      <vt:lpstr>Reranking</vt:lpstr>
      <vt:lpstr>A bi-encoder model</vt:lpstr>
      <vt:lpstr>A cross-encoder model (reranker) </vt:lpstr>
      <vt:lpstr>Azure RAG Architecture</vt:lpstr>
      <vt:lpstr>PowerPoint Presentation</vt:lpstr>
      <vt:lpstr>RAG Evaluation</vt:lpstr>
      <vt:lpstr>Limitations of RAG</vt:lpstr>
      <vt:lpstr>Splitting up complex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Mining</dc:title>
  <dc:creator>Hailiang Chen</dc:creator>
  <cp:lastModifiedBy>Hailiang Chen</cp:lastModifiedBy>
  <cp:revision>481</cp:revision>
  <dcterms:created xsi:type="dcterms:W3CDTF">2021-01-12T07:59:56Z</dcterms:created>
  <dcterms:modified xsi:type="dcterms:W3CDTF">2026-03-30T16:18:19Z</dcterms:modified>
</cp:coreProperties>
</file>